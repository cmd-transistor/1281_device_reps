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39_BBEC4705.xml" ContentType="application/vnd.ms-powerpoint.comments+xml"/>
  <Override PartName="/ppt/comments/modernComment_13C_B0459C0C.xml" ContentType="application/vnd.ms-powerpoint.comments+xml"/>
  <Override PartName="/ppt/comments/modernComment_144_CA803D13.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9" r:id="rId5"/>
  </p:sldMasterIdLst>
  <p:notesMasterIdLst>
    <p:notesMasterId r:id="rId26"/>
  </p:notesMasterIdLst>
  <p:sldIdLst>
    <p:sldId id="310" r:id="rId6"/>
    <p:sldId id="314" r:id="rId7"/>
    <p:sldId id="311" r:id="rId8"/>
    <p:sldId id="329" r:id="rId32"/>
    <p:sldId id="312" r:id="rId9"/>
    <p:sldId id="317" r:id="rId10"/>
    <p:sldId id="330" r:id="rId33"/>
    <p:sldId id="323" r:id="rId11"/>
    <p:sldId id="319" r:id="rId12"/>
    <p:sldId id="322" r:id="rId13"/>
    <p:sldId id="318" r:id="rId14"/>
    <p:sldId id="313" r:id="rId15"/>
    <p:sldId id="316" r:id="rId16"/>
    <p:sldId id="331" r:id="rId34"/>
    <p:sldId id="324" r:id="rId17"/>
    <p:sldId id="315" r:id="rId18"/>
    <p:sldId id="332" r:id="rId35"/>
    <p:sldId id="306" r:id="rId19"/>
    <p:sldId id="333" r:id="rId36"/>
    <p:sldId id="321" r:id="rId20"/>
    <p:sldId id="328" r:id="rId21"/>
    <p:sldId id="334" r:id="rId37"/>
    <p:sldId id="335" r:id="rId38"/>
    <p:sldId id="336" r:id="rId39"/>
    <p:sldId id="337" r:id="rId40"/>
    <p:sldId id="338" r:id="rId41"/>
    <p:sldId id="339" r:id="rId42"/>
    <p:sldId id="340" r:id="rId43"/>
    <p:sldId id="341" r:id="rId44"/>
    <p:sldId id="342" r:id="rId45"/>
    <p:sldId id="309" r:id="rId22"/>
    <p:sldId id="325" r:id="rId23"/>
    <p:sldId id="326" r:id="rId24"/>
    <p:sldId id="327" r:id="rId2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E41A73F-3E4E-5C12-A50B-534CD3ED34F7}" name="Jessica Stainbrook" initials="JS" userId="S::jessica.stainbrook@vmlyr.com::f4987e26-d867-4ac1-a750-5e9bc12d3585" providerId="AD"/>
  <p188:author id="{CD9ECA58-A901-112C-1C2B-3AD4AAE286A3}" name="Carboni, Roberto" initials="RC" userId="S::roberto.carboni@intel.com::5e0a695e-1214-4f8e-9d4c-0417ec3f81f9" providerId="AD"/>
  <p188:author id="{2E0F1E72-E1A5-54E4-6963-04F2D574E0D4}" name="Oberoi, Aaryan" initials="AO" userId="S::aaryan.oberoi@intel.com::b67f929c-9284-4458-8640-412ff01e6591" providerId="AD"/>
  <p188:author id="{8067F773-A151-0644-86D6-657F65C79A47}" name="Nate Hofer" initials="NH" userId="S::nate.hofer@vml.com::f4a7bb1a-789a-4628-999b-036eb81b5f48" providerId="AD"/>
  <p188:author id="{0B4B4EE4-B41E-9959-D031-9016992C8A99}" name="Jessica Stainbrook" initials="" userId="S::Jessica.Stainbrook@vmlyr.com::f4987e26-d867-4ac1-a750-5e9bc12d3585" providerId="AD"/>
  <p188:author id="{D4FE0EF8-F786-83F1-056B-70B1C507FA7E}" name="Walke, Amey Mahadev" initials="AW" userId="S::amey.mahadev.walke@intel.com::f3761b3c-8654-4a17-a0cc-272a9b09d9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a:srgbClr val="001E50"/>
    <a:srgbClr val="00163B"/>
    <a:srgbClr val="009CF3"/>
    <a:srgbClr val="0056B4"/>
    <a:srgbClr val="00C7FD"/>
    <a:srgbClr val="ADEEFF"/>
    <a:srgbClr val="6DDCFF"/>
    <a:srgbClr val="000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525252"/>
          </a:solidFill>
        </a:fill>
      </a:tcStyle>
    </a:firstCol>
    <a:lastRow>
      <a:tcTxStyle b="on"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508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254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525252"/>
          </a:solidFill>
        </a:fill>
      </a:tcStyle>
    </a:firstRow>
  </a:tblStyle>
  <a:tblStyle styleId="{C7B018BB-80A7-4F77-B60F-C8B233D01FF8}"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5"/>
          </a:solidFill>
        </a:fill>
      </a:tcStyle>
    </a:wholeTbl>
    <a:band2H>
      <a:tcTxStyle/>
      <a:tcStyle>
        <a:tcBdr/>
        <a:fill>
          <a:solidFill>
            <a:srgbClr val="E6EAF2"/>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BCB"/>
          </a:solidFill>
        </a:fill>
      </a:tcStyle>
    </a:wholeTbl>
    <a:band2H>
      <a:tcTxStyle/>
      <a:tcStyle>
        <a:tcBdr/>
        <a:fill>
          <a:solidFill>
            <a:srgbClr val="FFF5E7"/>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E3CE"/>
          </a:solidFill>
        </a:fill>
      </a:tcStyle>
    </a:wholeTbl>
    <a:band2H>
      <a:tcTxStyle/>
      <a:tcStyle>
        <a:tcBdr/>
        <a:fill>
          <a:solidFill>
            <a:srgbClr val="EDF1E8"/>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IntelOne Text Light"/>
          <a:ea typeface="IntelOne Text Light"/>
          <a:cs typeface="IntelOne Text Light"/>
        </a:font>
        <a:srgbClr val="525252"/>
      </a:tcTxStyle>
      <a:tcStyle>
        <a:tcBdr>
          <a:left>
            <a:ln w="12700" cap="flat">
              <a:noFill/>
              <a:miter lim="400000"/>
            </a:ln>
          </a:left>
          <a:right>
            <a:ln w="12700" cap="flat">
              <a:noFill/>
              <a:miter lim="400000"/>
            </a:ln>
          </a:right>
          <a:top>
            <a:ln w="508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IntelOne Text Light"/>
          <a:ea typeface="IntelOne Text Light"/>
          <a:cs typeface="IntelOne Text Light"/>
        </a:font>
        <a:srgbClr val="FFFFFF"/>
      </a:tcTxStyle>
      <a:tcStyle>
        <a:tcBdr>
          <a:left>
            <a:ln w="12700" cap="flat">
              <a:noFill/>
              <a:miter lim="400000"/>
            </a:ln>
          </a:left>
          <a:right>
            <a:ln w="12700" cap="flat">
              <a:noFill/>
              <a:miter lim="400000"/>
            </a:ln>
          </a:right>
          <a:top>
            <a:ln w="25400" cap="flat">
              <a:solidFill>
                <a:srgbClr val="525252"/>
              </a:solidFill>
              <a:prstDash val="solid"/>
              <a:round/>
            </a:ln>
          </a:top>
          <a:bottom>
            <a:ln w="25400" cap="flat">
              <a:solidFill>
                <a:srgbClr val="525252"/>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
          <a:latin typeface="IntelOne Text Light"/>
          <a:ea typeface="IntelOne Text Light"/>
          <a:cs typeface="IntelOne Text Light"/>
        </a:font>
        <a:srgbClr val="52525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CFCF"/>
          </a:solidFill>
        </a:fill>
      </a:tcStyle>
    </a:wholeTbl>
    <a:band2H>
      <a:tcTxStyle/>
      <a:tcStyle>
        <a:tcBdr/>
        <a:fill>
          <a:solidFill>
            <a:srgbClr val="E9E9E9"/>
          </a:solidFill>
        </a:fill>
      </a:tcStyle>
    </a:band2H>
    <a:firstCol>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firstCol>
    <a:la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lastRow>
    <a:firstRow>
      <a:tcTxStyle b="on" i="off">
        <a:font>
          <a:latin typeface="IntelOne Text Light"/>
          <a:ea typeface="IntelOne Text Light"/>
          <a:cs typeface="IntelOne Text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2525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1" autoAdjust="0"/>
    <p:restoredTop sz="94660"/>
  </p:normalViewPr>
  <p:slideViewPr>
    <p:cSldViewPr snapToGrid="0">
      <p:cViewPr varScale="1">
        <p:scale>
          <a:sx n="111" d="100"/>
          <a:sy n="111"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8/10/relationships/authors" Target="authors.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s>
</file>

<file path=ppt/comments/modernComment_13C_B0459C0C.xml><?xml version="1.0" encoding="utf-8"?>
<p188:cmLst xmlns:a="http://schemas.openxmlformats.org/drawingml/2006/main" xmlns:r="http://schemas.openxmlformats.org/officeDocument/2006/relationships" xmlns:p188="http://schemas.microsoft.com/office/powerpoint/2018/8/main">
  <p188:cm id="{0B5773E3-1C98-4A35-AD21-F4A2379B8106}" authorId="{D4FE0EF8-F786-83F1-056B-70B1C507FA7E}" created="2026-05-04T18:43:10.750">
    <pc:sldMkLst xmlns:pc="http://schemas.microsoft.com/office/powerpoint/2013/main/command">
      <pc:docMk/>
      <pc:sldMk cId="2957351948" sldId="316"/>
    </pc:sldMkLst>
    <p188:replyLst>
      <p188:reply id="{BBB00AED-E696-4C7C-92E8-EB42F1C1D878}" authorId="{2E0F1E72-E1A5-54E4-6963-04F2D574E0D4}" created="2026-05-04T18:54:56.452">
        <p188:txBody>
          <a:bodyPr/>
          <a:lstStyle/>
          <a:p>
            <a:r>
              <a:rPr lang="en-US"/>
              <a:t>Are you referring to SH/DH? That’s for layout type, which is followed by 80. FTI height is to be present after metal routing in additional section since it is something that mostly LLE type PFTs skew</a:t>
            </a:r>
          </a:p>
        </p188:txBody>
      </p188:reply>
    </p188:replyLst>
    <p188:txBody>
      <a:bodyPr/>
      <a:lstStyle/>
      <a:p>
        <a:r>
          <a:rPr lang="en-US"/>
          <a:t>Is this FTI height? In BitPFT this location identifies device type (PG/PU/PD) correct? Can we keep it uniform between Logic and BitPFT?</a:t>
        </a:r>
      </a:p>
    </p188:txBody>
  </p188:cm>
  <p188:cm id="{6FD184F5-2B2A-4853-AB16-CF15F90E8451}" authorId="{D4FE0EF8-F786-83F1-056B-70B1C507FA7E}" created="2026-05-04T18:50:29.864">
    <ac:txMkLst xmlns:ac="http://schemas.microsoft.com/office/drawing/2013/main/command">
      <pc:docMk xmlns:pc="http://schemas.microsoft.com/office/powerpoint/2013/main/command"/>
      <pc:sldMk xmlns:pc="http://schemas.microsoft.com/office/powerpoint/2013/main/command" cId="2957351948" sldId="316"/>
      <ac:spMk id="48" creationId="{06D18509-6E4C-3BFF-BDE0-2AC787BC0339}"/>
      <ac:txMk cp="174" len="6">
        <ac:context len="249" hash="113282314"/>
      </ac:txMk>
    </ac:txMkLst>
    <p188:pos x="10197548" y="1475423"/>
    <p188:replyLst>
      <p188:reply id="{D3068B04-CC6A-4F50-9C41-B1B21E5B951B}" authorId="{2E0F1E72-E1A5-54E4-6963-04F2D574E0D4}" created="2026-05-04T18:53:39.876">
        <p188:txBody>
          <a:bodyPr/>
          <a:lstStyle/>
          <a:p>
            <a:r>
              <a:rPr lang="en-US"/>
              <a:t>Thanks for the note Amey. Yes, SDR can have SDR in its name at the location where additional comment is allowed and TSDR should have skew type and skew range in the same location. </a:t>
            </a:r>
          </a:p>
        </p188:txBody>
      </p188:reply>
    </p188:replyLst>
    <p188:txBody>
      <a:bodyPr/>
      <a:lstStyle/>
      <a:p>
        <a:r>
          <a:rPr lang="en-US"/>
          <a:t>Non SDR structures will require a string to identify the DOE skew. This string needs to be incorporated befor TCxx_y. In case of SDR structures, the string could be “SDR”. For others string could be e.g. “TCN/REG/PGD/x” This will also allow us to filter SDR structures.</a:t>
        </a:r>
      </a:p>
    </p188:txBody>
  </p188:cm>
  <p188:cm id="{6A44E0E7-4E63-4607-BDCB-30D5A234EC2C}" authorId="{CD9ECA58-A901-112C-1C2B-3AD4AAE286A3}" created="2026-05-12T21:50:11.759">
    <pc:sldMkLst xmlns:pc="http://schemas.microsoft.com/office/powerpoint/2013/main/command">
      <pc:docMk/>
      <pc:sldMk cId="2957351948" sldId="316"/>
    </pc:sldMkLst>
    <p188:txBody>
      <a:bodyPr/>
      <a:lstStyle/>
      <a:p>
        <a:r>
          <a:rPr lang="en-US"/>
          <a:t>Hi [@Oberoi, Aaryan]  - if possible, can we keep the capability to track CMOS/UNI also in Turbo Cell? Although POR Turbo is CMOS only, we would like to have some UNI DOE. </a:t>
        </a:r>
      </a:p>
    </p188:txBody>
  </p188:cm>
</p188:cmLst>
</file>

<file path=ppt/comments/modernComment_139_BBEC4705.xml><?xml version="1.0" encoding="utf-8"?>
<p188:cmLst xmlns:a="http://schemas.openxmlformats.org/drawingml/2006/main" xmlns:r="http://schemas.openxmlformats.org/officeDocument/2006/relationships" xmlns:p188="http://schemas.microsoft.com/office/powerpoint/2018/8/main">
  <p188:cm id="{9B751AFA-C436-42E8-94A6-861FB7A00446}" authorId="{D4FE0EF8-F786-83F1-056B-70B1C507FA7E}" created="2026-05-04T18:54:56.826">
    <pc:sldMkLst xmlns:pc="http://schemas.microsoft.com/office/powerpoint/2013/main/command">
      <pc:docMk/>
      <pc:sldMk cId="3152824069" sldId="313"/>
    </pc:sldMkLst>
    <p188:replyLst>
      <p188:reply id="{73E2CF15-4593-4052-AFA2-904A58A60917}" authorId="{2E0F1E72-E1A5-54E4-6963-04F2D574E0D4}" created="2026-05-04T18:55:36.950">
        <p188:txBody>
          <a:bodyPr/>
          <a:lstStyle/>
          <a:p>
            <a:r>
              <a:rPr lang="en-US"/>
              <a:t>Agreed. All the non-standard fields exist in additional comments section</a:t>
            </a:r>
          </a:p>
        </p188:txBody>
      </p188:reply>
    </p188:replyLst>
    <p188:txBody>
      <a:bodyPr/>
      <a:lstStyle/>
      <a:p>
        <a:r>
          <a:rPr lang="en-US"/>
          <a:t>Good idea to align ROSPFT name with PFTs. This WAC-6x Field does not exist in PFTs. See the PFT slide for a suggestion. This section could hold info such as SDR/TSDR info in PFTs.</a:t>
        </a:r>
      </a:p>
    </p188:txBody>
  </p188:cm>
  <p188:cm id="{E897876A-82B3-42AE-AA29-8D9E5A26B963}" authorId="{D4FE0EF8-F786-83F1-056B-70B1C507FA7E}" created="2026-05-04T18:58:49.988">
    <ac:deMkLst xmlns:ac="http://schemas.microsoft.com/office/drawing/2013/main/command">
      <pc:docMk xmlns:pc="http://schemas.microsoft.com/office/powerpoint/2013/main/command"/>
      <pc:sldMk xmlns:pc="http://schemas.microsoft.com/office/powerpoint/2013/main/command" cId="3152824069" sldId="313"/>
      <ac:spMk id="48" creationId="{77CB289A-9C52-27F8-5046-1175446695F5}"/>
    </ac:deMkLst>
    <p188:replyLst>
      <p188:reply id="{5A8E828C-BB7F-4585-B4C4-613B3BFC85F7}" authorId="{2E0F1E72-E1A5-54E4-6963-04F2D574E0D4}" created="2026-05-04T19:00:37.516">
        <p188:txBody>
          <a:bodyPr/>
          <a:lstStyle/>
          <a:p>
            <a:r>
              <a:rPr lang="en-US"/>
              <a:t>Yes, that’s what has been done but now that I think FTI length can be separated by nesting with an underscore</a:t>
            </a:r>
          </a:p>
        </p188:txBody>
      </p188:reply>
    </p188:replyLst>
    <p188:txBody>
      <a:bodyPr/>
      <a:lstStyle/>
      <a:p>
        <a:r>
          <a:rPr lang="en-US"/>
          <a:t>Keep number of “-” separators same in all PFT/RSPFT/BitPFT names. If needed, add another delimiter for subsections between two “-”.</a:t>
        </a:r>
      </a:p>
    </p188:txBody>
  </p188:cm>
</p188:cmLst>
</file>

<file path=ppt/comments/modernComment_144_CA803D13.xml><?xml version="1.0" encoding="utf-8"?>
<p188:cmLst xmlns:a="http://schemas.openxmlformats.org/drawingml/2006/main" xmlns:r="http://schemas.openxmlformats.org/officeDocument/2006/relationships" xmlns:p188="http://schemas.microsoft.com/office/powerpoint/2018/8/main">
  <p188:cm id="{0F450D9A-4EC0-4027-B000-31F09A1878B4}" authorId="{D4FE0EF8-F786-83F1-056B-70B1C507FA7E}" created="2026-05-04T18:45:23.703">
    <ac:txMkLst xmlns:ac="http://schemas.microsoft.com/office/drawing/2013/main/command">
      <pc:docMk xmlns:pc="http://schemas.microsoft.com/office/powerpoint/2013/main/command"/>
      <pc:sldMk xmlns:pc="http://schemas.microsoft.com/office/powerpoint/2013/main/command" cId="3397401875" sldId="324"/>
      <ac:spMk id="48" creationId="{3B8C3707-D988-F6BC-E9BD-2EB519D5F5D4}"/>
      <ac:txMk cp="131">
        <ac:context len="308" hash="2076126471"/>
      </ac:txMk>
    </ac:txMkLst>
    <p188:pos x="7056783" y="1475423"/>
    <p188:replyLst>
      <p188:reply id="{D3895623-D48C-4E91-8294-D693D6241ED6}" authorId="{2E0F1E72-E1A5-54E4-6963-04F2D574E0D4}" created="2026-05-04T19:16:52.940">
        <p188:txBody>
          <a:bodyPr/>
          <a:lstStyle/>
          <a:p>
            <a:r>
              <a:rPr lang="en-US"/>
              <a:t>That’s a good point but PD and RP could mix with N/P polarity type and that’s why I moved it to be after isolation which would also align with layout type in PFT such as single height/double height</a:t>
            </a:r>
          </a:p>
        </p188:txBody>
      </p188:reply>
    </p188:replyLst>
    <p188:txBody>
      <a:bodyPr/>
      <a:lstStyle/>
      <a:p>
        <a:r>
          <a:rPr lang="en-US"/>
          <a:t>Can this device identification string moved/combined wtih the first section SRAMN192? I think DUT/Environment section already help identify cell type. The first part of the string could be more identical to Logic.</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31" name="Shape 331"/>
          <p:cNvSpPr>
            <a:spLocks noGrp="1" noRot="1" noChangeAspect="1"/>
          </p:cNvSpPr>
          <p:nvPr>
            <p:ph type="sldImg"/>
          </p:nvPr>
        </p:nvSpPr>
        <p:spPr>
          <a:xfrm>
            <a:off x="1143000" y="685800"/>
            <a:ext cx="4572000" cy="3429000"/>
          </a:xfrm>
          <a:prstGeom prst="rect">
            <a:avLst/>
          </a:prstGeom>
        </p:spPr>
        <p:txBody>
          <a:bodyPr/>
          <a:lstStyle/>
          <a:p>
            <a:endParaRPr/>
          </a:p>
        </p:txBody>
      </p:sp>
      <p:sp>
        <p:nvSpPr>
          <p:cNvPr id="332" name="Shape 3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rgbClr val="525252"/>
        </a:solidFill>
        <a:latin typeface="+mn-lt"/>
        <a:ea typeface="+mn-ea"/>
        <a:cs typeface="+mn-cs"/>
        <a:sym typeface="Arial"/>
      </a:defRPr>
    </a:lvl1pPr>
    <a:lvl2pPr indent="228600" latinLnBrk="0">
      <a:defRPr sz="1200">
        <a:solidFill>
          <a:srgbClr val="525252"/>
        </a:solidFill>
        <a:latin typeface="+mn-lt"/>
        <a:ea typeface="+mn-ea"/>
        <a:cs typeface="+mn-cs"/>
        <a:sym typeface="Arial"/>
      </a:defRPr>
    </a:lvl2pPr>
    <a:lvl3pPr indent="457200" latinLnBrk="0">
      <a:defRPr sz="1200">
        <a:solidFill>
          <a:srgbClr val="525252"/>
        </a:solidFill>
        <a:latin typeface="+mn-lt"/>
        <a:ea typeface="+mn-ea"/>
        <a:cs typeface="+mn-cs"/>
        <a:sym typeface="Arial"/>
      </a:defRPr>
    </a:lvl3pPr>
    <a:lvl4pPr indent="685800" latinLnBrk="0">
      <a:defRPr sz="1200">
        <a:solidFill>
          <a:srgbClr val="525252"/>
        </a:solidFill>
        <a:latin typeface="+mn-lt"/>
        <a:ea typeface="+mn-ea"/>
        <a:cs typeface="+mn-cs"/>
        <a:sym typeface="Arial"/>
      </a:defRPr>
    </a:lvl4pPr>
    <a:lvl5pPr indent="914400" latinLnBrk="0">
      <a:defRPr sz="1200">
        <a:solidFill>
          <a:srgbClr val="525252"/>
        </a:solidFill>
        <a:latin typeface="+mn-lt"/>
        <a:ea typeface="+mn-ea"/>
        <a:cs typeface="+mn-cs"/>
        <a:sym typeface="Arial"/>
      </a:defRPr>
    </a:lvl5pPr>
    <a:lvl6pPr indent="1143000" latinLnBrk="0">
      <a:defRPr sz="1200">
        <a:solidFill>
          <a:srgbClr val="525252"/>
        </a:solidFill>
        <a:latin typeface="+mn-lt"/>
        <a:ea typeface="+mn-ea"/>
        <a:cs typeface="+mn-cs"/>
        <a:sym typeface="Arial"/>
      </a:defRPr>
    </a:lvl6pPr>
    <a:lvl7pPr indent="1371600" latinLnBrk="0">
      <a:defRPr sz="1200">
        <a:solidFill>
          <a:srgbClr val="525252"/>
        </a:solidFill>
        <a:latin typeface="+mn-lt"/>
        <a:ea typeface="+mn-ea"/>
        <a:cs typeface="+mn-cs"/>
        <a:sym typeface="Arial"/>
      </a:defRPr>
    </a:lvl7pPr>
    <a:lvl8pPr indent="1600200" latinLnBrk="0">
      <a:defRPr sz="1200">
        <a:solidFill>
          <a:srgbClr val="525252"/>
        </a:solidFill>
        <a:latin typeface="+mn-lt"/>
        <a:ea typeface="+mn-ea"/>
        <a:cs typeface="+mn-cs"/>
        <a:sym typeface="Arial"/>
      </a:defRPr>
    </a:lvl8pPr>
    <a:lvl9pPr indent="1828800" latinLnBrk="0">
      <a:defRPr sz="1200">
        <a:solidFill>
          <a:srgbClr val="525252"/>
        </a:solidFill>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intel.sharepoint.com/:x:/s/p1281device/IQD2Ej_6rhqJQb2wHTeD7E1GASmzBAobHRMPU9otg4ZLY4k?e=gz6bzM"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hlinkClick r:id="rId3"/>
              </a:rPr>
              <a:t>Test Name BKM WW19.xlsx</a:t>
            </a:r>
            <a:endParaRPr lang="en-US"/>
          </a:p>
        </p:txBody>
      </p:sp>
    </p:spTree>
    <p:extLst>
      <p:ext uri="{BB962C8B-B14F-4D97-AF65-F5344CB8AC3E}">
        <p14:creationId xmlns:p14="http://schemas.microsoft.com/office/powerpoint/2010/main" val="4077412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Move VT after diff width</a:t>
            </a:r>
          </a:p>
          <a:p>
            <a:r>
              <a:rPr lang="en-US"/>
              <a:t>Try with JMP and make a script</a:t>
            </a:r>
          </a:p>
          <a:p>
            <a:r>
              <a:rPr b="1">
                <a:solidFill>
                  <a:srgbClr val="C00000"/>
                </a:solidFill>
                <a:highlight>
                  <a:srgbClr val="FFFF00"/>
                </a:highlight>
              </a:rPr>
              <a:t>WW43 decision: VT stays after LEGS/#ADF as in the slide templates (supersedes "Move VT after diff width"); names use the single-letter metal-gate code.</a:t>
            </a:r>
          </a:p>
        </p:txBody>
      </p:sp>
    </p:spTree>
    <p:extLst>
      <p:ext uri="{BB962C8B-B14F-4D97-AF65-F5344CB8AC3E}">
        <p14:creationId xmlns:p14="http://schemas.microsoft.com/office/powerpoint/2010/main" val="149430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Z convention vs Diff. Width – needs alignment </a:t>
            </a:r>
          </a:p>
        </p:txBody>
      </p:sp>
    </p:spTree>
    <p:extLst>
      <p:ext uri="{BB962C8B-B14F-4D97-AF65-F5344CB8AC3E}">
        <p14:creationId xmlns:p14="http://schemas.microsoft.com/office/powerpoint/2010/main" val="464583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375D4-61EC-A6D0-2E42-0F470016C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FCF42-8FFE-4826-FE67-66BFCEE2FEEA}"/>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DA3CCB65-BE13-E284-A89A-6E477A74FDD4}"/>
              </a:ext>
            </a:extLst>
          </p:cNvPr>
          <p:cNvSpPr>
            <a:spLocks noGrp="1"/>
          </p:cNvSpPr>
          <p:nvPr>
            <p:ph type="body" idx="1"/>
          </p:nvPr>
        </p:nvSpPr>
        <p:spPr/>
        <p:txBody>
          <a:bodyPr/>
          <a:lstStyle/>
          <a:p>
            <a:r>
              <a:rPr lang="en-US"/>
              <a:t>PDK model names – 1278 </a:t>
            </a:r>
          </a:p>
          <a:p>
            <a:r>
              <a:rPr lang="en-US"/>
              <a:t>CH, LNR, VT type – </a:t>
            </a:r>
          </a:p>
          <a:p>
            <a:endParaRPr lang="en-US"/>
          </a:p>
          <a:p>
            <a:r>
              <a:rPr lang="en-US"/>
              <a:t>1280</a:t>
            </a:r>
          </a:p>
          <a:p>
            <a:r>
              <a:rPr lang="en-US"/>
              <a:t>Diff box width</a:t>
            </a:r>
          </a:p>
          <a:p>
            <a:endParaRPr lang="en-US"/>
          </a:p>
          <a:p>
            <a:r>
              <a:rPr lang="en-US"/>
              <a:t>1281 reference – Andrew to share list of column names that will be present in Atlantis templates</a:t>
            </a:r>
          </a:p>
          <a:p>
            <a:r>
              <a:rPr lang="en-US"/>
              <a:t>Ask Wenjun to write this out based on PDK reference</a:t>
            </a:r>
          </a:p>
        </p:txBody>
      </p:sp>
    </p:spTree>
    <p:extLst>
      <p:ext uri="{BB962C8B-B14F-4D97-AF65-F5344CB8AC3E}">
        <p14:creationId xmlns:p14="http://schemas.microsoft.com/office/powerpoint/2010/main" val="1999807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t>PDK model names – 1278 </a:t>
            </a:r>
          </a:p>
          <a:p>
            <a:r>
              <a:rPr lang="en-US"/>
              <a:t>CH, LNR, VT type – </a:t>
            </a:r>
          </a:p>
          <a:p>
            <a:endParaRPr lang="en-US"/>
          </a:p>
          <a:p>
            <a:r>
              <a:rPr lang="en-US"/>
              <a:t>1280</a:t>
            </a:r>
          </a:p>
          <a:p>
            <a:r>
              <a:rPr lang="en-US"/>
              <a:t>Diff box width</a:t>
            </a:r>
          </a:p>
          <a:p>
            <a:endParaRPr lang="en-US"/>
          </a:p>
          <a:p>
            <a:r>
              <a:rPr lang="en-US"/>
              <a:t>1281 reference – Andrew to share list of column names that will be present in Atlantis templates</a:t>
            </a:r>
          </a:p>
          <a:p>
            <a:r>
              <a:rPr lang="en-US"/>
              <a:t>Ask Wenjun to write this out based on PDK reference</a:t>
            </a:r>
          </a:p>
        </p:txBody>
      </p:sp>
    </p:spTree>
    <p:extLst>
      <p:ext uri="{BB962C8B-B14F-4D97-AF65-F5344CB8AC3E}">
        <p14:creationId xmlns:p14="http://schemas.microsoft.com/office/powerpoint/2010/main" val="3774035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a:t>BCMOS – Balanced NPN</a:t>
            </a:r>
            <a:endParaRPr lang="en-US"/>
          </a:p>
          <a:p>
            <a:r>
              <a:rPr lang="en-US"/>
              <a:t>LCMOS – LNR Max</a:t>
            </a:r>
          </a:p>
          <a:p>
            <a:r>
              <a:rPr lang="en-US"/>
              <a:t>OCMOS - OPH</a:t>
            </a:r>
          </a:p>
          <a:p>
            <a:r>
              <a:rPr lang="en-US"/>
              <a:t>Make comments</a:t>
            </a:r>
          </a:p>
          <a:p>
            <a:endParaRPr lang="en-US"/>
          </a:p>
          <a:p>
            <a:r>
              <a:rPr lang="en-US"/>
              <a:t>-CMOS_DH_LNRREF, *-CMOS_DH_LNRMAX80,</a:t>
            </a:r>
          </a:p>
        </p:txBody>
      </p:sp>
    </p:spTree>
    <p:extLst>
      <p:ext uri="{BB962C8B-B14F-4D97-AF65-F5344CB8AC3E}">
        <p14:creationId xmlns:p14="http://schemas.microsoft.com/office/powerpoint/2010/main" val="344748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0FCEC-60C0-AD73-85D1-322961BC1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66B43-9C62-1489-E2B4-F38063DC94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BD79B6-64C2-4CFB-DE43-8C73CF036033}"/>
              </a:ext>
            </a:extLst>
          </p:cNvPr>
          <p:cNvSpPr>
            <a:spLocks noGrp="1"/>
          </p:cNvSpPr>
          <p:nvPr>
            <p:ph type="body" idx="1"/>
          </p:nvPr>
        </p:nvSpPr>
        <p:spPr/>
        <p:txBody>
          <a:bodyPr/>
          <a:lstStyle/>
          <a:p>
            <a:r>
              <a:rPr lang="en-US"/>
              <a:t>VT to be replaced from SRAM structure name – to PG/PD – VT type to be POR for </a:t>
            </a:r>
            <a:r>
              <a:rPr lang="en-US" err="1"/>
              <a:t>bitcell</a:t>
            </a:r>
            <a:r>
              <a:rPr lang="en-US"/>
              <a:t> PFT</a:t>
            </a:r>
          </a:p>
          <a:p>
            <a:r>
              <a:rPr lang="en-US"/>
              <a:t>What about target being attached to a given structure?</a:t>
            </a:r>
          </a:p>
          <a:p>
            <a:r>
              <a:rPr lang="en-US"/>
              <a:t>SRAM and logic co centering plots – needs documentation on which VT type is mapped</a:t>
            </a:r>
          </a:p>
          <a:p>
            <a:r>
              <a:rPr lang="en-US"/>
              <a:t>IREAD to look different – IR for stacked</a:t>
            </a:r>
          </a:p>
        </p:txBody>
      </p:sp>
    </p:spTree>
    <p:extLst>
      <p:ext uri="{BB962C8B-B14F-4D97-AF65-F5344CB8AC3E}">
        <p14:creationId xmlns:p14="http://schemas.microsoft.com/office/powerpoint/2010/main" val="3124165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a:t>LNR max should be a number – character – what does PDK follow?</a:t>
            </a:r>
          </a:p>
          <a:p>
            <a:endParaRPr lang="en-US"/>
          </a:p>
        </p:txBody>
      </p:sp>
    </p:spTree>
    <p:extLst>
      <p:ext uri="{BB962C8B-B14F-4D97-AF65-F5344CB8AC3E}">
        <p14:creationId xmlns:p14="http://schemas.microsoft.com/office/powerpoint/2010/main" val="4234152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effectLst/>
              </a:rPr>
              <a:t>My sub name is </a:t>
            </a:r>
            <a:r>
              <a:rPr lang="en-US" err="1">
                <a:effectLst/>
              </a:rPr>
              <a:t>FailmodeTestRowName</a:t>
            </a:r>
            <a:br>
              <a:rPr lang="en-US"/>
            </a:br>
            <a:br>
              <a:rPr lang="en-US"/>
            </a:br>
            <a:r>
              <a:rPr lang="en-US">
                <a:effectLst/>
              </a:rPr>
              <a:t>Now, I want to generate a full structure spread of every structure name in sheet 3, column 2 along with test row name in column 1 - there is one row of header in sheet 3</a:t>
            </a:r>
            <a:br>
              <a:rPr lang="en-US"/>
            </a:br>
            <a:r>
              <a:rPr lang="en-US">
                <a:effectLst/>
              </a:rPr>
              <a:t>The structure name should be generated as follows:</a:t>
            </a:r>
            <a:br>
              <a:rPr lang="en-US"/>
            </a:br>
            <a:br>
              <a:rPr lang="en-US"/>
            </a:br>
            <a:r>
              <a:rPr lang="en-US">
                <a:effectLst/>
              </a:rPr>
              <a:t>TSDRIdentifierCellHeight-PolarityDiffusionWidth-MetalGate-SkewIdentifier</a:t>
            </a:r>
            <a:br>
              <a:rPr lang="en-US"/>
            </a:br>
            <a:r>
              <a:rPr lang="en-US" err="1">
                <a:effectLst/>
              </a:rPr>
              <a:t>TSDRIdentifier</a:t>
            </a:r>
            <a:r>
              <a:rPr lang="en-US">
                <a:effectLst/>
              </a:rPr>
              <a:t> is in column F</a:t>
            </a:r>
            <a:br>
              <a:rPr lang="en-US"/>
            </a:br>
            <a:r>
              <a:rPr lang="en-US" err="1">
                <a:effectLst/>
              </a:rPr>
              <a:t>Cellheight</a:t>
            </a:r>
            <a:r>
              <a:rPr lang="en-US">
                <a:effectLst/>
              </a:rPr>
              <a:t> and Diff Width are in column J coupled together in the format 132Z4, Z4 is going to be Diffusion Width</a:t>
            </a:r>
            <a:br>
              <a:rPr lang="en-US"/>
            </a:br>
            <a:br>
              <a:rPr lang="en-US"/>
            </a:br>
            <a:r>
              <a:rPr lang="en-US">
                <a:effectLst/>
              </a:rPr>
              <a:t>​‌</a:t>
            </a:r>
            <a:endParaRPr lang="en-US"/>
          </a:p>
        </p:txBody>
      </p:sp>
    </p:spTree>
    <p:extLst>
      <p:ext uri="{BB962C8B-B14F-4D97-AF65-F5344CB8AC3E}">
        <p14:creationId xmlns:p14="http://schemas.microsoft.com/office/powerpoint/2010/main" val="728138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reserve="1">
  <p:cSld name="title-1">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9F40426C-8590-75EA-3597-2DCF09D8DD02}"/>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35000" y="0"/>
            <a:ext cx="8401115" cy="6858000"/>
          </a:xfrm>
          <a:prstGeom prst="rect">
            <a:avLst/>
          </a:prstGeom>
        </p:spPr>
      </p:pic>
      <p:sp>
        <p:nvSpPr>
          <p:cNvPr id="58" name="Body Level One…"/>
          <p:cNvSpPr txBox="1">
            <a:spLocks noGrp="1"/>
          </p:cNvSpPr>
          <p:nvPr>
            <p:ph type="body" sz="quarter" idx="1" hasCustomPrompt="1"/>
          </p:nvPr>
        </p:nvSpPr>
        <p:spPr>
          <a:xfrm>
            <a:off x="681536" y="1800625"/>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692213" y="2491573"/>
            <a:ext cx="9789008"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1536" y="1253906"/>
            <a:ext cx="1993920" cy="343397"/>
          </a:xfrm>
          <a:prstGeom prst="rect">
            <a:avLst/>
          </a:prstGeom>
        </p:spPr>
      </p:pic>
    </p:spTree>
    <p:extLst>
      <p:ext uri="{BB962C8B-B14F-4D97-AF65-F5344CB8AC3E}">
        <p14:creationId xmlns:p14="http://schemas.microsoft.com/office/powerpoint/2010/main" val="107174526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reserve="1">
  <p:cSld name="titl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7" name="Picture 6" descr="A blue and red dot pattern&#10;&#10;Description automatically generated">
            <a:extLst>
              <a:ext uri="{FF2B5EF4-FFF2-40B4-BE49-F238E27FC236}">
                <a16:creationId xmlns:a16="http://schemas.microsoft.com/office/drawing/2014/main" id="{9276B984-9BE6-2693-924F-0A1F8EB57671}"/>
              </a:ext>
            </a:extLst>
          </p:cNvPr>
          <p:cNvPicPr>
            <a:picLocks noChangeAspect="1"/>
          </p:cNvPicPr>
          <p:nvPr userDrawn="1"/>
        </p:nvPicPr>
        <p:blipFill rotWithShape="1">
          <a:blip r:embed="rId2" cstate="print">
            <a:alphaModFix amt="70000"/>
            <a:extLst>
              <a:ext uri="{28A0092B-C50C-407E-A947-70E740481C1C}">
                <a14:useLocalDpi xmlns:a14="http://schemas.microsoft.com/office/drawing/2010/main" val="0"/>
              </a:ext>
            </a:extLst>
          </a:blip>
          <a:srcRect l="-23849" t="-2949" r="25093" b="47256"/>
          <a:stretch/>
        </p:blipFill>
        <p:spPr>
          <a:xfrm flipH="1">
            <a:off x="0" y="0"/>
            <a:ext cx="12161351" cy="6858000"/>
          </a:xfrm>
          <a:prstGeom prst="rect">
            <a:avLst/>
          </a:prstGeom>
        </p:spPr>
      </p:pic>
      <p:sp>
        <p:nvSpPr>
          <p:cNvPr id="58" name="Body Level One…"/>
          <p:cNvSpPr txBox="1">
            <a:spLocks noGrp="1"/>
          </p:cNvSpPr>
          <p:nvPr>
            <p:ph type="body" sz="quarter" idx="1" hasCustomPrompt="1"/>
          </p:nvPr>
        </p:nvSpPr>
        <p:spPr>
          <a:xfrm>
            <a:off x="1828192" y="944163"/>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1838869" y="1635111"/>
            <a:ext cx="9789008"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04608" y="6070095"/>
            <a:ext cx="1993920" cy="343397"/>
          </a:xfrm>
          <a:prstGeom prst="rect">
            <a:avLst/>
          </a:prstGeom>
        </p:spPr>
      </p:pic>
    </p:spTree>
    <p:extLst>
      <p:ext uri="{BB962C8B-B14F-4D97-AF65-F5344CB8AC3E}">
        <p14:creationId xmlns:p14="http://schemas.microsoft.com/office/powerpoint/2010/main" val="392408395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reserve="1">
  <p:cSld name="title-3">
    <p:bg>
      <p:bgPr>
        <a:solidFill>
          <a:srgbClr val="001E50"/>
        </a:solidFill>
        <a:effectLst/>
      </p:bgPr>
    </p:bg>
    <p:spTree>
      <p:nvGrpSpPr>
        <p:cNvPr id="1" name=""/>
        <p:cNvGrpSpPr/>
        <p:nvPr/>
      </p:nvGrpSpPr>
      <p:grpSpPr>
        <a:xfrm>
          <a:off x="0" y="0"/>
          <a:ext cx="0" cy="0"/>
          <a:chOff x="0" y="0"/>
          <a:chExt cx="0" cy="0"/>
        </a:xfrm>
      </p:grpSpPr>
      <p:pic>
        <p:nvPicPr>
          <p:cNvPr id="3" name="Picture 2" descr="Close-up of a machine with a machine in it&#10;&#10;Description automatically generated">
            <a:extLst>
              <a:ext uri="{FF2B5EF4-FFF2-40B4-BE49-F238E27FC236}">
                <a16:creationId xmlns:a16="http://schemas.microsoft.com/office/drawing/2014/main" id="{1FCE8F26-53D2-ED20-3390-33011B8BA897}"/>
              </a:ext>
            </a:extLst>
          </p:cNvPr>
          <p:cNvPicPr>
            <a:picLocks noChangeAspect="1"/>
          </p:cNvPicPr>
          <p:nvPr userDrawn="1"/>
        </p:nvPicPr>
        <p:blipFill rotWithShape="1">
          <a:blip r:embed="rId2" cstate="print">
            <a:alphaModFix/>
            <a:extLst>
              <a:ext uri="{28A0092B-C50C-407E-A947-70E740481C1C}">
                <a14:useLocalDpi xmlns:a14="http://schemas.microsoft.com/office/drawing/2010/main" val="0"/>
              </a:ext>
            </a:extLst>
          </a:blip>
          <a:srcRect l="16515" t="-261" r="15921" b="2271"/>
          <a:stretch/>
        </p:blipFill>
        <p:spPr>
          <a:xfrm>
            <a:off x="5080000" y="-18263"/>
            <a:ext cx="7112000" cy="6876263"/>
          </a:xfrm>
          <a:prstGeom prst="rect">
            <a:avLst/>
          </a:prstGeom>
        </p:spPr>
      </p:pic>
      <p:sp>
        <p:nvSpPr>
          <p:cNvPr id="8" name="Square">
            <a:extLst>
              <a:ext uri="{FF2B5EF4-FFF2-40B4-BE49-F238E27FC236}">
                <a16:creationId xmlns:a16="http://schemas.microsoft.com/office/drawing/2014/main" id="{19D2C123-E7FA-BD1E-1F61-73AE41DE0E8A}"/>
              </a:ext>
            </a:extLst>
          </p:cNvPr>
          <p:cNvSpPr/>
          <p:nvPr userDrawn="1"/>
        </p:nvSpPr>
        <p:spPr>
          <a:xfrm>
            <a:off x="0" y="0"/>
            <a:ext cx="5926667" cy="6858000"/>
          </a:xfrm>
          <a:prstGeom prst="rect">
            <a:avLst/>
          </a:prstGeom>
          <a:gradFill>
            <a:gsLst>
              <a:gs pos="0">
                <a:srgbClr val="00285A"/>
              </a:gs>
              <a:gs pos="100000">
                <a:srgbClr val="00163B"/>
              </a:gs>
            </a:gsLst>
            <a:lin ang="2700000" scaled="1"/>
          </a:gradFill>
          <a:ln w="12700" cap="flat">
            <a:noFill/>
            <a:miter lim="400000"/>
          </a:ln>
          <a:effectLst/>
        </p:spPr>
        <p:txBody>
          <a:bodyPr wrap="square" lIns="50800" tIns="50800" rIns="50800" bIns="50800" numCol="1" anchor="ctr">
            <a:noAutofit/>
          </a:bodyPr>
          <a:lstStyle/>
          <a:p>
            <a:pPr algn="ctr" defTabSz="825500">
              <a:defRPr sz="3200" b="1">
                <a:solidFill>
                  <a:srgbClr val="FFFFFF">
                    <a:alpha val="0"/>
                  </a:srgbClr>
                </a:solidFill>
                <a:latin typeface="+mj-lt"/>
                <a:ea typeface="+mj-ea"/>
                <a:cs typeface="+mj-cs"/>
                <a:sym typeface="Helvetica"/>
              </a:defRPr>
            </a:pPr>
            <a:endParaRP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844" y="6096001"/>
            <a:ext cx="1993920" cy="343397"/>
          </a:xfrm>
          <a:prstGeom prst="rect">
            <a:avLst/>
          </a:prstGeom>
        </p:spPr>
      </p:pic>
      <p:pic>
        <p:nvPicPr>
          <p:cNvPr id="2" name="Picture 1" descr="A blue and red dot pattern&#10;&#10;Description automatically generated">
            <a:extLst>
              <a:ext uri="{FF2B5EF4-FFF2-40B4-BE49-F238E27FC236}">
                <a16:creationId xmlns:a16="http://schemas.microsoft.com/office/drawing/2014/main" id="{117E78AB-FB9D-86D1-5C57-E89B77ED6065}"/>
              </a:ext>
            </a:extLst>
          </p:cNvPr>
          <p:cNvPicPr>
            <a:picLocks noChangeAspect="1"/>
          </p:cNvPicPr>
          <p:nvPr userDrawn="1"/>
        </p:nvPicPr>
        <p:blipFill rotWithShape="1">
          <a:blip r:embed="rId4" cstate="print">
            <a:alphaModFix amt="70000"/>
            <a:extLst>
              <a:ext uri="{28A0092B-C50C-407E-A947-70E740481C1C}">
                <a14:useLocalDpi xmlns:a14="http://schemas.microsoft.com/office/drawing/2010/main" val="0"/>
              </a:ext>
            </a:extLst>
          </a:blip>
          <a:srcRect l="-12036" t="-8368" r="43620" b="39847"/>
          <a:stretch/>
        </p:blipFill>
        <p:spPr>
          <a:xfrm rot="5400000" flipH="1">
            <a:off x="15080" y="-3183"/>
            <a:ext cx="4461343" cy="4467706"/>
          </a:xfrm>
          <a:prstGeom prst="rect">
            <a:avLst/>
          </a:prstGeom>
        </p:spPr>
      </p:pic>
      <p:sp>
        <p:nvSpPr>
          <p:cNvPr id="58" name="Body Level One…"/>
          <p:cNvSpPr txBox="1">
            <a:spLocks noGrp="1"/>
          </p:cNvSpPr>
          <p:nvPr>
            <p:ph type="body" sz="quarter" idx="1" hasCustomPrompt="1"/>
          </p:nvPr>
        </p:nvSpPr>
        <p:spPr>
          <a:xfrm>
            <a:off x="525777" y="1800625"/>
            <a:ext cx="4876271"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536454" y="2491573"/>
            <a:ext cx="4865657" cy="1874853"/>
          </a:xfrm>
          <a:prstGeom prst="rect">
            <a:avLst/>
          </a:prstGeom>
        </p:spPr>
        <p:txBody>
          <a:bodyPr anchor="b"/>
          <a:lstStyle>
            <a:lvl1pPr>
              <a:defRPr sz="6000">
                <a:solidFill>
                  <a:srgbClr val="FFFFFF"/>
                </a:solidFill>
              </a:defRPr>
            </a:lvl1pPr>
          </a:lstStyle>
          <a:p>
            <a:r>
              <a:t>Click to edit title style</a:t>
            </a:r>
          </a:p>
        </p:txBody>
      </p:sp>
    </p:spTree>
    <p:extLst>
      <p:ext uri="{BB962C8B-B14F-4D97-AF65-F5344CB8AC3E}">
        <p14:creationId xmlns:p14="http://schemas.microsoft.com/office/powerpoint/2010/main" val="182464387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title-4">
    <p:bg>
      <p:bgPr>
        <a:solidFill>
          <a:srgbClr val="001E50"/>
        </a:solidFill>
        <a:effectLst/>
      </p:bgPr>
    </p:bg>
    <p:spTree>
      <p:nvGrpSpPr>
        <p:cNvPr id="1" name=""/>
        <p:cNvGrpSpPr/>
        <p:nvPr/>
      </p:nvGrpSpPr>
      <p:grpSpPr>
        <a:xfrm>
          <a:off x="0" y="0"/>
          <a:ext cx="0" cy="0"/>
          <a:chOff x="0" y="0"/>
          <a:chExt cx="0" cy="0"/>
        </a:xfrm>
      </p:grpSpPr>
      <p:pic>
        <p:nvPicPr>
          <p:cNvPr id="3" name="Picture 2" descr="Close-up of a machine with a machine in it&#10;&#10;Description automatically generated">
            <a:extLst>
              <a:ext uri="{FF2B5EF4-FFF2-40B4-BE49-F238E27FC236}">
                <a16:creationId xmlns:a16="http://schemas.microsoft.com/office/drawing/2014/main" id="{1FCE8F26-53D2-ED20-3390-33011B8BA897}"/>
              </a:ext>
            </a:extLst>
          </p:cNvPr>
          <p:cNvPicPr>
            <a:picLocks noChangeAspect="1"/>
          </p:cNvPicPr>
          <p:nvPr userDrawn="1"/>
        </p:nvPicPr>
        <p:blipFill rotWithShape="1">
          <a:blip r:embed="rId2" cstate="print">
            <a:alphaModFix amt="48000"/>
            <a:extLst>
              <a:ext uri="{28A0092B-C50C-407E-A947-70E740481C1C}">
                <a14:useLocalDpi xmlns:a14="http://schemas.microsoft.com/office/drawing/2010/main" val="0"/>
              </a:ext>
            </a:extLst>
          </a:blip>
          <a:srcRect b="15400"/>
          <a:stretch/>
        </p:blipFill>
        <p:spPr>
          <a:xfrm>
            <a:off x="0" y="-18263"/>
            <a:ext cx="12192000" cy="6876263"/>
          </a:xfrm>
          <a:prstGeom prst="rect">
            <a:avLst/>
          </a:prstGeom>
        </p:spPr>
      </p:pic>
      <p:sp>
        <p:nvSpPr>
          <p:cNvPr id="2" name="Rectangle 1">
            <a:extLst>
              <a:ext uri="{FF2B5EF4-FFF2-40B4-BE49-F238E27FC236}">
                <a16:creationId xmlns:a16="http://schemas.microsoft.com/office/drawing/2014/main" id="{3B929988-07A5-87AE-FF77-F7A6CCEE6F74}"/>
              </a:ext>
            </a:extLst>
          </p:cNvPr>
          <p:cNvSpPr/>
          <p:nvPr userDrawn="1"/>
        </p:nvSpPr>
        <p:spPr>
          <a:xfrm>
            <a:off x="0" y="-9132"/>
            <a:ext cx="12192000" cy="6857999"/>
          </a:xfrm>
          <a:prstGeom prst="rect">
            <a:avLst/>
          </a:prstGeom>
          <a:gradFill>
            <a:gsLst>
              <a:gs pos="0">
                <a:srgbClr val="001E50">
                  <a:alpha val="0"/>
                </a:srgbClr>
              </a:gs>
              <a:gs pos="100000">
                <a:srgbClr val="00163B"/>
              </a:gs>
            </a:gsLst>
            <a:lin ang="2700000" scaled="1"/>
          </a:gra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endParaRPr>
          </a:p>
        </p:txBody>
      </p:sp>
      <p:sp>
        <p:nvSpPr>
          <p:cNvPr id="58" name="Body Level One…"/>
          <p:cNvSpPr txBox="1">
            <a:spLocks noGrp="1"/>
          </p:cNvSpPr>
          <p:nvPr>
            <p:ph type="body" sz="quarter" idx="1" hasCustomPrompt="1"/>
          </p:nvPr>
        </p:nvSpPr>
        <p:spPr>
          <a:xfrm>
            <a:off x="673844" y="1603704"/>
            <a:ext cx="9810362"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673844" y="2291094"/>
            <a:ext cx="9789008" cy="1874853"/>
          </a:xfrm>
          <a:prstGeom prst="rect">
            <a:avLst/>
          </a:prstGeom>
        </p:spPr>
        <p:txBody>
          <a:bodyPr anchor="b"/>
          <a:lstStyle>
            <a:lvl1pPr>
              <a:defRPr sz="6000">
                <a:solidFill>
                  <a:srgbClr val="FFFFFF"/>
                </a:solidFill>
              </a:defRPr>
            </a:lvl1pPr>
          </a:lstStyle>
          <a:p>
            <a:r>
              <a:t>Click to edit title style</a:t>
            </a:r>
          </a:p>
        </p:txBody>
      </p:sp>
      <p:pic>
        <p:nvPicPr>
          <p:cNvPr id="6" name="Picture 5" descr="A blue and black logo&#10;&#10;Description automatically generated">
            <a:extLst>
              <a:ext uri="{FF2B5EF4-FFF2-40B4-BE49-F238E27FC236}">
                <a16:creationId xmlns:a16="http://schemas.microsoft.com/office/drawing/2014/main" id="{69D744D4-4C06-008B-2047-4CFAD92E922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73844" y="6096001"/>
            <a:ext cx="1993920" cy="343397"/>
          </a:xfrm>
          <a:prstGeom prst="rect">
            <a:avLst/>
          </a:prstGeom>
        </p:spPr>
      </p:pic>
    </p:spTree>
    <p:extLst>
      <p:ext uri="{BB962C8B-B14F-4D97-AF65-F5344CB8AC3E}">
        <p14:creationId xmlns:p14="http://schemas.microsoft.com/office/powerpoint/2010/main" val="383046777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reserve="1">
  <p:cSld name="title-5">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AE079868-FFCF-41D3-4828-688544A62B45}"/>
              </a:ext>
            </a:extLst>
          </p:cNvPr>
          <p:cNvPicPr>
            <a:picLocks noChangeAspect="1"/>
          </p:cNvPicPr>
          <p:nvPr userDrawn="1"/>
        </p:nvPicPr>
        <p:blipFill rotWithShape="1">
          <a:blip r:embed="rId2" cstate="print">
            <a:alphaModFix amt="70000"/>
            <a:extLst>
              <a:ext uri="{28A0092B-C50C-407E-A947-70E740481C1C}">
                <a14:useLocalDpi xmlns:a14="http://schemas.microsoft.com/office/drawing/2010/main" val="0"/>
              </a:ext>
            </a:extLst>
          </a:blip>
          <a:srcRect l="-65108" t="-13689" r="40427" b="43374"/>
          <a:stretch/>
        </p:blipFill>
        <p:spPr>
          <a:xfrm flipH="1">
            <a:off x="0" y="0"/>
            <a:ext cx="12161351" cy="6858000"/>
          </a:xfrm>
          <a:prstGeom prst="rect">
            <a:avLst/>
          </a:prstGeom>
        </p:spPr>
      </p:pic>
      <p:sp>
        <p:nvSpPr>
          <p:cNvPr id="58" name="Body Level One…"/>
          <p:cNvSpPr txBox="1">
            <a:spLocks noGrp="1"/>
          </p:cNvSpPr>
          <p:nvPr>
            <p:ph type="body" sz="quarter" idx="1" hasCustomPrompt="1"/>
          </p:nvPr>
        </p:nvSpPr>
        <p:spPr>
          <a:xfrm>
            <a:off x="756745" y="1863672"/>
            <a:ext cx="7499594" cy="627701"/>
          </a:xfrm>
          <a:prstGeom prst="rect">
            <a:avLst/>
          </a:prstGeom>
        </p:spPr>
        <p:txBody>
          <a:bodyPr anchor="b"/>
          <a:lstStyle>
            <a:lvl1pPr marL="0" indent="0">
              <a:buSzTx/>
              <a:buFontTx/>
              <a:buNone/>
              <a:defRPr sz="1600">
                <a:solidFill>
                  <a:srgbClr val="FFFFFF"/>
                </a:solidFill>
                <a:latin typeface="IntelOne Text"/>
                <a:ea typeface="IntelOne Text"/>
                <a:cs typeface="IntelOne Text"/>
                <a:sym typeface="IntelOne Text"/>
              </a:defRPr>
            </a:lvl1pPr>
            <a:lvl2pPr marL="609600" indent="-152400">
              <a:buFontTx/>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2057400" indent="-228600">
              <a:buFontTx/>
              <a:defRPr sz="1600">
                <a:solidFill>
                  <a:srgbClr val="FFFFFF"/>
                </a:solidFill>
                <a:latin typeface="IntelOne Text"/>
                <a:ea typeface="IntelOne Text"/>
                <a:cs typeface="IntelOne Text"/>
                <a:sym typeface="IntelOne Text"/>
              </a:defRPr>
            </a:lvl5pPr>
          </a:lstStyle>
          <a:p>
            <a:r>
              <a:t>Click to edit text styles</a:t>
            </a:r>
          </a:p>
          <a:p>
            <a:pPr lvl="1"/>
            <a:endParaRPr/>
          </a:p>
          <a:p>
            <a:pPr lvl="2"/>
            <a:endParaRPr/>
          </a:p>
          <a:p>
            <a:pPr lvl="3"/>
            <a:endParaRPr/>
          </a:p>
          <a:p>
            <a:pPr lvl="4"/>
            <a:endParaRPr/>
          </a:p>
        </p:txBody>
      </p:sp>
      <p:sp>
        <p:nvSpPr>
          <p:cNvPr id="59" name="Click to edit title style"/>
          <p:cNvSpPr txBox="1">
            <a:spLocks noGrp="1"/>
          </p:cNvSpPr>
          <p:nvPr>
            <p:ph type="title" hasCustomPrompt="1"/>
          </p:nvPr>
        </p:nvSpPr>
        <p:spPr>
          <a:xfrm>
            <a:off x="767352" y="2554620"/>
            <a:ext cx="7483270" cy="1874853"/>
          </a:xfrm>
          <a:prstGeom prst="rect">
            <a:avLst/>
          </a:prstGeom>
        </p:spPr>
        <p:txBody>
          <a:bodyPr anchor="b"/>
          <a:lstStyle>
            <a:lvl1pPr>
              <a:defRPr sz="6000">
                <a:solidFill>
                  <a:srgbClr val="FFFFFF"/>
                </a:solidFill>
              </a:defRPr>
            </a:lvl1pPr>
          </a:lstStyle>
          <a:p>
            <a:r>
              <a:t>Click to edit title style</a:t>
            </a:r>
          </a:p>
        </p:txBody>
      </p:sp>
      <p:pic>
        <p:nvPicPr>
          <p:cNvPr id="5" name="Picture 4" descr="A blue and black logo&#10;&#10;Description automatically generated">
            <a:extLst>
              <a:ext uri="{FF2B5EF4-FFF2-40B4-BE49-F238E27FC236}">
                <a16:creationId xmlns:a16="http://schemas.microsoft.com/office/drawing/2014/main" id="{18684B9F-726D-E928-172D-5EE4D5A86E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6745" y="567419"/>
            <a:ext cx="1987388" cy="343397"/>
          </a:xfrm>
          <a:prstGeom prst="rect">
            <a:avLst/>
          </a:prstGeom>
        </p:spPr>
      </p:pic>
    </p:spTree>
    <p:extLst>
      <p:ext uri="{BB962C8B-B14F-4D97-AF65-F5344CB8AC3E}">
        <p14:creationId xmlns:p14="http://schemas.microsoft.com/office/powerpoint/2010/main" val="316356651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reserve="1">
  <p:cSld name="title-6">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EE89F789-57EC-AAED-71EF-32F1D65C08A5}"/>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90885" y="1"/>
            <a:ext cx="8401115" cy="6858000"/>
          </a:xfrm>
          <a:prstGeom prst="rect">
            <a:avLst/>
          </a:prstGeom>
        </p:spPr>
      </p:pic>
      <p:sp>
        <p:nvSpPr>
          <p:cNvPr id="58" name="Body Level One…"/>
          <p:cNvSpPr txBox="1">
            <a:spLocks noGrp="1"/>
          </p:cNvSpPr>
          <p:nvPr>
            <p:ph type="body" sz="quarter" idx="1" hasCustomPrompt="1"/>
          </p:nvPr>
        </p:nvSpPr>
        <p:spPr>
          <a:xfrm>
            <a:off x="696455" y="2262384"/>
            <a:ext cx="9810362" cy="627701"/>
          </a:xfrm>
          <a:prstGeom prst="rect">
            <a:avLst/>
          </a:prstGeom>
        </p:spPr>
        <p:txBody>
          <a:bodyPr anchor="b"/>
          <a:lstStyle>
            <a:lvl1pPr marL="0" indent="0" algn="l">
              <a:buSzTx/>
              <a:buFontTx/>
              <a:buNone/>
              <a:defRPr sz="1600">
                <a:solidFill>
                  <a:srgbClr val="FFFFFF"/>
                </a:solidFill>
                <a:effectLst/>
                <a:latin typeface="IntelOne Text"/>
                <a:ea typeface="IntelOne Text"/>
                <a:cs typeface="IntelOne Text"/>
                <a:sym typeface="IntelOne Text"/>
              </a:defRPr>
            </a:lvl1pPr>
            <a:lvl2pPr marL="457200" indent="0">
              <a:buFontTx/>
              <a:buNone/>
              <a:defRPr sz="1600">
                <a:solidFill>
                  <a:srgbClr val="FFFFFF"/>
                </a:solidFill>
                <a:latin typeface="IntelOne Text"/>
                <a:ea typeface="IntelOne Text"/>
                <a:cs typeface="IntelOne Text"/>
                <a:sym typeface="IntelOne Text"/>
              </a:defRPr>
            </a:lvl2pPr>
            <a:lvl3pPr marL="1097280" indent="-182880">
              <a:buFontTx/>
              <a:defRPr sz="1600">
                <a:solidFill>
                  <a:srgbClr val="FFFFFF"/>
                </a:solidFill>
                <a:latin typeface="IntelOne Text"/>
                <a:ea typeface="IntelOne Text"/>
                <a:cs typeface="IntelOne Text"/>
                <a:sym typeface="IntelOne Text"/>
              </a:defRPr>
            </a:lvl3pPr>
            <a:lvl4pPr marL="1574800" indent="-203200">
              <a:buFontTx/>
              <a:defRPr sz="1600">
                <a:solidFill>
                  <a:srgbClr val="FFFFFF"/>
                </a:solidFill>
                <a:latin typeface="IntelOne Text"/>
                <a:ea typeface="IntelOne Text"/>
                <a:cs typeface="IntelOne Text"/>
                <a:sym typeface="IntelOne Text"/>
              </a:defRPr>
            </a:lvl4pPr>
            <a:lvl5pPr marL="1828800" indent="0">
              <a:buFontTx/>
              <a:buNone/>
              <a:defRPr sz="1600">
                <a:solidFill>
                  <a:srgbClr val="FFFFFF"/>
                </a:solidFill>
                <a:latin typeface="IntelOne Text"/>
                <a:ea typeface="IntelOne Text"/>
                <a:cs typeface="IntelOne Text"/>
                <a:sym typeface="IntelOne Text"/>
              </a:defRPr>
            </a:lvl5pPr>
          </a:lstStyle>
          <a:p>
            <a:r>
              <a:t>Click to edit text styles</a:t>
            </a:r>
          </a:p>
        </p:txBody>
      </p:sp>
      <p:sp>
        <p:nvSpPr>
          <p:cNvPr id="59" name="Click to edit title style"/>
          <p:cNvSpPr txBox="1">
            <a:spLocks noGrp="1"/>
          </p:cNvSpPr>
          <p:nvPr>
            <p:ph type="title" hasCustomPrompt="1"/>
          </p:nvPr>
        </p:nvSpPr>
        <p:spPr>
          <a:xfrm>
            <a:off x="707132" y="2953332"/>
            <a:ext cx="9789008" cy="951335"/>
          </a:xfrm>
          <a:prstGeom prst="rect">
            <a:avLst/>
          </a:prstGeom>
          <a:effectLst/>
        </p:spPr>
        <p:txBody>
          <a:bodyPr anchor="t"/>
          <a:lstStyle>
            <a:lvl1pPr algn="l">
              <a:defRPr sz="6000">
                <a:solidFill>
                  <a:srgbClr val="FFFFFF"/>
                </a:solidFill>
                <a:effectLst/>
              </a:defRPr>
            </a:lvl1pPr>
          </a:lstStyle>
          <a:p>
            <a:r>
              <a:rPr lang="en-US"/>
              <a:t>Click </a:t>
            </a:r>
            <a:r>
              <a:t>to edit title style</a:t>
            </a:r>
          </a:p>
        </p:txBody>
      </p:sp>
      <p:pic>
        <p:nvPicPr>
          <p:cNvPr id="11" name="Picture 10" descr="A blue and black logo&#10;&#10;Description automatically generated">
            <a:extLst>
              <a:ext uri="{FF2B5EF4-FFF2-40B4-BE49-F238E27FC236}">
                <a16:creationId xmlns:a16="http://schemas.microsoft.com/office/drawing/2014/main" id="{761F71F0-ECAD-163B-F8F5-7EC1C597788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4196" y="5942760"/>
            <a:ext cx="2193940" cy="377845"/>
          </a:xfrm>
          <a:prstGeom prst="rect">
            <a:avLst/>
          </a:prstGeom>
        </p:spPr>
      </p:pic>
    </p:spTree>
    <p:extLst>
      <p:ext uri="{BB962C8B-B14F-4D97-AF65-F5344CB8AC3E}">
        <p14:creationId xmlns:p14="http://schemas.microsoft.com/office/powerpoint/2010/main" val="21763261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of-contents">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xfrm>
            <a:off x="11886783" y="6553044"/>
            <a:ext cx="166713" cy="153888"/>
          </a:xfrm>
          <a:prstGeom prst="rect">
            <a:avLst/>
          </a:prstGeom>
        </p:spPr>
        <p:txBody>
          <a:bodyPr/>
          <a:lstStyle>
            <a:lvl1pPr>
              <a:defRPr>
                <a:solidFill>
                  <a:schemeClr val="bg1"/>
                </a:solidFill>
              </a:defRPr>
            </a:lvl1pPr>
          </a:lstStyle>
          <a:p>
            <a:fld id="{86CB4B4D-7CA3-9044-876B-883B54F8677D}" type="slidenum">
              <a:rPr lang="en-US" smtClean="0"/>
              <a:pPr/>
              <a:t>‹#›</a:t>
            </a:fld>
            <a:endParaRPr lang="en-US"/>
          </a:p>
        </p:txBody>
      </p:sp>
      <p:sp>
        <p:nvSpPr>
          <p:cNvPr id="12" name="Text Placeholder 11">
            <a:extLst>
              <a:ext uri="{FF2B5EF4-FFF2-40B4-BE49-F238E27FC236}">
                <a16:creationId xmlns:a16="http://schemas.microsoft.com/office/drawing/2014/main" id="{A45867C5-40E5-FA6B-368F-B8BACAE33030}"/>
              </a:ext>
            </a:extLst>
          </p:cNvPr>
          <p:cNvSpPr>
            <a:spLocks noGrp="1"/>
          </p:cNvSpPr>
          <p:nvPr>
            <p:ph type="body" sz="quarter" idx="10"/>
          </p:nvPr>
        </p:nvSpPr>
        <p:spPr>
          <a:xfrm>
            <a:off x="681038" y="724773"/>
            <a:ext cx="10379075" cy="2566987"/>
          </a:xfrm>
        </p:spPr>
        <p:txBody>
          <a:bodyPr anchor="b">
            <a:noAutofit/>
          </a:bodyPr>
          <a:lstStyle>
            <a:lvl1pPr marL="0" indent="0">
              <a:buFontTx/>
              <a:buNone/>
              <a:defRPr sz="7200" b="0" i="0">
                <a:solidFill>
                  <a:schemeClr val="bg1"/>
                </a:solidFill>
                <a:latin typeface="IntelOne Display Light" panose="020B0403020203020204" pitchFamily="34" charset="77"/>
              </a:defRPr>
            </a:lvl1pPr>
            <a:lvl2pPr marL="457200" indent="0">
              <a:buFontTx/>
              <a:buNone/>
              <a:defRPr sz="7200" b="0" i="0">
                <a:solidFill>
                  <a:schemeClr val="bg1"/>
                </a:solidFill>
                <a:latin typeface="IntelOne Display Light" panose="020B0403020203020204" pitchFamily="34" charset="77"/>
              </a:defRPr>
            </a:lvl2pPr>
            <a:lvl3pPr marL="914400" indent="0">
              <a:buFontTx/>
              <a:buNone/>
              <a:defRPr sz="7200" b="0" i="0">
                <a:solidFill>
                  <a:schemeClr val="bg1"/>
                </a:solidFill>
                <a:latin typeface="IntelOne Display Light" panose="020B0403020203020204" pitchFamily="34" charset="77"/>
              </a:defRPr>
            </a:lvl3pPr>
            <a:lvl4pPr marL="1371600" indent="0">
              <a:buFontTx/>
              <a:buNone/>
              <a:defRPr sz="7200" b="0" i="0">
                <a:solidFill>
                  <a:schemeClr val="bg1"/>
                </a:solidFill>
                <a:latin typeface="IntelOne Display Light" panose="020B0403020203020204" pitchFamily="34" charset="77"/>
              </a:defRPr>
            </a:lvl4pPr>
            <a:lvl5pPr marL="1828800" indent="0">
              <a:buFontTx/>
              <a:buNone/>
              <a:defRPr sz="7200" b="0" i="0">
                <a:solidFill>
                  <a:schemeClr val="bg1"/>
                </a:solidFill>
                <a:latin typeface="IntelOne Display Light" panose="020B04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F4E2D72A-195E-F347-B705-43A761D45E77}"/>
              </a:ext>
            </a:extLst>
          </p:cNvPr>
          <p:cNvSpPr>
            <a:spLocks noGrp="1"/>
          </p:cNvSpPr>
          <p:nvPr>
            <p:ph type="body" sz="quarter" idx="11"/>
          </p:nvPr>
        </p:nvSpPr>
        <p:spPr>
          <a:xfrm>
            <a:off x="339838" y="3693400"/>
            <a:ext cx="979488" cy="2179637"/>
          </a:xfrm>
        </p:spPr>
        <p:txBody>
          <a:bodyPr>
            <a:noAutofit/>
          </a:bodyPr>
          <a:lstStyle>
            <a:lvl1pPr marL="0" indent="0" algn="r">
              <a:lnSpc>
                <a:spcPct val="100000"/>
              </a:lnSpc>
              <a:buNone/>
              <a:defRPr sz="2000" b="0" i="0">
                <a:solidFill>
                  <a:srgbClr val="00C7FD"/>
                </a:solidFill>
                <a:latin typeface="IntelOne Text Medium" panose="020B0503020203020204" pitchFamily="34" charset="77"/>
              </a:defRPr>
            </a:lvl1pPr>
            <a:lvl2pPr marL="457200" indent="0" algn="r">
              <a:lnSpc>
                <a:spcPct val="100000"/>
              </a:lnSpc>
              <a:buNone/>
              <a:defRPr sz="2000" b="0" i="0">
                <a:solidFill>
                  <a:srgbClr val="00C7FD"/>
                </a:solidFill>
                <a:latin typeface="IntelOne Text Medium" panose="020B0503020203020204" pitchFamily="34" charset="77"/>
              </a:defRPr>
            </a:lvl2pPr>
            <a:lvl3pPr marL="914400" indent="0" algn="r">
              <a:lnSpc>
                <a:spcPct val="100000"/>
              </a:lnSpc>
              <a:buNone/>
              <a:defRPr sz="2000" b="0" i="0">
                <a:solidFill>
                  <a:srgbClr val="00C7FD"/>
                </a:solidFill>
                <a:latin typeface="IntelOne Text Medium" panose="020B0503020203020204" pitchFamily="34" charset="77"/>
              </a:defRPr>
            </a:lvl3pPr>
            <a:lvl4pPr marL="1371600" indent="0" algn="r">
              <a:lnSpc>
                <a:spcPct val="100000"/>
              </a:lnSpc>
              <a:buNone/>
              <a:defRPr sz="2000" b="0" i="0">
                <a:solidFill>
                  <a:srgbClr val="00C7FD"/>
                </a:solidFill>
                <a:latin typeface="IntelOne Text Medium" panose="020B0503020203020204" pitchFamily="34" charset="77"/>
              </a:defRPr>
            </a:lvl4pPr>
            <a:lvl5pPr marL="1828800" indent="0" algn="r">
              <a:lnSpc>
                <a:spcPct val="100000"/>
              </a:lnSpc>
              <a:buNone/>
              <a:defRPr sz="2000" b="0" i="0">
                <a:solidFill>
                  <a:srgbClr val="00C7FD"/>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92AC664D-73B7-37A2-81BF-4A46E1A1B179}"/>
              </a:ext>
            </a:extLst>
          </p:cNvPr>
          <p:cNvSpPr>
            <a:spLocks noGrp="1"/>
          </p:cNvSpPr>
          <p:nvPr>
            <p:ph type="body" sz="quarter" idx="12"/>
          </p:nvPr>
        </p:nvSpPr>
        <p:spPr>
          <a:xfrm>
            <a:off x="1604963" y="3694113"/>
            <a:ext cx="2228850" cy="2143125"/>
          </a:xfrm>
        </p:spPr>
        <p:txBody>
          <a:bodyPr>
            <a:noAutofit/>
          </a:bodyPr>
          <a:lstStyle>
            <a:lvl1pPr marL="0" indent="0" algn="l">
              <a:lnSpc>
                <a:spcPct val="100000"/>
              </a:lnSpc>
              <a:buNone/>
              <a:defRPr sz="2000">
                <a:solidFill>
                  <a:schemeClr val="bg1"/>
                </a:solidFill>
              </a:defRPr>
            </a:lvl1pPr>
            <a:lvl2pPr marL="457200" indent="0" algn="l">
              <a:lnSpc>
                <a:spcPct val="100000"/>
              </a:lnSpc>
              <a:buNone/>
              <a:defRPr sz="2000">
                <a:solidFill>
                  <a:schemeClr val="bg1"/>
                </a:solidFill>
              </a:defRPr>
            </a:lvl2pPr>
            <a:lvl3pPr marL="914400" indent="0" algn="l">
              <a:lnSpc>
                <a:spcPct val="100000"/>
              </a:lnSpc>
              <a:buNone/>
              <a:defRPr sz="2000">
                <a:solidFill>
                  <a:schemeClr val="bg1"/>
                </a:solidFill>
              </a:defRPr>
            </a:lvl3pPr>
            <a:lvl4pPr marL="1371600" indent="0" algn="l">
              <a:lnSpc>
                <a:spcPct val="100000"/>
              </a:lnSpc>
              <a:buNone/>
              <a:defRPr sz="2000">
                <a:solidFill>
                  <a:schemeClr val="bg1"/>
                </a:solidFill>
              </a:defRPr>
            </a:lvl4pPr>
            <a:lvl5pPr marL="1828800" indent="0" algn="l">
              <a:lnSpc>
                <a:spcPct val="100000"/>
              </a:lnSpc>
              <a:buNone/>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BF2A5489-45AD-96BE-CA4A-4ED0765D386D}"/>
              </a:ext>
            </a:extLst>
          </p:cNvPr>
          <p:cNvSpPr>
            <a:spLocks noGrp="1"/>
          </p:cNvSpPr>
          <p:nvPr>
            <p:ph type="body" sz="quarter" idx="13"/>
          </p:nvPr>
        </p:nvSpPr>
        <p:spPr>
          <a:xfrm>
            <a:off x="4531447" y="3693400"/>
            <a:ext cx="979488" cy="2179637"/>
          </a:xfrm>
        </p:spPr>
        <p:txBody>
          <a:bodyPr>
            <a:noAutofit/>
          </a:bodyPr>
          <a:lstStyle>
            <a:lvl1pPr marL="0" indent="0" algn="r">
              <a:lnSpc>
                <a:spcPct val="100000"/>
              </a:lnSpc>
              <a:buNone/>
              <a:defRPr sz="2000" b="0" i="0">
                <a:solidFill>
                  <a:srgbClr val="00C7FD"/>
                </a:solidFill>
                <a:latin typeface="IntelOne Text Medium" panose="020B0503020203020204" pitchFamily="34" charset="77"/>
              </a:defRPr>
            </a:lvl1pPr>
            <a:lvl2pPr marL="457200" indent="0" algn="r">
              <a:lnSpc>
                <a:spcPct val="100000"/>
              </a:lnSpc>
              <a:buNone/>
              <a:defRPr sz="2000" b="0" i="0">
                <a:solidFill>
                  <a:srgbClr val="00C7FD"/>
                </a:solidFill>
                <a:latin typeface="IntelOne Text Medium" panose="020B0503020203020204" pitchFamily="34" charset="77"/>
              </a:defRPr>
            </a:lvl2pPr>
            <a:lvl3pPr marL="914400" indent="0" algn="r">
              <a:lnSpc>
                <a:spcPct val="100000"/>
              </a:lnSpc>
              <a:buNone/>
              <a:defRPr sz="2000" b="0" i="0">
                <a:solidFill>
                  <a:srgbClr val="00C7FD"/>
                </a:solidFill>
                <a:latin typeface="IntelOne Text Medium" panose="020B0503020203020204" pitchFamily="34" charset="77"/>
              </a:defRPr>
            </a:lvl3pPr>
            <a:lvl4pPr marL="1371600" indent="0" algn="r">
              <a:lnSpc>
                <a:spcPct val="100000"/>
              </a:lnSpc>
              <a:buNone/>
              <a:defRPr sz="2000" b="0" i="0">
                <a:solidFill>
                  <a:srgbClr val="00C7FD"/>
                </a:solidFill>
                <a:latin typeface="IntelOne Text Medium" panose="020B0503020203020204" pitchFamily="34" charset="77"/>
              </a:defRPr>
            </a:lvl4pPr>
            <a:lvl5pPr marL="1828800" indent="0" algn="r">
              <a:lnSpc>
                <a:spcPct val="100000"/>
              </a:lnSpc>
              <a:buNone/>
              <a:defRPr sz="2000" b="0" i="0">
                <a:solidFill>
                  <a:srgbClr val="00C7FD"/>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6">
            <a:extLst>
              <a:ext uri="{FF2B5EF4-FFF2-40B4-BE49-F238E27FC236}">
                <a16:creationId xmlns:a16="http://schemas.microsoft.com/office/drawing/2014/main" id="{39540FBB-B621-7A78-7910-C7B019FD911A}"/>
              </a:ext>
            </a:extLst>
          </p:cNvPr>
          <p:cNvSpPr>
            <a:spLocks noGrp="1"/>
          </p:cNvSpPr>
          <p:nvPr>
            <p:ph type="body" sz="quarter" idx="14"/>
          </p:nvPr>
        </p:nvSpPr>
        <p:spPr>
          <a:xfrm>
            <a:off x="5789258" y="3694113"/>
            <a:ext cx="2228850" cy="2143125"/>
          </a:xfrm>
        </p:spPr>
        <p:txBody>
          <a:bodyPr>
            <a:noAutofit/>
          </a:bodyPr>
          <a:lstStyle>
            <a:lvl1pPr marL="0" indent="0" algn="l">
              <a:lnSpc>
                <a:spcPct val="100000"/>
              </a:lnSpc>
              <a:buNone/>
              <a:defRPr sz="2000">
                <a:solidFill>
                  <a:schemeClr val="bg1"/>
                </a:solidFill>
              </a:defRPr>
            </a:lvl1pPr>
            <a:lvl2pPr marL="457200" indent="0" algn="l">
              <a:lnSpc>
                <a:spcPct val="100000"/>
              </a:lnSpc>
              <a:buNone/>
              <a:defRPr sz="2000">
                <a:solidFill>
                  <a:schemeClr val="bg1"/>
                </a:solidFill>
              </a:defRPr>
            </a:lvl2pPr>
            <a:lvl3pPr marL="914400" indent="0" algn="l">
              <a:lnSpc>
                <a:spcPct val="100000"/>
              </a:lnSpc>
              <a:buNone/>
              <a:defRPr sz="2000">
                <a:solidFill>
                  <a:schemeClr val="bg1"/>
                </a:solidFill>
              </a:defRPr>
            </a:lvl3pPr>
            <a:lvl4pPr marL="1371600" indent="0" algn="l">
              <a:lnSpc>
                <a:spcPct val="100000"/>
              </a:lnSpc>
              <a:buNone/>
              <a:defRPr sz="2000">
                <a:solidFill>
                  <a:schemeClr val="bg1"/>
                </a:solidFill>
              </a:defRPr>
            </a:lvl4pPr>
            <a:lvl5pPr marL="1828800" indent="0" algn="l">
              <a:lnSpc>
                <a:spcPct val="100000"/>
              </a:lnSpc>
              <a:buNone/>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68078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lid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8" name="Content Placeholder 7">
            <a:extLst>
              <a:ext uri="{FF2B5EF4-FFF2-40B4-BE49-F238E27FC236}">
                <a16:creationId xmlns:a16="http://schemas.microsoft.com/office/drawing/2014/main" id="{2A8501D0-7610-BC8E-FBCE-A93AA819E8AD}"/>
              </a:ext>
            </a:extLst>
          </p:cNvPr>
          <p:cNvSpPr>
            <a:spLocks noGrp="1"/>
          </p:cNvSpPr>
          <p:nvPr>
            <p:ph sz="quarter" idx="10"/>
          </p:nvPr>
        </p:nvSpPr>
        <p:spPr>
          <a:xfrm>
            <a:off x="381000" y="1600200"/>
            <a:ext cx="109728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787376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lid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a:xfrm>
            <a:off x="381000" y="92074"/>
            <a:ext cx="11659814" cy="1508126"/>
          </a:xfrm>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8" name="Content Placeholder 7">
            <a:extLst>
              <a:ext uri="{FF2B5EF4-FFF2-40B4-BE49-F238E27FC236}">
                <a16:creationId xmlns:a16="http://schemas.microsoft.com/office/drawing/2014/main" id="{2A8501D0-7610-BC8E-FBCE-A93AA819E8AD}"/>
              </a:ext>
            </a:extLst>
          </p:cNvPr>
          <p:cNvSpPr>
            <a:spLocks noGrp="1"/>
          </p:cNvSpPr>
          <p:nvPr>
            <p:ph sz="quarter" idx="10"/>
          </p:nvPr>
        </p:nvSpPr>
        <p:spPr>
          <a:xfrm>
            <a:off x="381000" y="1600200"/>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7">
            <a:extLst>
              <a:ext uri="{FF2B5EF4-FFF2-40B4-BE49-F238E27FC236}">
                <a16:creationId xmlns:a16="http://schemas.microsoft.com/office/drawing/2014/main" id="{DA62BE2C-BCE4-427B-443B-1E0257717526}"/>
              </a:ext>
            </a:extLst>
          </p:cNvPr>
          <p:cNvSpPr>
            <a:spLocks noGrp="1"/>
          </p:cNvSpPr>
          <p:nvPr>
            <p:ph sz="quarter" idx="11"/>
          </p:nvPr>
        </p:nvSpPr>
        <p:spPr>
          <a:xfrm>
            <a:off x="6274904" y="1600200"/>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262920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lide-with-imag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
        <p:nvSpPr>
          <p:cNvPr id="4" name="Title 3">
            <a:extLst>
              <a:ext uri="{FF2B5EF4-FFF2-40B4-BE49-F238E27FC236}">
                <a16:creationId xmlns:a16="http://schemas.microsoft.com/office/drawing/2014/main" id="{62B333F7-D08C-91B6-B5BE-23FBBFD7BF7C}"/>
              </a:ext>
            </a:extLst>
          </p:cNvPr>
          <p:cNvSpPr>
            <a:spLocks noGrp="1"/>
          </p:cNvSpPr>
          <p:nvPr>
            <p:ph type="title"/>
          </p:nvPr>
        </p:nvSpPr>
        <p:spPr>
          <a:xfrm>
            <a:off x="5999922" y="290857"/>
            <a:ext cx="5715000" cy="1508126"/>
          </a:xfrm>
        </p:spPr>
        <p:txBody>
          <a:bodyPr>
            <a:normAutofit/>
          </a:bodyPr>
          <a:lstStyle>
            <a:lvl1pPr>
              <a:defRPr kumimoji="0" lang="en-US" sz="4000" b="0" i="0" u="none" strike="noStrike" cap="none" spc="0" normalizeH="0" baseline="0" dirty="0">
                <a:ln>
                  <a:noFill/>
                </a:ln>
                <a:gradFill>
                  <a:gsLst>
                    <a:gs pos="56000">
                      <a:srgbClr val="6DDCFF"/>
                    </a:gs>
                    <a:gs pos="31000">
                      <a:srgbClr val="ADEEFF"/>
                    </a:gs>
                    <a:gs pos="99000">
                      <a:srgbClr val="00C7FD"/>
                    </a:gs>
                  </a:gsLst>
                  <a:lin ang="3600000" scaled="0"/>
                </a:gradFill>
                <a:effectLst/>
                <a:uFillTx/>
                <a:latin typeface="IntelOne Display Light"/>
                <a:ea typeface="IntelOne Display Light"/>
                <a:cs typeface="IntelOne Display Light"/>
                <a:sym typeface="IntelOne Text Light"/>
              </a:defRPr>
            </a:lvl1pPr>
          </a:lstStyle>
          <a:p>
            <a:pPr marL="0" marR="0" lvl="0" indent="0" algn="l" defTabSz="914400" rtl="0" fontAlgn="auto" latinLnBrk="0" hangingPunct="1">
              <a:lnSpc>
                <a:spcPct val="90000"/>
              </a:lnSpc>
              <a:spcBef>
                <a:spcPts val="0"/>
              </a:spcBef>
              <a:spcAft>
                <a:spcPts val="0"/>
              </a:spcAft>
              <a:buClrTx/>
              <a:buSzTx/>
              <a:buFontTx/>
              <a:buNone/>
              <a:tabLst/>
            </a:pPr>
            <a:r>
              <a:rPr lang="en-US"/>
              <a:t>Click to edit Master title style</a:t>
            </a:r>
          </a:p>
        </p:txBody>
      </p:sp>
      <p:sp>
        <p:nvSpPr>
          <p:cNvPr id="2" name="Content Placeholder 7">
            <a:extLst>
              <a:ext uri="{FF2B5EF4-FFF2-40B4-BE49-F238E27FC236}">
                <a16:creationId xmlns:a16="http://schemas.microsoft.com/office/drawing/2014/main" id="{DA62BE2C-BCE4-427B-443B-1E0257717526}"/>
              </a:ext>
            </a:extLst>
          </p:cNvPr>
          <p:cNvSpPr>
            <a:spLocks noGrp="1"/>
          </p:cNvSpPr>
          <p:nvPr>
            <p:ph sz="quarter" idx="11"/>
          </p:nvPr>
        </p:nvSpPr>
        <p:spPr>
          <a:xfrm>
            <a:off x="5986670" y="1798983"/>
            <a:ext cx="5715000" cy="443909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erson wearing white protective gear standing in a hallway&#10;&#10;Description automatically generated">
            <a:extLst>
              <a:ext uri="{FF2B5EF4-FFF2-40B4-BE49-F238E27FC236}">
                <a16:creationId xmlns:a16="http://schemas.microsoft.com/office/drawing/2014/main" id="{C8003DCB-3544-7ED6-4E4B-CB9C6CF44E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584" t="30192" r="17582" b="23002"/>
          <a:stretch/>
        </p:blipFill>
        <p:spPr>
          <a:xfrm>
            <a:off x="-1" y="-1"/>
            <a:ext cx="5546541" cy="6401451"/>
          </a:xfrm>
          <a:prstGeom prst="rect">
            <a:avLst/>
          </a:prstGeom>
        </p:spPr>
      </p:pic>
    </p:spTree>
    <p:extLst>
      <p:ext uri="{BB962C8B-B14F-4D97-AF65-F5344CB8AC3E}">
        <p14:creationId xmlns:p14="http://schemas.microsoft.com/office/powerpoint/2010/main" val="347613985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width-image">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pic>
        <p:nvPicPr>
          <p:cNvPr id="5" name="Picture 4" descr="A person in a white protective suit and goggles&#10;&#10;Description automatically generated">
            <a:extLst>
              <a:ext uri="{FF2B5EF4-FFF2-40B4-BE49-F238E27FC236}">
                <a16:creationId xmlns:a16="http://schemas.microsoft.com/office/drawing/2014/main" id="{CF56A96F-34E4-115E-D400-BB0BB4C1B85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552" t="18940" b="16558"/>
          <a:stretch/>
        </p:blipFill>
        <p:spPr>
          <a:xfrm>
            <a:off x="0" y="0"/>
            <a:ext cx="12192000" cy="6858000"/>
          </a:xfrm>
          <a:prstGeom prst="rect">
            <a:avLst/>
          </a:prstGeom>
        </p:spPr>
      </p:pic>
      <p:sp>
        <p:nvSpPr>
          <p:cNvPr id="6" name="Rectangle 5">
            <a:extLst>
              <a:ext uri="{FF2B5EF4-FFF2-40B4-BE49-F238E27FC236}">
                <a16:creationId xmlns:a16="http://schemas.microsoft.com/office/drawing/2014/main" id="{02016498-EDD8-05D2-AC1A-B65F72CFA45A}"/>
              </a:ext>
            </a:extLst>
          </p:cNvPr>
          <p:cNvSpPr/>
          <p:nvPr userDrawn="1"/>
        </p:nvSpPr>
        <p:spPr>
          <a:xfrm>
            <a:off x="7495821" y="1430865"/>
            <a:ext cx="3770489" cy="3770489"/>
          </a:xfrm>
          <a:prstGeom prst="rect">
            <a:avLst/>
          </a:prstGeom>
          <a:solidFill>
            <a:srgbClr val="001E50"/>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endParaRPr>
          </a:p>
        </p:txBody>
      </p:sp>
      <p:sp>
        <p:nvSpPr>
          <p:cNvPr id="8" name="Content Placeholder 7">
            <a:extLst>
              <a:ext uri="{FF2B5EF4-FFF2-40B4-BE49-F238E27FC236}">
                <a16:creationId xmlns:a16="http://schemas.microsoft.com/office/drawing/2014/main" id="{D0967643-3BEC-A533-6C11-CF95FAD857A2}"/>
              </a:ext>
            </a:extLst>
          </p:cNvPr>
          <p:cNvSpPr>
            <a:spLocks noGrp="1"/>
          </p:cNvSpPr>
          <p:nvPr>
            <p:ph sz="quarter" idx="10"/>
          </p:nvPr>
        </p:nvSpPr>
        <p:spPr>
          <a:xfrm>
            <a:off x="7891463" y="1719263"/>
            <a:ext cx="3001962" cy="313055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37866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end-slide-2">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pic>
        <p:nvPicPr>
          <p:cNvPr id="2" name="Picture 1" descr="A blue and red dot pattern&#10;&#10;Description automatically generated">
            <a:extLst>
              <a:ext uri="{FF2B5EF4-FFF2-40B4-BE49-F238E27FC236}">
                <a16:creationId xmlns:a16="http://schemas.microsoft.com/office/drawing/2014/main" id="{2B651D04-5BA3-C150-17D5-B7EFE856F4D3}"/>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val="0"/>
              </a:ext>
            </a:extLst>
          </a:blip>
          <a:srcRect l="-2776" t="2228" r="44256" b="50000"/>
          <a:stretch/>
        </p:blipFill>
        <p:spPr>
          <a:xfrm>
            <a:off x="3790885" y="0"/>
            <a:ext cx="8401115" cy="6858000"/>
          </a:xfrm>
          <a:prstGeom prst="rect">
            <a:avLst/>
          </a:prstGeom>
        </p:spPr>
      </p:pic>
      <p:pic>
        <p:nvPicPr>
          <p:cNvPr id="4" name="Picture 3" descr="A blue and black logo&#10;&#10;Description automatically generated">
            <a:extLst>
              <a:ext uri="{FF2B5EF4-FFF2-40B4-BE49-F238E27FC236}">
                <a16:creationId xmlns:a16="http://schemas.microsoft.com/office/drawing/2014/main" id="{0CED3B90-FA32-BE0E-F4DE-36C7E7ECC58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42219" y="3045171"/>
            <a:ext cx="5307561" cy="914079"/>
          </a:xfrm>
          <a:prstGeom prst="rect">
            <a:avLst/>
          </a:prstGeom>
        </p:spPr>
      </p:pic>
    </p:spTree>
    <p:extLst>
      <p:ext uri="{BB962C8B-B14F-4D97-AF65-F5344CB8AC3E}">
        <p14:creationId xmlns:p14="http://schemas.microsoft.com/office/powerpoint/2010/main" val="76587490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218" name="Slide Number"/>
          <p:cNvSpPr txBox="1">
            <a:spLocks noGrp="1"/>
          </p:cNvSpPr>
          <p:nvPr>
            <p:ph type="sldNum" sz="quarter" idx="2"/>
          </p:nvPr>
        </p:nvSpPr>
        <p:spPr>
          <a:xfrm>
            <a:off x="11899462" y="6553044"/>
            <a:ext cx="141352" cy="165101"/>
          </a:xfrm>
          <a:prstGeom prst="rect">
            <a:avLst/>
          </a:prstGeom>
        </p:spPr>
        <p:txBody>
          <a:bodyPr/>
          <a:lstStyle>
            <a:lvl1pPr>
              <a:defRPr>
                <a:solidFill>
                  <a:srgbClr val="FFFFFF"/>
                </a:solidFill>
                <a:latin typeface="IntelOne Text Light"/>
                <a:ea typeface="IntelOne Text Light"/>
                <a:cs typeface="IntelOne Text Light"/>
                <a:sym typeface="IntelOne Text Light"/>
              </a:defRPr>
            </a:lvl1pPr>
          </a:lstStyle>
          <a:p>
            <a:fld id="{86CB4B4D-7CA3-9044-876B-883B54F8677D}" type="slidenum">
              <a:t>‹#›</a:t>
            </a:fld>
            <a:endParaRPr/>
          </a:p>
        </p:txBody>
      </p:sp>
    </p:spTree>
    <p:extLst>
      <p:ext uri="{BB962C8B-B14F-4D97-AF65-F5344CB8AC3E}">
        <p14:creationId xmlns:p14="http://schemas.microsoft.com/office/powerpoint/2010/main" val="3836405885"/>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of-contents-white">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 name="Text Placeholder 11">
            <a:extLst>
              <a:ext uri="{FF2B5EF4-FFF2-40B4-BE49-F238E27FC236}">
                <a16:creationId xmlns:a16="http://schemas.microsoft.com/office/drawing/2014/main" id="{A45867C5-40E5-FA6B-368F-B8BACAE33030}"/>
              </a:ext>
            </a:extLst>
          </p:cNvPr>
          <p:cNvSpPr>
            <a:spLocks noGrp="1"/>
          </p:cNvSpPr>
          <p:nvPr>
            <p:ph type="body" sz="quarter" idx="10"/>
          </p:nvPr>
        </p:nvSpPr>
        <p:spPr>
          <a:xfrm>
            <a:off x="681038" y="724773"/>
            <a:ext cx="10379075" cy="2566987"/>
          </a:xfrm>
        </p:spPr>
        <p:txBody>
          <a:bodyPr anchor="b">
            <a:noAutofit/>
          </a:bodyPr>
          <a:lstStyle>
            <a:lvl1pPr marL="0" indent="0">
              <a:buFontTx/>
              <a:buNone/>
              <a:defRPr sz="7200" b="0" i="0">
                <a:latin typeface="IntelOne Display Light" panose="020B0403020203020204" pitchFamily="34" charset="77"/>
              </a:defRPr>
            </a:lvl1pPr>
            <a:lvl2pPr marL="457200" indent="0">
              <a:buFontTx/>
              <a:buNone/>
              <a:defRPr sz="7200" b="0" i="0">
                <a:latin typeface="IntelOne Display Light" panose="020B0403020203020204" pitchFamily="34" charset="77"/>
              </a:defRPr>
            </a:lvl2pPr>
            <a:lvl3pPr marL="914400" indent="0">
              <a:buFontTx/>
              <a:buNone/>
              <a:defRPr sz="7200" b="0" i="0">
                <a:latin typeface="IntelOne Display Light" panose="020B0403020203020204" pitchFamily="34" charset="77"/>
              </a:defRPr>
            </a:lvl3pPr>
            <a:lvl4pPr marL="1371600" indent="0">
              <a:buFontTx/>
              <a:buNone/>
              <a:defRPr sz="7200" b="0" i="0">
                <a:latin typeface="IntelOne Display Light" panose="020B0403020203020204" pitchFamily="34" charset="77"/>
              </a:defRPr>
            </a:lvl4pPr>
            <a:lvl5pPr marL="1828800" indent="0">
              <a:buFontTx/>
              <a:buNone/>
              <a:defRPr sz="7200" b="0" i="0">
                <a:latin typeface="IntelOne Display Light" panose="020B04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F4E2D72A-195E-F347-B705-43A761D45E77}"/>
              </a:ext>
            </a:extLst>
          </p:cNvPr>
          <p:cNvSpPr>
            <a:spLocks noGrp="1"/>
          </p:cNvSpPr>
          <p:nvPr>
            <p:ph type="body" sz="quarter" idx="11"/>
          </p:nvPr>
        </p:nvSpPr>
        <p:spPr>
          <a:xfrm>
            <a:off x="339838" y="3693400"/>
            <a:ext cx="979488" cy="2179637"/>
          </a:xfrm>
        </p:spPr>
        <p:txBody>
          <a:bodyPr>
            <a:noAutofit/>
          </a:bodyPr>
          <a:lstStyle>
            <a:lvl1pPr marL="0" indent="0" algn="r">
              <a:lnSpc>
                <a:spcPct val="100000"/>
              </a:lnSpc>
              <a:buNone/>
              <a:defRPr sz="2000" b="0" i="0">
                <a:solidFill>
                  <a:srgbClr val="0056B4"/>
                </a:solidFill>
                <a:latin typeface="IntelOne Text Medium" panose="020B0503020203020204" pitchFamily="34" charset="77"/>
              </a:defRPr>
            </a:lvl1pPr>
            <a:lvl2pPr marL="457200" indent="0" algn="r">
              <a:lnSpc>
                <a:spcPct val="100000"/>
              </a:lnSpc>
              <a:buNone/>
              <a:defRPr sz="2000" b="0" i="0">
                <a:solidFill>
                  <a:srgbClr val="0056B4"/>
                </a:solidFill>
                <a:latin typeface="IntelOne Text Medium" panose="020B0503020203020204" pitchFamily="34" charset="77"/>
              </a:defRPr>
            </a:lvl2pPr>
            <a:lvl3pPr marL="914400" indent="0" algn="r">
              <a:lnSpc>
                <a:spcPct val="100000"/>
              </a:lnSpc>
              <a:buNone/>
              <a:defRPr sz="2000" b="0" i="0">
                <a:solidFill>
                  <a:srgbClr val="0056B4"/>
                </a:solidFill>
                <a:latin typeface="IntelOne Text Medium" panose="020B0503020203020204" pitchFamily="34" charset="77"/>
              </a:defRPr>
            </a:lvl3pPr>
            <a:lvl4pPr marL="1371600" indent="0" algn="r">
              <a:lnSpc>
                <a:spcPct val="100000"/>
              </a:lnSpc>
              <a:buNone/>
              <a:defRPr sz="2000" b="0" i="0">
                <a:solidFill>
                  <a:srgbClr val="0056B4"/>
                </a:solidFill>
                <a:latin typeface="IntelOne Text Medium" panose="020B0503020203020204" pitchFamily="34" charset="77"/>
              </a:defRPr>
            </a:lvl4pPr>
            <a:lvl5pPr marL="1828800" indent="0" algn="r">
              <a:lnSpc>
                <a:spcPct val="100000"/>
              </a:lnSpc>
              <a:buNone/>
              <a:defRPr sz="2000" b="0" i="0">
                <a:solidFill>
                  <a:srgbClr val="0056B4"/>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a:extLst>
              <a:ext uri="{FF2B5EF4-FFF2-40B4-BE49-F238E27FC236}">
                <a16:creationId xmlns:a16="http://schemas.microsoft.com/office/drawing/2014/main" id="{92AC664D-73B7-37A2-81BF-4A46E1A1B179}"/>
              </a:ext>
            </a:extLst>
          </p:cNvPr>
          <p:cNvSpPr>
            <a:spLocks noGrp="1"/>
          </p:cNvSpPr>
          <p:nvPr>
            <p:ph type="body" sz="quarter" idx="12"/>
          </p:nvPr>
        </p:nvSpPr>
        <p:spPr>
          <a:xfrm>
            <a:off x="1604963" y="3694113"/>
            <a:ext cx="2228850" cy="2143125"/>
          </a:xfrm>
        </p:spPr>
        <p:txBody>
          <a:bodyPr>
            <a:noAutofit/>
          </a:bodyPr>
          <a:lstStyle>
            <a:lvl1pPr marL="0" indent="0" algn="l">
              <a:lnSpc>
                <a:spcPct val="100000"/>
              </a:lnSpc>
              <a:buNone/>
              <a:defRPr sz="2000"/>
            </a:lvl1pPr>
            <a:lvl2pPr marL="457200" indent="0" algn="l">
              <a:lnSpc>
                <a:spcPct val="100000"/>
              </a:lnSpc>
              <a:buNone/>
              <a:defRPr sz="2000"/>
            </a:lvl2pPr>
            <a:lvl3pPr marL="914400" indent="0" algn="l">
              <a:lnSpc>
                <a:spcPct val="100000"/>
              </a:lnSpc>
              <a:buNone/>
              <a:defRPr sz="2000"/>
            </a:lvl3pPr>
            <a:lvl4pPr marL="1371600" indent="0" algn="l">
              <a:lnSpc>
                <a:spcPct val="100000"/>
              </a:lnSpc>
              <a:buNone/>
              <a:defRPr sz="2000"/>
            </a:lvl4pPr>
            <a:lvl5pPr marL="1828800" indent="0" algn="l">
              <a:lnSpc>
                <a:spcPct val="100000"/>
              </a:lnSpc>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3">
            <a:extLst>
              <a:ext uri="{FF2B5EF4-FFF2-40B4-BE49-F238E27FC236}">
                <a16:creationId xmlns:a16="http://schemas.microsoft.com/office/drawing/2014/main" id="{BF2A5489-45AD-96BE-CA4A-4ED0765D386D}"/>
              </a:ext>
            </a:extLst>
          </p:cNvPr>
          <p:cNvSpPr>
            <a:spLocks noGrp="1"/>
          </p:cNvSpPr>
          <p:nvPr>
            <p:ph type="body" sz="quarter" idx="13"/>
          </p:nvPr>
        </p:nvSpPr>
        <p:spPr>
          <a:xfrm>
            <a:off x="4531447" y="3693400"/>
            <a:ext cx="979488" cy="2179637"/>
          </a:xfrm>
        </p:spPr>
        <p:txBody>
          <a:bodyPr>
            <a:noAutofit/>
          </a:bodyPr>
          <a:lstStyle>
            <a:lvl1pPr marL="0" indent="0" algn="r">
              <a:lnSpc>
                <a:spcPct val="100000"/>
              </a:lnSpc>
              <a:buNone/>
              <a:defRPr sz="2000" b="0" i="0">
                <a:solidFill>
                  <a:srgbClr val="0056B4"/>
                </a:solidFill>
                <a:latin typeface="IntelOne Text Medium" panose="020B0503020203020204" pitchFamily="34" charset="77"/>
              </a:defRPr>
            </a:lvl1pPr>
            <a:lvl2pPr marL="457200" indent="0" algn="r">
              <a:lnSpc>
                <a:spcPct val="100000"/>
              </a:lnSpc>
              <a:buNone/>
              <a:defRPr sz="2000" b="0" i="0">
                <a:solidFill>
                  <a:srgbClr val="0056B4"/>
                </a:solidFill>
                <a:latin typeface="IntelOne Text Medium" panose="020B0503020203020204" pitchFamily="34" charset="77"/>
              </a:defRPr>
            </a:lvl2pPr>
            <a:lvl3pPr marL="914400" indent="0" algn="r">
              <a:lnSpc>
                <a:spcPct val="100000"/>
              </a:lnSpc>
              <a:buNone/>
              <a:defRPr sz="2000" b="0" i="0">
                <a:solidFill>
                  <a:srgbClr val="0056B4"/>
                </a:solidFill>
                <a:latin typeface="IntelOne Text Medium" panose="020B0503020203020204" pitchFamily="34" charset="77"/>
              </a:defRPr>
            </a:lvl3pPr>
            <a:lvl4pPr marL="1371600" indent="0" algn="r">
              <a:lnSpc>
                <a:spcPct val="100000"/>
              </a:lnSpc>
              <a:buNone/>
              <a:defRPr sz="2000" b="0" i="0">
                <a:solidFill>
                  <a:srgbClr val="0056B4"/>
                </a:solidFill>
                <a:latin typeface="IntelOne Text Medium" panose="020B0503020203020204" pitchFamily="34" charset="77"/>
              </a:defRPr>
            </a:lvl4pPr>
            <a:lvl5pPr marL="1828800" indent="0" algn="r">
              <a:lnSpc>
                <a:spcPct val="100000"/>
              </a:lnSpc>
              <a:buNone/>
              <a:defRPr sz="2000" b="0" i="0">
                <a:solidFill>
                  <a:srgbClr val="0056B4"/>
                </a:solidFill>
                <a:latin typeface="IntelOne Text Medium" panose="020B0503020203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6">
            <a:extLst>
              <a:ext uri="{FF2B5EF4-FFF2-40B4-BE49-F238E27FC236}">
                <a16:creationId xmlns:a16="http://schemas.microsoft.com/office/drawing/2014/main" id="{39540FBB-B621-7A78-7910-C7B019FD911A}"/>
              </a:ext>
            </a:extLst>
          </p:cNvPr>
          <p:cNvSpPr>
            <a:spLocks noGrp="1"/>
          </p:cNvSpPr>
          <p:nvPr>
            <p:ph type="body" sz="quarter" idx="14"/>
          </p:nvPr>
        </p:nvSpPr>
        <p:spPr>
          <a:xfrm>
            <a:off x="5789258" y="3694113"/>
            <a:ext cx="2228850" cy="2143125"/>
          </a:xfrm>
        </p:spPr>
        <p:txBody>
          <a:bodyPr>
            <a:noAutofit/>
          </a:bodyPr>
          <a:lstStyle>
            <a:lvl1pPr marL="0" indent="0" algn="l">
              <a:lnSpc>
                <a:spcPct val="100000"/>
              </a:lnSpc>
              <a:buNone/>
              <a:defRPr sz="2000"/>
            </a:lvl1pPr>
            <a:lvl2pPr marL="457200" indent="0" algn="l">
              <a:lnSpc>
                <a:spcPct val="100000"/>
              </a:lnSpc>
              <a:buNone/>
              <a:defRPr sz="2000"/>
            </a:lvl2pPr>
            <a:lvl3pPr marL="914400" indent="0" algn="l">
              <a:lnSpc>
                <a:spcPct val="100000"/>
              </a:lnSpc>
              <a:buNone/>
              <a:defRPr sz="2000"/>
            </a:lvl3pPr>
            <a:lvl4pPr marL="1371600" indent="0" algn="l">
              <a:lnSpc>
                <a:spcPct val="100000"/>
              </a:lnSpc>
              <a:buNone/>
              <a:defRPr sz="2000"/>
            </a:lvl4pPr>
            <a:lvl5pPr marL="1828800" indent="0" algn="l">
              <a:lnSpc>
                <a:spcPct val="100000"/>
              </a:lnSpc>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315149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slide-white">
    <p:spTree>
      <p:nvGrpSpPr>
        <p:cNvPr id="1" name=""/>
        <p:cNvGrpSpPr/>
        <p:nvPr/>
      </p:nvGrpSpPr>
      <p:grpSpPr>
        <a:xfrm>
          <a:off x="0" y="0"/>
          <a:ext cx="0" cy="0"/>
          <a:chOff x="0" y="0"/>
          <a:chExt cx="0" cy="0"/>
        </a:xfrm>
      </p:grpSpPr>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Title 1">
            <a:extLst>
              <a:ext uri="{FF2B5EF4-FFF2-40B4-BE49-F238E27FC236}">
                <a16:creationId xmlns:a16="http://schemas.microsoft.com/office/drawing/2014/main" id="{C0A14362-AD0A-D8D0-A0A6-7EA998D8B17E}"/>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DA972839-4156-BD20-7A41-510A09221E12}"/>
              </a:ext>
            </a:extLst>
          </p:cNvPr>
          <p:cNvSpPr>
            <a:spLocks noGrp="1"/>
          </p:cNvSpPr>
          <p:nvPr>
            <p:ph sz="quarter" idx="10"/>
          </p:nvPr>
        </p:nvSpPr>
        <p:spPr>
          <a:xfrm>
            <a:off x="381000" y="1600200"/>
            <a:ext cx="10972800" cy="440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770583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CD627-B106-F489-9BB4-B85197FE607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49539-3994-F644-3F41-C0ADADA9ACEB}"/>
              </a:ext>
            </a:extLst>
          </p:cNvPr>
          <p:cNvSpPr>
            <a:spLocks noGrp="1"/>
          </p:cNvSpPr>
          <p:nvPr>
            <p:ph type="sldNum" sz="quarter" idx="10"/>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649609993"/>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blank-white">
    <p:spTree>
      <p:nvGrpSpPr>
        <p:cNvPr id="1" name=""/>
        <p:cNvGrpSpPr/>
        <p:nvPr/>
      </p:nvGrpSpPr>
      <p:grpSpPr>
        <a:xfrm>
          <a:off x="0" y="0"/>
          <a:ext cx="0" cy="0"/>
          <a:chOff x="0" y="0"/>
          <a:chExt cx="0" cy="0"/>
        </a:xfrm>
      </p:grpSpPr>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0880369"/>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 Id="rId6" Type="http://schemas.openxmlformats.org/officeDocument/2006/relationships/image" Target="../media/image14.png"/><Relationship Id="rId7" Type="http://schemas.openxmlformats.org/officeDocument/2006/relationships/slide" Target="../slides/slid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285A"/>
            </a:gs>
            <a:gs pos="100000">
              <a:srgbClr val="000000"/>
            </a:gs>
          </a:gsLst>
          <a:lin ang="2700000" scaled="1"/>
        </a:gra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11886783" y="6553044"/>
            <a:ext cx="166713" cy="153888"/>
          </a:xfrm>
          <a:prstGeom prst="rect">
            <a:avLst/>
          </a:prstGeom>
          <a:ln w="12700">
            <a:miter lim="400000"/>
          </a:ln>
        </p:spPr>
        <p:txBody>
          <a:bodyPr wrap="none" lIns="0" tIns="0" rIns="0" bIns="0">
            <a:spAutoFit/>
          </a:bodyPr>
          <a:lstStyle>
            <a:lvl1pPr algn="ctr" defTabSz="2438337">
              <a:defRPr sz="1000">
                <a:solidFill>
                  <a:schemeClr val="bg1"/>
                </a:solidFill>
                <a:latin typeface="IntelOne Text"/>
                <a:ea typeface="IntelOne Text"/>
                <a:cs typeface="IntelOne Text"/>
                <a:sym typeface="IntelOne Text"/>
              </a:defRPr>
            </a:lvl1pPr>
          </a:lstStyle>
          <a:p>
            <a:fld id="{86CB4B4D-7CA3-9044-876B-883B54F8677D}" type="slidenum">
              <a:rPr lang="en-US" smtClean="0"/>
              <a:pPr/>
              <a:t>‹#›</a:t>
            </a:fld>
            <a:endParaRPr lang="en-US"/>
          </a:p>
        </p:txBody>
      </p:sp>
      <p:sp>
        <p:nvSpPr>
          <p:cNvPr id="13" name="Title Text"/>
          <p:cNvSpPr txBox="1">
            <a:spLocks noGrp="1"/>
          </p:cNvSpPr>
          <p:nvPr>
            <p:ph type="title"/>
          </p:nvPr>
        </p:nvSpPr>
        <p:spPr>
          <a:xfrm>
            <a:off x="381000" y="92074"/>
            <a:ext cx="10972800" cy="150812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normAutofit/>
          </a:bodyPr>
          <a:lstStyle/>
          <a:p>
            <a:r>
              <a:t>Title Text</a:t>
            </a:r>
          </a:p>
        </p:txBody>
      </p:sp>
      <p:sp>
        <p:nvSpPr>
          <p:cNvPr id="14" name="Body Level One…"/>
          <p:cNvSpPr txBox="1">
            <a:spLocks noGrp="1"/>
          </p:cNvSpPr>
          <p:nvPr>
            <p:ph type="body" idx="1"/>
          </p:nvPr>
        </p:nvSpPr>
        <p:spPr>
          <a:xfrm>
            <a:off x="381000" y="1600200"/>
            <a:ext cx="10972800" cy="467485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2" name="Rectangle 5">
            <a:extLst>
              <a:ext uri="{FF2B5EF4-FFF2-40B4-BE49-F238E27FC236}">
                <a16:creationId xmlns:a16="http://schemas.microsoft.com/office/drawing/2014/main" id="{7CC43E35-9D57-828D-4237-3186AFBBCCE9}"/>
              </a:ext>
            </a:extLst>
          </p:cNvPr>
          <p:cNvSpPr txBox="1"/>
          <p:nvPr userDrawn="1"/>
        </p:nvSpPr>
        <p:spPr>
          <a:xfrm>
            <a:off x="324809" y="6510549"/>
            <a:ext cx="1174358"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pPr algn="l"/>
            <a:r>
              <a:rPr lang="en-US">
                <a:solidFill>
                  <a:schemeClr val="bg1"/>
                </a:solidFill>
              </a:rPr>
              <a:t>LTD P1281 Device</a:t>
            </a:r>
            <a:endParaRPr>
              <a:solidFill>
                <a:schemeClr val="bg1"/>
              </a:solidFill>
            </a:endParaRPr>
          </a:p>
        </p:txBody>
      </p:sp>
      <p:sp>
        <p:nvSpPr>
          <p:cNvPr id="2" name="Rectangle 5">
            <a:extLst>
              <a:ext uri="{FF2B5EF4-FFF2-40B4-BE49-F238E27FC236}">
                <a16:creationId xmlns:a16="http://schemas.microsoft.com/office/drawing/2014/main" id="{42D94D57-B039-A2B9-6D19-25698DB006A8}"/>
              </a:ext>
            </a:extLst>
          </p:cNvPr>
          <p:cNvSpPr txBox="1"/>
          <p:nvPr userDrawn="1"/>
        </p:nvSpPr>
        <p:spPr>
          <a:xfrm>
            <a:off x="5535270" y="6510549"/>
            <a:ext cx="112145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r>
              <a:rPr>
                <a:solidFill>
                  <a:schemeClr val="bg1"/>
                </a:solidFill>
              </a:rPr>
              <a:t>Intel Confidential</a:t>
            </a:r>
          </a:p>
        </p:txBody>
      </p:sp>
      <p:pic>
        <p:nvPicPr>
          <p:cNvPr id="3" name="Picture 2" descr="A blue and black logo&#10;&#10;Description automatically generated">
            <a:extLst>
              <a:ext uri="{FF2B5EF4-FFF2-40B4-BE49-F238E27FC236}">
                <a16:creationId xmlns:a16="http://schemas.microsoft.com/office/drawing/2014/main" id="{5BA8D3FD-E29B-C7BF-358E-8E7FE1DD6D9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182898" y="6528480"/>
            <a:ext cx="1389797" cy="239354"/>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 id="2147483681" r:id="rId2"/>
    <p:sldLayoutId id="2147483690" r:id="rId3"/>
    <p:sldLayoutId id="2147483689" r:id="rId4"/>
    <p:sldLayoutId id="2147483682" r:id="rId5"/>
    <p:sldLayoutId id="2147483683" r:id="rId6"/>
    <p:sldLayoutId id="2147483686" r:id="rId7"/>
    <p:sldLayoutId id="2147483676" r:id="rId8"/>
    <p:sldLayoutId id="2147483688" r:id="rId9"/>
    <p:sldLayoutId id="2147483691" r:id="rId10"/>
    <p:sldLayoutId id="2147483692" r:id="rId11"/>
    <p:sldLayoutId id="2147483678" r:id="rId12"/>
    <p:sldLayoutId id="2147483675" r:id="rId13"/>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gradFill>
            <a:gsLst>
              <a:gs pos="0">
                <a:srgbClr val="ADEEFF"/>
              </a:gs>
              <a:gs pos="100000">
                <a:srgbClr val="00C7FD"/>
              </a:gs>
            </a:gsLst>
            <a:lin ang="2700000" scaled="1"/>
          </a:gradFill>
          <a:uFillTx/>
          <a:latin typeface="IntelOne Display Light"/>
          <a:ea typeface="IntelOne Display Light"/>
          <a:cs typeface="IntelOne Display Light"/>
          <a:sym typeface="IntelOne Display Light"/>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9pPr>
    </p:titleStyle>
    <p:bodyStyle>
      <a:lvl1pPr marL="228600" marR="0" indent="-228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1pPr>
      <a:lvl2pPr marL="723900" marR="0" indent="-2667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2pPr>
      <a:lvl3pPr marL="1234439" marR="0" indent="-320039"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3pPr>
      <a:lvl4pPr marL="1727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4pPr>
      <a:lvl5pPr marL="2228850" marR="0" indent="-40005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chemeClr val="bg1"/>
          </a:solidFill>
          <a:uFillTx/>
          <a:latin typeface="IntelOne Text Light"/>
          <a:ea typeface="IntelOne Text Light"/>
          <a:cs typeface="IntelOne Text Light"/>
          <a:sym typeface="IntelOne Text Light"/>
        </a:defRPr>
      </a:lvl5pPr>
      <a:lvl6pPr marL="26416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6pPr>
      <a:lvl7pPr marL="30988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7pPr>
      <a:lvl8pPr marL="35560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8pPr>
      <a:lvl9pPr marL="4013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9pPr>
    </p:bodyStyle>
    <p:otherStyle>
      <a:lvl1pPr marL="0" marR="0" indent="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1pPr>
      <a:lvl2pPr marL="0" marR="0" indent="457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2pPr>
      <a:lvl3pPr marL="0" marR="0" indent="914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3pPr>
      <a:lvl4pPr marL="0" marR="0" indent="1371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4pPr>
      <a:lvl5pPr marL="0" marR="0" indent="18288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5pPr>
      <a:lvl6pPr marL="0" marR="0" indent="22860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6pPr>
      <a:lvl7pPr marL="0" marR="0" indent="2743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7pPr>
      <a:lvl8pPr marL="0" marR="0" indent="3200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8pPr>
      <a:lvl9pPr marL="0" marR="0" indent="3657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6" name="Slide Number"/>
          <p:cNvSpPr txBox="1">
            <a:spLocks noGrp="1"/>
          </p:cNvSpPr>
          <p:nvPr>
            <p:ph type="sldNum" sz="quarter" idx="2"/>
          </p:nvPr>
        </p:nvSpPr>
        <p:spPr>
          <a:xfrm>
            <a:off x="11897939" y="6553044"/>
            <a:ext cx="144400" cy="165101"/>
          </a:xfrm>
          <a:prstGeom prst="rect">
            <a:avLst/>
          </a:prstGeom>
          <a:ln w="12700">
            <a:miter lim="400000"/>
          </a:ln>
        </p:spPr>
        <p:txBody>
          <a:bodyPr wrap="none" lIns="0" tIns="0" rIns="0" bIns="0">
            <a:spAutoFit/>
          </a:bodyPr>
          <a:lstStyle>
            <a:lvl1pPr algn="ctr" defTabSz="2438337">
              <a:defRPr sz="1000">
                <a:latin typeface="IntelOne Text"/>
                <a:ea typeface="IntelOne Text"/>
                <a:cs typeface="IntelOne Text"/>
                <a:sym typeface="IntelOne Text"/>
              </a:defRPr>
            </a:lvl1pPr>
          </a:lstStyle>
          <a:p>
            <a:fld id="{86CB4B4D-7CA3-9044-876B-883B54F8677D}" type="slidenum">
              <a:t>‹#›</a:t>
            </a:fld>
            <a:endParaRPr/>
          </a:p>
        </p:txBody>
      </p:sp>
      <p:sp>
        <p:nvSpPr>
          <p:cNvPr id="13" name="Title Text"/>
          <p:cNvSpPr txBox="1">
            <a:spLocks noGrp="1"/>
          </p:cNvSpPr>
          <p:nvPr>
            <p:ph type="title"/>
          </p:nvPr>
        </p:nvSpPr>
        <p:spPr>
          <a:xfrm>
            <a:off x="3810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14" name="Body Level One…"/>
          <p:cNvSpPr txBox="1">
            <a:spLocks noGrp="1"/>
          </p:cNvSpPr>
          <p:nvPr>
            <p:ph type="body" idx="1"/>
          </p:nvPr>
        </p:nvSpPr>
        <p:spPr>
          <a:xfrm>
            <a:off x="381000" y="1600200"/>
            <a:ext cx="10972800" cy="46748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pic>
        <p:nvPicPr>
          <p:cNvPr id="19" name="Picture 18">
            <a:extLst>
              <a:ext uri="{FF2B5EF4-FFF2-40B4-BE49-F238E27FC236}">
                <a16:creationId xmlns:a16="http://schemas.microsoft.com/office/drawing/2014/main" id="{302E595C-FC9F-0081-C684-416AF3A99A59}"/>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10182900" y="6528934"/>
            <a:ext cx="1389793" cy="238445"/>
          </a:xfrm>
          <a:prstGeom prst="rect">
            <a:avLst/>
          </a:prstGeom>
        </p:spPr>
      </p:pic>
      <p:sp>
        <p:nvSpPr>
          <p:cNvPr id="2" name="Rectangle 5">
            <a:extLst>
              <a:ext uri="{FF2B5EF4-FFF2-40B4-BE49-F238E27FC236}">
                <a16:creationId xmlns:a16="http://schemas.microsoft.com/office/drawing/2014/main" id="{5CE687E4-584E-D171-C98B-10FF9680B4F9}"/>
              </a:ext>
            </a:extLst>
          </p:cNvPr>
          <p:cNvSpPr txBox="1"/>
          <p:nvPr userDrawn="1"/>
        </p:nvSpPr>
        <p:spPr>
          <a:xfrm>
            <a:off x="324809" y="6510549"/>
            <a:ext cx="2136160"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pPr algn="l"/>
            <a:r>
              <a:rPr lang="en-US">
                <a:solidFill>
                  <a:srgbClr val="525252"/>
                </a:solidFill>
              </a:rPr>
              <a:t>LTD P1281 Device | Aaryan Oberoi</a:t>
            </a:r>
            <a:endParaRPr>
              <a:solidFill>
                <a:srgbClr val="525252"/>
              </a:solidFill>
            </a:endParaRPr>
          </a:p>
        </p:txBody>
      </p:sp>
      <p:sp>
        <p:nvSpPr>
          <p:cNvPr id="3" name="Rectangle 5">
            <a:extLst>
              <a:ext uri="{FF2B5EF4-FFF2-40B4-BE49-F238E27FC236}">
                <a16:creationId xmlns:a16="http://schemas.microsoft.com/office/drawing/2014/main" id="{08E1FBF9-6ADD-C60A-DBD0-A8745625B913}"/>
              </a:ext>
            </a:extLst>
          </p:cNvPr>
          <p:cNvSpPr txBox="1"/>
          <p:nvPr userDrawn="1"/>
        </p:nvSpPr>
        <p:spPr>
          <a:xfrm>
            <a:off x="5535270" y="6510549"/>
            <a:ext cx="1121459"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defRPr sz="1000">
                <a:solidFill>
                  <a:srgbClr val="FFFFFF"/>
                </a:solidFill>
                <a:latin typeface="IntelOne Text"/>
                <a:ea typeface="IntelOne Text"/>
                <a:cs typeface="IntelOne Text"/>
                <a:sym typeface="IntelOne Text"/>
              </a:defRPr>
            </a:lvl1pPr>
          </a:lstStyle>
          <a:p>
            <a:r>
              <a:rPr>
                <a:solidFill>
                  <a:srgbClr val="525252"/>
                </a:solidFill>
              </a:rPr>
              <a:t>Intel Confidential</a:t>
            </a:r>
          </a:p>
        </p:txBody>
      </p:sp>
      <p:sp>
        <p:nvSpPr>
          <p:cNvPr id="18" name="Freeform: Shape 17">
            <a:hlinkClick r:id="rId7" action="ppaction://hlinksldjump"/>
            <a:extLst>
              <a:ext uri="{FF2B5EF4-FFF2-40B4-BE49-F238E27FC236}">
                <a16:creationId xmlns:a16="http://schemas.microsoft.com/office/drawing/2014/main" id="{6C50E5A5-5304-5B08-19C4-F9C1C2D74B35}"/>
              </a:ext>
            </a:extLst>
          </p:cNvPr>
          <p:cNvSpPr/>
          <p:nvPr userDrawn="1"/>
        </p:nvSpPr>
        <p:spPr>
          <a:xfrm>
            <a:off x="11556024" y="6537001"/>
            <a:ext cx="290331" cy="183231"/>
          </a:xfrm>
          <a:custGeom>
            <a:avLst/>
            <a:gdLst>
              <a:gd name="csX0" fmla="*/ 7620 w 181015"/>
              <a:gd name="csY0" fmla="*/ 350520 h 350520"/>
              <a:gd name="csX1" fmla="*/ 152400 w 181015"/>
              <a:gd name="csY1" fmla="*/ 205740 h 350520"/>
              <a:gd name="csX2" fmla="*/ 167640 w 181015"/>
              <a:gd name="csY2" fmla="*/ 53340 h 350520"/>
              <a:gd name="csX3" fmla="*/ 0 w 181015"/>
              <a:gd name="csY3" fmla="*/ 0 h 350520"/>
              <a:gd name="csX0" fmla="*/ 35162 w 179892"/>
              <a:gd name="csY0" fmla="*/ 302146 h 302147"/>
              <a:gd name="csX1" fmla="*/ 152400 w 179892"/>
              <a:gd name="csY1" fmla="*/ 205740 h 302147"/>
              <a:gd name="csX2" fmla="*/ 167640 w 179892"/>
              <a:gd name="csY2" fmla="*/ 53340 h 302147"/>
              <a:gd name="csX3" fmla="*/ 0 w 179892"/>
              <a:gd name="csY3" fmla="*/ 0 h 302147"/>
              <a:gd name="csX0" fmla="*/ 35162 w 179892"/>
              <a:gd name="csY0" fmla="*/ 302146 h 302145"/>
              <a:gd name="csX1" fmla="*/ 152400 w 179892"/>
              <a:gd name="csY1" fmla="*/ 205740 h 302145"/>
              <a:gd name="csX2" fmla="*/ 167640 w 179892"/>
              <a:gd name="csY2" fmla="*/ 53340 h 302145"/>
              <a:gd name="csX3" fmla="*/ 0 w 179892"/>
              <a:gd name="csY3" fmla="*/ 0 h 302145"/>
              <a:gd name="csX0" fmla="*/ 35162 w 183958"/>
              <a:gd name="csY0" fmla="*/ 302146 h 302147"/>
              <a:gd name="csX1" fmla="*/ 164272 w 183958"/>
              <a:gd name="csY1" fmla="*/ 212636 h 302147"/>
              <a:gd name="csX2" fmla="*/ 167640 w 183958"/>
              <a:gd name="csY2" fmla="*/ 53340 h 302147"/>
              <a:gd name="csX3" fmla="*/ 0 w 183958"/>
              <a:gd name="csY3" fmla="*/ 0 h 302147"/>
            </a:gdLst>
            <a:ahLst/>
            <a:cxnLst>
              <a:cxn ang="0">
                <a:pos x="csX0" y="csY0"/>
              </a:cxn>
              <a:cxn ang="0">
                <a:pos x="csX1" y="csY1"/>
              </a:cxn>
              <a:cxn ang="0">
                <a:pos x="csX2" y="csY2"/>
              </a:cxn>
              <a:cxn ang="0">
                <a:pos x="csX3" y="csY3"/>
              </a:cxn>
            </a:cxnLst>
            <a:rect l="l" t="t" r="r" b="b"/>
            <a:pathLst>
              <a:path w="183958" h="302147">
                <a:moveTo>
                  <a:pt x="35162" y="302146"/>
                </a:moveTo>
                <a:cubicBezTo>
                  <a:pt x="98005" y="275188"/>
                  <a:pt x="142192" y="254104"/>
                  <a:pt x="164272" y="212636"/>
                </a:cubicBezTo>
                <a:cubicBezTo>
                  <a:pt x="186352" y="171168"/>
                  <a:pt x="193040" y="87630"/>
                  <a:pt x="167640" y="53340"/>
                </a:cubicBezTo>
                <a:cubicBezTo>
                  <a:pt x="142240" y="19050"/>
                  <a:pt x="71120" y="9525"/>
                  <a:pt x="0" y="0"/>
                </a:cubicBezTo>
              </a:path>
            </a:pathLst>
          </a:custGeom>
          <a:noFill/>
          <a:ln w="12700" cap="flat">
            <a:solidFill>
              <a:schemeClr val="accent1"/>
            </a:solidFill>
            <a:prstDash val="solid"/>
            <a:miter lim="800000"/>
            <a:tailEnd type="arrow"/>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Tree>
    <p:extLst>
      <p:ext uri="{BB962C8B-B14F-4D97-AF65-F5344CB8AC3E}">
        <p14:creationId xmlns:p14="http://schemas.microsoft.com/office/powerpoint/2010/main" val="2309665685"/>
      </p:ext>
    </p:extLst>
  </p:cSld>
  <p:clrMap bg1="lt1" tx1="dk1" bg2="lt2" tx2="dk2" accent1="accent1" accent2="accent2" accent3="accent3" accent4="accent4" accent5="accent5" accent6="accent6" hlink="hlink" folHlink="folHlink"/>
  <p:sldLayoutIdLst>
    <p:sldLayoutId id="2147483685" r:id="rId1"/>
    <p:sldLayoutId id="2147483673" r:id="rId2"/>
    <p:sldLayoutId id="2147483693" r:id="rId3"/>
    <p:sldLayoutId id="2147483672" r:id="rId4"/>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525252"/>
          </a:solidFill>
          <a:uFillTx/>
          <a:latin typeface="IntelOne Display Light"/>
          <a:ea typeface="IntelOne Display Light"/>
          <a:cs typeface="IntelOne Display Light"/>
          <a:sym typeface="IntelOne Display Light"/>
        </a:defRPr>
      </a:lvl9pPr>
    </p:titleStyle>
    <p:bodyStyle>
      <a:lvl1pPr marL="228600" marR="0" indent="-228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1pPr>
      <a:lvl2pPr marL="723900" marR="0" indent="-2667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2pPr>
      <a:lvl3pPr marL="1234439" marR="0" indent="-320039"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3pPr>
      <a:lvl4pPr marL="1727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4pPr>
      <a:lvl5pPr marL="2228850" marR="0" indent="-40005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5pPr>
      <a:lvl6pPr marL="26416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6pPr>
      <a:lvl7pPr marL="30988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7pPr>
      <a:lvl8pPr marL="35560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8pPr>
      <a:lvl9pPr marL="4013200" marR="0" indent="-355600" algn="l" defTabSz="914400" rtl="0" latinLnBrk="0">
        <a:lnSpc>
          <a:spcPct val="90000"/>
        </a:lnSpc>
        <a:spcBef>
          <a:spcPts val="1000"/>
        </a:spcBef>
        <a:spcAft>
          <a:spcPts val="0"/>
        </a:spcAft>
        <a:buClrTx/>
        <a:buSzPct val="100000"/>
        <a:buFont typeface="IntelOne Display Regular"/>
        <a:buChar char="•"/>
        <a:tabLst/>
        <a:defRPr sz="2800" b="0" i="0" u="none" strike="noStrike" cap="none" spc="0" baseline="0">
          <a:solidFill>
            <a:srgbClr val="525252"/>
          </a:solidFill>
          <a:uFillTx/>
          <a:latin typeface="IntelOne Text Light"/>
          <a:ea typeface="IntelOne Text Light"/>
          <a:cs typeface="IntelOne Text Light"/>
          <a:sym typeface="IntelOne Text Light"/>
        </a:defRPr>
      </a:lvl9pPr>
    </p:bodyStyle>
    <p:otherStyle>
      <a:lvl1pPr marL="0" marR="0" indent="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1pPr>
      <a:lvl2pPr marL="0" marR="0" indent="457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2pPr>
      <a:lvl3pPr marL="0" marR="0" indent="914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3pPr>
      <a:lvl4pPr marL="0" marR="0" indent="1371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4pPr>
      <a:lvl5pPr marL="0" marR="0" indent="18288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5pPr>
      <a:lvl6pPr marL="0" marR="0" indent="22860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6pPr>
      <a:lvl7pPr marL="0" marR="0" indent="27432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7pPr>
      <a:lvl8pPr marL="0" marR="0" indent="32004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8pPr>
      <a:lvl9pPr marL="0" marR="0" indent="3657600" algn="ctr" defTabSz="2438337"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One Tex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7.xml"/><Relationship Id="rId7" Type="http://schemas.openxmlformats.org/officeDocument/2006/relationships/hyperlink" Target="https://intel.sharepoint.com/:w:/r/sites/ltdtestdevelopment/7nm/_layouts/15/Doc.aspx?sourcedoc=%7B09A9E409-7314-4F16-B8E7-0E338DE58B7C%7D&amp;file=How_to_TestRow_DFT_check_in_Atlantis%206.6.3.0.docx&amp;action=default&amp;mobileredirect=tru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package" Target="../embeddings/Microsoft_Excel_Worksheet.xlsx"/><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hyperlink" Target="https://intel.sharepoint.com/:p:/r/sites/p1281device/Shared%20Documents/PDK_UPF/26WW20_1281_Device_Model_Library_Name.pptx?d=w19dcb50c5df74872af3aaad19986e709&amp;csf=1&amp;web=1&amp;e=QuUTx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7.png"/><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microsoft.com/office/2018/10/relationships/comments" Target="../comments/modernComment_139_BBEC470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microsoft.com/office/2018/10/relationships/comments" Target="../comments/modernComment_13C_B0459C0C.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microsoft.com/office/2018/10/relationships/comments" Target="../comments/modernComment_144_CA803D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56084-53ED-6BC3-09AB-7A41966A6C5D}"/>
              </a:ext>
            </a:extLst>
          </p:cNvPr>
          <p:cNvSpPr>
            <a:spLocks noGrp="1"/>
          </p:cNvSpPr>
          <p:nvPr>
            <p:ph type="sldNum" sz="quarter" idx="2"/>
          </p:nvPr>
        </p:nvSpPr>
        <p:spPr/>
        <p:txBody>
          <a:bodyPr/>
          <a:lstStyle/>
          <a:p>
            <a:fld id="{86CB4B4D-7CA3-9044-876B-883B54F8677D}" type="slidenum">
              <a:rPr lang="en-US" smtClean="0"/>
              <a:t>1</a:t>
            </a:fld>
            <a:endParaRPr lang="en-US"/>
          </a:p>
        </p:txBody>
      </p:sp>
      <p:sp>
        <p:nvSpPr>
          <p:cNvPr id="3" name="TextBox 2">
            <a:extLst>
              <a:ext uri="{FF2B5EF4-FFF2-40B4-BE49-F238E27FC236}">
                <a16:creationId xmlns:a16="http://schemas.microsoft.com/office/drawing/2014/main" id="{51523428-A732-EFFB-35DC-22D3C855B69C}"/>
              </a:ext>
            </a:extLst>
          </p:cNvPr>
          <p:cNvSpPr txBox="1"/>
          <p:nvPr/>
        </p:nvSpPr>
        <p:spPr>
          <a:xfrm>
            <a:off x="667512" y="3684021"/>
            <a:ext cx="7485888" cy="1631216"/>
          </a:xfrm>
          <a:prstGeom prst="rect">
            <a:avLst/>
          </a:prstGeom>
          <a:noFill/>
        </p:spPr>
        <p:txBody>
          <a:bodyPr wrap="square">
            <a:spAutoFit/>
          </a:bodyPr>
          <a:lstStyle/>
          <a:p>
            <a:r>
              <a:rPr lang="en-US" sz="2000" b="1">
                <a:latin typeface="IntelOne Display Regular" panose="020B0503020203020204" pitchFamily="34" charset="0"/>
              </a:rPr>
              <a:t>Key Priorities to address</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Automation handiness for quick disposition</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Consistency with PDK, across teams, across dashboards</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Readability in plots/Standard Lot Report</a:t>
            </a:r>
          </a:p>
          <a:p>
            <a:pPr marL="342900" indent="-342900">
              <a:buFont typeface="Arial" panose="020B0604020202020204" pitchFamily="34" charset="0"/>
              <a:buChar char="•"/>
            </a:pPr>
            <a:r>
              <a:rPr lang="en-US" sz="2000" b="1">
                <a:latin typeface="Intel Clear" panose="020B0604020203020204" pitchFamily="34" charset="0"/>
                <a:ea typeface="Intel Clear" panose="020B0604020203020204" pitchFamily="34" charset="0"/>
                <a:cs typeface="Intel Clear" panose="020B0604020203020204" pitchFamily="34" charset="0"/>
              </a:rPr>
              <a:t>Conciseness for Etest limitations</a:t>
            </a:r>
          </a:p>
        </p:txBody>
      </p:sp>
      <p:sp>
        <p:nvSpPr>
          <p:cNvPr id="4" name="TextBox 3">
            <a:extLst>
              <a:ext uri="{FF2B5EF4-FFF2-40B4-BE49-F238E27FC236}">
                <a16:creationId xmlns:a16="http://schemas.microsoft.com/office/drawing/2014/main" id="{4D9AFC7B-4900-E5E7-ED85-E2C2E0498792}"/>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Naming for x TCs – Best practices</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grpSp>
        <p:nvGrpSpPr>
          <p:cNvPr id="13" name="Group 12">
            <a:extLst>
              <a:ext uri="{FF2B5EF4-FFF2-40B4-BE49-F238E27FC236}">
                <a16:creationId xmlns:a16="http://schemas.microsoft.com/office/drawing/2014/main" id="{B2E34EA8-A1F6-1FF3-4A34-49E32027744F}"/>
              </a:ext>
            </a:extLst>
          </p:cNvPr>
          <p:cNvGrpSpPr/>
          <p:nvPr/>
        </p:nvGrpSpPr>
        <p:grpSpPr>
          <a:xfrm>
            <a:off x="667512" y="1861632"/>
            <a:ext cx="9587738" cy="1312348"/>
            <a:chOff x="667512" y="4852228"/>
            <a:chExt cx="9587738" cy="1312348"/>
          </a:xfrm>
        </p:grpSpPr>
        <p:sp>
          <p:nvSpPr>
            <p:cNvPr id="7" name="TextBox 6">
              <a:extLst>
                <a:ext uri="{FF2B5EF4-FFF2-40B4-BE49-F238E27FC236}">
                  <a16:creationId xmlns:a16="http://schemas.microsoft.com/office/drawing/2014/main" id="{D1DA4F1C-D383-AFF3-51DB-9FB314581047}"/>
                </a:ext>
              </a:extLst>
            </p:cNvPr>
            <p:cNvSpPr txBox="1"/>
            <p:nvPr/>
          </p:nvSpPr>
          <p:spPr>
            <a:xfrm>
              <a:off x="667512" y="4858402"/>
              <a:ext cx="6438971" cy="400110"/>
            </a:xfrm>
            <a:prstGeom prst="rect">
              <a:avLst/>
            </a:prstGeom>
            <a:noFill/>
          </p:spPr>
          <p:txBody>
            <a:bodyPr wrap="square">
              <a:spAutoFit/>
            </a:bodyPr>
            <a:lstStyle/>
            <a:p>
              <a:r>
                <a:rPr lang="en-US" sz="2000" b="1">
                  <a:solidFill>
                    <a:schemeClr val="accent3">
                      <a:lumMod val="75000"/>
                    </a:schemeClr>
                  </a:solidFill>
                  <a:latin typeface="IntelOne Display Regular" panose="020B0503020203020204" pitchFamily="34" charset="0"/>
                </a:rPr>
                <a:t>TEST_CONFIG</a:t>
              </a:r>
              <a:r>
                <a:rPr lang="en-US" sz="2000" b="1">
                  <a:highlight>
                    <a:srgbClr val="FFFF00"/>
                  </a:highlight>
                  <a:latin typeface="IntelOne Display Regular" panose="020B0503020203020204" pitchFamily="34" charset="0"/>
                </a:rPr>
                <a:t>_</a:t>
              </a:r>
              <a:r>
                <a:rPr lang="en-US" sz="2000" b="1">
                  <a:solidFill>
                    <a:schemeClr val="accent2">
                      <a:lumMod val="75000"/>
                    </a:schemeClr>
                  </a:solidFill>
                  <a:latin typeface="IntelOne Display Regular" panose="020B0503020203020204" pitchFamily="34" charset="0"/>
                </a:rPr>
                <a:t>STRUCTURE_NAME_AS_TESTED</a:t>
              </a:r>
              <a:endParaRPr lang="en-US" sz="2400">
                <a:solidFill>
                  <a:schemeClr val="accent2">
                    <a:lumMod val="75000"/>
                  </a:schemeClr>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8" name="TextBox 7">
              <a:extLst>
                <a:ext uri="{FF2B5EF4-FFF2-40B4-BE49-F238E27FC236}">
                  <a16:creationId xmlns:a16="http://schemas.microsoft.com/office/drawing/2014/main" id="{3A464272-23C5-290D-6ED8-ABDF9C7E00B9}"/>
                </a:ext>
              </a:extLst>
            </p:cNvPr>
            <p:cNvSpPr txBox="1"/>
            <p:nvPr/>
          </p:nvSpPr>
          <p:spPr>
            <a:xfrm>
              <a:off x="667512" y="5764466"/>
              <a:ext cx="6438971" cy="400110"/>
            </a:xfrm>
            <a:prstGeom prst="rect">
              <a:avLst/>
            </a:prstGeom>
            <a:noFill/>
          </p:spPr>
          <p:txBody>
            <a:bodyPr wrap="square">
              <a:spAutoFit/>
            </a:bodyPr>
            <a:lstStyle/>
            <a:p>
              <a:r>
                <a:rPr lang="en-US" sz="2000" b="1">
                  <a:solidFill>
                    <a:schemeClr val="accent4">
                      <a:lumMod val="60000"/>
                      <a:lumOff val="40000"/>
                    </a:schemeClr>
                  </a:solidFill>
                  <a:latin typeface="IntelOne Display Regular" panose="020B0503020203020204" pitchFamily="34" charset="0"/>
                </a:rPr>
                <a:t>TEST_NAME_MOD</a:t>
              </a:r>
              <a:r>
                <a:rPr lang="en-US" sz="2000" b="1">
                  <a:highlight>
                    <a:srgbClr val="FFFF00"/>
                  </a:highlight>
                  <a:latin typeface="IntelOne Display Regular" panose="020B0503020203020204" pitchFamily="34" charset="0"/>
                </a:rPr>
                <a:t>|</a:t>
              </a:r>
              <a:r>
                <a:rPr lang="en-US" sz="2000" b="1">
                  <a:solidFill>
                    <a:schemeClr val="accent2">
                      <a:lumMod val="50000"/>
                    </a:schemeClr>
                  </a:solidFill>
                  <a:latin typeface="IntelOne Display Regular" panose="020B0503020203020204" pitchFamily="34" charset="0"/>
                </a:rPr>
                <a:t>STRUCTURE_NAME</a:t>
              </a:r>
              <a:endParaRPr lang="en-US" sz="2400">
                <a:solidFill>
                  <a:schemeClr val="accent2">
                    <a:lumMod val="50000"/>
                  </a:schemeClr>
                </a:solidFill>
                <a:latin typeface="Intel Clear" panose="020B0604020203020204" pitchFamily="34" charset="0"/>
                <a:ea typeface="Intel Clear" panose="020B0604020203020204" pitchFamily="34" charset="0"/>
                <a:cs typeface="Intel Clear" panose="020B0604020203020204" pitchFamily="34" charset="0"/>
              </a:endParaRPr>
            </a:p>
          </p:txBody>
        </p:sp>
        <p:sp>
          <p:nvSpPr>
            <p:cNvPr id="9" name="TextBox 8">
              <a:extLst>
                <a:ext uri="{FF2B5EF4-FFF2-40B4-BE49-F238E27FC236}">
                  <a16:creationId xmlns:a16="http://schemas.microsoft.com/office/drawing/2014/main" id="{D1F7F4DC-EAE4-BB59-C664-7D09E7973100}"/>
                </a:ext>
              </a:extLst>
            </p:cNvPr>
            <p:cNvSpPr txBox="1"/>
            <p:nvPr/>
          </p:nvSpPr>
          <p:spPr>
            <a:xfrm>
              <a:off x="6894585" y="5758292"/>
              <a:ext cx="2420865" cy="400110"/>
            </a:xfrm>
            <a:prstGeom prst="rect">
              <a:avLst/>
            </a:prstGeom>
            <a:noFill/>
          </p:spPr>
          <p:txBody>
            <a:bodyPr wrap="square">
              <a:spAutoFit/>
            </a:bodyPr>
            <a:lstStyle/>
            <a:p>
              <a:r>
                <a:rPr lang="en-US" sz="2000" b="1">
                  <a:latin typeface="IntelOne Display Regular" panose="020B0503020203020204" pitchFamily="34" charset="0"/>
                </a:rPr>
                <a:t>CNAI Dashboard</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0" name="TextBox 9">
              <a:extLst>
                <a:ext uri="{FF2B5EF4-FFF2-40B4-BE49-F238E27FC236}">
                  <a16:creationId xmlns:a16="http://schemas.microsoft.com/office/drawing/2014/main" id="{67F8B1E0-863C-7032-A56D-52A49D83D91D}"/>
                </a:ext>
              </a:extLst>
            </p:cNvPr>
            <p:cNvSpPr txBox="1"/>
            <p:nvPr/>
          </p:nvSpPr>
          <p:spPr>
            <a:xfrm>
              <a:off x="6894585" y="4852228"/>
              <a:ext cx="2839965" cy="400110"/>
            </a:xfrm>
            <a:prstGeom prst="rect">
              <a:avLst/>
            </a:prstGeom>
            <a:noFill/>
          </p:spPr>
          <p:txBody>
            <a:bodyPr wrap="square">
              <a:spAutoFit/>
            </a:bodyPr>
            <a:lstStyle/>
            <a:p>
              <a:r>
                <a:rPr lang="en-US" sz="2000" b="1">
                  <a:latin typeface="IntelOne Display Regular" panose="020B0503020203020204" pitchFamily="34" charset="0"/>
                </a:rPr>
                <a:t>Etest / Super flow format</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1" name="TextBox 10">
              <a:extLst>
                <a:ext uri="{FF2B5EF4-FFF2-40B4-BE49-F238E27FC236}">
                  <a16:creationId xmlns:a16="http://schemas.microsoft.com/office/drawing/2014/main" id="{1D80EF6D-8A39-8559-A6C8-A876CEA173FC}"/>
                </a:ext>
              </a:extLst>
            </p:cNvPr>
            <p:cNvSpPr txBox="1"/>
            <p:nvPr/>
          </p:nvSpPr>
          <p:spPr>
            <a:xfrm>
              <a:off x="667512" y="5314521"/>
              <a:ext cx="6438971" cy="400110"/>
            </a:xfrm>
            <a:prstGeom prst="rect">
              <a:avLst/>
            </a:prstGeom>
            <a:noFill/>
          </p:spPr>
          <p:txBody>
            <a:bodyPr wrap="square">
              <a:spAutoFit/>
            </a:bodyPr>
            <a:lstStyle/>
            <a:p>
              <a:r>
                <a:rPr lang="en-US" sz="2000" b="1">
                  <a:solidFill>
                    <a:schemeClr val="accent4">
                      <a:lumMod val="75000"/>
                    </a:schemeClr>
                  </a:solidFill>
                  <a:latin typeface="IntelOne Display Regular" panose="020B0503020203020204" pitchFamily="34" charset="0"/>
                </a:rPr>
                <a:t>TEST_NAME</a:t>
              </a:r>
              <a:r>
                <a:rPr lang="en-US" sz="2000" b="1">
                  <a:highlight>
                    <a:srgbClr val="FFFF00"/>
                  </a:highlight>
                  <a:latin typeface="IntelOne Display Regular" panose="020B0503020203020204" pitchFamily="34" charset="0"/>
                </a:rPr>
                <a:t>[</a:t>
              </a:r>
              <a:r>
                <a:rPr lang="en-US" sz="2000" b="1">
                  <a:solidFill>
                    <a:schemeClr val="accent2">
                      <a:lumMod val="75000"/>
                    </a:schemeClr>
                  </a:solidFill>
                  <a:latin typeface="IntelOne Display Regular" panose="020B0503020203020204" pitchFamily="34" charset="0"/>
                </a:rPr>
                <a:t>STRUCTURE_NAME_AS_TESTED</a:t>
              </a:r>
              <a:r>
                <a:rPr lang="en-US" sz="2000" b="1">
                  <a:highlight>
                    <a:srgbClr val="FFFF00"/>
                  </a:highlight>
                  <a:latin typeface="IntelOne Display Regular" panose="020B0503020203020204" pitchFamily="34" charset="0"/>
                </a:rPr>
                <a:t>]</a:t>
              </a:r>
              <a:endParaRPr lang="en-US" sz="2400">
                <a:highlight>
                  <a:srgbClr val="FFFF00"/>
                </a:highlight>
                <a:latin typeface="Intel Clear" panose="020B0604020203020204" pitchFamily="34" charset="0"/>
                <a:ea typeface="Intel Clear" panose="020B0604020203020204" pitchFamily="34" charset="0"/>
                <a:cs typeface="Intel Clear" panose="020B0604020203020204" pitchFamily="34" charset="0"/>
              </a:endParaRPr>
            </a:p>
          </p:txBody>
        </p:sp>
        <p:sp>
          <p:nvSpPr>
            <p:cNvPr id="12" name="TextBox 11">
              <a:extLst>
                <a:ext uri="{FF2B5EF4-FFF2-40B4-BE49-F238E27FC236}">
                  <a16:creationId xmlns:a16="http://schemas.microsoft.com/office/drawing/2014/main" id="{BFDC3D8D-5620-21D2-84C6-40DE19E13EF9}"/>
                </a:ext>
              </a:extLst>
            </p:cNvPr>
            <p:cNvSpPr txBox="1"/>
            <p:nvPr/>
          </p:nvSpPr>
          <p:spPr>
            <a:xfrm>
              <a:off x="6894585" y="5308347"/>
              <a:ext cx="3360665" cy="400110"/>
            </a:xfrm>
            <a:prstGeom prst="rect">
              <a:avLst/>
            </a:prstGeom>
            <a:noFill/>
          </p:spPr>
          <p:txBody>
            <a:bodyPr wrap="square">
              <a:spAutoFit/>
            </a:bodyPr>
            <a:lstStyle/>
            <a:p>
              <a:r>
                <a:rPr lang="en-US" sz="2000" b="1">
                  <a:latin typeface="IntelOne Display Regular" panose="020B0503020203020204" pitchFamily="34" charset="0"/>
                </a:rPr>
                <a:t>WIJT data pull default setting</a:t>
              </a:r>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grpSp>
      <p:sp>
        <p:nvSpPr>
          <p:cNvPr id="14" name="TextBox 13">
            <a:extLst>
              <a:ext uri="{FF2B5EF4-FFF2-40B4-BE49-F238E27FC236}">
                <a16:creationId xmlns:a16="http://schemas.microsoft.com/office/drawing/2014/main" id="{5622EB1E-49DF-9884-2B47-E372DE994167}"/>
              </a:ext>
            </a:extLst>
          </p:cNvPr>
          <p:cNvSpPr txBox="1"/>
          <p:nvPr/>
        </p:nvSpPr>
        <p:spPr>
          <a:xfrm>
            <a:off x="8574917" y="3691093"/>
            <a:ext cx="2889485" cy="2308324"/>
          </a:xfrm>
          <a:prstGeom prst="rect">
            <a:avLst/>
          </a:prstGeom>
          <a:noFill/>
        </p:spPr>
        <p:txBody>
          <a:bodyPr wrap="square">
            <a:spAutoFit/>
          </a:bodyPr>
          <a:lstStyle/>
          <a:p>
            <a:r>
              <a:rPr lang="en-US" sz="2000">
                <a:latin typeface="IntelOne Display Regular" panose="020B0503020203020204" pitchFamily="34" charset="0"/>
              </a:rPr>
              <a:t>Reference Links:</a:t>
            </a:r>
          </a:p>
          <a:p>
            <a:r>
              <a:rPr lang="en-US" sz="2000" b="1">
                <a:latin typeface="IntelOne Display Regular" panose="020B0503020203020204" pitchFamily="34" charset="0"/>
                <a:hlinkClick r:id="rId2" action="ppaction://hlinksldjump"/>
              </a:rPr>
              <a:t>Delimiter</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3" action="ppaction://hlinksldjump"/>
              </a:rPr>
              <a:t>Test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4" action="ppaction://hlinksldjump"/>
              </a:rPr>
              <a:t>Row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5" action="ppaction://hlinksldjump"/>
              </a:rPr>
              <a:t>Structure Name</a:t>
            </a:r>
            <a:endParaRPr lang="en-US" sz="2000" b="1">
              <a:latin typeface="IntelOne Display Regular" panose="020B0503020203020204" pitchFamily="34" charset="0"/>
            </a:endParaRPr>
          </a:p>
          <a:p>
            <a:r>
              <a:rPr lang="en-US" sz="2000" b="1">
                <a:latin typeface="IntelOne Display Regular" panose="020B0503020203020204" pitchFamily="34" charset="0"/>
                <a:hlinkClick r:id="rId6" action="ppaction://hlinksldjump"/>
              </a:rPr>
              <a:t>Library Offering</a:t>
            </a:r>
            <a:endParaRPr lang="en-US" sz="2000" b="1">
              <a:latin typeface="IntelOne Display Regular" panose="020B0503020203020204" pitchFamily="34" charset="0"/>
            </a:endParaRPr>
          </a:p>
          <a:p>
            <a:endParaRPr lang="en-US" sz="2400">
              <a:latin typeface="Intel Clear" panose="020B0604020203020204" pitchFamily="34" charset="0"/>
              <a:ea typeface="Intel Clear" panose="020B0604020203020204" pitchFamily="34" charset="0"/>
              <a:cs typeface="Intel Clear" panose="020B0604020203020204" pitchFamily="34" charset="0"/>
            </a:endParaRPr>
          </a:p>
        </p:txBody>
      </p:sp>
      <p:sp>
        <p:nvSpPr>
          <p:cNvPr id="16" name="TextBox 15">
            <a:extLst>
              <a:ext uri="{FF2B5EF4-FFF2-40B4-BE49-F238E27FC236}">
                <a16:creationId xmlns:a16="http://schemas.microsoft.com/office/drawing/2014/main" id="{A6582112-4E4E-636F-FA2F-2C12075E4680}"/>
              </a:ext>
            </a:extLst>
          </p:cNvPr>
          <p:cNvSpPr txBox="1"/>
          <p:nvPr/>
        </p:nvSpPr>
        <p:spPr>
          <a:xfrm>
            <a:off x="276606" y="6152076"/>
            <a:ext cx="3857244" cy="369332"/>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solidFill>
                  <a:schemeClr val="accent2">
                    <a:lumMod val="75000"/>
                  </a:schemeClr>
                </a:solidFill>
                <a:latin typeface="IntelOne Display Regular" panose="020B0503020203020204" pitchFamily="34" charset="0"/>
              </a:rPr>
              <a:t>Ack: Greg, Roberto, Andrew, Habib</a:t>
            </a:r>
            <a:endParaRPr lang="en-US">
              <a:solidFill>
                <a:schemeClr val="accent2">
                  <a:lumMod val="75000"/>
                </a:schemeClr>
              </a:solidFill>
            </a:endParaRPr>
          </a:p>
        </p:txBody>
      </p:sp>
      <p:sp>
        <p:nvSpPr>
          <p:cNvPr id="17" name="TextBox 16">
            <a:extLst>
              <a:ext uri="{FF2B5EF4-FFF2-40B4-BE49-F238E27FC236}">
                <a16:creationId xmlns:a16="http://schemas.microsoft.com/office/drawing/2014/main" id="{1AFC5690-D6F2-F529-72AF-F80A84F4870C}"/>
              </a:ext>
            </a:extLst>
          </p:cNvPr>
          <p:cNvSpPr txBox="1"/>
          <p:nvPr/>
        </p:nvSpPr>
        <p:spPr>
          <a:xfrm>
            <a:off x="9198937" y="440581"/>
            <a:ext cx="28434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sz="1800">
                <a:solidFill>
                  <a:schemeClr val="accent2">
                    <a:lumMod val="50000"/>
                  </a:schemeClr>
                </a:solidFill>
                <a:latin typeface="IntelOne Display Regular" panose="020B0503020203020204" pitchFamily="34" charset="0"/>
              </a:rPr>
              <a:t>WW19’26</a:t>
            </a:r>
            <a:endParaRPr lang="en-US">
              <a:solidFill>
                <a:schemeClr val="accent2">
                  <a:lumMod val="50000"/>
                </a:schemeClr>
              </a:solidFill>
            </a:endParaRPr>
          </a:p>
        </p:txBody>
      </p:sp>
      <p:sp>
        <p:nvSpPr>
          <p:cNvPr id="6" name="TextBox 5">
            <a:extLst>
              <a:ext uri="{FF2B5EF4-FFF2-40B4-BE49-F238E27FC236}">
                <a16:creationId xmlns:a16="http://schemas.microsoft.com/office/drawing/2014/main" id="{4B580D02-1350-6949-0F02-DA99C085397A}"/>
              </a:ext>
            </a:extLst>
          </p:cNvPr>
          <p:cNvSpPr txBox="1"/>
          <p:nvPr/>
        </p:nvSpPr>
        <p:spPr>
          <a:xfrm>
            <a:off x="4977093" y="1240367"/>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err="1">
                <a:hlinkClick r:id="rId7"/>
              </a:rPr>
              <a:t>How_to_TestRow_DFT_check_in_Atlantis</a:t>
            </a:r>
            <a:r>
              <a:rPr lang="en-US">
                <a:hlinkClick r:id="rId7"/>
              </a:rPr>
              <a:t> 6.6.3.0.docx</a:t>
            </a:r>
            <a:endParaRPr lang="en-US"/>
          </a:p>
        </p:txBody>
      </p:sp>
      <p:sp>
        <p:nvSpPr>
          <p:cNvPr id="18" name="TextBox 17">
            <a:extLst>
              <a:ext uri="{FF2B5EF4-FFF2-40B4-BE49-F238E27FC236}">
                <a16:creationId xmlns:a16="http://schemas.microsoft.com/office/drawing/2014/main" id="{B758604F-5FBF-EC88-8542-CCFDF5A29A50}"/>
              </a:ext>
            </a:extLst>
          </p:cNvPr>
          <p:cNvSpPr txBox="1"/>
          <p:nvPr/>
        </p:nvSpPr>
        <p:spPr>
          <a:xfrm>
            <a:off x="514350" y="1240367"/>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a:latin typeface="IntelOne Display Regular" panose="020B0503020203020204" pitchFamily="34" charset="0"/>
              </a:rPr>
              <a:t>Important Link from Etest team on DFT check: </a:t>
            </a:r>
            <a:endParaRPr lang="en-US"/>
          </a:p>
        </p:txBody>
      </p:sp>
    </p:spTree>
    <p:extLst>
      <p:ext uri="{BB962C8B-B14F-4D97-AF65-F5344CB8AC3E}">
        <p14:creationId xmlns:p14="http://schemas.microsoft.com/office/powerpoint/2010/main" val="75283229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464B-8501-4372-4A1D-4ADEA762B0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0B126-10F2-7ED5-A17E-4112B4BD22A3}"/>
              </a:ext>
            </a:extLst>
          </p:cNvPr>
          <p:cNvSpPr>
            <a:spLocks noGrp="1"/>
          </p:cNvSpPr>
          <p:nvPr>
            <p:ph type="sldNum" sz="quarter" idx="2"/>
          </p:nvPr>
        </p:nvSpPr>
        <p:spPr/>
        <p:txBody>
          <a:bodyPr/>
          <a:lstStyle/>
          <a:p>
            <a:fld id="{86CB4B4D-7CA3-9044-876B-883B54F8677D}" type="slidenum">
              <a:rPr lang="en-US" smtClean="0"/>
              <a:t>2</a:t>
            </a:fld>
            <a:endParaRPr lang="en-US"/>
          </a:p>
        </p:txBody>
      </p:sp>
      <p:sp>
        <p:nvSpPr>
          <p:cNvPr id="3" name="TextBox 2">
            <a:extLst>
              <a:ext uri="{FF2B5EF4-FFF2-40B4-BE49-F238E27FC236}">
                <a16:creationId xmlns:a16="http://schemas.microsoft.com/office/drawing/2014/main" id="{22651C77-7B46-F552-B596-8344D16A4E2D}"/>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Row Name</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5" name="TextBox 4">
            <a:extLst>
              <a:ext uri="{FF2B5EF4-FFF2-40B4-BE49-F238E27FC236}">
                <a16:creationId xmlns:a16="http://schemas.microsoft.com/office/drawing/2014/main" id="{99841177-F88A-EB9B-6370-AF8DE8A04BD1}"/>
              </a:ext>
            </a:extLst>
          </p:cNvPr>
          <p:cNvSpPr txBox="1"/>
          <p:nvPr/>
        </p:nvSpPr>
        <p:spPr>
          <a:xfrm>
            <a:off x="376518" y="11690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ROS: </a:t>
            </a:r>
            <a:r>
              <a:rPr lang="en-US" err="1">
                <a:latin typeface="Aptos Serif" panose="020B0502040204020203" pitchFamily="18" charset="0"/>
                <a:cs typeface="Aptos Serif" panose="020B0502040204020203" pitchFamily="18" charset="0"/>
              </a:rPr>
              <a:t>Library_ros_iteration</a:t>
            </a:r>
            <a:endParaRPr lang="en-US">
              <a:latin typeface="Aptos Serif" panose="020B0502040204020203" pitchFamily="18" charset="0"/>
              <a:cs typeface="Aptos Serif" panose="020B0502040204020203" pitchFamily="18" charset="0"/>
            </a:endParaRPr>
          </a:p>
        </p:txBody>
      </p:sp>
      <p:sp>
        <p:nvSpPr>
          <p:cNvPr id="7" name="TextBox 6">
            <a:extLst>
              <a:ext uri="{FF2B5EF4-FFF2-40B4-BE49-F238E27FC236}">
                <a16:creationId xmlns:a16="http://schemas.microsoft.com/office/drawing/2014/main" id="{891B12E0-A702-802D-ED36-6F34530C229A}"/>
              </a:ext>
            </a:extLst>
          </p:cNvPr>
          <p:cNvSpPr txBox="1"/>
          <p:nvPr/>
        </p:nvSpPr>
        <p:spPr>
          <a:xfrm>
            <a:off x="2406650" y="491228"/>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Limit to 23 chars</a:t>
            </a:r>
          </a:p>
        </p:txBody>
      </p:sp>
      <p:sp>
        <p:nvSpPr>
          <p:cNvPr id="8" name="TextBox 7">
            <a:extLst>
              <a:ext uri="{FF2B5EF4-FFF2-40B4-BE49-F238E27FC236}">
                <a16:creationId xmlns:a16="http://schemas.microsoft.com/office/drawing/2014/main" id="{186B6960-3D25-604B-B5A4-85B5454F0CC1}"/>
              </a:ext>
            </a:extLst>
          </p:cNvPr>
          <p:cNvSpPr txBox="1"/>
          <p:nvPr/>
        </p:nvSpPr>
        <p:spPr>
          <a:xfrm>
            <a:off x="376518" y="178613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ROS PFT: </a:t>
            </a:r>
            <a:r>
              <a:rPr lang="en-US" err="1">
                <a:latin typeface="Aptos Serif" panose="020B0502040204020203" pitchFamily="18" charset="0"/>
                <a:cs typeface="Aptos Serif" panose="020B0502040204020203" pitchFamily="18" charset="0"/>
              </a:rPr>
              <a:t>Library_rospft_iteration</a:t>
            </a:r>
            <a:endParaRPr lang="en-US">
              <a:latin typeface="Aptos Serif" panose="020B0502040204020203" pitchFamily="18" charset="0"/>
              <a:cs typeface="Aptos Serif" panose="020B0502040204020203" pitchFamily="18" charset="0"/>
            </a:endParaRPr>
          </a:p>
        </p:txBody>
      </p:sp>
      <p:sp>
        <p:nvSpPr>
          <p:cNvPr id="9" name="TextBox 8">
            <a:extLst>
              <a:ext uri="{FF2B5EF4-FFF2-40B4-BE49-F238E27FC236}">
                <a16:creationId xmlns:a16="http://schemas.microsoft.com/office/drawing/2014/main" id="{411E1C4D-2326-CE86-5B2C-AEE7380CAB1F}"/>
              </a:ext>
            </a:extLst>
          </p:cNvPr>
          <p:cNvSpPr txBox="1"/>
          <p:nvPr/>
        </p:nvSpPr>
        <p:spPr>
          <a:xfrm>
            <a:off x="376518" y="2403185"/>
            <a:ext cx="812613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LLE-neutral PFT: Library_(polarity)cl(row-identifier)_iteration</a:t>
            </a:r>
          </a:p>
        </p:txBody>
      </p:sp>
      <p:sp>
        <p:nvSpPr>
          <p:cNvPr id="10" name="TextBox 9">
            <a:extLst>
              <a:ext uri="{FF2B5EF4-FFF2-40B4-BE49-F238E27FC236}">
                <a16:creationId xmlns:a16="http://schemas.microsoft.com/office/drawing/2014/main" id="{53473AE7-8AFA-DDE7-822D-E1770294BB36}"/>
              </a:ext>
            </a:extLst>
          </p:cNvPr>
          <p:cNvSpPr txBox="1"/>
          <p:nvPr/>
        </p:nvSpPr>
        <p:spPr>
          <a:xfrm>
            <a:off x="376518" y="3020235"/>
            <a:ext cx="69640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LLE-PFT: Library_(polarity)</a:t>
            </a:r>
            <a:r>
              <a:rPr lang="en-US" err="1">
                <a:latin typeface="Aptos Serif" panose="020B0502040204020203" pitchFamily="18" charset="0"/>
                <a:cs typeface="Aptos Serif" panose="020B0502040204020203" pitchFamily="18" charset="0"/>
              </a:rPr>
              <a:t>lle</a:t>
            </a:r>
            <a:r>
              <a:rPr lang="en-US">
                <a:latin typeface="Aptos Serif" panose="020B0502040204020203" pitchFamily="18" charset="0"/>
                <a:cs typeface="Aptos Serif" panose="020B0502040204020203" pitchFamily="18" charset="0"/>
              </a:rPr>
              <a:t>(row-identifier)_iteration</a:t>
            </a:r>
          </a:p>
        </p:txBody>
      </p:sp>
      <p:sp>
        <p:nvSpPr>
          <p:cNvPr id="12" name="TextBox 11">
            <a:extLst>
              <a:ext uri="{FF2B5EF4-FFF2-40B4-BE49-F238E27FC236}">
                <a16:creationId xmlns:a16="http://schemas.microsoft.com/office/drawing/2014/main" id="{099E4804-C086-15A7-0EA2-2A15C0FA386E}"/>
              </a:ext>
            </a:extLst>
          </p:cNvPr>
          <p:cNvSpPr txBox="1"/>
          <p:nvPr/>
        </p:nvSpPr>
        <p:spPr>
          <a:xfrm>
            <a:off x="376518" y="36372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WID: </a:t>
            </a:r>
            <a:r>
              <a:rPr lang="en-US" err="1">
                <a:latin typeface="Aptos Serif" panose="020B0502040204020203" pitchFamily="18" charset="0"/>
                <a:cs typeface="Aptos Serif" panose="020B0502040204020203" pitchFamily="18" charset="0"/>
              </a:rPr>
              <a:t>Library_wid</a:t>
            </a:r>
            <a:r>
              <a:rPr lang="en-US">
                <a:latin typeface="Aptos Serif" panose="020B0502040204020203" pitchFamily="18" charset="0"/>
                <a:cs typeface="Aptos Serif" panose="020B0502040204020203" pitchFamily="18" charset="0"/>
              </a:rPr>
              <a:t>(row-identifier)_iteration</a:t>
            </a:r>
          </a:p>
        </p:txBody>
      </p:sp>
      <p:sp>
        <p:nvSpPr>
          <p:cNvPr id="13" name="TextBox 12">
            <a:extLst>
              <a:ext uri="{FF2B5EF4-FFF2-40B4-BE49-F238E27FC236}">
                <a16:creationId xmlns:a16="http://schemas.microsoft.com/office/drawing/2014/main" id="{D8B50285-6ED6-048C-DC8C-109A7C48A2C5}"/>
              </a:ext>
            </a:extLst>
          </p:cNvPr>
          <p:cNvSpPr txBox="1"/>
          <p:nvPr/>
        </p:nvSpPr>
        <p:spPr>
          <a:xfrm>
            <a:off x="376518" y="4254335"/>
            <a:ext cx="71545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Matching PFT : Library_ </a:t>
            </a:r>
            <a:r>
              <a:rPr lang="en-US">
                <a:solidFill>
                  <a:schemeClr val="accent2">
                    <a:lumMod val="50000"/>
                  </a:schemeClr>
                </a:solidFill>
                <a:latin typeface="Aptos Serif" panose="020B0502040204020203" pitchFamily="18" charset="0"/>
                <a:cs typeface="Aptos Serif" panose="020B0502040204020203" pitchFamily="18" charset="0"/>
              </a:rPr>
              <a:t>m</a:t>
            </a:r>
            <a:r>
              <a:rPr lang="en-US">
                <a:latin typeface="Aptos Serif" panose="020B0502040204020203" pitchFamily="18" charset="0"/>
                <a:cs typeface="Aptos Serif" panose="020B0502040204020203" pitchFamily="18" charset="0"/>
              </a:rPr>
              <a:t>(polarity)cl(row-identifier) _iteration</a:t>
            </a:r>
          </a:p>
        </p:txBody>
      </p:sp>
      <p:sp>
        <p:nvSpPr>
          <p:cNvPr id="14" name="TextBox 13">
            <a:extLst>
              <a:ext uri="{FF2B5EF4-FFF2-40B4-BE49-F238E27FC236}">
                <a16:creationId xmlns:a16="http://schemas.microsoft.com/office/drawing/2014/main" id="{ECD679D1-58DE-D740-EEEE-0E5A38A90233}"/>
              </a:ext>
            </a:extLst>
          </p:cNvPr>
          <p:cNvSpPr txBox="1"/>
          <p:nvPr/>
        </p:nvSpPr>
        <p:spPr>
          <a:xfrm>
            <a:off x="376518" y="548843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ISO: </a:t>
            </a:r>
            <a:r>
              <a:rPr lang="en-US" err="1">
                <a:latin typeface="Aptos Serif" panose="020B0502040204020203" pitchFamily="18" charset="0"/>
                <a:cs typeface="Aptos Serif" panose="020B0502040204020203" pitchFamily="18" charset="0"/>
              </a:rPr>
              <a:t>Library_failmode_iteration</a:t>
            </a:r>
            <a:endParaRPr lang="en-US">
              <a:latin typeface="Aptos Serif" panose="020B0502040204020203" pitchFamily="18" charset="0"/>
              <a:cs typeface="Aptos Serif" panose="020B0502040204020203" pitchFamily="18" charset="0"/>
            </a:endParaRPr>
          </a:p>
        </p:txBody>
      </p:sp>
      <p:sp>
        <p:nvSpPr>
          <p:cNvPr id="23" name="TextBox 22">
            <a:extLst>
              <a:ext uri="{FF2B5EF4-FFF2-40B4-BE49-F238E27FC236}">
                <a16:creationId xmlns:a16="http://schemas.microsoft.com/office/drawing/2014/main" id="{E34B9CE4-6B70-8D4A-C748-699AA83D2384}"/>
              </a:ext>
            </a:extLst>
          </p:cNvPr>
          <p:cNvSpPr txBox="1"/>
          <p:nvPr/>
        </p:nvSpPr>
        <p:spPr>
          <a:xfrm>
            <a:off x="376518" y="6105485"/>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IL Row: </a:t>
            </a:r>
            <a:r>
              <a:rPr lang="en-US" err="1">
                <a:latin typeface="Aptos Serif" panose="020B0502040204020203" pitchFamily="18" charset="0"/>
                <a:cs typeface="Aptos Serif" panose="020B0502040204020203" pitchFamily="18" charset="0"/>
              </a:rPr>
              <a:t>Library_StandardRowFormat</a:t>
            </a:r>
            <a:r>
              <a:rPr lang="en-US">
                <a:latin typeface="Aptos Serif" panose="020B0502040204020203" pitchFamily="18" charset="0"/>
                <a:cs typeface="Aptos Serif" panose="020B0502040204020203" pitchFamily="18" charset="0"/>
              </a:rPr>
              <a:t>_(</a:t>
            </a:r>
            <a:r>
              <a:rPr lang="en-US">
                <a:highlight>
                  <a:srgbClr val="FFFF00"/>
                </a:highlight>
                <a:latin typeface="Aptos Serif" panose="020B0502040204020203" pitchFamily="18" charset="0"/>
                <a:cs typeface="Aptos Serif" panose="020B0502040204020203" pitchFamily="18" charset="0"/>
              </a:rPr>
              <a:t>il</a:t>
            </a:r>
            <a:r>
              <a:rPr lang="en-US">
                <a:latin typeface="Aptos Serif" panose="020B0502040204020203" pitchFamily="18" charset="0"/>
                <a:cs typeface="Aptos Serif" panose="020B0502040204020203" pitchFamily="18" charset="0"/>
              </a:rPr>
              <a:t>)iteration</a:t>
            </a:r>
          </a:p>
        </p:txBody>
      </p:sp>
      <p:sp>
        <p:nvSpPr>
          <p:cNvPr id="24" name="TextBox 23">
            <a:extLst>
              <a:ext uri="{FF2B5EF4-FFF2-40B4-BE49-F238E27FC236}">
                <a16:creationId xmlns:a16="http://schemas.microsoft.com/office/drawing/2014/main" id="{70F0E564-F772-FB91-8A63-E3168C7D4B8F}"/>
              </a:ext>
            </a:extLst>
          </p:cNvPr>
          <p:cNvSpPr txBox="1"/>
          <p:nvPr/>
        </p:nvSpPr>
        <p:spPr>
          <a:xfrm>
            <a:off x="376518" y="4871385"/>
            <a:ext cx="715458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atin typeface="Aptos Serif" panose="020B0502040204020203" pitchFamily="18" charset="0"/>
                <a:cs typeface="Aptos Serif" panose="020B0502040204020203" pitchFamily="18" charset="0"/>
              </a:rPr>
              <a:t>Bit PFT : </a:t>
            </a:r>
            <a:r>
              <a:rPr lang="en-US" err="1">
                <a:latin typeface="Aptos Serif" panose="020B0502040204020203" pitchFamily="18" charset="0"/>
                <a:cs typeface="Aptos Serif" panose="020B0502040204020203" pitchFamily="18" charset="0"/>
              </a:rPr>
              <a:t>Library_bitpft</a:t>
            </a:r>
            <a:r>
              <a:rPr lang="en-US">
                <a:latin typeface="Aptos Serif" panose="020B0502040204020203" pitchFamily="18" charset="0"/>
                <a:cs typeface="Aptos Serif" panose="020B0502040204020203" pitchFamily="18" charset="0"/>
              </a:rPr>
              <a:t>(row-identifier) _iteration</a:t>
            </a:r>
          </a:p>
        </p:txBody>
      </p:sp>
    </p:spTree>
    <p:extLst>
      <p:ext uri="{BB962C8B-B14F-4D97-AF65-F5344CB8AC3E}">
        <p14:creationId xmlns:p14="http://schemas.microsoft.com/office/powerpoint/2010/main" val="283697523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ED5909-476A-6E40-7E1F-02CF5DC904AC}"/>
              </a:ext>
            </a:extLst>
          </p:cNvPr>
          <p:cNvSpPr>
            <a:spLocks noGrp="1"/>
          </p:cNvSpPr>
          <p:nvPr>
            <p:ph type="sldNum" sz="quarter" idx="2"/>
          </p:nvPr>
        </p:nvSpPr>
        <p:spPr/>
        <p:txBody>
          <a:bodyPr/>
          <a:lstStyle/>
          <a:p>
            <a:fld id="{86CB4B4D-7CA3-9044-876B-883B54F8677D}" type="slidenum">
              <a:rPr lang="en-US" smtClean="0"/>
              <a:t>3</a:t>
            </a:fld>
            <a:endParaRPr lang="en-US"/>
          </a:p>
        </p:txBody>
      </p:sp>
      <p:sp>
        <p:nvSpPr>
          <p:cNvPr id="5" name="TextBox 4">
            <a:extLst>
              <a:ext uri="{FF2B5EF4-FFF2-40B4-BE49-F238E27FC236}">
                <a16:creationId xmlns:a16="http://schemas.microsoft.com/office/drawing/2014/main" id="{260D9863-9D48-F82A-EA42-0060EA71C0C3}"/>
              </a:ext>
            </a:extLst>
          </p:cNvPr>
          <p:cNvSpPr txBox="1"/>
          <p:nvPr/>
        </p:nvSpPr>
        <p:spPr>
          <a:xfrm>
            <a:off x="376517" y="1379498"/>
            <a:ext cx="11438963" cy="5078313"/>
          </a:xfrm>
          <a:prstGeom prst="rect">
            <a:avLst/>
          </a:prstGeom>
          <a:noFill/>
        </p:spPr>
        <p:txBody>
          <a:bodyPr wrap="square">
            <a:spAutoFit/>
          </a:bodyPr>
          <a:lstStyle/>
          <a:p>
            <a:pPr marL="342900" indent="-342900">
              <a:buFont typeface="Arial" panose="020B0604020202020204" pitchFamily="34" charset="0"/>
              <a:buChar char="•"/>
            </a:pPr>
            <a:r>
              <a:rPr lang="en-US" sz="2000">
                <a:latin typeface="IntelOne Display Regular" panose="020B0503020203020204" pitchFamily="34" charset="0"/>
              </a:rPr>
              <a:t>Structure name in Atlantis reflects on STRUCTURE_NAME_AS_TESTED on tester concatenated with TC number or SL</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in Atlantis reflects config type which consists of a several tests included in the config by the Etest team</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at tester may differ from test name in dashboard – follow methodology here</a:t>
            </a:r>
          </a:p>
          <a:p>
            <a:pPr marL="342900" indent="-342900">
              <a:buFont typeface="Arial" panose="020B0604020202020204" pitchFamily="34" charset="0"/>
              <a:buChar char="•"/>
            </a:pPr>
            <a:endParaRPr lang="en-US" sz="2000">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Make a uniform delimiter “-” (hyphen) within structure name except for additional details</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Structure name, seat name, row instance are separated by “_” (underscore) – done post catalog gen.</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Test name and structure name to be separated by pipe symbol “|” at CNAI dashboard level</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Try to maintain equal number of delimiters across all structure types for ease of automation and text to column separation</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Any additional detail must be added in appropriate position separated by a colon symbol “:” for ISO structures to separate chunks of data</a:t>
            </a:r>
          </a:p>
          <a:p>
            <a:pPr marL="342900" indent="-342900">
              <a:buFont typeface="Arial" panose="020B0604020202020204" pitchFamily="34" charset="0"/>
              <a:buChar char="•"/>
            </a:pPr>
            <a:r>
              <a:rPr lang="en-US" sz="2000">
                <a:latin typeface="IntelOne Display Regular" panose="020B0503020203020204" pitchFamily="34" charset="0"/>
                <a:ea typeface="Intel Clear" panose="020B0604020203020204" pitchFamily="34" charset="0"/>
                <a:cs typeface="Intel Clear" panose="020B0604020203020204" pitchFamily="34" charset="0"/>
              </a:rPr>
              <a:t>Any additional detail must be added at the end of the structure name and before seat name with “_” (underscore) as delimiter</a:t>
            </a:r>
          </a:p>
          <a:p>
            <a:pPr marL="342900" indent="-342900">
              <a:buFont typeface="Arial" panose="020B0604020202020204" pitchFamily="34" charset="0"/>
              <a:buChar char="•"/>
            </a:pPr>
            <a:endParaRPr lang="en-US" sz="2400">
              <a:latin typeface="IntelOne Display Regular" panose="020B0503020203020204" pitchFamily="34" charset="0"/>
              <a:ea typeface="Intel Clear" panose="020B0604020203020204" pitchFamily="34" charset="0"/>
              <a:cs typeface="Intel Clear" panose="020B0604020203020204" pitchFamily="34" charset="0"/>
            </a:endParaRPr>
          </a:p>
        </p:txBody>
      </p:sp>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Delimiter</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Tree>
    <p:extLst>
      <p:ext uri="{BB962C8B-B14F-4D97-AF65-F5344CB8AC3E}">
        <p14:creationId xmlns:p14="http://schemas.microsoft.com/office/powerpoint/2010/main" val="45975005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AB1B-C2E9-1BD8-FFDA-E4E28DE3D9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F8A12B-AF3A-9757-02F0-ABF4787475DC}"/>
              </a:ext>
            </a:extLst>
          </p:cNvPr>
          <p:cNvSpPr>
            <a:spLocks noGrp="1"/>
          </p:cNvSpPr>
          <p:nvPr>
            <p:ph type="sldNum" sz="quarter" idx="2"/>
          </p:nvPr>
        </p:nvSpPr>
        <p:spPr/>
        <p:txBody>
          <a:bodyPr/>
          <a:lstStyle/>
          <a:p>
            <a:fld id="{86CB4B4D-7CA3-9044-876B-883B54F8677D}" type="slidenum">
              <a:rPr lang="en-US" smtClean="0"/>
              <a:t>4</a:t>
            </a:fld>
            <a:endParaRPr lang="en-US"/>
          </a:p>
        </p:txBody>
      </p:sp>
      <p:sp>
        <p:nvSpPr>
          <p:cNvPr id="5" name="TextBox 4">
            <a:extLst>
              <a:ext uri="{FF2B5EF4-FFF2-40B4-BE49-F238E27FC236}">
                <a16:creationId xmlns:a16="http://schemas.microsoft.com/office/drawing/2014/main" id="{87293BAF-7C84-FF64-39ED-A583A852EA83}"/>
              </a:ext>
            </a:extLst>
          </p:cNvPr>
          <p:cNvSpPr txBox="1"/>
          <p:nvPr/>
        </p:nvSpPr>
        <p:spPr>
          <a:xfrm>
            <a:off x="376517" y="1074938"/>
            <a:ext cx="6856387" cy="4893647"/>
          </a:xfrm>
          <a:prstGeom prst="rect">
            <a:avLst/>
          </a:prstGeom>
          <a:noFill/>
        </p:spPr>
        <p:txBody>
          <a:bodyPr wrap="square">
            <a:spAutoFit/>
          </a:bodyPr>
          <a:lstStyle/>
          <a:p>
            <a:pPr marL="342900" indent="-342900">
              <a:buFont typeface="Arial" panose="020B0604020202020204" pitchFamily="34" charset="0"/>
              <a:buChar char="•"/>
            </a:pPr>
            <a:r>
              <a:rPr lang="en-US"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No more test name aliasing between </a:t>
            </a:r>
            <a:r>
              <a:rPr lang="en-US" b="1" err="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Etest</a:t>
            </a:r>
            <a:r>
              <a:rPr lang="en-US"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 and dashboard on x818 TC and on</a:t>
            </a:r>
            <a:endParaRPr lang="en-US" b="1">
              <a:latin typeface="IntelOne Display Regular" panose="020B0503020203020204" pitchFamily="34" charset="0"/>
            </a:endParaRPr>
          </a:p>
          <a:p>
            <a:pPr marL="342900" indent="-342900">
              <a:buFont typeface="Arial" panose="020B0604020202020204" pitchFamily="34" charset="0"/>
              <a:buChar char="•"/>
            </a:pPr>
            <a:r>
              <a:rPr lang="en-US" b="1">
                <a:latin typeface="IntelOne Display Regular" panose="020B0503020203020204" pitchFamily="34" charset="0"/>
              </a:rPr>
              <a:t>Each config contains a list of tests depending on what config type it is</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PFT config consists of a larger subset than a config designed for an 2pt ISO structure</a:t>
            </a:r>
          </a:p>
          <a:p>
            <a:pPr marL="342900" lvl="3"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Naming convention changes for ease of use, detailed drain/source pin information should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IDEFF was referred as IEFF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IDEFF will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Current –voltage separator “/” (forward slash) was replaced with “_” (underscore)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forward slash will be retained</a:t>
            </a: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LOG of test name is added in some cases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required test config update to calculate logarithm of current at </a:t>
            </a:r>
            <a:r>
              <a:rPr lang="en-US" sz="2000" b="1" err="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Etest</a:t>
            </a:r>
            <a:endPar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endParaRPr>
          </a:p>
          <a:p>
            <a:pPr marL="342900" lvl="3"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BTI tests drop current/voltage spec -&gt; </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retain </a:t>
            </a:r>
            <a:r>
              <a:rPr lang="en-US" sz="2000" b="1" err="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Etest</a:t>
            </a:r>
            <a:r>
              <a:rPr lang="en-US" sz="2000" b="1">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rPr>
              <a:t> output</a:t>
            </a:r>
          </a:p>
        </p:txBody>
      </p:sp>
      <p:sp>
        <p:nvSpPr>
          <p:cNvPr id="3" name="TextBox 2">
            <a:extLst>
              <a:ext uri="{FF2B5EF4-FFF2-40B4-BE49-F238E27FC236}">
                <a16:creationId xmlns:a16="http://schemas.microsoft.com/office/drawing/2014/main" id="{77A3FE78-5C22-2AA0-9DC8-66DDF33CFC14}"/>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Test Name ALIAS</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graphicFrame>
        <p:nvGraphicFramePr>
          <p:cNvPr id="6" name="Object 5">
            <a:extLst>
              <a:ext uri="{FF2B5EF4-FFF2-40B4-BE49-F238E27FC236}">
                <a16:creationId xmlns:a16="http://schemas.microsoft.com/office/drawing/2014/main" id="{FD2FB9C4-5B2B-385D-29F2-AB61E67DD18A}"/>
              </a:ext>
            </a:extLst>
          </p:cNvPr>
          <p:cNvGraphicFramePr>
            <a:graphicFrameLocks noChangeAspect="1"/>
          </p:cNvGraphicFramePr>
          <p:nvPr>
            <p:extLst>
              <p:ext uri="{D42A27DB-BD31-4B8C-83A1-F6EECF244321}">
                <p14:modId xmlns:p14="http://schemas.microsoft.com/office/powerpoint/2010/main" val="534593060"/>
              </p:ext>
            </p:extLst>
          </p:nvPr>
        </p:nvGraphicFramePr>
        <p:xfrm>
          <a:off x="7671372" y="728557"/>
          <a:ext cx="3906837" cy="5418137"/>
        </p:xfrm>
        <a:graphic>
          <a:graphicData uri="http://schemas.openxmlformats.org/presentationml/2006/ole">
            <mc:AlternateContent xmlns:mc="http://schemas.openxmlformats.org/markup-compatibility/2006">
              <mc:Choice xmlns:v="urn:schemas-microsoft-com:vml" Requires="v">
                <p:oleObj name="Worksheet" r:id="rId3" imgW="7175517" imgH="9950585" progId="Excel.Sheet.12">
                  <p:embed/>
                </p:oleObj>
              </mc:Choice>
              <mc:Fallback>
                <p:oleObj name="Worksheet" r:id="rId3" imgW="7175517" imgH="9950585" progId="Excel.Sheet.12">
                  <p:embed/>
                  <p:pic>
                    <p:nvPicPr>
                      <p:cNvPr id="6" name="Object 5">
                        <a:extLst>
                          <a:ext uri="{FF2B5EF4-FFF2-40B4-BE49-F238E27FC236}">
                            <a16:creationId xmlns:a16="http://schemas.microsoft.com/office/drawing/2014/main" id="{FD2FB9C4-5B2B-385D-29F2-AB61E67DD18A}"/>
                          </a:ext>
                        </a:extLst>
                      </p:cNvPr>
                      <p:cNvPicPr/>
                      <p:nvPr/>
                    </p:nvPicPr>
                    <p:blipFill>
                      <a:blip r:embed="rId4"/>
                      <a:stretch>
                        <a:fillRect/>
                      </a:stretch>
                    </p:blipFill>
                    <p:spPr>
                      <a:xfrm>
                        <a:off x="7671372" y="728557"/>
                        <a:ext cx="3906837" cy="5418137"/>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CA0EB032-65EA-8B7C-9E7C-BAF8AA50A56C}"/>
              </a:ext>
            </a:extLst>
          </p:cNvPr>
          <p:cNvSpPr txBox="1"/>
          <p:nvPr/>
        </p:nvSpPr>
        <p:spPr>
          <a:xfrm>
            <a:off x="5483733" y="304243"/>
            <a:ext cx="609447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b="1">
                <a:latin typeface="IntelOne Display Regular" panose="020B0503020203020204" pitchFamily="34" charset="0"/>
              </a:rPr>
              <a:t>BKM from x78D -&gt; x78E -&gt; 80C</a:t>
            </a:r>
            <a:endParaRPr lang="en-US"/>
          </a:p>
        </p:txBody>
      </p:sp>
    </p:spTree>
    <p:extLst>
      <p:ext uri="{BB962C8B-B14F-4D97-AF65-F5344CB8AC3E}">
        <p14:creationId xmlns:p14="http://schemas.microsoft.com/office/powerpoint/2010/main" val="352876733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DDA317-584A-77DC-9E9A-28013C47D375}"/>
              </a:ext>
            </a:extLst>
          </p:cNvPr>
          <p:cNvSpPr>
            <a:spLocks noGrp="1"/>
          </p:cNvSpPr>
          <p:nvPr>
            <p:ph type="sldNum" sz="quarter" idx="2"/>
          </p:nvPr>
        </p:nvSpPr>
        <p:spPr/>
        <p:txBody>
          <a:bodyPr/>
          <a:lstStyle/>
          <a:p>
            <a:fld id="{86CB4B4D-7CA3-9044-876B-883B54F8677D}" type="slidenum">
              <a:rPr lang="en-US" smtClean="0"/>
              <a:t>5</a:t>
            </a:fld>
            <a:endParaRPr lang="en-US"/>
          </a:p>
        </p:txBody>
      </p:sp>
      <p:sp>
        <p:nvSpPr>
          <p:cNvPr id="4" name="TextBox 3">
            <a:extLst>
              <a:ext uri="{FF2B5EF4-FFF2-40B4-BE49-F238E27FC236}">
                <a16:creationId xmlns:a16="http://schemas.microsoft.com/office/drawing/2014/main" id="{8A08F8F0-659F-AEE6-087C-BEAE75F94CE1}"/>
              </a:ext>
            </a:extLst>
          </p:cNvPr>
          <p:cNvSpPr txBox="1"/>
          <p:nvPr/>
        </p:nvSpPr>
        <p:spPr>
          <a:xfrm>
            <a:off x="376517" y="1188067"/>
            <a:ext cx="8634133" cy="3785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42900" indent="-342900">
              <a:buFont typeface="Arial" panose="020B0604020202020204" pitchFamily="34" charset="0"/>
              <a:buChar char="•"/>
            </a:pPr>
            <a:r>
              <a:rPr lang="en-US" sz="2000" b="1" dirty="0">
                <a:latin typeface="IntelOne Display Regular" panose="020B0503020203020204" pitchFamily="34" charset="0"/>
                <a:ea typeface="Intel Clear" panose="020B0604020203020204" pitchFamily="34" charset="0"/>
                <a:cs typeface="Intel Clear" panose="020B0604020203020204" pitchFamily="34" charset="0"/>
              </a:rPr>
              <a:t>STRUCTURE_NAME_AS_TESTED to be the same as STRUCTURE_NAME in CNAI dashboard</a:t>
            </a:r>
          </a:p>
          <a:p>
            <a:pPr marL="342900"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b="1" dirty="0">
                <a:latin typeface="IntelOne Display Regular"/>
                <a:ea typeface="Intel Clear" panose="020B0604020203020204" pitchFamily="34" charset="0"/>
                <a:cs typeface="Intel Clear" panose="020B0604020203020204" pitchFamily="34" charset="0"/>
              </a:rPr>
              <a:t>Character limit is 64 reserved for structure name +TC information – 7 characters reserved for </a:t>
            </a:r>
            <a:r>
              <a:rPr lang="en-US" sz="2000" b="1" dirty="0" err="1">
                <a:latin typeface="IntelOne Display Regular"/>
                <a:ea typeface="Intel Clear" panose="020B0604020203020204" pitchFamily="34" charset="0"/>
                <a:cs typeface="Intel Clear" panose="020B0604020203020204" pitchFamily="34" charset="0"/>
              </a:rPr>
              <a:t>Etest</a:t>
            </a:r>
            <a:r>
              <a:rPr lang="en-US" sz="2000" b="1" dirty="0">
                <a:latin typeface="IntelOne Display Regular"/>
                <a:ea typeface="Intel Clear" panose="020B0604020203020204" pitchFamily="34" charset="0"/>
                <a:cs typeface="Intel Clear" panose="020B0604020203020204" pitchFamily="34" charset="0"/>
              </a:rPr>
              <a:t>; </a:t>
            </a:r>
            <a:r>
              <a:rPr lang="en-US" sz="2000" b="1" dirty="0" err="1">
                <a:latin typeface="IntelOne Display Regular"/>
                <a:ea typeface="Intel Clear" panose="020B0604020203020204" pitchFamily="34" charset="0"/>
                <a:cs typeface="Intel Clear" panose="020B0604020203020204" pitchFamily="34" charset="0"/>
              </a:rPr>
              <a:t>Etest</a:t>
            </a:r>
            <a:r>
              <a:rPr lang="en-US" sz="2000" b="1" dirty="0">
                <a:latin typeface="IntelOne Display Regular"/>
                <a:ea typeface="Intel Clear" panose="020B0604020203020204" pitchFamily="34" charset="0"/>
                <a:cs typeface="Intel Clear" panose="020B0604020203020204" pitchFamily="34" charset="0"/>
              </a:rPr>
              <a:t> can be restrictive, but alignment is needed</a:t>
            </a:r>
          </a:p>
          <a:p>
            <a:pPr marL="342900"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lvl="1" indent="-342900">
              <a:buFont typeface="Arial" panose="020B0604020202020204" pitchFamily="34" charset="0"/>
              <a:buChar char="•"/>
            </a:pPr>
            <a:r>
              <a:rPr lang="en-US" sz="2000" b="1" dirty="0">
                <a:latin typeface="IntelOne Display Regular" panose="020B0503020203020204" pitchFamily="34" charset="0"/>
                <a:ea typeface="Intel Clear" panose="020B0604020203020204" pitchFamily="34" charset="0"/>
                <a:cs typeface="Intel Clear" panose="020B0604020203020204" pitchFamily="34" charset="0"/>
              </a:rPr>
              <a:t>Use PDK reference to align on naming convention </a:t>
            </a:r>
          </a:p>
          <a:p>
            <a:pPr marL="342900" lvl="1" indent="-342900">
              <a:buFont typeface="Arial" panose="020B0604020202020204" pitchFamily="34" charset="0"/>
              <a:buChar char="•"/>
            </a:pPr>
            <a:endParaRPr lang="en-US" sz="2000" b="1" dirty="0">
              <a:latin typeface="IntelOne Display Regular" panose="020B0503020203020204" pitchFamily="34" charset="0"/>
              <a:ea typeface="Intel Clear" panose="020B0604020203020204" pitchFamily="34" charset="0"/>
              <a:cs typeface="Intel Clear" panose="020B0604020203020204" pitchFamily="34" charset="0"/>
            </a:endParaRPr>
          </a:p>
          <a:p>
            <a:pPr marL="342900" lvl="1" indent="-342900">
              <a:buFont typeface="Arial" panose="020B0604020202020204" pitchFamily="34" charset="0"/>
              <a:buChar char="•"/>
            </a:pPr>
            <a:r>
              <a:rPr lang="en-US" sz="2000" b="1" dirty="0">
                <a:latin typeface="IntelOne Display Regular"/>
                <a:ea typeface="Intel Clear" panose="020B0604020203020204" pitchFamily="34" charset="0"/>
                <a:cs typeface="Intel Clear" panose="020B0604020203020204" pitchFamily="34" charset="0"/>
              </a:rPr>
              <a:t>Follow new metadata column entries in Atlantis intended for uniform and auto scalar generation – </a:t>
            </a:r>
            <a:r>
              <a:rPr lang="en-US" sz="2000" b="1" dirty="0">
                <a:solidFill>
                  <a:srgbClr val="FF0000"/>
                </a:solidFill>
                <a:latin typeface="IntelOne Display Regular"/>
                <a:ea typeface="Intel Clear" panose="020B0604020203020204" pitchFamily="34" charset="0"/>
                <a:cs typeface="Intel Clear" panose="020B0604020203020204" pitchFamily="34" charset="0"/>
              </a:rPr>
              <a:t>do not use structure name to generate device attributes, instead use device attributes to construct structure name</a:t>
            </a:r>
            <a:endParaRPr lang="en-US" sz="2000" b="1" dirty="0">
              <a:solidFill>
                <a:srgbClr val="FF0000"/>
              </a:solidFill>
              <a:latin typeface="IntelOne Display Regular" panose="020B0503020203020204" pitchFamily="34" charset="0"/>
              <a:ea typeface="Intel Clear" panose="020B0604020203020204" pitchFamily="34" charset="0"/>
              <a:cs typeface="Intel Clear" panose="020B0604020203020204" pitchFamily="34" charset="0"/>
            </a:endParaRPr>
          </a:p>
        </p:txBody>
      </p:sp>
      <p:sp>
        <p:nvSpPr>
          <p:cNvPr id="5" name="TextBox 4">
            <a:extLst>
              <a:ext uri="{FF2B5EF4-FFF2-40B4-BE49-F238E27FC236}">
                <a16:creationId xmlns:a16="http://schemas.microsoft.com/office/drawing/2014/main" id="{AD27154A-7BD7-D418-4710-4729DC4A0438}"/>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6" name="Picture 2">
            <a:extLst>
              <a:ext uri="{FF2B5EF4-FFF2-40B4-BE49-F238E27FC236}">
                <a16:creationId xmlns:a16="http://schemas.microsoft.com/office/drawing/2014/main" id="{21804147-2C83-20D0-D4B9-701AD3357F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120" y="5565303"/>
            <a:ext cx="7764780" cy="6308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824E0845-C83E-3E4D-6AD7-7148A8F9D5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2832EBB-515C-DFA8-9BCE-C0C07C34D75E}"/>
              </a:ext>
            </a:extLst>
          </p:cNvPr>
          <p:cNvSpPr txBox="1"/>
          <p:nvPr/>
        </p:nvSpPr>
        <p:spPr>
          <a:xfrm>
            <a:off x="579120" y="5240419"/>
            <a:ext cx="93218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Atlantis Metadata column requirements (Ack: Andrew, Brian)</a:t>
            </a:r>
            <a:endParaRPr lang="en-US">
              <a:solidFill>
                <a:schemeClr val="accent2">
                  <a:lumMod val="75000"/>
                </a:schemeClr>
              </a:solidFill>
            </a:endParaRPr>
          </a:p>
        </p:txBody>
      </p:sp>
      <p:sp>
        <p:nvSpPr>
          <p:cNvPr id="10" name="TextBox 9">
            <a:extLst>
              <a:ext uri="{FF2B5EF4-FFF2-40B4-BE49-F238E27FC236}">
                <a16:creationId xmlns:a16="http://schemas.microsoft.com/office/drawing/2014/main" id="{D795009F-212D-39AC-EBD0-511842A3000B}"/>
              </a:ext>
            </a:extLst>
          </p:cNvPr>
          <p:cNvSpPr txBox="1"/>
          <p:nvPr/>
        </p:nvSpPr>
        <p:spPr>
          <a:xfrm>
            <a:off x="3232150" y="491228"/>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Limit to 64 chars</a:t>
            </a:r>
          </a:p>
        </p:txBody>
      </p:sp>
      <p:sp>
        <p:nvSpPr>
          <p:cNvPr id="12" name="TextBox 11">
            <a:extLst>
              <a:ext uri="{FF2B5EF4-FFF2-40B4-BE49-F238E27FC236}">
                <a16:creationId xmlns:a16="http://schemas.microsoft.com/office/drawing/2014/main" id="{36FF1448-0C74-78E1-4EE5-E803A755D144}"/>
              </a:ext>
            </a:extLst>
          </p:cNvPr>
          <p:cNvSpPr txBox="1"/>
          <p:nvPr/>
        </p:nvSpPr>
        <p:spPr>
          <a:xfrm>
            <a:off x="6277482" y="140120"/>
            <a:ext cx="55380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r"/>
            <a:r>
              <a:rPr lang="en-US">
                <a:latin typeface="Intel Clear"/>
                <a:ea typeface="Intel Clear" panose="020B0604020203020204" pitchFamily="34" charset="0"/>
                <a:cs typeface="Intel Clear" panose="020B0604020203020204" pitchFamily="34" charset="0"/>
              </a:rPr>
              <a:t>Device Ack: Wenjun, Brian, Andrew, Harap</a:t>
            </a:r>
            <a:endParaRPr lang="en-US">
              <a:latin typeface="Intel Clear" panose="020B0604020203020204" pitchFamily="34" charset="0"/>
              <a:ea typeface="Intel Clear" panose="020B0604020203020204" pitchFamily="34" charset="0"/>
              <a:cs typeface="Intel Clear" panose="020B0604020203020204" pitchFamily="34" charset="0"/>
            </a:endParaRPr>
          </a:p>
          <a:p>
            <a:pPr algn="r"/>
            <a:r>
              <a:rPr lang="en-US">
                <a:latin typeface="Intel Clear"/>
                <a:ea typeface="Intel Clear" panose="020B0604020203020204" pitchFamily="34" charset="0"/>
                <a:cs typeface="Intel Clear" panose="020B0604020203020204" pitchFamily="34" charset="0"/>
              </a:rPr>
              <a:t>Etest Ack: Habib, Farid</a:t>
            </a:r>
            <a:endParaRPr lang="en-US" sz="1800">
              <a:latin typeface="Intel Clear"/>
              <a:ea typeface="Intel Clear" panose="020B0604020203020204" pitchFamily="34" charset="0"/>
              <a:cs typeface="Intel Clear" panose="020B0604020203020204" pitchFamily="34" charset="0"/>
            </a:endParaRPr>
          </a:p>
        </p:txBody>
      </p:sp>
      <p:graphicFrame>
        <p:nvGraphicFramePr>
          <p:cNvPr id="3" name="Table 2">
            <a:extLst>
              <a:ext uri="{FF2B5EF4-FFF2-40B4-BE49-F238E27FC236}">
                <a16:creationId xmlns:a16="http://schemas.microsoft.com/office/drawing/2014/main" id="{1C81F912-3F4A-5224-E2A3-7C70076A557B}"/>
              </a:ext>
            </a:extLst>
          </p:cNvPr>
          <p:cNvGraphicFramePr>
            <a:graphicFrameLocks noGrp="1"/>
          </p:cNvGraphicFramePr>
          <p:nvPr>
            <p:extLst>
              <p:ext uri="{D42A27DB-BD31-4B8C-83A1-F6EECF244321}">
                <p14:modId xmlns:p14="http://schemas.microsoft.com/office/powerpoint/2010/main" val="2495750197"/>
              </p:ext>
            </p:extLst>
          </p:nvPr>
        </p:nvGraphicFramePr>
        <p:xfrm>
          <a:off x="9328150" y="1176078"/>
          <a:ext cx="1863014" cy="2407920"/>
        </p:xfrm>
        <a:graphic>
          <a:graphicData uri="http://schemas.openxmlformats.org/drawingml/2006/table">
            <a:tbl>
              <a:tblPr firstRow="1" bandRow="1">
                <a:tableStyleId>{5940675A-B579-460E-94D1-54222C63F5DA}</a:tableStyleId>
              </a:tblPr>
              <a:tblGrid>
                <a:gridCol w="950485">
                  <a:extLst>
                    <a:ext uri="{9D8B030D-6E8A-4147-A177-3AD203B41FA5}">
                      <a16:colId xmlns:a16="http://schemas.microsoft.com/office/drawing/2014/main" val="1424656543"/>
                    </a:ext>
                  </a:extLst>
                </a:gridCol>
                <a:gridCol w="912529">
                  <a:extLst>
                    <a:ext uri="{9D8B030D-6E8A-4147-A177-3AD203B41FA5}">
                      <a16:colId xmlns:a16="http://schemas.microsoft.com/office/drawing/2014/main" val="800006954"/>
                    </a:ext>
                  </a:extLst>
                </a:gridCol>
              </a:tblGrid>
              <a:tr h="270461">
                <a:tc>
                  <a:txBody>
                    <a:bodyPr/>
                    <a:lstStyle/>
                    <a:p>
                      <a:r>
                        <a:rPr lang="en-US" sz="1200" b="1">
                          <a:latin typeface="Aptos Serif" panose="02020604070405020304" pitchFamily="18" charset="0"/>
                          <a:cs typeface="Aptos Serif" panose="02020604070405020304" pitchFamily="18" charset="0"/>
                        </a:rPr>
                        <a:t>VT Flavor</a:t>
                      </a:r>
                    </a:p>
                  </a:txBody>
                  <a:tcPr anchor="ctr"/>
                </a:tc>
                <a:tc>
                  <a:txBody>
                    <a:bodyPr/>
                    <a:lstStyle/>
                    <a:p>
                      <a:r>
                        <a:rPr lang="en-US" sz="1200" b="1">
                          <a:solidFill>
                            <a:srgbClr val="C00000"/>
                          </a:solidFill>
                          <a:highlight>
                            <a:srgbClr val="FFFF00"/>
                          </a:highlight>
                          <a:latin typeface="Aptos Serif" panose="02020604070405020304" pitchFamily="18" charset="0"/>
                          <a:cs typeface="Aptos Serif" panose="02020604070405020304" pitchFamily="18" charset="0"/>
                        </a:rPr>
                        <a:t>Code in name</a:t>
                      </a:r>
                    </a:p>
                  </a:txBody>
                  <a:tcPr anchor="ctr">
                    <a:solidFill>
                      <a:schemeClr val="accent1">
                        <a:lumMod val="40000"/>
                        <a:lumOff val="60000"/>
                      </a:schemeClr>
                    </a:solidFill>
                  </a:tcPr>
                </a:tc>
                <a:extLst>
                  <a:ext uri="{0D108BD9-81ED-4DB2-BD59-A6C34878D82A}">
                    <a16:rowId xmlns:a16="http://schemas.microsoft.com/office/drawing/2014/main" val="2350840290"/>
                  </a:ext>
                </a:extLst>
              </a:tr>
              <a:tr h="304263">
                <a:tc>
                  <a:txBody>
                    <a:bodyPr/>
                    <a:lstStyle/>
                    <a:p>
                      <a:r>
                        <a:rPr lang="en-US" sz="1400">
                          <a:latin typeface="Aptos Serif" panose="02020604070405020304" pitchFamily="18" charset="0"/>
                          <a:cs typeface="Aptos Serif" panose="02020604070405020304" pitchFamily="18" charset="0"/>
                        </a:rPr>
                        <a:t>HVT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H</a:t>
                      </a:r>
                    </a:p>
                  </a:txBody>
                  <a:tcPr anchor="ctr">
                    <a:solidFill>
                      <a:schemeClr val="accent1">
                        <a:lumMod val="40000"/>
                        <a:lumOff val="60000"/>
                      </a:schemeClr>
                    </a:solidFill>
                  </a:tcPr>
                </a:tc>
                <a:extLst>
                  <a:ext uri="{0D108BD9-81ED-4DB2-BD59-A6C34878D82A}">
                    <a16:rowId xmlns:a16="http://schemas.microsoft.com/office/drawing/2014/main" val="1093543405"/>
                  </a:ext>
                </a:extLst>
              </a:tr>
              <a:tr h="304263">
                <a:tc>
                  <a:txBody>
                    <a:bodyPr/>
                    <a:lstStyle/>
                    <a:p>
                      <a:r>
                        <a:rPr lang="en-US" sz="1400">
                          <a:latin typeface="Aptos Serif" panose="02020604070405020304" pitchFamily="18" charset="0"/>
                          <a:cs typeface="Aptos Serif" panose="02020604070405020304" pitchFamily="18" charset="0"/>
                        </a:rPr>
                        <a:t>SVT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S</a:t>
                      </a:r>
                    </a:p>
                  </a:txBody>
                  <a:tcPr anchor="ctr">
                    <a:solidFill>
                      <a:schemeClr val="accent1">
                        <a:lumMod val="40000"/>
                        <a:lumOff val="60000"/>
                      </a:schemeClr>
                    </a:solidFill>
                  </a:tcPr>
                </a:tc>
                <a:extLst>
                  <a:ext uri="{0D108BD9-81ED-4DB2-BD59-A6C34878D82A}">
                    <a16:rowId xmlns:a16="http://schemas.microsoft.com/office/drawing/2014/main" val="2452499874"/>
                  </a:ext>
                </a:extLst>
              </a:tr>
              <a:tr h="304263">
                <a:tc>
                  <a:txBody>
                    <a:bodyPr/>
                    <a:lstStyle/>
                    <a:p>
                      <a:r>
                        <a:rPr lang="en-US" sz="1400">
                          <a:latin typeface="Aptos Serif" panose="02020604070405020304" pitchFamily="18" charset="0"/>
                          <a:cs typeface="Aptos Serif" panose="02020604070405020304" pitchFamily="18" charset="0"/>
                        </a:rPr>
                        <a:t>SRAM VT</a:t>
                      </a:r>
                    </a:p>
                  </a:txBody>
                  <a:tcPr anchor="ctr"/>
                </a:tc>
                <a:tc>
                  <a:txBody>
                    <a:bodyPr/>
                    <a:lstStyle/>
                    <a:p>
                      <a:r>
                        <a:rPr lang="en-US" sz="1400">
                          <a:latin typeface="Aptos Serif" panose="02020604070405020304" pitchFamily="18" charset="0"/>
                          <a:cs typeface="Aptos Serif" panose="02020604070405020304" pitchFamily="18" charset="0"/>
                        </a:rPr>
                        <a:t>SRAMVT</a:t>
                      </a:r>
                    </a:p>
                  </a:txBody>
                  <a:tcPr anchor="ctr">
                    <a:solidFill>
                      <a:schemeClr val="accent1">
                        <a:lumMod val="40000"/>
                        <a:lumOff val="60000"/>
                      </a:schemeClr>
                    </a:solidFill>
                  </a:tcPr>
                </a:tc>
                <a:extLst>
                  <a:ext uri="{0D108BD9-81ED-4DB2-BD59-A6C34878D82A}">
                    <a16:rowId xmlns:a16="http://schemas.microsoft.com/office/drawing/2014/main" val="2237005791"/>
                  </a:ext>
                </a:extLst>
              </a:tr>
              <a:tr h="304263">
                <a:tc>
                  <a:txBody>
                    <a:bodyPr/>
                    <a:lstStyle/>
                    <a:p>
                      <a:r>
                        <a:rPr lang="en-US" sz="1400">
                          <a:latin typeface="Aptos Serif" panose="02020604070405020304" pitchFamily="18" charset="0"/>
                          <a:cs typeface="Aptos Serif" panose="02020604070405020304" pitchFamily="18" charset="0"/>
                        </a:rPr>
                        <a:t>LVT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L</a:t>
                      </a:r>
                    </a:p>
                  </a:txBody>
                  <a:tcPr anchor="ctr">
                    <a:solidFill>
                      <a:schemeClr val="accent1">
                        <a:lumMod val="40000"/>
                        <a:lumOff val="60000"/>
                      </a:schemeClr>
                    </a:solidFill>
                  </a:tcPr>
                </a:tc>
                <a:extLst>
                  <a:ext uri="{0D108BD9-81ED-4DB2-BD59-A6C34878D82A}">
                    <a16:rowId xmlns:a16="http://schemas.microsoft.com/office/drawing/2014/main" val="1124969315"/>
                  </a:ext>
                </a:extLst>
              </a:tr>
              <a:tr h="304263">
                <a:tc>
                  <a:txBody>
                    <a:bodyPr/>
                    <a:lstStyle/>
                    <a:p>
                      <a:r>
                        <a:rPr lang="en-US" sz="1400">
                          <a:latin typeface="Aptos Serif" panose="02020604070405020304" pitchFamily="18" charset="0"/>
                          <a:cs typeface="Aptos Serif" panose="02020604070405020304" pitchFamily="18" charset="0"/>
                        </a:rPr>
                        <a:t>ULVT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U</a:t>
                      </a:r>
                    </a:p>
                  </a:txBody>
                  <a:tcPr anchor="ctr">
                    <a:solidFill>
                      <a:schemeClr val="accent1">
                        <a:lumMod val="40000"/>
                        <a:lumOff val="60000"/>
                      </a:schemeClr>
                    </a:solidFill>
                  </a:tcPr>
                </a:tc>
                <a:extLst>
                  <a:ext uri="{0D108BD9-81ED-4DB2-BD59-A6C34878D82A}">
                    <a16:rowId xmlns:a16="http://schemas.microsoft.com/office/drawing/2014/main" val="2497292276"/>
                  </a:ext>
                </a:extLst>
              </a:tr>
              <a:tr h="304263">
                <a:tc>
                  <a:txBody>
                    <a:bodyPr/>
                    <a:lstStyle/>
                    <a:p>
                      <a:r>
                        <a:rPr lang="en-US" sz="1400">
                          <a:latin typeface="Aptos Serif" panose="02020604070405020304" pitchFamily="18" charset="0"/>
                          <a:cs typeface="Aptos Serif" panose="02020604070405020304" pitchFamily="18" charset="0"/>
                        </a:rPr>
                        <a:t>ULVTLL</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UL</a:t>
                      </a:r>
                    </a:p>
                  </a:txBody>
                  <a:tcPr anchor="ctr">
                    <a:solidFill>
                      <a:schemeClr val="accent1">
                        <a:lumMod val="40000"/>
                        <a:lumOff val="60000"/>
                      </a:schemeClr>
                    </a:solidFill>
                  </a:tcPr>
                </a:tc>
                <a:extLst>
                  <a:ext uri="{0D108BD9-81ED-4DB2-BD59-A6C34878D82A}">
                    <a16:rowId xmlns:a16="http://schemas.microsoft.com/office/drawing/2014/main" val="608511258"/>
                  </a:ext>
                </a:extLst>
              </a:tr>
              <a:tr h="304263">
                <a:tc>
                  <a:txBody>
                    <a:bodyPr/>
                    <a:lstStyle/>
                    <a:p>
                      <a:r>
                        <a:rPr lang="en-US" sz="1400">
                          <a:latin typeface="Aptos Serif" panose="02020604070405020304" pitchFamily="18" charset="0"/>
                          <a:cs typeface="Aptos Serif" panose="02020604070405020304" pitchFamily="18" charset="0"/>
                        </a:rPr>
                        <a:t>ELVT</a:t>
                      </a:r>
                    </a:p>
                  </a:txBody>
                  <a:tcPr anchor="ctr"/>
                </a:tc>
                <a:tc>
                  <a:txBody>
                    <a:bodyPr/>
                    <a:lstStyle/>
                    <a:p>
                      <a:r>
                        <a:rPr lang="en-US" sz="1400" b="1">
                          <a:solidFill>
                            <a:srgbClr val="C00000"/>
                          </a:solidFill>
                          <a:highlight>
                            <a:srgbClr val="FFFF00"/>
                          </a:highlight>
                          <a:latin typeface="Aptos Serif" panose="02020604070405020304" pitchFamily="18" charset="0"/>
                          <a:cs typeface="Aptos Serif" panose="02020604070405020304" pitchFamily="18" charset="0"/>
                        </a:rPr>
                        <a:t>E</a:t>
                      </a:r>
                    </a:p>
                  </a:txBody>
                  <a:tcPr anchor="ctr">
                    <a:solidFill>
                      <a:schemeClr val="accent1">
                        <a:lumMod val="40000"/>
                        <a:lumOff val="60000"/>
                      </a:schemeClr>
                    </a:solidFill>
                  </a:tcPr>
                </a:tc>
                <a:extLst>
                  <a:ext uri="{0D108BD9-81ED-4DB2-BD59-A6C34878D82A}">
                    <a16:rowId xmlns:a16="http://schemas.microsoft.com/office/drawing/2014/main" val="3507652549"/>
                  </a:ext>
                </a:extLst>
              </a:tr>
            </a:tbl>
          </a:graphicData>
        </a:graphic>
      </p:graphicFrame>
      <p:pic>
        <p:nvPicPr>
          <p:cNvPr id="1026" name="Picture 2">
            <a:extLst>
              <a:ext uri="{FF2B5EF4-FFF2-40B4-BE49-F238E27FC236}">
                <a16:creationId xmlns:a16="http://schemas.microsoft.com/office/drawing/2014/main" id="{D45A9FBC-97EA-E951-30F6-EDFF96805C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6825" y="4155345"/>
            <a:ext cx="3011114" cy="2283985"/>
          </a:xfrm>
          <a:prstGeom prst="rect">
            <a:avLst/>
          </a:prstGeom>
          <a:noFill/>
          <a:ln>
            <a:solidFill>
              <a:schemeClr val="bg1">
                <a:lumMod val="10000"/>
              </a:schemeClr>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FD870EA-E85D-404F-C3EB-51F311F58878}"/>
              </a:ext>
            </a:extLst>
          </p:cNvPr>
          <p:cNvSpPr txBox="1"/>
          <p:nvPr/>
        </p:nvSpPr>
        <p:spPr>
          <a:xfrm>
            <a:off x="8886825" y="6218216"/>
            <a:ext cx="1908721"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latin typeface="Intel Clear"/>
                <a:ea typeface="Intel Clear" panose="020B0604020203020204" pitchFamily="34" charset="0"/>
                <a:cs typeface="Intel Clear" panose="020B0604020203020204" pitchFamily="34" charset="0"/>
              </a:rPr>
              <a:t>Ack: Habib, Etest</a:t>
            </a:r>
            <a:endParaRPr lang="en-US" sz="1200"/>
          </a:p>
        </p:txBody>
      </p:sp>
    </p:spTree>
    <p:extLst>
      <p:ext uri="{BB962C8B-B14F-4D97-AF65-F5344CB8AC3E}">
        <p14:creationId xmlns:p14="http://schemas.microsoft.com/office/powerpoint/2010/main" val="20599173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78AC0A-01BD-FC4C-A667-247DDF37544B}"/>
              </a:ext>
            </a:extLst>
          </p:cNvPr>
          <p:cNvSpPr>
            <a:spLocks noGrp="1"/>
          </p:cNvSpPr>
          <p:nvPr>
            <p:ph type="sldNum" sz="quarter" idx="2"/>
          </p:nvPr>
        </p:nvSpPr>
        <p:spPr/>
        <p:txBody>
          <a:bodyPr/>
          <a:lstStyle/>
          <a:p>
            <a:fld id="{86CB4B4D-7CA3-9044-876B-883B54F8677D}" type="slidenum">
              <a:rPr lang="en-US" smtClean="0"/>
              <a:t>6</a:t>
            </a:fld>
            <a:endParaRPr lang="en-US"/>
          </a:p>
        </p:txBody>
      </p:sp>
      <p:sp>
        <p:nvSpPr>
          <p:cNvPr id="3" name="TextBox 2">
            <a:extLst>
              <a:ext uri="{FF2B5EF4-FFF2-40B4-BE49-F238E27FC236}">
                <a16:creationId xmlns:a16="http://schemas.microsoft.com/office/drawing/2014/main" id="{ACE72C39-041A-A4B3-5E8F-55373C4374ED}"/>
              </a:ext>
            </a:extLst>
          </p:cNvPr>
          <p:cNvSpPr txBox="1"/>
          <p:nvPr/>
        </p:nvSpPr>
        <p:spPr>
          <a:xfrm>
            <a:off x="376518" y="1188067"/>
            <a:ext cx="6701589" cy="5324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r>
              <a:rPr lang="en-US" sz="2000"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Validator Tool 1</a:t>
            </a:r>
            <a:r>
              <a:rPr lang="en-US" sz="2000" b="1">
                <a:latin typeface="IntelOne Display Regular" panose="020B0503020203020204" pitchFamily="34" charset="0"/>
                <a:ea typeface="Intel Clear" panose="020B0604020203020204" pitchFamily="34" charset="0"/>
                <a:cs typeface="Intel Clear" panose="020B0604020203020204" pitchFamily="34" charset="0"/>
              </a:rPr>
              <a:t>: Atlantis-based Layout vs Schematic (</a:t>
            </a:r>
            <a:r>
              <a:rPr lang="en-US" sz="2000" b="1" err="1">
                <a:latin typeface="IntelOne Display Regular" panose="020B0503020203020204" pitchFamily="34" charset="0"/>
                <a:ea typeface="Intel Clear" panose="020B0604020203020204" pitchFamily="34" charset="0"/>
                <a:cs typeface="Intel Clear" panose="020B0604020203020204" pitchFamily="34" charset="0"/>
              </a:rPr>
              <a:t>LvS</a:t>
            </a:r>
            <a:r>
              <a:rPr lang="en-US" sz="2000" b="1">
                <a:latin typeface="IntelOne Display Regular" panose="020B0503020203020204" pitchFamily="34" charset="0"/>
                <a:ea typeface="Intel Clear" panose="020B0604020203020204" pitchFamily="34" charset="0"/>
                <a:cs typeface="Intel Clear" panose="020B0604020203020204" pitchFamily="34" charset="0"/>
              </a:rPr>
              <a:t>)</a:t>
            </a:r>
          </a:p>
          <a:p>
            <a:pPr marL="342900"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Validates for layout checks to check for routing fails, missing schematic, mismatch in layout and schematics, unintended connections etc.</a:t>
            </a: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pPr marL="342900" indent="-342900">
              <a:buFont typeface="Arial" panose="020B0604020202020204" pitchFamily="34" charset="0"/>
              <a:buChar char="•"/>
            </a:pPr>
            <a:r>
              <a:rPr lang="en-US" sz="2000" b="1">
                <a:latin typeface="IntelOne Display Regular" panose="020B0503020203020204" pitchFamily="34" charset="0"/>
                <a:ea typeface="Intel Clear" panose="020B0604020203020204" pitchFamily="34" charset="0"/>
                <a:cs typeface="Intel Clear" panose="020B0604020203020204" pitchFamily="34" charset="0"/>
              </a:rPr>
              <a:t>Device attributes covered: PLY CD, #Gangs, #Legs, #Instances, Shared Legs</a:t>
            </a:r>
          </a:p>
          <a:p>
            <a:r>
              <a:rPr lang="en-US" b="1">
                <a:latin typeface="IntelOne Display Regular" panose="020B0503020203020204" pitchFamily="34" charset="0"/>
                <a:ea typeface="Intel Clear" panose="020B0604020203020204" pitchFamily="34" charset="0"/>
                <a:cs typeface="Intel Clear" panose="020B0604020203020204" pitchFamily="34" charset="0"/>
              </a:rPr>
              <a:t>Inputs: </a:t>
            </a:r>
            <a:r>
              <a:rPr lang="en-US" b="1">
                <a:solidFill>
                  <a:srgbClr val="C00000"/>
                </a:solidFill>
                <a:latin typeface="IntelOne Display Regular" panose="020B0503020203020204" pitchFamily="34" charset="0"/>
                <a:ea typeface="Intel Clear" panose="020B0604020203020204" pitchFamily="34" charset="0"/>
                <a:cs typeface="Intel Clear" panose="020B0604020203020204" pitchFamily="34" charset="0"/>
              </a:rPr>
              <a:t>LVS String</a:t>
            </a:r>
          </a:p>
          <a:p>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Output: Pass/Fail – Routing, Schematic, Mapping errors</a:t>
            </a:r>
          </a:p>
          <a:p>
            <a:pPr marL="342900" indent="-342900">
              <a:buFont typeface="Arial" panose="020B0604020202020204" pitchFamily="34" charset="0"/>
              <a:buChar char="•"/>
            </a:pPr>
            <a:endParaRPr lang="en-US" sz="2000" b="1">
              <a:latin typeface="IntelOne Display Regular" panose="020B0503020203020204" pitchFamily="34" charset="0"/>
              <a:ea typeface="Intel Clear" panose="020B0604020203020204" pitchFamily="34" charset="0"/>
              <a:cs typeface="Intel Clear" panose="020B0604020203020204" pitchFamily="34" charset="0"/>
            </a:endParaRPr>
          </a:p>
          <a:p>
            <a:r>
              <a:rPr lang="en-US" sz="2000" b="1">
                <a:solidFill>
                  <a:srgbClr val="00B050"/>
                </a:solidFill>
                <a:latin typeface="IntelOne Display Regular" panose="020B0503020203020204" pitchFamily="34" charset="0"/>
                <a:ea typeface="Intel Clear" panose="020B0604020203020204" pitchFamily="34" charset="0"/>
                <a:cs typeface="Intel Clear" panose="020B0604020203020204" pitchFamily="34" charset="0"/>
              </a:rPr>
              <a:t>Validator Tool 2</a:t>
            </a:r>
            <a:r>
              <a:rPr lang="en-US" sz="2000" b="1">
                <a:latin typeface="IntelOne Display Regular" panose="020B0503020203020204" pitchFamily="34" charset="0"/>
                <a:ea typeface="Intel Clear" panose="020B0604020203020204" pitchFamily="34" charset="0"/>
                <a:cs typeface="Intel Clear" panose="020B0604020203020204" pitchFamily="34" charset="0"/>
              </a:rPr>
              <a:t>: Excel macro-based structure name constructor and validator – owned by Device</a:t>
            </a:r>
          </a:p>
          <a:p>
            <a:r>
              <a:rPr lang="en-US" b="1">
                <a:latin typeface="IntelOne Display Regular" panose="020B0503020203020204" pitchFamily="34" charset="0"/>
                <a:ea typeface="Intel Clear" panose="020B0604020203020204" pitchFamily="34" charset="0"/>
                <a:cs typeface="Intel Clear" panose="020B0604020203020204" pitchFamily="34" charset="0"/>
              </a:rPr>
              <a:t>Inputs: DUT class, Polarity, CH, LNR, #Legs, Cell Env, VT, </a:t>
            </a:r>
            <a:r>
              <a:rPr lang="en-US" b="1" err="1">
                <a:latin typeface="IntelOne Display Regular" panose="020B0503020203020204" pitchFamily="34" charset="0"/>
                <a:ea typeface="Intel Clear" panose="020B0604020203020204" pitchFamily="34" charset="0"/>
                <a:cs typeface="Intel Clear" panose="020B0604020203020204" pitchFamily="34" charset="0"/>
              </a:rPr>
              <a:t>etc</a:t>
            </a:r>
            <a:endParaRPr lang="en-US" b="1">
              <a:latin typeface="IntelOne Display Regular" panose="020B0503020203020204" pitchFamily="34" charset="0"/>
              <a:ea typeface="Intel Clear" panose="020B0604020203020204" pitchFamily="34" charset="0"/>
              <a:cs typeface="Intel Clear" panose="020B0604020203020204" pitchFamily="34" charset="0"/>
            </a:endParaRPr>
          </a:p>
          <a:p>
            <a:pPr lvl="4" indent="0"/>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Output: </a:t>
            </a:r>
            <a:r>
              <a:rPr lang="en-US" b="1">
                <a:solidFill>
                  <a:srgbClr val="C00000"/>
                </a:solidFill>
                <a:latin typeface="IntelOne Display Regular" panose="020B0503020203020204" pitchFamily="34" charset="0"/>
                <a:ea typeface="Intel Clear" panose="020B0604020203020204" pitchFamily="34" charset="0"/>
                <a:cs typeface="Intel Clear" panose="020B0604020203020204" pitchFamily="34" charset="0"/>
              </a:rPr>
              <a:t>LVS string</a:t>
            </a:r>
            <a:r>
              <a:rPr lang="en-US" b="1">
                <a:solidFill>
                  <a:schemeClr val="bg1">
                    <a:lumMod val="10000"/>
                  </a:schemeClr>
                </a:solidFill>
                <a:latin typeface="IntelOne Display Regular" panose="020B0503020203020204" pitchFamily="34" charset="0"/>
                <a:ea typeface="Intel Clear" panose="020B0604020203020204" pitchFamily="34" charset="0"/>
                <a:cs typeface="Intel Clear" panose="020B0604020203020204" pitchFamily="34" charset="0"/>
              </a:rPr>
              <a:t>, </a:t>
            </a:r>
            <a:r>
              <a:rPr lang="en-US"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STRUCTURE_NAME</a:t>
            </a:r>
          </a:p>
        </p:txBody>
      </p:sp>
      <p:sp>
        <p:nvSpPr>
          <p:cNvPr id="4" name="TextBox 3">
            <a:extLst>
              <a:ext uri="{FF2B5EF4-FFF2-40B4-BE49-F238E27FC236}">
                <a16:creationId xmlns:a16="http://schemas.microsoft.com/office/drawing/2014/main" id="{257C4CD9-1259-26F7-E292-3E077A410F9B}"/>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Validation</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6" name="TextBox 5">
            <a:extLst>
              <a:ext uri="{FF2B5EF4-FFF2-40B4-BE49-F238E27FC236}">
                <a16:creationId xmlns:a16="http://schemas.microsoft.com/office/drawing/2014/main" id="{9EDA61E4-E6B6-60C9-1310-07465608FFFF}"/>
              </a:ext>
            </a:extLst>
          </p:cNvPr>
          <p:cNvSpPr txBox="1"/>
          <p:nvPr/>
        </p:nvSpPr>
        <p:spPr>
          <a:xfrm>
            <a:off x="6277482" y="140120"/>
            <a:ext cx="55380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r"/>
            <a:r>
              <a:rPr lang="en-US">
                <a:latin typeface="Intel Clear"/>
                <a:ea typeface="Intel Clear" panose="020B0604020203020204" pitchFamily="34" charset="0"/>
                <a:cs typeface="Intel Clear" panose="020B0604020203020204" pitchFamily="34" charset="0"/>
              </a:rPr>
              <a:t>Device Ack: Harap</a:t>
            </a:r>
          </a:p>
          <a:p>
            <a:pPr algn="r"/>
            <a:r>
              <a:rPr lang="en-US">
                <a:latin typeface="Intel Clear"/>
                <a:ea typeface="Intel Clear" panose="020B0604020203020204" pitchFamily="34" charset="0"/>
                <a:cs typeface="Intel Clear" panose="020B0604020203020204" pitchFamily="34" charset="0"/>
              </a:rPr>
              <a:t>Ack: TCE team / Eduardo</a:t>
            </a:r>
            <a:endParaRPr lang="en-US">
              <a:latin typeface="Intel Clear" panose="020B0604020203020204" pitchFamily="34" charset="0"/>
              <a:ea typeface="Intel Clear" panose="020B0604020203020204" pitchFamily="34" charset="0"/>
              <a:cs typeface="Intel Clear" panose="020B0604020203020204" pitchFamily="34" charset="0"/>
            </a:endParaRPr>
          </a:p>
        </p:txBody>
      </p:sp>
      <p:pic>
        <p:nvPicPr>
          <p:cNvPr id="8" name="Picture 7">
            <a:extLst>
              <a:ext uri="{FF2B5EF4-FFF2-40B4-BE49-F238E27FC236}">
                <a16:creationId xmlns:a16="http://schemas.microsoft.com/office/drawing/2014/main" id="{E1C7A050-B076-D54C-6206-738F5025BEF4}"/>
              </a:ext>
            </a:extLst>
          </p:cNvPr>
          <p:cNvPicPr>
            <a:picLocks noChangeAspect="1"/>
          </p:cNvPicPr>
          <p:nvPr/>
        </p:nvPicPr>
        <p:blipFill>
          <a:blip r:embed="rId2"/>
          <a:stretch>
            <a:fillRect/>
          </a:stretch>
        </p:blipFill>
        <p:spPr>
          <a:xfrm>
            <a:off x="376518" y="2550184"/>
            <a:ext cx="6701589" cy="949153"/>
          </a:xfrm>
          <a:prstGeom prst="rect">
            <a:avLst/>
          </a:prstGeom>
        </p:spPr>
      </p:pic>
      <p:pic>
        <p:nvPicPr>
          <p:cNvPr id="10" name="Picture 9">
            <a:extLst>
              <a:ext uri="{FF2B5EF4-FFF2-40B4-BE49-F238E27FC236}">
                <a16:creationId xmlns:a16="http://schemas.microsoft.com/office/drawing/2014/main" id="{21AAE6F4-9DD2-8927-ABB4-70638A9BDACA}"/>
              </a:ext>
            </a:extLst>
          </p:cNvPr>
          <p:cNvPicPr>
            <a:picLocks noChangeAspect="1"/>
          </p:cNvPicPr>
          <p:nvPr/>
        </p:nvPicPr>
        <p:blipFill>
          <a:blip r:embed="rId3"/>
          <a:stretch>
            <a:fillRect/>
          </a:stretch>
        </p:blipFill>
        <p:spPr>
          <a:xfrm>
            <a:off x="7184214" y="1188067"/>
            <a:ext cx="4858125" cy="2583561"/>
          </a:xfrm>
          <a:prstGeom prst="rect">
            <a:avLst/>
          </a:prstGeom>
        </p:spPr>
      </p:pic>
      <p:pic>
        <p:nvPicPr>
          <p:cNvPr id="11" name="Picture 2">
            <a:extLst>
              <a:ext uri="{FF2B5EF4-FFF2-40B4-BE49-F238E27FC236}">
                <a16:creationId xmlns:a16="http://schemas.microsoft.com/office/drawing/2014/main" id="{BD405928-7410-3182-CA27-E17904EDBA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6003" y="4768409"/>
            <a:ext cx="4735706" cy="38477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D4A06DD-EA29-79D6-CFCE-D43AFDC54944}"/>
              </a:ext>
            </a:extLst>
          </p:cNvPr>
          <p:cNvSpPr txBox="1"/>
          <p:nvPr/>
        </p:nvSpPr>
        <p:spPr>
          <a:xfrm>
            <a:off x="6946003" y="4500719"/>
            <a:ext cx="425717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b="1">
                <a:solidFill>
                  <a:schemeClr val="accent2">
                    <a:lumMod val="75000"/>
                  </a:schemeClr>
                </a:solidFill>
                <a:latin typeface="IntelOne Display Regular" panose="020B0503020203020204" pitchFamily="34" charset="0"/>
                <a:ea typeface="Intel Clear" panose="020B0604020203020204" pitchFamily="34" charset="0"/>
                <a:cs typeface="Intel Clear" panose="020B0604020203020204" pitchFamily="34" charset="0"/>
              </a:rPr>
              <a:t>Atlantis Metadata column requirements (Ack: Andrew, Brian)</a:t>
            </a:r>
            <a:endParaRPr lang="en-US" sz="1200">
              <a:solidFill>
                <a:schemeClr val="accent2">
                  <a:lumMod val="75000"/>
                </a:schemeClr>
              </a:solidFill>
            </a:endParaRPr>
          </a:p>
        </p:txBody>
      </p:sp>
      <p:sp>
        <p:nvSpPr>
          <p:cNvPr id="14" name="TextBox 13">
            <a:extLst>
              <a:ext uri="{FF2B5EF4-FFF2-40B4-BE49-F238E27FC236}">
                <a16:creationId xmlns:a16="http://schemas.microsoft.com/office/drawing/2014/main" id="{B3D035E0-7B04-CC30-6E0B-1136E4FD6E48}"/>
              </a:ext>
            </a:extLst>
          </p:cNvPr>
          <p:cNvSpPr txBox="1"/>
          <p:nvPr/>
        </p:nvSpPr>
        <p:spPr>
          <a:xfrm>
            <a:off x="6946003" y="5212981"/>
            <a:ext cx="4735706" cy="1015663"/>
          </a:xfrm>
          <a:prstGeom prst="rect">
            <a:avLst/>
          </a:prstGeom>
          <a:solidFill>
            <a:schemeClr val="tx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latin typeface="IntelOne Display Regular" panose="020B0503020203020204" pitchFamily="34" charset="0"/>
                <a:ea typeface="Intel Clear" panose="020B0604020203020204" pitchFamily="34" charset="0"/>
                <a:cs typeface="Intel Clear" panose="020B0604020203020204" pitchFamily="34" charset="0"/>
              </a:rPr>
              <a:t>Validator Tool 2 is a requirement pre-tape in for LVS string generation as well as post-tape-in/pre-Etest for verification of entered device attribute to Structure name mapping. Second validation is done after database is closed to prevent layout edits. More updates to follow in WW20’26 since this area is under active development.</a:t>
            </a:r>
            <a:endParaRPr lang="en-US" sz="1200"/>
          </a:p>
        </p:txBody>
      </p:sp>
    </p:spTree>
    <p:extLst>
      <p:ext uri="{BB962C8B-B14F-4D97-AF65-F5344CB8AC3E}">
        <p14:creationId xmlns:p14="http://schemas.microsoft.com/office/powerpoint/2010/main" val="212722475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5ABFD-63A1-C43F-836F-2866F3E619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10F1ED-B3C2-1B1D-B8B5-3CEFD800253A}"/>
              </a:ext>
            </a:extLst>
          </p:cNvPr>
          <p:cNvSpPr>
            <a:spLocks noGrp="1"/>
          </p:cNvSpPr>
          <p:nvPr>
            <p:ph type="sldNum" sz="quarter" idx="2"/>
          </p:nvPr>
        </p:nvSpPr>
        <p:spPr/>
        <p:txBody>
          <a:bodyPr/>
          <a:lstStyle/>
          <a:p>
            <a:fld id="{86CB4B4D-7CA3-9044-876B-883B54F8677D}" type="slidenum">
              <a:rPr lang="en-US" smtClean="0"/>
              <a:t>7</a:t>
            </a:fld>
            <a:endParaRPr lang="en-US"/>
          </a:p>
        </p:txBody>
      </p:sp>
      <p:sp>
        <p:nvSpPr>
          <p:cNvPr id="5" name="TextBox 4">
            <a:extLst>
              <a:ext uri="{FF2B5EF4-FFF2-40B4-BE49-F238E27FC236}">
                <a16:creationId xmlns:a16="http://schemas.microsoft.com/office/drawing/2014/main" id="{0905DFC9-EE36-E417-1452-D62894A07A1A}"/>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Library Offering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7" name="Picture 4">
            <a:extLst>
              <a:ext uri="{FF2B5EF4-FFF2-40B4-BE49-F238E27FC236}">
                <a16:creationId xmlns:a16="http://schemas.microsoft.com/office/drawing/2014/main" id="{FCFD83B0-7F79-0574-7A8A-224A6B8D0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279D2486-50B2-8809-64D3-23173396A61B}"/>
              </a:ext>
            </a:extLst>
          </p:cNvPr>
          <p:cNvGraphicFramePr>
            <a:graphicFrameLocks noGrp="1"/>
          </p:cNvGraphicFramePr>
          <p:nvPr>
            <p:extLst>
              <p:ext uri="{D42A27DB-BD31-4B8C-83A1-F6EECF244321}">
                <p14:modId xmlns:p14="http://schemas.microsoft.com/office/powerpoint/2010/main" val="1777511443"/>
              </p:ext>
            </p:extLst>
          </p:nvPr>
        </p:nvGraphicFramePr>
        <p:xfrm>
          <a:off x="468179" y="974048"/>
          <a:ext cx="4427460" cy="5537236"/>
        </p:xfrm>
        <a:graphic>
          <a:graphicData uri="http://schemas.openxmlformats.org/drawingml/2006/table">
            <a:tbl>
              <a:tblPr firstRow="1" bandRow="1">
                <a:tableStyleId>{5940675A-B579-460E-94D1-54222C63F5DA}</a:tableStyleId>
              </a:tblPr>
              <a:tblGrid>
                <a:gridCol w="952740">
                  <a:extLst>
                    <a:ext uri="{9D8B030D-6E8A-4147-A177-3AD203B41FA5}">
                      <a16:colId xmlns:a16="http://schemas.microsoft.com/office/drawing/2014/main" val="297381839"/>
                    </a:ext>
                  </a:extLst>
                </a:gridCol>
                <a:gridCol w="731520">
                  <a:extLst>
                    <a:ext uri="{9D8B030D-6E8A-4147-A177-3AD203B41FA5}">
                      <a16:colId xmlns:a16="http://schemas.microsoft.com/office/drawing/2014/main" val="3385161266"/>
                    </a:ext>
                  </a:extLst>
                </a:gridCol>
                <a:gridCol w="914400">
                  <a:extLst>
                    <a:ext uri="{9D8B030D-6E8A-4147-A177-3AD203B41FA5}">
                      <a16:colId xmlns:a16="http://schemas.microsoft.com/office/drawing/2014/main" val="1077854651"/>
                    </a:ext>
                  </a:extLst>
                </a:gridCol>
                <a:gridCol w="914400">
                  <a:extLst>
                    <a:ext uri="{9D8B030D-6E8A-4147-A177-3AD203B41FA5}">
                      <a16:colId xmlns:a16="http://schemas.microsoft.com/office/drawing/2014/main" val="1876310591"/>
                    </a:ext>
                  </a:extLst>
                </a:gridCol>
                <a:gridCol w="914400">
                  <a:extLst>
                    <a:ext uri="{9D8B030D-6E8A-4147-A177-3AD203B41FA5}">
                      <a16:colId xmlns:a16="http://schemas.microsoft.com/office/drawing/2014/main" val="1260232542"/>
                    </a:ext>
                  </a:extLst>
                </a:gridCol>
              </a:tblGrid>
              <a:tr h="477832">
                <a:tc>
                  <a:txBody>
                    <a:bodyPr/>
                    <a:lstStyle/>
                    <a:p>
                      <a:r>
                        <a:rPr lang="en-US" sz="1200">
                          <a:latin typeface="Aptos Serif" panose="02020604070405020304" pitchFamily="18" charset="0"/>
                          <a:cs typeface="Aptos Serif" panose="02020604070405020304" pitchFamily="18" charset="0"/>
                        </a:rPr>
                        <a:t>Segment</a:t>
                      </a:r>
                    </a:p>
                  </a:txBody>
                  <a:tcPr anchor="ctr"/>
                </a:tc>
                <a:tc>
                  <a:txBody>
                    <a:bodyPr/>
                    <a:lstStyle/>
                    <a:p>
                      <a:r>
                        <a:rPr lang="en-US" sz="1200">
                          <a:latin typeface="Aptos Serif" panose="02020604070405020304" pitchFamily="18" charset="0"/>
                          <a:cs typeface="Aptos Serif" panose="02020604070405020304" pitchFamily="18" charset="0"/>
                        </a:rPr>
                        <a:t>CH</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Diff. Width</a:t>
                      </a:r>
                    </a:p>
                  </a:txBody>
                  <a:tcPr anchor="ct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LNR</a:t>
                      </a:r>
                    </a:p>
                  </a:txBody>
                  <a:tcPr anchor="ctr"/>
                </a:tc>
                <a:tc>
                  <a:txBody>
                    <a:bodyPr/>
                    <a:lstStyle/>
                    <a:p>
                      <a:r>
                        <a:rPr lang="en-US" sz="1200">
                          <a:latin typeface="Aptos Serif" panose="02020604070405020304" pitchFamily="18" charset="0"/>
                          <a:cs typeface="Aptos Serif" panose="02020604070405020304" pitchFamily="18" charset="0"/>
                        </a:rPr>
                        <a:t>Z</a:t>
                      </a:r>
                    </a:p>
                  </a:txBody>
                  <a:tcPr anchor="ctr"/>
                </a:tc>
                <a:extLst>
                  <a:ext uri="{0D108BD9-81ED-4DB2-BD59-A6C34878D82A}">
                    <a16:rowId xmlns:a16="http://schemas.microsoft.com/office/drawing/2014/main" val="3194765169"/>
                  </a:ext>
                </a:extLst>
              </a:tr>
              <a:tr h="281078">
                <a:tc rowSpan="13">
                  <a:txBody>
                    <a:bodyPr/>
                    <a:lstStyle/>
                    <a:p>
                      <a:r>
                        <a:rPr lang="en-US" sz="1200">
                          <a:latin typeface="Aptos Serif" panose="02020604070405020304" pitchFamily="18" charset="0"/>
                          <a:cs typeface="Aptos Serif" panose="02020604070405020304" pitchFamily="18" charset="0"/>
                        </a:rPr>
                        <a:t>Standard Logic</a:t>
                      </a:r>
                    </a:p>
                  </a:txBody>
                  <a:tcPr anchor="ctr"/>
                </a:tc>
                <a:tc rowSpan="4">
                  <a:txBody>
                    <a:bodyPr/>
                    <a:lstStyle/>
                    <a:p>
                      <a:r>
                        <a:rPr lang="en-US" sz="1200">
                          <a:latin typeface="Aptos Serif" panose="02020604070405020304" pitchFamily="18" charset="0"/>
                          <a:cs typeface="Aptos Serif" panose="02020604070405020304" pitchFamily="18" charset="0"/>
                        </a:rPr>
                        <a:t>110</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27</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13</a:t>
                      </a:r>
                    </a:p>
                  </a:txBody>
                  <a:tcPr/>
                </a:tc>
                <a:tc>
                  <a:txBody>
                    <a:bodyPr/>
                    <a:lstStyle/>
                    <a:p>
                      <a:r>
                        <a:rPr lang="en-US" sz="1200">
                          <a:latin typeface="Aptos Serif" panose="02020604070405020304" pitchFamily="18" charset="0"/>
                          <a:cs typeface="Aptos Serif" panose="02020604070405020304" pitchFamily="18" charset="0"/>
                        </a:rPr>
                        <a:t>Z1</a:t>
                      </a:r>
                    </a:p>
                  </a:txBody>
                  <a:tcPr/>
                </a:tc>
                <a:extLst>
                  <a:ext uri="{0D108BD9-81ED-4DB2-BD59-A6C34878D82A}">
                    <a16:rowId xmlns:a16="http://schemas.microsoft.com/office/drawing/2014/main" val="550392675"/>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113447595"/>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21</a:t>
                      </a:r>
                    </a:p>
                  </a:txBody>
                  <a:tcPr/>
                </a:tc>
                <a:tc>
                  <a:txBody>
                    <a:bodyPr/>
                    <a:lstStyle/>
                    <a:p>
                      <a:r>
                        <a:rPr lang="en-US" sz="1200">
                          <a:latin typeface="Aptos Serif" panose="02020604070405020304" pitchFamily="18" charset="0"/>
                          <a:cs typeface="Aptos Serif" panose="02020604070405020304" pitchFamily="18" charset="0"/>
                        </a:rPr>
                        <a:t>Z3</a:t>
                      </a:r>
                    </a:p>
                  </a:txBody>
                  <a:tcPr/>
                </a:tc>
                <a:extLst>
                  <a:ext uri="{0D108BD9-81ED-4DB2-BD59-A6C34878D82A}">
                    <a16:rowId xmlns:a16="http://schemas.microsoft.com/office/drawing/2014/main" val="13660463"/>
                  </a:ext>
                </a:extLst>
              </a:tr>
              <a:tr h="281078">
                <a:tc vMerge="1">
                  <a:txBody>
                    <a:bodyPr/>
                    <a:lstStyle/>
                    <a:p>
                      <a:endParaRPr lang="en-US"/>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343673757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5">
                  <a:txBody>
                    <a:bodyPr/>
                    <a:lstStyle/>
                    <a:p>
                      <a:r>
                        <a:rPr lang="en-US" sz="1200">
                          <a:latin typeface="Aptos Serif" panose="02020604070405020304" pitchFamily="18" charset="0"/>
                          <a:cs typeface="Aptos Serif" panose="02020604070405020304" pitchFamily="18" charset="0"/>
                        </a:rPr>
                        <a:t>132</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4255540890"/>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21</a:t>
                      </a:r>
                    </a:p>
                  </a:txBody>
                  <a:tcPr/>
                </a:tc>
                <a:tc>
                  <a:txBody>
                    <a:bodyPr/>
                    <a:lstStyle/>
                    <a:p>
                      <a:r>
                        <a:rPr lang="en-US" sz="1200">
                          <a:latin typeface="Aptos Serif" panose="02020604070405020304" pitchFamily="18" charset="0"/>
                          <a:cs typeface="Aptos Serif" panose="02020604070405020304" pitchFamily="18" charset="0"/>
                        </a:rPr>
                        <a:t>Z3</a:t>
                      </a:r>
                    </a:p>
                  </a:txBody>
                  <a:tcPr/>
                </a:tc>
                <a:extLst>
                  <a:ext uri="{0D108BD9-81ED-4DB2-BD59-A6C34878D82A}">
                    <a16:rowId xmlns:a16="http://schemas.microsoft.com/office/drawing/2014/main" val="356430631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4076744361"/>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46</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32</a:t>
                      </a:r>
                    </a:p>
                  </a:txBody>
                  <a:tcPr/>
                </a:tc>
                <a:tc>
                  <a:txBody>
                    <a:bodyPr/>
                    <a:lstStyle/>
                    <a:p>
                      <a:r>
                        <a:rPr lang="en-US" sz="1200">
                          <a:latin typeface="Aptos Serif" panose="02020604070405020304" pitchFamily="18" charset="0"/>
                          <a:cs typeface="Aptos Serif" panose="02020604070405020304" pitchFamily="18" charset="0"/>
                        </a:rPr>
                        <a:t>Z5</a:t>
                      </a:r>
                    </a:p>
                  </a:txBody>
                  <a:tcPr/>
                </a:tc>
                <a:extLst>
                  <a:ext uri="{0D108BD9-81ED-4DB2-BD59-A6C34878D82A}">
                    <a16:rowId xmlns:a16="http://schemas.microsoft.com/office/drawing/2014/main" val="3569923007"/>
                  </a:ext>
                </a:extLst>
              </a:tr>
              <a:tr h="281078">
                <a:tc vMerge="1">
                  <a:txBody>
                    <a:bodyPr/>
                    <a:lstStyle/>
                    <a:p>
                      <a:endParaRPr lang="en-US"/>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49</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35</a:t>
                      </a:r>
                    </a:p>
                  </a:txBody>
                  <a:tcPr/>
                </a:tc>
                <a:tc>
                  <a:txBody>
                    <a:bodyPr/>
                    <a:lstStyle/>
                    <a:p>
                      <a:r>
                        <a:rPr lang="en-US" sz="1200">
                          <a:solidFill>
                            <a:srgbClr val="C00000"/>
                          </a:solidFill>
                          <a:latin typeface="Aptos Serif" panose="02020604070405020304" pitchFamily="18" charset="0"/>
                          <a:cs typeface="Aptos Serif" panose="02020604070405020304" pitchFamily="18" charset="0"/>
                        </a:rPr>
                        <a:t>Z6</a:t>
                      </a:r>
                    </a:p>
                  </a:txBody>
                  <a:tcPr>
                    <a:solidFill>
                      <a:schemeClr val="accent4">
                        <a:lumMod val="60000"/>
                        <a:lumOff val="40000"/>
                      </a:schemeClr>
                    </a:solidFill>
                  </a:tcPr>
                </a:tc>
                <a:extLst>
                  <a:ext uri="{0D108BD9-81ED-4DB2-BD59-A6C34878D82A}">
                    <a16:rowId xmlns:a16="http://schemas.microsoft.com/office/drawing/2014/main" val="4066499464"/>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200">
                          <a:latin typeface="Aptos Serif" panose="02020604070405020304" pitchFamily="18" charset="0"/>
                          <a:cs typeface="Aptos Serif" panose="02020604070405020304" pitchFamily="18" charset="0"/>
                        </a:rPr>
                        <a:t>165</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17</a:t>
                      </a:r>
                    </a:p>
                  </a:txBody>
                  <a:tcPr/>
                </a:tc>
                <a:tc>
                  <a:txBody>
                    <a:bodyPr/>
                    <a:lstStyle/>
                    <a:p>
                      <a:r>
                        <a:rPr lang="en-US" sz="1200">
                          <a:latin typeface="Aptos Serif" panose="02020604070405020304" pitchFamily="18" charset="0"/>
                          <a:cs typeface="Aptos Serif" panose="02020604070405020304" pitchFamily="18" charset="0"/>
                        </a:rPr>
                        <a:t>Z2</a:t>
                      </a:r>
                    </a:p>
                  </a:txBody>
                  <a:tcPr/>
                </a:tc>
                <a:extLst>
                  <a:ext uri="{0D108BD9-81ED-4DB2-BD59-A6C34878D82A}">
                    <a16:rowId xmlns:a16="http://schemas.microsoft.com/office/drawing/2014/main" val="821662953"/>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a:t>
                      </a:r>
                    </a:p>
                  </a:txBody>
                  <a:tcPr/>
                </a:tc>
                <a:tc>
                  <a:txBody>
                    <a:bodyPr/>
                    <a:lstStyle/>
                    <a:p>
                      <a:r>
                        <a:rPr lang="en-US" sz="1200">
                          <a:latin typeface="Aptos Serif" panose="02020604070405020304" pitchFamily="18" charset="0"/>
                          <a:cs typeface="Aptos Serif" panose="02020604070405020304" pitchFamily="18" charset="0"/>
                        </a:rPr>
                        <a:t>Z4</a:t>
                      </a:r>
                    </a:p>
                  </a:txBody>
                  <a:tcPr/>
                </a:tc>
                <a:extLst>
                  <a:ext uri="{0D108BD9-81ED-4DB2-BD59-A6C34878D82A}">
                    <a16:rowId xmlns:a16="http://schemas.microsoft.com/office/drawing/2014/main" val="1655412318"/>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52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38</a:t>
                      </a:r>
                    </a:p>
                  </a:txBody>
                  <a:tcPr/>
                </a:tc>
                <a:tc>
                  <a:txBody>
                    <a:bodyPr/>
                    <a:lstStyle/>
                    <a:p>
                      <a:r>
                        <a:rPr lang="en-US" sz="1200">
                          <a:solidFill>
                            <a:srgbClr val="C00000"/>
                          </a:solidFill>
                          <a:latin typeface="Aptos Serif" panose="02020604070405020304" pitchFamily="18" charset="0"/>
                          <a:cs typeface="Aptos Serif" panose="02020604070405020304" pitchFamily="18" charset="0"/>
                        </a:rPr>
                        <a:t>Z6</a:t>
                      </a:r>
                    </a:p>
                  </a:txBody>
                  <a:tcPr>
                    <a:solidFill>
                      <a:schemeClr val="accent4">
                        <a:lumMod val="60000"/>
                        <a:lumOff val="40000"/>
                      </a:schemeClr>
                    </a:solidFill>
                  </a:tcPr>
                </a:tc>
                <a:extLst>
                  <a:ext uri="{0D108BD9-81ED-4DB2-BD59-A6C34878D82A}">
                    <a16:rowId xmlns:a16="http://schemas.microsoft.com/office/drawing/2014/main" val="3715057663"/>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62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48</a:t>
                      </a:r>
                    </a:p>
                  </a:txBody>
                  <a:tcPr/>
                </a:tc>
                <a:tc>
                  <a:txBody>
                    <a:bodyPr/>
                    <a:lstStyle/>
                    <a:p>
                      <a:r>
                        <a:rPr lang="en-US" sz="1200">
                          <a:latin typeface="Aptos Serif" panose="02020604070405020304" pitchFamily="18" charset="0"/>
                          <a:cs typeface="Aptos Serif" panose="02020604070405020304" pitchFamily="18" charset="0"/>
                        </a:rPr>
                        <a:t>Z7</a:t>
                      </a:r>
                    </a:p>
                  </a:txBody>
                  <a:tcPr/>
                </a:tc>
                <a:extLst>
                  <a:ext uri="{0D108BD9-81ED-4DB2-BD59-A6C34878D82A}">
                    <a16:rowId xmlns:a16="http://schemas.microsoft.com/office/drawing/2014/main" val="2924675470"/>
                  </a:ext>
                </a:extLst>
              </a:tr>
              <a:tr h="281078">
                <a:tc rowSpan="5">
                  <a:txBody>
                    <a:bodyPr/>
                    <a:lstStyle/>
                    <a:p>
                      <a:r>
                        <a:rPr lang="en-US" sz="1200">
                          <a:latin typeface="Aptos Serif" panose="02020604070405020304" pitchFamily="18" charset="0"/>
                          <a:cs typeface="Aptos Serif" panose="02020604070405020304" pitchFamily="18" charset="0"/>
                        </a:rPr>
                        <a:t>Turbo Logic</a:t>
                      </a:r>
                    </a:p>
                  </a:txBody>
                  <a:tcPr anchor="ctr"/>
                </a:tc>
                <a:tc rowSpan="2">
                  <a:txBody>
                    <a:bodyPr/>
                    <a:lstStyle/>
                    <a:p>
                      <a:r>
                        <a:rPr lang="en-US" sz="1200">
                          <a:latin typeface="Aptos Serif" panose="02020604070405020304" pitchFamily="18" charset="0"/>
                          <a:cs typeface="Aptos Serif" panose="02020604070405020304" pitchFamily="18" charset="0"/>
                        </a:rPr>
                        <a:t>110</a:t>
                      </a:r>
                    </a:p>
                  </a:txBody>
                  <a:tcPr anchor="ctr">
                    <a:solidFill>
                      <a:schemeClr val="accent1">
                        <a:lumMod val="40000"/>
                        <a:lumOff val="60000"/>
                      </a:schemeClr>
                    </a:solidFill>
                  </a:tcP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58</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2114341640"/>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nchor="ct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26/58/26</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3928272409"/>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rowSpan="2">
                  <a:txBody>
                    <a:bodyPr/>
                    <a:lstStyle/>
                    <a:p>
                      <a:r>
                        <a:rPr lang="en-US" sz="1200">
                          <a:latin typeface="Aptos Serif" panose="02020604070405020304" pitchFamily="18" charset="0"/>
                          <a:cs typeface="Aptos Serif" panose="02020604070405020304" pitchFamily="18" charset="0"/>
                        </a:rPr>
                        <a:t>132</a:t>
                      </a:r>
                    </a:p>
                  </a:txBody>
                  <a:tcPr anchor="ctr">
                    <a:gradFill flip="none" rotWithShape="1">
                      <a:gsLst>
                        <a:gs pos="0">
                          <a:schemeClr val="accent1">
                            <a:lumMod val="0"/>
                            <a:lumOff val="100000"/>
                          </a:schemeClr>
                        </a:gs>
                        <a:gs pos="100000">
                          <a:schemeClr val="accent1">
                            <a:lumMod val="30000"/>
                            <a:lumOff val="70000"/>
                          </a:schemeClr>
                        </a:gs>
                      </a:gsLst>
                      <a:lin ang="5400000" scaled="0"/>
                      <a:tileRect/>
                    </a:gradFill>
                  </a:tcPr>
                </a:tc>
                <a:tc>
                  <a:txBody>
                    <a:bodyPr/>
                    <a:lstStyle/>
                    <a:p>
                      <a:r>
                        <a:rPr lang="en-US" sz="1200">
                          <a:latin typeface="Aptos Serif" panose="02020604070405020304" pitchFamily="18" charset="0"/>
                          <a:cs typeface="Aptos Serif" panose="02020604070405020304" pitchFamily="18" charset="0"/>
                        </a:rPr>
                        <a:t>86</a:t>
                      </a:r>
                    </a:p>
                  </a:txBody>
                  <a:tcPr>
                    <a:noFill/>
                  </a:tcPr>
                </a:tc>
                <a:tc>
                  <a:txBody>
                    <a:bodyPr/>
                    <a:lstStyle/>
                    <a:p>
                      <a:r>
                        <a:rPr lang="en-US" sz="1200">
                          <a:latin typeface="Aptos Serif" panose="02020604070405020304" pitchFamily="18" charset="0"/>
                          <a:cs typeface="Aptos Serif" panose="02020604070405020304" pitchFamily="18" charset="0"/>
                        </a:rPr>
                        <a:t>35/72/35</a:t>
                      </a:r>
                    </a:p>
                  </a:txBody>
                  <a:tcPr>
                    <a:noFill/>
                  </a:tcPr>
                </a:tc>
                <a:tc>
                  <a:txBody>
                    <a:bodyPr/>
                    <a:lstStyle/>
                    <a:p>
                      <a:r>
                        <a:rPr lang="en-US" sz="1200">
                          <a:latin typeface="Aptos Serif" panose="02020604070405020304" pitchFamily="18" charset="0"/>
                          <a:cs typeface="Aptos Serif" panose="02020604070405020304" pitchFamily="18" charset="0"/>
                        </a:rPr>
                        <a:t>Z9</a:t>
                      </a:r>
                    </a:p>
                  </a:txBody>
                  <a:tcPr>
                    <a:noFill/>
                  </a:tcPr>
                </a:tc>
                <a:extLst>
                  <a:ext uri="{0D108BD9-81ED-4DB2-BD59-A6C34878D82A}">
                    <a16:rowId xmlns:a16="http://schemas.microsoft.com/office/drawing/2014/main" val="1674886902"/>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72</a:t>
                      </a:r>
                    </a:p>
                  </a:txBody>
                  <a:tcPr>
                    <a:solidFill>
                      <a:schemeClr val="accent1">
                        <a:lumMod val="20000"/>
                        <a:lumOff val="80000"/>
                      </a:schemeClr>
                    </a:solidFill>
                  </a:tcPr>
                </a:tc>
                <a:tc>
                  <a:txBody>
                    <a:bodyPr/>
                    <a:lstStyle/>
                    <a:p>
                      <a:r>
                        <a:rPr lang="en-US" sz="1200">
                          <a:latin typeface="Aptos Serif" panose="02020604070405020304" pitchFamily="18" charset="0"/>
                          <a:cs typeface="Aptos Serif" panose="02020604070405020304" pitchFamily="18" charset="0"/>
                        </a:rPr>
                        <a:t>58</a:t>
                      </a:r>
                    </a:p>
                  </a:txBody>
                  <a:tcPr/>
                </a:tc>
                <a:tc>
                  <a:txBody>
                    <a:bodyPr/>
                    <a:lstStyle/>
                    <a:p>
                      <a:r>
                        <a:rPr lang="en-US" sz="1200">
                          <a:latin typeface="Aptos Serif" panose="02020604070405020304" pitchFamily="18" charset="0"/>
                          <a:cs typeface="Aptos Serif" panose="02020604070405020304" pitchFamily="18" charset="0"/>
                        </a:rPr>
                        <a:t>Z8</a:t>
                      </a:r>
                    </a:p>
                  </a:txBody>
                  <a:tcPr/>
                </a:tc>
                <a:extLst>
                  <a:ext uri="{0D108BD9-81ED-4DB2-BD59-A6C34878D82A}">
                    <a16:rowId xmlns:a16="http://schemas.microsoft.com/office/drawing/2014/main" val="793892009"/>
                  </a:ext>
                </a:extLst>
              </a:tr>
              <a:tr h="281078">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200">
                          <a:latin typeface="Aptos Serif" panose="02020604070405020304" pitchFamily="18" charset="0"/>
                          <a:cs typeface="Aptos Serif" panose="02020604070405020304" pitchFamily="18" charset="0"/>
                        </a:rPr>
                        <a:t>165</a:t>
                      </a:r>
                    </a:p>
                  </a:txBody>
                  <a:tcPr>
                    <a:noFill/>
                  </a:tcPr>
                </a:tc>
                <a:tc>
                  <a:txBody>
                    <a:bodyPr/>
                    <a:lstStyle/>
                    <a:p>
                      <a:r>
                        <a:rPr lang="en-US" sz="1200">
                          <a:latin typeface="Aptos Serif" panose="02020604070405020304" pitchFamily="18" charset="0"/>
                          <a:cs typeface="Aptos Serif" panose="02020604070405020304" pitchFamily="18" charset="0"/>
                        </a:rPr>
                        <a:t>86</a:t>
                      </a:r>
                    </a:p>
                  </a:txBody>
                  <a:tcPr>
                    <a:noFill/>
                  </a:tcPr>
                </a:tc>
                <a:tc>
                  <a:txBody>
                    <a:bodyPr/>
                    <a:lstStyle/>
                    <a:p>
                      <a:r>
                        <a:rPr lang="en-US" sz="1200">
                          <a:latin typeface="Aptos Serif" panose="02020604070405020304" pitchFamily="18" charset="0"/>
                          <a:cs typeface="Aptos Serif" panose="02020604070405020304" pitchFamily="18" charset="0"/>
                        </a:rPr>
                        <a:t>72</a:t>
                      </a:r>
                    </a:p>
                  </a:txBody>
                  <a:tcPr>
                    <a:noFill/>
                  </a:tcPr>
                </a:tc>
                <a:tc>
                  <a:txBody>
                    <a:bodyPr/>
                    <a:lstStyle/>
                    <a:p>
                      <a:r>
                        <a:rPr lang="en-US" sz="1200">
                          <a:latin typeface="Aptos Serif" panose="02020604070405020304" pitchFamily="18" charset="0"/>
                          <a:cs typeface="Aptos Serif" panose="02020604070405020304" pitchFamily="18" charset="0"/>
                        </a:rPr>
                        <a:t>Z9</a:t>
                      </a:r>
                    </a:p>
                  </a:txBody>
                  <a:tcPr>
                    <a:noFill/>
                  </a:tcPr>
                </a:tc>
                <a:extLst>
                  <a:ext uri="{0D108BD9-81ED-4DB2-BD59-A6C34878D82A}">
                    <a16:rowId xmlns:a16="http://schemas.microsoft.com/office/drawing/2014/main" val="1936221373"/>
                  </a:ext>
                </a:extLst>
              </a:tr>
            </a:tbl>
          </a:graphicData>
        </a:graphic>
      </p:graphicFrame>
      <p:graphicFrame>
        <p:nvGraphicFramePr>
          <p:cNvPr id="8" name="Table 7">
            <a:extLst>
              <a:ext uri="{FF2B5EF4-FFF2-40B4-BE49-F238E27FC236}">
                <a16:creationId xmlns:a16="http://schemas.microsoft.com/office/drawing/2014/main" id="{C5251D98-5258-CF7E-44B5-3A4984621D62}"/>
              </a:ext>
            </a:extLst>
          </p:cNvPr>
          <p:cNvGraphicFramePr>
            <a:graphicFrameLocks noGrp="1"/>
          </p:cNvGraphicFramePr>
          <p:nvPr>
            <p:extLst>
              <p:ext uri="{D42A27DB-BD31-4B8C-83A1-F6EECF244321}">
                <p14:modId xmlns:p14="http://schemas.microsoft.com/office/powerpoint/2010/main" val="286548451"/>
              </p:ext>
            </p:extLst>
          </p:nvPr>
        </p:nvGraphicFramePr>
        <p:xfrm>
          <a:off x="6951105" y="974048"/>
          <a:ext cx="4640750" cy="50901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300030">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Z</a:t>
                      </a:r>
                    </a:p>
                  </a:txBody>
                  <a:tcPr anchor="ctr"/>
                </a:tc>
                <a:extLst>
                  <a:ext uri="{0D108BD9-81ED-4DB2-BD59-A6C34878D82A}">
                    <a16:rowId xmlns:a16="http://schemas.microsoft.com/office/drawing/2014/main" val="3194765169"/>
                  </a:ext>
                </a:extLst>
              </a:tr>
              <a:tr h="250025">
                <a:tc rowSpan="15">
                  <a:txBody>
                    <a:bodyPr/>
                    <a:lstStyle/>
                    <a:p>
                      <a:r>
                        <a:rPr lang="en-US" sz="1400">
                          <a:latin typeface="Aptos Serif" panose="02020604070405020304" pitchFamily="18" charset="0"/>
                          <a:cs typeface="Aptos Serif" panose="02020604070405020304" pitchFamily="18" charset="0"/>
                        </a:rPr>
                        <a:t>Column Logic</a:t>
                      </a:r>
                    </a:p>
                  </a:txBody>
                  <a:tcPr anchor="ctr"/>
                </a:tc>
                <a:tc rowSpan="3">
                  <a:txBody>
                    <a:bodyPr/>
                    <a:lstStyle/>
                    <a:p>
                      <a:r>
                        <a:rPr lang="en-US" sz="1400">
                          <a:latin typeface="Aptos Serif" panose="02020604070405020304" pitchFamily="18" charset="0"/>
                          <a:cs typeface="Aptos Serif" panose="02020604070405020304" pitchFamily="18" charset="0"/>
                        </a:rPr>
                        <a:t>HCC</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114</a:t>
                      </a:r>
                    </a:p>
                  </a:txBody>
                  <a:tcPr anchor="ctr"/>
                </a:tc>
                <a:tc>
                  <a:txBody>
                    <a:bodyPr/>
                    <a:lstStyle/>
                    <a:p>
                      <a:r>
                        <a:rPr lang="en-US" sz="1400">
                          <a:latin typeface="Aptos Serif" panose="02020604070405020304" pitchFamily="18" charset="0"/>
                          <a:cs typeface="Aptos Serif" panose="02020604070405020304" pitchFamily="18" charset="0"/>
                        </a:rPr>
                        <a:t>27</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Z1</a:t>
                      </a:r>
                    </a:p>
                  </a:txBody>
                  <a:tcPr>
                    <a:noFill/>
                  </a:tcPr>
                </a:tc>
                <a:extLst>
                  <a:ext uri="{0D108BD9-81ED-4DB2-BD59-A6C34878D82A}">
                    <a16:rowId xmlns:a16="http://schemas.microsoft.com/office/drawing/2014/main" val="550392675"/>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113447595"/>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37</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23</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1366046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400">
                          <a:latin typeface="Aptos Serif" panose="02020604070405020304" pitchFamily="18" charset="0"/>
                          <a:cs typeface="Aptos Serif" panose="02020604070405020304" pitchFamily="18" charset="0"/>
                        </a:rPr>
                        <a:t>HDC</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128</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4255540890"/>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3564306311"/>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4076744361"/>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44</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30</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3569923007"/>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rowSpan="4">
                  <a:txBody>
                    <a:bodyPr/>
                    <a:lstStyle/>
                    <a:p>
                      <a:r>
                        <a:rPr lang="en-US" sz="1400">
                          <a:latin typeface="Aptos Serif" panose="02020604070405020304" pitchFamily="18" charset="0"/>
                          <a:cs typeface="Aptos Serif" panose="02020604070405020304" pitchFamily="18" charset="0"/>
                        </a:rPr>
                        <a:t>TPRF</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126</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82166295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1655412318"/>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3715057663"/>
                  </a:ext>
                </a:extLst>
              </a:tr>
              <a:tr h="2500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43</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29</a:t>
                      </a:r>
                    </a:p>
                  </a:txBody>
                  <a:tcPr/>
                </a:tc>
                <a:tc>
                  <a:txBody>
                    <a:bodyPr/>
                    <a:lstStyle/>
                    <a:p>
                      <a:r>
                        <a:rPr lang="en-US" sz="1400">
                          <a:solidFill>
                            <a:srgbClr val="C00000"/>
                          </a:solidFill>
                          <a:latin typeface="Aptos Serif" panose="02020604070405020304" pitchFamily="18" charset="0"/>
                          <a:cs typeface="Aptos Serif" panose="02020604070405020304" pitchFamily="18" charset="0"/>
                        </a:rPr>
                        <a:t>?</a:t>
                      </a:r>
                    </a:p>
                  </a:txBody>
                  <a:tcPr>
                    <a:solidFill>
                      <a:schemeClr val="accent4">
                        <a:lumMod val="60000"/>
                        <a:lumOff val="40000"/>
                      </a:schemeClr>
                    </a:solidFill>
                  </a:tcPr>
                </a:tc>
                <a:extLst>
                  <a:ext uri="{0D108BD9-81ED-4DB2-BD59-A6C34878D82A}">
                    <a16:rowId xmlns:a16="http://schemas.microsoft.com/office/drawing/2014/main" val="2924675470"/>
                  </a:ext>
                </a:extLst>
              </a:tr>
              <a:tr h="0">
                <a:tc vMerge="1">
                  <a:txBody>
                    <a:bodyPr/>
                    <a:lstStyle/>
                    <a:p>
                      <a:endParaRPr lang="en-US" sz="1400">
                        <a:latin typeface="Aptos Serif" panose="02020604070405020304" pitchFamily="18" charset="0"/>
                        <a:cs typeface="Aptos Serif" panose="02020604070405020304" pitchFamily="18" charset="0"/>
                      </a:endParaRPr>
                    </a:p>
                  </a:txBody>
                  <a:tcPr anchor="ctr"/>
                </a:tc>
                <a:tc rowSpan="4">
                  <a:txBody>
                    <a:bodyPr/>
                    <a:lstStyle/>
                    <a:p>
                      <a:r>
                        <a:rPr lang="en-US" sz="1400">
                          <a:latin typeface="Aptos Serif" panose="02020604070405020304" pitchFamily="18" charset="0"/>
                          <a:cs typeface="Aptos Serif" panose="02020604070405020304" pitchFamily="18" charset="0"/>
                        </a:rPr>
                        <a:t>HDC2</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132</a:t>
                      </a:r>
                    </a:p>
                  </a:txBody>
                  <a:tcPr anchor="ctr"/>
                </a:tc>
                <a:tc>
                  <a:txBody>
                    <a:bodyPr/>
                    <a:lstStyle/>
                    <a:p>
                      <a:r>
                        <a:rPr lang="en-US" sz="1400">
                          <a:latin typeface="Aptos Serif" panose="02020604070405020304" pitchFamily="18" charset="0"/>
                          <a:cs typeface="Aptos Serif" panose="02020604070405020304" pitchFamily="18" charset="0"/>
                        </a:rPr>
                        <a:t>31</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17</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Z2</a:t>
                      </a:r>
                    </a:p>
                  </a:txBody>
                  <a:tcPr>
                    <a:noFill/>
                  </a:tcPr>
                </a:tc>
                <a:extLst>
                  <a:ext uri="{0D108BD9-81ED-4DB2-BD59-A6C34878D82A}">
                    <a16:rowId xmlns:a16="http://schemas.microsoft.com/office/drawing/2014/main" val="1434695352"/>
                  </a:ext>
                </a:extLst>
              </a:tr>
              <a:tr h="2286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35</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21</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Z3</a:t>
                      </a:r>
                    </a:p>
                  </a:txBody>
                  <a:tcPr>
                    <a:noFill/>
                  </a:tcPr>
                </a:tc>
                <a:extLst>
                  <a:ext uri="{0D108BD9-81ED-4DB2-BD59-A6C34878D82A}">
                    <a16:rowId xmlns:a16="http://schemas.microsoft.com/office/drawing/2014/main" val="2288377162"/>
                  </a:ext>
                </a:extLst>
              </a:tr>
              <a:tr h="1524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40</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26</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Z4</a:t>
                      </a:r>
                    </a:p>
                  </a:txBody>
                  <a:tcPr>
                    <a:noFill/>
                  </a:tcPr>
                </a:tc>
                <a:extLst>
                  <a:ext uri="{0D108BD9-81ED-4DB2-BD59-A6C34878D82A}">
                    <a16:rowId xmlns:a16="http://schemas.microsoft.com/office/drawing/2014/main" val="1938095287"/>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46</a:t>
                      </a:r>
                    </a:p>
                  </a:txBody>
                  <a:tcPr>
                    <a:solidFill>
                      <a:schemeClr val="accent1">
                        <a:lumMod val="20000"/>
                        <a:lumOff val="80000"/>
                      </a:schemeClr>
                    </a:solidFill>
                  </a:tcPr>
                </a:tc>
                <a:tc>
                  <a:txBody>
                    <a:bodyPr/>
                    <a:lstStyle/>
                    <a:p>
                      <a:r>
                        <a:rPr lang="en-US" sz="1400">
                          <a:latin typeface="Aptos Serif" panose="02020604070405020304" pitchFamily="18" charset="0"/>
                          <a:cs typeface="Aptos Serif" panose="02020604070405020304" pitchFamily="18" charset="0"/>
                        </a:rPr>
                        <a:t>32</a:t>
                      </a:r>
                    </a:p>
                  </a:txBody>
                  <a:tcPr/>
                </a:tc>
                <a:tc>
                  <a:txBody>
                    <a:bodyPr/>
                    <a:lstStyle/>
                    <a:p>
                      <a:r>
                        <a:rPr lang="en-US" sz="1400">
                          <a:solidFill>
                            <a:srgbClr val="525252"/>
                          </a:solidFill>
                          <a:latin typeface="Aptos Serif" panose="02020604070405020304" pitchFamily="18" charset="0"/>
                          <a:cs typeface="Aptos Serif" panose="02020604070405020304" pitchFamily="18" charset="0"/>
                        </a:rPr>
                        <a:t>Z5</a:t>
                      </a:r>
                    </a:p>
                  </a:txBody>
                  <a:tcPr>
                    <a:noFill/>
                  </a:tcPr>
                </a:tc>
                <a:extLst>
                  <a:ext uri="{0D108BD9-81ED-4DB2-BD59-A6C34878D82A}">
                    <a16:rowId xmlns:a16="http://schemas.microsoft.com/office/drawing/2014/main" val="1122510046"/>
                  </a:ext>
                </a:extLst>
              </a:tr>
            </a:tbl>
          </a:graphicData>
        </a:graphic>
      </p:graphicFrame>
      <p:sp>
        <p:nvSpPr>
          <p:cNvPr id="32" name="TextBox 31">
            <a:extLst>
              <a:ext uri="{FF2B5EF4-FFF2-40B4-BE49-F238E27FC236}">
                <a16:creationId xmlns:a16="http://schemas.microsoft.com/office/drawing/2014/main" id="{7AE555A2-35E5-4FE0-AAD0-BB863018E409}"/>
              </a:ext>
            </a:extLst>
          </p:cNvPr>
          <p:cNvSpPr txBox="1"/>
          <p:nvPr/>
        </p:nvSpPr>
        <p:spPr>
          <a:xfrm>
            <a:off x="5901072" y="5718214"/>
            <a:ext cx="678426"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accent2">
                    <a:lumMod val="75000"/>
                  </a:schemeClr>
                </a:solidFill>
                <a:latin typeface="Aptos Serif" panose="02020604070405020304" pitchFamily="18" charset="0"/>
                <a:cs typeface="Aptos Serif" panose="02020604070405020304" pitchFamily="18" charset="0"/>
              </a:rPr>
              <a:t>x81A</a:t>
            </a:r>
            <a:endParaRPr lang="en-US" sz="1000">
              <a:solidFill>
                <a:schemeClr val="accent2">
                  <a:lumMod val="75000"/>
                </a:schemeClr>
              </a:solidFill>
            </a:endParaRPr>
          </a:p>
        </p:txBody>
      </p:sp>
      <p:sp>
        <p:nvSpPr>
          <p:cNvPr id="33" name="TextBox 32">
            <a:extLst>
              <a:ext uri="{FF2B5EF4-FFF2-40B4-BE49-F238E27FC236}">
                <a16:creationId xmlns:a16="http://schemas.microsoft.com/office/drawing/2014/main" id="{6AA38AD1-7892-2777-02B9-A62AC5AD8E93}"/>
              </a:ext>
            </a:extLst>
          </p:cNvPr>
          <p:cNvSpPr txBox="1"/>
          <p:nvPr/>
        </p:nvSpPr>
        <p:spPr>
          <a:xfrm>
            <a:off x="3288065" y="475090"/>
            <a:ext cx="811985" cy="307777"/>
          </a:xfrm>
          <a:prstGeom prst="rect">
            <a:avLst/>
          </a:prstGeom>
          <a:solidFill>
            <a:schemeClr val="accent1">
              <a:lumMod val="40000"/>
              <a:lumOff val="60000"/>
            </a:schemeClr>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a:solidFill>
                  <a:schemeClr val="bg1">
                    <a:lumMod val="10000"/>
                  </a:schemeClr>
                </a:solidFill>
                <a:latin typeface="Aptos Serif" panose="02020604070405020304" pitchFamily="18" charset="0"/>
                <a:cs typeface="Aptos Serif" panose="02020604070405020304" pitchFamily="18" charset="0"/>
              </a:rPr>
              <a:t>x81Z</a:t>
            </a:r>
            <a:endParaRPr lang="en-US" sz="1400">
              <a:solidFill>
                <a:schemeClr val="bg1">
                  <a:lumMod val="10000"/>
                </a:schemeClr>
              </a:solidFill>
            </a:endParaRPr>
          </a:p>
        </p:txBody>
      </p:sp>
      <p:sp>
        <p:nvSpPr>
          <p:cNvPr id="34" name="TextBox 33">
            <a:extLst>
              <a:ext uri="{FF2B5EF4-FFF2-40B4-BE49-F238E27FC236}">
                <a16:creationId xmlns:a16="http://schemas.microsoft.com/office/drawing/2014/main" id="{6ED53DB3-E531-E6B2-DFD0-03494AA48538}"/>
              </a:ext>
            </a:extLst>
          </p:cNvPr>
          <p:cNvSpPr txBox="1"/>
          <p:nvPr/>
        </p:nvSpPr>
        <p:spPr>
          <a:xfrm>
            <a:off x="4134375" y="396658"/>
            <a:ext cx="3333225" cy="461665"/>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2">
                    <a:lumMod val="75000"/>
                  </a:schemeClr>
                </a:solidFill>
                <a:latin typeface="IntelOne Display Regular" panose="020B0503020203020204" pitchFamily="34" charset="0"/>
              </a:rPr>
              <a:t>Derived from Roberto’s table – WW17.4v, updated w/ 1281 PDK model WW20</a:t>
            </a:r>
            <a:endParaRPr lang="en-US" sz="1200">
              <a:solidFill>
                <a:schemeClr val="accent2">
                  <a:lumMod val="75000"/>
                </a:schemeClr>
              </a:solidFill>
            </a:endParaRPr>
          </a:p>
        </p:txBody>
      </p:sp>
      <p:sp>
        <p:nvSpPr>
          <p:cNvPr id="10" name="TextBox 9">
            <a:extLst>
              <a:ext uri="{FF2B5EF4-FFF2-40B4-BE49-F238E27FC236}">
                <a16:creationId xmlns:a16="http://schemas.microsoft.com/office/drawing/2014/main" id="{D132AC24-7194-BBAC-159B-1537B533CC33}"/>
              </a:ext>
            </a:extLst>
          </p:cNvPr>
          <p:cNvSpPr txBox="1"/>
          <p:nvPr/>
        </p:nvSpPr>
        <p:spPr>
          <a:xfrm>
            <a:off x="8689181" y="442825"/>
            <a:ext cx="3579019"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linkClick r:id="rId4"/>
              </a:rPr>
              <a:t>Library Model Naming for 1281</a:t>
            </a:r>
            <a:endParaRPr lang="en-US"/>
          </a:p>
        </p:txBody>
      </p:sp>
      <p:sp>
        <p:nvSpPr>
          <p:cNvPr id="12" name="TextBox 11">
            <a:extLst>
              <a:ext uri="{FF2B5EF4-FFF2-40B4-BE49-F238E27FC236}">
                <a16:creationId xmlns:a16="http://schemas.microsoft.com/office/drawing/2014/main" id="{4CBEC062-4F9A-E12E-84AD-01838EAA6F49}"/>
              </a:ext>
            </a:extLst>
          </p:cNvPr>
          <p:cNvSpPr txBox="1"/>
          <p:nvPr/>
        </p:nvSpPr>
        <p:spPr>
          <a:xfrm>
            <a:off x="4844020" y="5408949"/>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14" name="TextBox 13">
            <a:extLst>
              <a:ext uri="{FF2B5EF4-FFF2-40B4-BE49-F238E27FC236}">
                <a16:creationId xmlns:a16="http://schemas.microsoft.com/office/drawing/2014/main" id="{6D227DE0-AC4D-F44C-0F3E-B610DAE0CE17}"/>
              </a:ext>
            </a:extLst>
          </p:cNvPr>
          <p:cNvSpPr txBox="1"/>
          <p:nvPr/>
        </p:nvSpPr>
        <p:spPr>
          <a:xfrm>
            <a:off x="4844020" y="5121695"/>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err="1">
                <a:solidFill>
                  <a:schemeClr val="tx1">
                    <a:lumMod val="40000"/>
                    <a:lumOff val="60000"/>
                  </a:schemeClr>
                </a:solidFill>
                <a:latin typeface="Aptos Serif" panose="02020604070405020304" pitchFamily="18" charset="0"/>
                <a:cs typeface="Aptos Serif" panose="02020604070405020304" pitchFamily="18" charset="0"/>
              </a:rPr>
              <a:t>Diffmax</a:t>
            </a:r>
            <a:endParaRPr lang="en-US" sz="1000">
              <a:solidFill>
                <a:schemeClr val="tx1">
                  <a:lumMod val="40000"/>
                  <a:lumOff val="60000"/>
                </a:schemeClr>
              </a:solidFill>
            </a:endParaRPr>
          </a:p>
        </p:txBody>
      </p:sp>
      <p:sp>
        <p:nvSpPr>
          <p:cNvPr id="15" name="TextBox 14">
            <a:extLst>
              <a:ext uri="{FF2B5EF4-FFF2-40B4-BE49-F238E27FC236}">
                <a16:creationId xmlns:a16="http://schemas.microsoft.com/office/drawing/2014/main" id="{8C54A7A5-808A-30DD-F056-F2046A4D91E0}"/>
              </a:ext>
            </a:extLst>
          </p:cNvPr>
          <p:cNvSpPr txBox="1"/>
          <p:nvPr/>
        </p:nvSpPr>
        <p:spPr>
          <a:xfrm>
            <a:off x="4844020" y="5971385"/>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OPH</a:t>
            </a:r>
            <a:endParaRPr lang="en-US" sz="1000">
              <a:solidFill>
                <a:schemeClr val="tx1">
                  <a:lumMod val="40000"/>
                  <a:lumOff val="60000"/>
                </a:schemeClr>
              </a:solidFill>
            </a:endParaRPr>
          </a:p>
        </p:txBody>
      </p:sp>
      <p:sp>
        <p:nvSpPr>
          <p:cNvPr id="16" name="TextBox 15">
            <a:extLst>
              <a:ext uri="{FF2B5EF4-FFF2-40B4-BE49-F238E27FC236}">
                <a16:creationId xmlns:a16="http://schemas.microsoft.com/office/drawing/2014/main" id="{54672759-D1DE-B2EF-8488-0CF8BEC6108E}"/>
              </a:ext>
            </a:extLst>
          </p:cNvPr>
          <p:cNvSpPr txBox="1"/>
          <p:nvPr/>
        </p:nvSpPr>
        <p:spPr>
          <a:xfrm>
            <a:off x="4844021" y="5700192"/>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17" name="TextBox 16">
            <a:extLst>
              <a:ext uri="{FF2B5EF4-FFF2-40B4-BE49-F238E27FC236}">
                <a16:creationId xmlns:a16="http://schemas.microsoft.com/office/drawing/2014/main" id="{3F8D76A4-DE8F-1BDF-5B40-DD06613A4821}"/>
              </a:ext>
            </a:extLst>
          </p:cNvPr>
          <p:cNvSpPr txBox="1"/>
          <p:nvPr/>
        </p:nvSpPr>
        <p:spPr>
          <a:xfrm>
            <a:off x="5901072" y="6243947"/>
            <a:ext cx="49936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accent2">
                    <a:lumMod val="75000"/>
                  </a:schemeClr>
                </a:solidFill>
                <a:latin typeface="Aptos Serif" panose="02020604070405020304" pitchFamily="18" charset="0"/>
                <a:cs typeface="Aptos Serif" panose="02020604070405020304" pitchFamily="18" charset="0"/>
              </a:rPr>
              <a:t>x81A</a:t>
            </a:r>
            <a:endParaRPr lang="en-US" sz="1000">
              <a:solidFill>
                <a:schemeClr val="accent2">
                  <a:lumMod val="75000"/>
                </a:schemeClr>
              </a:solidFill>
            </a:endParaRPr>
          </a:p>
        </p:txBody>
      </p:sp>
      <p:sp>
        <p:nvSpPr>
          <p:cNvPr id="18" name="TextBox 17">
            <a:extLst>
              <a:ext uri="{FF2B5EF4-FFF2-40B4-BE49-F238E27FC236}">
                <a16:creationId xmlns:a16="http://schemas.microsoft.com/office/drawing/2014/main" id="{60DEA49A-CD68-8611-291B-B5842773A9EE}"/>
              </a:ext>
            </a:extLst>
          </p:cNvPr>
          <p:cNvSpPr txBox="1"/>
          <p:nvPr/>
        </p:nvSpPr>
        <p:spPr>
          <a:xfrm>
            <a:off x="4844020" y="6243947"/>
            <a:ext cx="143609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OPH</a:t>
            </a:r>
            <a:endParaRPr lang="en-US" sz="1000">
              <a:solidFill>
                <a:schemeClr val="tx1">
                  <a:lumMod val="40000"/>
                  <a:lumOff val="60000"/>
                </a:schemeClr>
              </a:solidFill>
            </a:endParaRPr>
          </a:p>
        </p:txBody>
      </p:sp>
      <p:sp>
        <p:nvSpPr>
          <p:cNvPr id="19" name="TextBox 18">
            <a:extLst>
              <a:ext uri="{FF2B5EF4-FFF2-40B4-BE49-F238E27FC236}">
                <a16:creationId xmlns:a16="http://schemas.microsoft.com/office/drawing/2014/main" id="{C208AB27-6D59-FEF5-7ABF-B20F463370D7}"/>
              </a:ext>
            </a:extLst>
          </p:cNvPr>
          <p:cNvSpPr txBox="1"/>
          <p:nvPr/>
        </p:nvSpPr>
        <p:spPr>
          <a:xfrm>
            <a:off x="4844021" y="2308181"/>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
        <p:nvSpPr>
          <p:cNvPr id="20" name="TextBox 19">
            <a:extLst>
              <a:ext uri="{FF2B5EF4-FFF2-40B4-BE49-F238E27FC236}">
                <a16:creationId xmlns:a16="http://schemas.microsoft.com/office/drawing/2014/main" id="{B133DB97-9657-92E6-5788-D2EBF3E41FAB}"/>
              </a:ext>
            </a:extLst>
          </p:cNvPr>
          <p:cNvSpPr txBox="1"/>
          <p:nvPr/>
        </p:nvSpPr>
        <p:spPr>
          <a:xfrm>
            <a:off x="4844021" y="3734496"/>
            <a:ext cx="1057052"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000">
                <a:solidFill>
                  <a:schemeClr val="tx1">
                    <a:lumMod val="40000"/>
                    <a:lumOff val="60000"/>
                  </a:schemeClr>
                </a:solidFill>
                <a:latin typeface="Aptos Serif" panose="02020604070405020304" pitchFamily="18" charset="0"/>
                <a:cs typeface="Aptos Serif" panose="02020604070405020304" pitchFamily="18" charset="0"/>
              </a:rPr>
              <a:t>BNPN PMOS</a:t>
            </a:r>
            <a:endParaRPr lang="en-US" sz="1000">
              <a:solidFill>
                <a:schemeClr val="tx1">
                  <a:lumMod val="40000"/>
                  <a:lumOff val="60000"/>
                </a:schemeClr>
              </a:solidFill>
            </a:endParaRPr>
          </a:p>
        </p:txBody>
      </p:sp>
    </p:spTree>
    <p:extLst>
      <p:ext uri="{BB962C8B-B14F-4D97-AF65-F5344CB8AC3E}">
        <p14:creationId xmlns:p14="http://schemas.microsoft.com/office/powerpoint/2010/main" val="7330938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6E57-AD33-83B3-7E32-91F148E00B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92301-EF37-CEF3-EF74-FF4B81D7D60B}"/>
              </a:ext>
            </a:extLst>
          </p:cNvPr>
          <p:cNvSpPr>
            <a:spLocks noGrp="1"/>
          </p:cNvSpPr>
          <p:nvPr>
            <p:ph type="sldNum" sz="quarter" idx="2"/>
          </p:nvPr>
        </p:nvSpPr>
        <p:spPr/>
        <p:txBody>
          <a:bodyPr/>
          <a:lstStyle/>
          <a:p>
            <a:fld id="{86CB4B4D-7CA3-9044-876B-883B54F8677D}" type="slidenum">
              <a:rPr lang="en-US" smtClean="0"/>
              <a:t>8</a:t>
            </a:fld>
            <a:endParaRPr lang="en-US"/>
          </a:p>
        </p:txBody>
      </p:sp>
      <p:sp>
        <p:nvSpPr>
          <p:cNvPr id="5" name="TextBox 4">
            <a:extLst>
              <a:ext uri="{FF2B5EF4-FFF2-40B4-BE49-F238E27FC236}">
                <a16:creationId xmlns:a16="http://schemas.microsoft.com/office/drawing/2014/main" id="{F60BEF29-D83D-A26C-6F3C-BBE6224E6146}"/>
              </a:ext>
            </a:extLst>
          </p:cNvPr>
          <p:cNvSpPr txBox="1"/>
          <p:nvPr/>
        </p:nvSpPr>
        <p:spPr>
          <a:xfrm>
            <a:off x="376518" y="336592"/>
            <a:ext cx="11438964" cy="584775"/>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Library Offering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pic>
        <p:nvPicPr>
          <p:cNvPr id="7" name="Picture 4">
            <a:extLst>
              <a:ext uri="{FF2B5EF4-FFF2-40B4-BE49-F238E27FC236}">
                <a16:creationId xmlns:a16="http://schemas.microsoft.com/office/drawing/2014/main" id="{2B7ED413-006D-6D08-5623-FEDB95AB6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00006" y="3547872"/>
            <a:ext cx="5838832" cy="32386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CF990FA8-E756-FC0F-4821-C2E2FA690BCD}"/>
              </a:ext>
            </a:extLst>
          </p:cNvPr>
          <p:cNvGraphicFramePr>
            <a:graphicFrameLocks noGrp="1"/>
          </p:cNvGraphicFramePr>
          <p:nvPr>
            <p:extLst>
              <p:ext uri="{D42A27DB-BD31-4B8C-83A1-F6EECF244321}">
                <p14:modId xmlns:p14="http://schemas.microsoft.com/office/powerpoint/2010/main" val="2108396330"/>
              </p:ext>
            </p:extLst>
          </p:nvPr>
        </p:nvGraphicFramePr>
        <p:xfrm>
          <a:off x="5638248" y="921367"/>
          <a:ext cx="4640750" cy="50901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330321">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no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PFT</a:t>
                      </a:r>
                    </a:p>
                  </a:txBody>
                  <a:tcPr anchor="ctr">
                    <a:solidFill>
                      <a:schemeClr val="accent1">
                        <a:lumMod val="20000"/>
                        <a:lumOff val="80000"/>
                      </a:schemeClr>
                    </a:solidFill>
                  </a:tcPr>
                </a:tc>
                <a:extLst>
                  <a:ext uri="{0D108BD9-81ED-4DB2-BD59-A6C34878D82A}">
                    <a16:rowId xmlns:a16="http://schemas.microsoft.com/office/drawing/2014/main" val="3194765169"/>
                  </a:ext>
                </a:extLst>
              </a:tr>
              <a:tr h="194306">
                <a:tc rowSpan="15">
                  <a:txBody>
                    <a:bodyPr/>
                    <a:lstStyle/>
                    <a:p>
                      <a:r>
                        <a:rPr lang="en-US" sz="1400">
                          <a:latin typeface="Aptos Serif" panose="02020604070405020304" pitchFamily="18" charset="0"/>
                          <a:cs typeface="Aptos Serif" panose="02020604070405020304" pitchFamily="18" charset="0"/>
                        </a:rPr>
                        <a:t>SRAM</a:t>
                      </a:r>
                    </a:p>
                  </a:txBody>
                  <a:tcPr anchor="ctr"/>
                </a:tc>
                <a:tc rowSpan="3">
                  <a:txBody>
                    <a:bodyPr/>
                    <a:lstStyle/>
                    <a:p>
                      <a:r>
                        <a:rPr lang="en-US" sz="1400">
                          <a:latin typeface="Aptos Serif" panose="02020604070405020304" pitchFamily="18" charset="0"/>
                          <a:cs typeface="Aptos Serif" panose="02020604070405020304" pitchFamily="18" charset="0"/>
                        </a:rPr>
                        <a:t>HDC1</a:t>
                      </a:r>
                    </a:p>
                    <a:p>
                      <a:r>
                        <a:rPr lang="en-US" sz="1400">
                          <a:latin typeface="Aptos Serif" panose="02020604070405020304" pitchFamily="18" charset="0"/>
                          <a:cs typeface="Aptos Serif" panose="02020604070405020304" pitchFamily="18" charset="0"/>
                        </a:rPr>
                        <a:t>HDC5</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26</a:t>
                      </a:r>
                    </a:p>
                  </a:txBody>
                  <a:tcPr>
                    <a:noFill/>
                  </a:tcPr>
                </a:tc>
                <a:tc>
                  <a:txBody>
                    <a:bodyPr/>
                    <a:lstStyle/>
                    <a:p>
                      <a:r>
                        <a:rPr lang="en-US" sz="1400">
                          <a:latin typeface="Aptos Serif" panose="02020604070405020304" pitchFamily="18" charset="0"/>
                          <a:cs typeface="Aptos Serif" panose="02020604070405020304" pitchFamily="18" charset="0"/>
                        </a:rPr>
                        <a:t>12</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550392675"/>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13447595"/>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30</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366046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rowSpan="3">
                  <a:txBody>
                    <a:bodyPr/>
                    <a:lstStyle/>
                    <a:p>
                      <a:r>
                        <a:rPr lang="en-US" sz="1400">
                          <a:latin typeface="Aptos Serif" panose="02020604070405020304" pitchFamily="18" charset="0"/>
                          <a:cs typeface="Aptos Serif" panose="02020604070405020304" pitchFamily="18" charset="0"/>
                        </a:rPr>
                        <a:t>HDC3</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26</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255540890"/>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564306311"/>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30</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4076744361"/>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rowSpan="3">
                  <a:txBody>
                    <a:bodyPr/>
                    <a:lstStyle/>
                    <a:p>
                      <a:r>
                        <a:rPr lang="en-US" sz="1400">
                          <a:latin typeface="Aptos Serif" panose="02020604070405020304" pitchFamily="18" charset="0"/>
                          <a:cs typeface="Aptos Serif" panose="02020604070405020304" pitchFamily="18" charset="0"/>
                        </a:rPr>
                        <a:t>HDC4</a:t>
                      </a:r>
                    </a:p>
                    <a:p>
                      <a:r>
                        <a:rPr lang="en-US" sz="1400">
                          <a:latin typeface="Aptos Serif" panose="02020604070405020304" pitchFamily="18" charset="0"/>
                          <a:cs typeface="Aptos Serif" panose="02020604070405020304" pitchFamily="18" charset="0"/>
                        </a:rPr>
                        <a:t>HDC6</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192</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82166295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28</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655412318"/>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29</a:t>
                      </a:r>
                    </a:p>
                  </a:txBody>
                  <a:tcPr>
                    <a:noFill/>
                  </a:tcPr>
                </a:tc>
                <a:tc>
                  <a:txBody>
                    <a:bodyPr/>
                    <a:lstStyle/>
                    <a:p>
                      <a:r>
                        <a:rPr lang="en-US" sz="1400">
                          <a:latin typeface="Aptos Serif" panose="02020604070405020304" pitchFamily="18" charset="0"/>
                          <a:cs typeface="Aptos Serif" panose="02020604070405020304" pitchFamily="18" charset="0"/>
                        </a:rPr>
                        <a:t>15</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3715057663"/>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nchor="ctr"/>
                </a:tc>
                <a:tc rowSpan="3">
                  <a:txBody>
                    <a:bodyPr/>
                    <a:lstStyle/>
                    <a:p>
                      <a:r>
                        <a:rPr lang="en-US" sz="1400">
                          <a:latin typeface="Aptos Serif" panose="02020604070405020304" pitchFamily="18" charset="0"/>
                          <a:cs typeface="Aptos Serif" panose="02020604070405020304" pitchFamily="18" charset="0"/>
                        </a:rPr>
                        <a:t>HDC2</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198</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2302001886"/>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29</a:t>
                      </a:r>
                    </a:p>
                  </a:txBody>
                  <a:tcPr>
                    <a:noFill/>
                  </a:tcPr>
                </a:tc>
                <a:tc>
                  <a:txBody>
                    <a:bodyPr/>
                    <a:lstStyle/>
                    <a:p>
                      <a:r>
                        <a:rPr lang="en-US" sz="1400">
                          <a:latin typeface="Aptos Serif" panose="02020604070405020304" pitchFamily="18" charset="0"/>
                          <a:cs typeface="Aptos Serif" panose="02020604070405020304" pitchFamily="18" charset="0"/>
                        </a:rPr>
                        <a:t>15</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652578462"/>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32</a:t>
                      </a:r>
                    </a:p>
                  </a:txBody>
                  <a:tcPr>
                    <a:noFill/>
                  </a:tcPr>
                </a:tc>
                <a:tc>
                  <a:txBody>
                    <a:bodyPr/>
                    <a:lstStyle/>
                    <a:p>
                      <a:r>
                        <a:rPr lang="en-US" sz="1400">
                          <a:latin typeface="Aptos Serif" panose="02020604070405020304" pitchFamily="18" charset="0"/>
                          <a:cs typeface="Aptos Serif" panose="02020604070405020304" pitchFamily="18" charset="0"/>
                        </a:rPr>
                        <a:t>18</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2673304892"/>
                  </a:ext>
                </a:extLst>
              </a:tr>
              <a:tr h="194306">
                <a:tc vMerge="1">
                  <a:txBody>
                    <a:bodyPr/>
                    <a:lstStyle/>
                    <a:p>
                      <a:endParaRPr lang="en-US" sz="1400">
                        <a:latin typeface="Aptos Serif" panose="02020604070405020304" pitchFamily="18" charset="0"/>
                        <a:cs typeface="Aptos Serif" panose="02020604070405020304" pitchFamily="18" charset="0"/>
                      </a:endParaRPr>
                    </a:p>
                  </a:txBody>
                  <a:tcPr anchor="ctr"/>
                </a:tc>
                <a:tc rowSpan="3">
                  <a:txBody>
                    <a:bodyPr/>
                    <a:lstStyle/>
                    <a:p>
                      <a:r>
                        <a:rPr lang="en-US" sz="1400">
                          <a:latin typeface="Aptos Serif" panose="02020604070405020304" pitchFamily="18" charset="0"/>
                          <a:cs typeface="Aptos Serif" panose="02020604070405020304" pitchFamily="18" charset="0"/>
                        </a:rPr>
                        <a:t>HCC1</a:t>
                      </a:r>
                    </a:p>
                    <a:p>
                      <a:r>
                        <a:rPr lang="en-US" sz="1400">
                          <a:latin typeface="Aptos Serif" panose="02020604070405020304" pitchFamily="18" charset="0"/>
                          <a:cs typeface="Aptos Serif" panose="02020604070405020304" pitchFamily="18" charset="0"/>
                        </a:rPr>
                        <a:t>HCC2</a:t>
                      </a:r>
                    </a:p>
                  </a:txBody>
                  <a:tcPr anchor="ctr">
                    <a:solidFill>
                      <a:schemeClr val="accent1">
                        <a:lumMod val="40000"/>
                        <a:lumOff val="60000"/>
                      </a:schemeClr>
                    </a:solidFill>
                  </a:tcPr>
                </a:tc>
                <a:tc rowSpan="3">
                  <a:txBody>
                    <a:bodyPr/>
                    <a:lstStyle/>
                    <a:p>
                      <a:r>
                        <a:rPr lang="en-US" sz="1400">
                          <a:latin typeface="Aptos Serif" panose="02020604070405020304" pitchFamily="18" charset="0"/>
                          <a:cs typeface="Aptos Serif" panose="02020604070405020304" pitchFamily="18" charset="0"/>
                        </a:rPr>
                        <a:t>228</a:t>
                      </a: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69044058"/>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39</a:t>
                      </a:r>
                    </a:p>
                  </a:txBody>
                  <a:tcPr>
                    <a:noFill/>
                  </a:tcPr>
                </a:tc>
                <a:tc>
                  <a:txBody>
                    <a:bodyPr/>
                    <a:lstStyle/>
                    <a:p>
                      <a:r>
                        <a:rPr lang="en-US" sz="1400">
                          <a:latin typeface="Aptos Serif" panose="02020604070405020304" pitchFamily="18" charset="0"/>
                          <a:cs typeface="Aptos Serif" panose="02020604070405020304" pitchFamily="18" charset="0"/>
                        </a:rPr>
                        <a:t>25</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932874850"/>
                  </a:ext>
                </a:extLst>
              </a:tr>
              <a:tr h="194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33</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42525670"/>
                  </a:ext>
                </a:extLst>
              </a:tr>
            </a:tbl>
          </a:graphicData>
        </a:graphic>
      </p:graphicFrame>
      <p:graphicFrame>
        <p:nvGraphicFramePr>
          <p:cNvPr id="6" name="Table 5">
            <a:extLst>
              <a:ext uri="{FF2B5EF4-FFF2-40B4-BE49-F238E27FC236}">
                <a16:creationId xmlns:a16="http://schemas.microsoft.com/office/drawing/2014/main" id="{C4B6225F-3B23-3CB2-0F3C-27F154C8AAF0}"/>
              </a:ext>
            </a:extLst>
          </p:cNvPr>
          <p:cNvGraphicFramePr>
            <a:graphicFrameLocks noGrp="1"/>
          </p:cNvGraphicFramePr>
          <p:nvPr>
            <p:extLst>
              <p:ext uri="{D42A27DB-BD31-4B8C-83A1-F6EECF244321}">
                <p14:modId xmlns:p14="http://schemas.microsoft.com/office/powerpoint/2010/main" val="4292152384"/>
              </p:ext>
            </p:extLst>
          </p:nvPr>
        </p:nvGraphicFramePr>
        <p:xfrm>
          <a:off x="576518" y="1059865"/>
          <a:ext cx="4640750" cy="2956560"/>
        </p:xfrm>
        <a:graphic>
          <a:graphicData uri="http://schemas.openxmlformats.org/drawingml/2006/table">
            <a:tbl>
              <a:tblPr firstRow="1" bandRow="1">
                <a:tableStyleId>{5940675A-B579-460E-94D1-54222C63F5DA}</a:tableStyleId>
              </a:tblPr>
              <a:tblGrid>
                <a:gridCol w="891710">
                  <a:extLst>
                    <a:ext uri="{9D8B030D-6E8A-4147-A177-3AD203B41FA5}">
                      <a16:colId xmlns:a16="http://schemas.microsoft.com/office/drawing/2014/main" val="297381839"/>
                    </a:ext>
                  </a:extLst>
                </a:gridCol>
                <a:gridCol w="822960">
                  <a:extLst>
                    <a:ext uri="{9D8B030D-6E8A-4147-A177-3AD203B41FA5}">
                      <a16:colId xmlns:a16="http://schemas.microsoft.com/office/drawing/2014/main" val="1526547240"/>
                    </a:ext>
                  </a:extLst>
                </a:gridCol>
                <a:gridCol w="731520">
                  <a:extLst>
                    <a:ext uri="{9D8B030D-6E8A-4147-A177-3AD203B41FA5}">
                      <a16:colId xmlns:a16="http://schemas.microsoft.com/office/drawing/2014/main" val="3385161266"/>
                    </a:ext>
                  </a:extLst>
                </a:gridCol>
                <a:gridCol w="731520">
                  <a:extLst>
                    <a:ext uri="{9D8B030D-6E8A-4147-A177-3AD203B41FA5}">
                      <a16:colId xmlns:a16="http://schemas.microsoft.com/office/drawing/2014/main" val="1077854651"/>
                    </a:ext>
                  </a:extLst>
                </a:gridCol>
                <a:gridCol w="731520">
                  <a:extLst>
                    <a:ext uri="{9D8B030D-6E8A-4147-A177-3AD203B41FA5}">
                      <a16:colId xmlns:a16="http://schemas.microsoft.com/office/drawing/2014/main" val="1876310591"/>
                    </a:ext>
                  </a:extLst>
                </a:gridCol>
                <a:gridCol w="731520">
                  <a:extLst>
                    <a:ext uri="{9D8B030D-6E8A-4147-A177-3AD203B41FA5}">
                      <a16:colId xmlns:a16="http://schemas.microsoft.com/office/drawing/2014/main" val="295699949"/>
                    </a:ext>
                  </a:extLst>
                </a:gridCol>
              </a:tblGrid>
              <a:tr h="480633">
                <a:tc>
                  <a:txBody>
                    <a:bodyPr/>
                    <a:lstStyle/>
                    <a:p>
                      <a:r>
                        <a:rPr lang="en-US" sz="1400">
                          <a:latin typeface="Aptos Serif" panose="02020604070405020304" pitchFamily="18" charset="0"/>
                          <a:cs typeface="Aptos Serif" panose="02020604070405020304" pitchFamily="18" charset="0"/>
                        </a:rPr>
                        <a:t>Segment</a:t>
                      </a:r>
                    </a:p>
                  </a:txBody>
                  <a:tcPr anchor="ctr"/>
                </a:tc>
                <a:tc>
                  <a:txBody>
                    <a:bodyPr/>
                    <a:lstStyle/>
                    <a:p>
                      <a:r>
                        <a:rPr lang="en-US" sz="1400">
                          <a:latin typeface="Aptos Serif" panose="02020604070405020304" pitchFamily="18" charset="0"/>
                          <a:cs typeface="Aptos Serif" panose="02020604070405020304" pitchFamily="18" charset="0"/>
                        </a:rPr>
                        <a:t>Library</a:t>
                      </a:r>
                    </a:p>
                  </a:txBody>
                  <a:tcPr anchor="ctr">
                    <a:solidFill>
                      <a:schemeClr val="accent1">
                        <a:lumMod val="40000"/>
                        <a:lumOff val="60000"/>
                      </a:schemeClr>
                    </a:solidFill>
                  </a:tcPr>
                </a:tc>
                <a:tc>
                  <a:txBody>
                    <a:bodyPr/>
                    <a:lstStyle/>
                    <a:p>
                      <a:r>
                        <a:rPr lang="en-US" sz="1400">
                          <a:latin typeface="Aptos Serif" panose="02020604070405020304" pitchFamily="18" charset="0"/>
                          <a:cs typeface="Aptos Serif" panose="02020604070405020304" pitchFamily="18" charset="0"/>
                        </a:rPr>
                        <a:t>CH</a:t>
                      </a:r>
                    </a:p>
                  </a:txBody>
                  <a:tcPr anchor="ctr"/>
                </a:tc>
                <a:tc>
                  <a:txBody>
                    <a:bodyPr/>
                    <a:lstStyle/>
                    <a:p>
                      <a:r>
                        <a:rPr lang="en-US" sz="1400">
                          <a:latin typeface="Aptos Serif" panose="02020604070405020304" pitchFamily="18" charset="0"/>
                          <a:cs typeface="Aptos Serif" panose="02020604070405020304" pitchFamily="18" charset="0"/>
                        </a:rPr>
                        <a:t>Diff. Width</a:t>
                      </a:r>
                    </a:p>
                  </a:txBody>
                  <a:tcPr anchor="ctr">
                    <a:noFill/>
                  </a:tcPr>
                </a:tc>
                <a:tc>
                  <a:txBody>
                    <a:bodyPr/>
                    <a:lstStyle/>
                    <a:p>
                      <a:r>
                        <a:rPr lang="en-US" sz="1400">
                          <a:latin typeface="Aptos Serif" panose="02020604070405020304" pitchFamily="18" charset="0"/>
                          <a:cs typeface="Aptos Serif" panose="02020604070405020304" pitchFamily="18" charset="0"/>
                        </a:rPr>
                        <a:t>LNR</a:t>
                      </a:r>
                    </a:p>
                  </a:txBody>
                  <a:tcPr anchor="ctr"/>
                </a:tc>
                <a:tc>
                  <a:txBody>
                    <a:bodyPr/>
                    <a:lstStyle/>
                    <a:p>
                      <a:r>
                        <a:rPr lang="en-US" sz="1400">
                          <a:latin typeface="Aptos Serif" panose="02020604070405020304" pitchFamily="18" charset="0"/>
                          <a:cs typeface="Aptos Serif" panose="02020604070405020304" pitchFamily="18" charset="0"/>
                        </a:rPr>
                        <a:t>PFT</a:t>
                      </a:r>
                    </a:p>
                  </a:txBody>
                  <a:tcPr anchor="ctr">
                    <a:solidFill>
                      <a:schemeClr val="accent1">
                        <a:lumMod val="20000"/>
                        <a:lumOff val="80000"/>
                      </a:schemeClr>
                    </a:solidFill>
                  </a:tcPr>
                </a:tc>
                <a:extLst>
                  <a:ext uri="{0D108BD9-81ED-4DB2-BD59-A6C34878D82A}">
                    <a16:rowId xmlns:a16="http://schemas.microsoft.com/office/drawing/2014/main" val="3194765169"/>
                  </a:ext>
                </a:extLst>
              </a:tr>
              <a:tr h="282725">
                <a:tc rowSpan="8">
                  <a:txBody>
                    <a:bodyPr/>
                    <a:lstStyle/>
                    <a:p>
                      <a:r>
                        <a:rPr lang="en-US" sz="1400">
                          <a:latin typeface="Aptos Serif" panose="02020604070405020304" pitchFamily="18" charset="0"/>
                          <a:cs typeface="Aptos Serif" panose="02020604070405020304" pitchFamily="18" charset="0"/>
                        </a:rPr>
                        <a:t>TPRF</a:t>
                      </a:r>
                    </a:p>
                  </a:txBody>
                  <a:tcPr anchor="ctr"/>
                </a:tc>
                <a:tc rowSpan="4">
                  <a:txBody>
                    <a:bodyPr/>
                    <a:lstStyle/>
                    <a:p>
                      <a:r>
                        <a:rPr lang="en-US" sz="1400">
                          <a:latin typeface="Aptos Serif" panose="02020604070405020304" pitchFamily="18" charset="0"/>
                          <a:cs typeface="Aptos Serif" panose="02020604070405020304" pitchFamily="18" charset="0"/>
                        </a:rPr>
                        <a:t>TPRF1</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315</a:t>
                      </a:r>
                    </a:p>
                  </a:txBody>
                  <a:tcPr anchor="ctr"/>
                </a:tc>
                <a:tc>
                  <a:txBody>
                    <a:bodyPr/>
                    <a:lstStyle/>
                    <a:p>
                      <a:r>
                        <a:rPr lang="en-US" sz="1400">
                          <a:latin typeface="Aptos Serif" panose="02020604070405020304" pitchFamily="18" charset="0"/>
                          <a:cs typeface="Aptos Serif" panose="02020604070405020304" pitchFamily="18" charset="0"/>
                        </a:rPr>
                        <a:t>49</a:t>
                      </a:r>
                    </a:p>
                  </a:txBody>
                  <a:tcPr>
                    <a:noFill/>
                  </a:tcPr>
                </a:tc>
                <a:tc>
                  <a:txBody>
                    <a:bodyPr/>
                    <a:lstStyle/>
                    <a:p>
                      <a:r>
                        <a:rPr lang="en-US" sz="1400">
                          <a:latin typeface="Aptos Serif" panose="02020604070405020304" pitchFamily="18" charset="0"/>
                          <a:cs typeface="Aptos Serif" panose="02020604070405020304" pitchFamily="18" charset="0"/>
                        </a:rPr>
                        <a:t>35</a:t>
                      </a:r>
                    </a:p>
                  </a:txBody>
                  <a:tcPr/>
                </a:tc>
                <a:tc>
                  <a:txBody>
                    <a:bodyPr/>
                    <a:lstStyle/>
                    <a:p>
                      <a:r>
                        <a:rPr lang="en-US" sz="1400">
                          <a:latin typeface="Aptos Serif" panose="02020604070405020304" pitchFamily="18" charset="0"/>
                          <a:cs typeface="Aptos Serif" panose="02020604070405020304" pitchFamily="18" charset="0"/>
                        </a:rPr>
                        <a:t>RP</a:t>
                      </a:r>
                    </a:p>
                  </a:txBody>
                  <a:tcPr>
                    <a:solidFill>
                      <a:schemeClr val="accent1">
                        <a:lumMod val="20000"/>
                        <a:lumOff val="80000"/>
                      </a:schemeClr>
                    </a:solidFill>
                  </a:tcPr>
                </a:tc>
                <a:extLst>
                  <a:ext uri="{0D108BD9-81ED-4DB2-BD59-A6C34878D82A}">
                    <a16:rowId xmlns:a16="http://schemas.microsoft.com/office/drawing/2014/main" val="1292522826"/>
                  </a:ext>
                </a:extLst>
              </a:tr>
              <a:tr h="282725">
                <a:tc vMerge="1">
                  <a:txBody>
                    <a:bodyPr/>
                    <a:lstStyle/>
                    <a:p>
                      <a:endParaRPr/>
                    </a:p>
                  </a:txBody>
                  <a:tcPr anchor="ctr"/>
                </a:tc>
                <a:tc vMerge="1">
                  <a:txBody>
                    <a:bodyPr/>
                    <a:lstStyle/>
                    <a:p>
                      <a:endParaRPr/>
                    </a:p>
                  </a:txBody>
                  <a:tcPr anchor="ctr">
                    <a:solidFill>
                      <a:schemeClr val="accent1">
                        <a:lumMod val="40000"/>
                        <a:lumOff val="60000"/>
                      </a:schemeClr>
                    </a:solidFill>
                  </a:tcPr>
                </a:tc>
                <a:tc vMerge="1">
                  <a:txBody>
                    <a:bodyPr/>
                    <a:lstStyle/>
                    <a:p>
                      <a:endParaRP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550392675"/>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46</a:t>
                      </a:r>
                    </a:p>
                  </a:txBody>
                  <a:tcPr>
                    <a:noFill/>
                  </a:tcPr>
                </a:tc>
                <a:tc>
                  <a:txBody>
                    <a:bodyPr/>
                    <a:lstStyle/>
                    <a:p>
                      <a:r>
                        <a:rPr lang="en-US" sz="1400">
                          <a:latin typeface="Aptos Serif" panose="02020604070405020304" pitchFamily="18" charset="0"/>
                          <a:cs typeface="Aptos Serif" panose="02020604070405020304" pitchFamily="18" charset="0"/>
                        </a:rPr>
                        <a:t>32</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113447595"/>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33</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13660463"/>
                  </a:ext>
                </a:extLst>
              </a:tr>
              <a:tr h="282725">
                <a:tc vMerge="1">
                  <a:txBody>
                    <a:bodyPr/>
                    <a:lstStyle/>
                    <a:p>
                      <a:endParaRPr lang="en-US"/>
                    </a:p>
                  </a:txBody>
                  <a:tcPr/>
                </a:tc>
                <a:tc rowSpan="4">
                  <a:txBody>
                    <a:bodyPr/>
                    <a:lstStyle/>
                    <a:p>
                      <a:r>
                        <a:rPr lang="en-US" sz="1400">
                          <a:latin typeface="Aptos Serif" panose="02020604070405020304" pitchFamily="18" charset="0"/>
                          <a:cs typeface="Aptos Serif" panose="02020604070405020304" pitchFamily="18" charset="0"/>
                        </a:rPr>
                        <a:t>TPRF2</a:t>
                      </a:r>
                    </a:p>
                  </a:txBody>
                  <a:tcPr anchor="ctr">
                    <a:solidFill>
                      <a:schemeClr val="accent1">
                        <a:lumMod val="40000"/>
                        <a:lumOff val="60000"/>
                      </a:schemeClr>
                    </a:solidFill>
                  </a:tcPr>
                </a:tc>
                <a:tc rowSpan="4">
                  <a:txBody>
                    <a:bodyPr/>
                    <a:lstStyle/>
                    <a:p>
                      <a:r>
                        <a:rPr lang="en-US" sz="1400">
                          <a:latin typeface="Aptos Serif" panose="02020604070405020304" pitchFamily="18" charset="0"/>
                          <a:cs typeface="Aptos Serif" panose="02020604070405020304" pitchFamily="18" charset="0"/>
                        </a:rPr>
                        <a:t>315</a:t>
                      </a:r>
                    </a:p>
                  </a:txBody>
                  <a:tcPr anchor="ctr"/>
                </a:tc>
                <a:tc>
                  <a:txBody>
                    <a:bodyPr/>
                    <a:lstStyle/>
                    <a:p>
                      <a:r>
                        <a:rPr lang="en-US" sz="1400">
                          <a:latin typeface="Aptos Serif" panose="02020604070405020304" pitchFamily="18" charset="0"/>
                          <a:cs typeface="Aptos Serif" panose="02020604070405020304" pitchFamily="18" charset="0"/>
                        </a:rPr>
                        <a:t>49</a:t>
                      </a:r>
                    </a:p>
                  </a:txBody>
                  <a:tcPr>
                    <a:noFill/>
                  </a:tcPr>
                </a:tc>
                <a:tc>
                  <a:txBody>
                    <a:bodyPr/>
                    <a:lstStyle/>
                    <a:p>
                      <a:r>
                        <a:rPr lang="en-US" sz="1400">
                          <a:latin typeface="Aptos Serif" panose="02020604070405020304" pitchFamily="18" charset="0"/>
                          <a:cs typeface="Aptos Serif" panose="02020604070405020304" pitchFamily="18" charset="0"/>
                        </a:rPr>
                        <a:t>35</a:t>
                      </a:r>
                    </a:p>
                  </a:txBody>
                  <a:tcPr/>
                </a:tc>
                <a:tc>
                  <a:txBody>
                    <a:bodyPr/>
                    <a:lstStyle/>
                    <a:p>
                      <a:r>
                        <a:rPr lang="en-US" sz="1400">
                          <a:latin typeface="Aptos Serif" panose="02020604070405020304" pitchFamily="18" charset="0"/>
                          <a:cs typeface="Aptos Serif" panose="02020604070405020304" pitchFamily="18" charset="0"/>
                        </a:rPr>
                        <a:t>RP</a:t>
                      </a:r>
                    </a:p>
                  </a:txBody>
                  <a:tcPr>
                    <a:solidFill>
                      <a:schemeClr val="accent1">
                        <a:lumMod val="20000"/>
                        <a:lumOff val="80000"/>
                      </a:schemeClr>
                    </a:solidFill>
                  </a:tcPr>
                </a:tc>
                <a:extLst>
                  <a:ext uri="{0D108BD9-81ED-4DB2-BD59-A6C34878D82A}">
                    <a16:rowId xmlns:a16="http://schemas.microsoft.com/office/drawing/2014/main" val="1607605626"/>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a:p>
                  </a:txBody>
                  <a:tcPr anchor="ctr">
                    <a:solidFill>
                      <a:schemeClr val="accent1">
                        <a:lumMod val="40000"/>
                        <a:lumOff val="60000"/>
                      </a:schemeClr>
                    </a:solidFill>
                  </a:tcPr>
                </a:tc>
                <a:tc vMerge="1">
                  <a:txBody>
                    <a:bodyPr/>
                    <a:lstStyle/>
                    <a:p>
                      <a:endParaRPr/>
                    </a:p>
                  </a:txBody>
                  <a:tcPr anchor="ctr"/>
                </a:tc>
                <a:tc>
                  <a:txBody>
                    <a:bodyPr/>
                    <a:lstStyle/>
                    <a:p>
                      <a:r>
                        <a:rPr lang="en-US" sz="1400">
                          <a:latin typeface="Aptos Serif" panose="02020604070405020304" pitchFamily="18" charset="0"/>
                          <a:cs typeface="Aptos Serif" panose="02020604070405020304" pitchFamily="18" charset="0"/>
                        </a:rPr>
                        <a:t>27</a:t>
                      </a:r>
                    </a:p>
                  </a:txBody>
                  <a:tcPr>
                    <a:noFill/>
                  </a:tcPr>
                </a:tc>
                <a:tc>
                  <a:txBody>
                    <a:bodyPr/>
                    <a:lstStyle/>
                    <a:p>
                      <a:r>
                        <a:rPr lang="en-US" sz="1400">
                          <a:latin typeface="Aptos Serif" panose="02020604070405020304" pitchFamily="18" charset="0"/>
                          <a:cs typeface="Aptos Serif" panose="02020604070405020304" pitchFamily="18" charset="0"/>
                        </a:rPr>
                        <a:t>13</a:t>
                      </a:r>
                    </a:p>
                  </a:txBody>
                  <a:tcPr/>
                </a:tc>
                <a:tc>
                  <a:txBody>
                    <a:bodyPr/>
                    <a:lstStyle/>
                    <a:p>
                      <a:r>
                        <a:rPr lang="en-US" sz="1400">
                          <a:latin typeface="Aptos Serif" panose="02020604070405020304" pitchFamily="18" charset="0"/>
                          <a:cs typeface="Aptos Serif" panose="02020604070405020304" pitchFamily="18" charset="0"/>
                        </a:rPr>
                        <a:t>PU</a:t>
                      </a:r>
                    </a:p>
                  </a:txBody>
                  <a:tcPr>
                    <a:solidFill>
                      <a:schemeClr val="accent1">
                        <a:lumMod val="20000"/>
                        <a:lumOff val="80000"/>
                      </a:schemeClr>
                    </a:solidFill>
                  </a:tcPr>
                </a:tc>
                <a:extLst>
                  <a:ext uri="{0D108BD9-81ED-4DB2-BD59-A6C34878D82A}">
                    <a16:rowId xmlns:a16="http://schemas.microsoft.com/office/drawing/2014/main" val="4255540890"/>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46</a:t>
                      </a:r>
                    </a:p>
                  </a:txBody>
                  <a:tcPr>
                    <a:noFill/>
                  </a:tcPr>
                </a:tc>
                <a:tc>
                  <a:txBody>
                    <a:bodyPr/>
                    <a:lstStyle/>
                    <a:p>
                      <a:r>
                        <a:rPr lang="en-US" sz="1400">
                          <a:latin typeface="Aptos Serif" panose="02020604070405020304" pitchFamily="18" charset="0"/>
                          <a:cs typeface="Aptos Serif" panose="02020604070405020304" pitchFamily="18" charset="0"/>
                        </a:rPr>
                        <a:t>14</a:t>
                      </a:r>
                    </a:p>
                  </a:txBody>
                  <a:tcPr/>
                </a:tc>
                <a:tc>
                  <a:txBody>
                    <a:bodyPr/>
                    <a:lstStyle/>
                    <a:p>
                      <a:r>
                        <a:rPr lang="en-US" sz="1400">
                          <a:latin typeface="Aptos Serif" panose="02020604070405020304" pitchFamily="18" charset="0"/>
                          <a:cs typeface="Aptos Serif" panose="02020604070405020304" pitchFamily="18" charset="0"/>
                        </a:rPr>
                        <a:t>PG</a:t>
                      </a:r>
                    </a:p>
                  </a:txBody>
                  <a:tcPr>
                    <a:solidFill>
                      <a:schemeClr val="accent1">
                        <a:lumMod val="20000"/>
                        <a:lumOff val="80000"/>
                      </a:schemeClr>
                    </a:solidFill>
                  </a:tcPr>
                </a:tc>
                <a:extLst>
                  <a:ext uri="{0D108BD9-81ED-4DB2-BD59-A6C34878D82A}">
                    <a16:rowId xmlns:a16="http://schemas.microsoft.com/office/drawing/2014/main" val="3564306311"/>
                  </a:ext>
                </a:extLst>
              </a:tr>
              <a:tr h="282725">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vMerge="1">
                  <a:txBody>
                    <a:bodyPr/>
                    <a:lstStyle/>
                    <a:p>
                      <a:endParaRPr lang="en-US" sz="1400">
                        <a:latin typeface="Aptos Serif" panose="02020604070405020304" pitchFamily="18" charset="0"/>
                        <a:cs typeface="Aptos Serif" panose="02020604070405020304" pitchFamily="18" charset="0"/>
                      </a:endParaRPr>
                    </a:p>
                  </a:txBody>
                  <a:tcPr/>
                </a:tc>
                <a:tc>
                  <a:txBody>
                    <a:bodyPr/>
                    <a:lstStyle/>
                    <a:p>
                      <a:r>
                        <a:rPr lang="en-US" sz="1400">
                          <a:latin typeface="Aptos Serif" panose="02020604070405020304" pitchFamily="18" charset="0"/>
                          <a:cs typeface="Aptos Serif" panose="02020604070405020304" pitchFamily="18" charset="0"/>
                        </a:rPr>
                        <a:t>47</a:t>
                      </a:r>
                    </a:p>
                  </a:txBody>
                  <a:tcPr>
                    <a:noFill/>
                  </a:tcPr>
                </a:tc>
                <a:tc>
                  <a:txBody>
                    <a:bodyPr/>
                    <a:lstStyle/>
                    <a:p>
                      <a:r>
                        <a:rPr lang="en-US" sz="1400">
                          <a:latin typeface="Aptos Serif" panose="02020604070405020304" pitchFamily="18" charset="0"/>
                          <a:cs typeface="Aptos Serif" panose="02020604070405020304" pitchFamily="18" charset="0"/>
                        </a:rPr>
                        <a:t>16</a:t>
                      </a:r>
                    </a:p>
                  </a:txBody>
                  <a:tcPr/>
                </a:tc>
                <a:tc>
                  <a:txBody>
                    <a:bodyPr/>
                    <a:lstStyle/>
                    <a:p>
                      <a:r>
                        <a:rPr lang="en-US" sz="1400">
                          <a:latin typeface="Aptos Serif" panose="02020604070405020304" pitchFamily="18" charset="0"/>
                          <a:cs typeface="Aptos Serif" panose="02020604070405020304" pitchFamily="18" charset="0"/>
                        </a:rPr>
                        <a:t>PD</a:t>
                      </a:r>
                    </a:p>
                  </a:txBody>
                  <a:tcPr>
                    <a:solidFill>
                      <a:schemeClr val="accent1">
                        <a:lumMod val="20000"/>
                        <a:lumOff val="80000"/>
                      </a:schemeClr>
                    </a:solidFill>
                  </a:tcPr>
                </a:tc>
                <a:extLst>
                  <a:ext uri="{0D108BD9-81ED-4DB2-BD59-A6C34878D82A}">
                    <a16:rowId xmlns:a16="http://schemas.microsoft.com/office/drawing/2014/main" val="4076744361"/>
                  </a:ext>
                </a:extLst>
              </a:tr>
            </a:tbl>
          </a:graphicData>
        </a:graphic>
      </p:graphicFrame>
      <p:sp>
        <p:nvSpPr>
          <p:cNvPr id="9" name="TextBox 8">
            <a:extLst>
              <a:ext uri="{FF2B5EF4-FFF2-40B4-BE49-F238E27FC236}">
                <a16:creationId xmlns:a16="http://schemas.microsoft.com/office/drawing/2014/main" id="{D2A8EAFB-29F9-F54E-AEF0-BE616FE2A3F2}"/>
              </a:ext>
            </a:extLst>
          </p:cNvPr>
          <p:cNvSpPr txBox="1"/>
          <p:nvPr/>
        </p:nvSpPr>
        <p:spPr>
          <a:xfrm>
            <a:off x="3288065" y="475090"/>
            <a:ext cx="811985" cy="307777"/>
          </a:xfrm>
          <a:prstGeom prst="rect">
            <a:avLst/>
          </a:prstGeom>
          <a:solidFill>
            <a:schemeClr val="accent1">
              <a:lumMod val="40000"/>
              <a:lumOff val="60000"/>
            </a:schemeClr>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400">
                <a:solidFill>
                  <a:schemeClr val="bg1">
                    <a:lumMod val="10000"/>
                  </a:schemeClr>
                </a:solidFill>
                <a:latin typeface="Aptos Serif" panose="02020604070405020304" pitchFamily="18" charset="0"/>
                <a:cs typeface="Aptos Serif" panose="02020604070405020304" pitchFamily="18" charset="0"/>
              </a:rPr>
              <a:t>x81Z</a:t>
            </a:r>
            <a:endParaRPr lang="en-US" sz="1400">
              <a:solidFill>
                <a:schemeClr val="bg1">
                  <a:lumMod val="10000"/>
                </a:schemeClr>
              </a:solidFill>
            </a:endParaRPr>
          </a:p>
        </p:txBody>
      </p:sp>
      <p:pic>
        <p:nvPicPr>
          <p:cNvPr id="9218" name="Picture 2">
            <a:extLst>
              <a:ext uri="{FF2B5EF4-FFF2-40B4-BE49-F238E27FC236}">
                <a16:creationId xmlns:a16="http://schemas.microsoft.com/office/drawing/2014/main" id="{8C9187D6-8F4C-C9E7-CF67-58841151C4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518" y="4123795"/>
            <a:ext cx="4021790" cy="22591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F0A9488-A6FE-987A-F41F-26A311F1AF0B}"/>
              </a:ext>
            </a:extLst>
          </p:cNvPr>
          <p:cNvSpPr txBox="1"/>
          <p:nvPr/>
        </p:nvSpPr>
        <p:spPr>
          <a:xfrm>
            <a:off x="4134375" y="488992"/>
            <a:ext cx="3533394" cy="276999"/>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2">
                    <a:lumMod val="75000"/>
                  </a:schemeClr>
                </a:solidFill>
                <a:latin typeface="IntelOne Display Regular" panose="020B0503020203020204" pitchFamily="34" charset="0"/>
              </a:rPr>
              <a:t>Derived from Roberto’s table – WW17.4v</a:t>
            </a:r>
            <a:endParaRPr lang="en-US" sz="1200">
              <a:solidFill>
                <a:schemeClr val="accent2">
                  <a:lumMod val="75000"/>
                </a:schemeClr>
              </a:solidFill>
            </a:endParaRPr>
          </a:p>
        </p:txBody>
      </p:sp>
    </p:spTree>
    <p:extLst>
      <p:ext uri="{BB962C8B-B14F-4D97-AF65-F5344CB8AC3E}">
        <p14:creationId xmlns:p14="http://schemas.microsoft.com/office/powerpoint/2010/main" val="387648801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4726-A075-826C-D13A-D673F75980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DD9D2-9D6D-36E6-BE80-056413BBD725}"/>
              </a:ext>
            </a:extLst>
          </p:cNvPr>
          <p:cNvSpPr>
            <a:spLocks noGrp="1"/>
          </p:cNvSpPr>
          <p:nvPr>
            <p:ph type="sldNum" sz="quarter" idx="2"/>
          </p:nvPr>
        </p:nvSpPr>
        <p:spPr/>
        <p:txBody>
          <a:bodyPr/>
          <a:lstStyle/>
          <a:p>
            <a:fld id="{86CB4B4D-7CA3-9044-876B-883B54F8677D}" type="slidenum">
              <a:rPr lang="en-US" smtClean="0"/>
              <a:t>9</a:t>
            </a:fld>
            <a:endParaRPr lang="en-US"/>
          </a:p>
        </p:txBody>
      </p:sp>
      <p:sp>
        <p:nvSpPr>
          <p:cNvPr id="3" name="TextBox 2">
            <a:extLst>
              <a:ext uri="{FF2B5EF4-FFF2-40B4-BE49-F238E27FC236}">
                <a16:creationId xmlns:a16="http://schemas.microsoft.com/office/drawing/2014/main" id="{3A4F08F8-EEC7-8816-93A5-AA72CCBC78D3}"/>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ROS</a:t>
            </a:r>
          </a:p>
        </p:txBody>
      </p:sp>
      <p:sp>
        <p:nvSpPr>
          <p:cNvPr id="4" name="TextBox 3">
            <a:extLst>
              <a:ext uri="{FF2B5EF4-FFF2-40B4-BE49-F238E27FC236}">
                <a16:creationId xmlns:a16="http://schemas.microsoft.com/office/drawing/2014/main" id="{44885C9C-BE74-746C-2F4C-016DD5D0CFA9}"/>
              </a:ext>
            </a:extLst>
          </p:cNvPr>
          <p:cNvSpPr txBox="1"/>
          <p:nvPr/>
        </p:nvSpPr>
        <p:spPr>
          <a:xfrm>
            <a:off x="457200" y="1267777"/>
            <a:ext cx="11438964" cy="3600986"/>
          </a:xfrm>
          <a:prstGeom prst="rect">
            <a:avLst/>
          </a:prstGeom>
          <a:noFill/>
        </p:spPr>
        <p:txBody>
          <a:bodyPr wrap="square">
            <a:spAutoFit/>
          </a:bodyPr>
          <a:lstStyle/>
          <a:p>
            <a:r>
              <a:rPr lang="en-US" sz="1200">
                <a:solidFill>
                  <a:schemeClr val="accent2">
                    <a:lumMod val="75000"/>
                  </a:schemeClr>
                </a:solidFill>
                <a:latin typeface="IntelOne Display Regular" panose="020B0503020203020204" pitchFamily="34" charset="0"/>
              </a:rPr>
              <a:t>TESTNAME_CATEGORYCELLHEIGHT-DIFF-LEGS-VT-Style-</a:t>
            </a:r>
            <a:r>
              <a:rPr lang="en-US" sz="1200" b="1">
                <a:solidFill>
                  <a:srgbClr val="C00000"/>
                </a:solidFill>
                <a:highlight>
                  <a:srgbClr val="FFFF00"/>
                </a:highlight>
                <a:latin typeface="IntelOne Display Regular" panose="020B0503020203020204" pitchFamily="34" charset="0"/>
              </a:rPr>
              <a:t>Stages</a:t>
            </a:r>
            <a:r>
              <a:rPr lang="en-US" sz="1200">
                <a:solidFill>
                  <a:schemeClr val="accent2">
                    <a:lumMod val="75000"/>
                  </a:schemeClr>
                </a:solidFill>
                <a:latin typeface="IntelOne Display Regular" panose="020B0503020203020204" pitchFamily="34" charset="0"/>
              </a:rPr>
              <a:t>-</a:t>
            </a:r>
            <a:r>
              <a:rPr lang="en-US" sz="1200" b="1">
                <a:solidFill>
                  <a:srgbClr val="C00000"/>
                </a:solidFill>
                <a:highlight>
                  <a:srgbClr val="FFFF00"/>
                </a:highlight>
                <a:latin typeface="IntelOne Display Regular" panose="020B0503020203020204" pitchFamily="34" charset="0"/>
              </a:rPr>
              <a:t>FanOut</a:t>
            </a:r>
            <a:r>
              <a:rPr lang="en-US" sz="1200">
                <a:solidFill>
                  <a:schemeClr val="accent2">
                    <a:lumMod val="75000"/>
                  </a:schemeClr>
                </a:solidFill>
                <a:latin typeface="IntelOne Display Regular" panose="020B0503020203020204" pitchFamily="34" charset="0"/>
              </a:rPr>
              <a:t>-LayoutHeight</a:t>
            </a:r>
            <a:r>
              <a:rPr lang="en-US" sz="1200" b="1">
                <a:solidFill>
                  <a:srgbClr val="C00000"/>
                </a:solidFill>
                <a:highlight>
                  <a:srgbClr val="FFFF00"/>
                </a:highlight>
                <a:latin typeface="IntelOne Display Regular" panose="020B0503020203020204" pitchFamily="34" charset="0"/>
              </a:rPr>
              <a:t>-Type:NOM|Type:Skew</a:t>
            </a:r>
            <a:r>
              <a:rPr lang="en-US" sz="1200">
                <a:solidFill>
                  <a:schemeClr val="accent2">
                    <a:lumMod val="75000"/>
                  </a:schemeClr>
                </a:solidFill>
                <a:latin typeface="IntelOne Display Regular" panose="020B0503020203020204" pitchFamily="34" charset="0"/>
              </a:rPr>
              <a:t>-(Routing)</a:t>
            </a:r>
            <a:r>
              <a:rPr lang="en-US" sz="1200">
                <a:solidFill>
                  <a:schemeClr val="accent2">
                    <a:lumMod val="75000"/>
                  </a:schemeClr>
                </a:solidFill>
                <a:latin typeface="IntelOne Display Regular" panose="020B0503020203020204" pitchFamily="34" charset="0"/>
              </a:rPr>
              <a:t>-</a:t>
            </a:r>
            <a:r>
              <a:rPr lang="en-US" sz="12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400"/>
          </a:p>
          <a:p>
            <a:endParaRPr lang="en-US" sz="1200"/>
          </a:p>
          <a:p>
            <a:r>
              <a:rPr lang="en-US" sz="2400"/>
              <a:t>X81ZROS132-Z5-2L-</a:t>
            </a:r>
            <a:r>
              <a:rPr lang="en-US" sz="2400" b="1">
                <a:solidFill>
                  <a:srgbClr val="C00000"/>
                </a:solidFill>
                <a:highlight>
                  <a:srgbClr val="FFFF00"/>
                </a:highlight>
              </a:rPr>
              <a:t>U</a:t>
            </a:r>
            <a:r>
              <a:rPr lang="en-US" sz="2400"/>
              <a:t>-NAN-STG11-FO3-SH-</a:t>
            </a:r>
            <a:r>
              <a:rPr lang="en-US" sz="2400" b="1">
                <a:solidFill>
                  <a:srgbClr val="C00000"/>
                </a:solidFill>
                <a:highlight>
                  <a:srgbClr val="FFFF00"/>
                </a:highlight>
              </a:rPr>
              <a:t>A:NOM-</a:t>
            </a:r>
            <a:r>
              <a:rPr lang="en-US" sz="2400"/>
              <a:t>M1_TCxx_y</a:t>
            </a:r>
          </a:p>
          <a:p>
            <a:endParaRPr lang="en-US"/>
          </a:p>
          <a:p>
            <a:endParaRPr lang="en-US"/>
          </a:p>
          <a:p>
            <a:endParaRPr lang="en-US"/>
          </a:p>
          <a:p>
            <a:r>
              <a:rPr lang="en-US"/>
              <a:t>EOL Structure Example</a:t>
            </a:r>
            <a:endParaRPr lang="en-US" sz="1600"/>
          </a:p>
          <a:p>
            <a:endParaRPr lang="en-US" sz="1600"/>
          </a:p>
          <a:p>
            <a:endParaRPr lang="en-US" sz="1600"/>
          </a:p>
          <a:p>
            <a:r>
              <a:rPr lang="en-US" sz="2400"/>
              <a:t>X81ZROS132-Z5-2L-</a:t>
            </a:r>
            <a:r>
              <a:rPr lang="en-US" sz="2400" b="1">
                <a:solidFill>
                  <a:srgbClr val="C00000"/>
                </a:solidFill>
                <a:highlight>
                  <a:srgbClr val="FFFF00"/>
                </a:highlight>
              </a:rPr>
              <a:t>L</a:t>
            </a:r>
            <a:r>
              <a:rPr lang="en-US" sz="2400"/>
              <a:t>-INV-STG11-FO3-SH-</a:t>
            </a:r>
            <a:r>
              <a:rPr lang="en-US" sz="2400" b="1">
                <a:solidFill>
                  <a:srgbClr val="C00000"/>
                </a:solidFill>
                <a:highlight>
                  <a:srgbClr val="FFFF00"/>
                </a:highlight>
              </a:rPr>
              <a:t>A:NOM-</a:t>
            </a:r>
            <a:r>
              <a:rPr lang="en-US" sz="2400"/>
              <a:t>M2-WAC_TCxx_y</a:t>
            </a:r>
          </a:p>
        </p:txBody>
      </p:sp>
      <p:sp>
        <p:nvSpPr>
          <p:cNvPr id="32" name="TextBox 31">
            <a:extLst>
              <a:ext uri="{FF2B5EF4-FFF2-40B4-BE49-F238E27FC236}">
                <a16:creationId xmlns:a16="http://schemas.microsoft.com/office/drawing/2014/main" id="{DD649E37-DA14-4DA5-ED57-AA60FAE07C6D}"/>
              </a:ext>
            </a:extLst>
          </p:cNvPr>
          <p:cNvSpPr txBox="1"/>
          <p:nvPr/>
        </p:nvSpPr>
        <p:spPr>
          <a:xfrm>
            <a:off x="457200" y="2163397"/>
            <a:ext cx="1375742" cy="276999"/>
          </a:xfrm>
          <a:prstGeom prst="rect">
            <a:avLst/>
          </a:prstGeom>
          <a:noFill/>
        </p:spPr>
        <p:txBody>
          <a:bodyPr wrap="square" rtlCol="0">
            <a:spAutoFit/>
          </a:bodyPr>
          <a:lstStyle/>
          <a:p>
            <a:r>
              <a:rPr lang="en-US" sz="1200">
                <a:solidFill>
                  <a:schemeClr val="accent4">
                    <a:lumMod val="75000"/>
                  </a:schemeClr>
                </a:solidFill>
              </a:rPr>
              <a:t>Ring Oscillator</a:t>
            </a:r>
          </a:p>
        </p:txBody>
      </p:sp>
      <p:sp>
        <p:nvSpPr>
          <p:cNvPr id="33" name="TextBox 32">
            <a:extLst>
              <a:ext uri="{FF2B5EF4-FFF2-40B4-BE49-F238E27FC236}">
                <a16:creationId xmlns:a16="http://schemas.microsoft.com/office/drawing/2014/main" id="{C7FAA10D-CEE8-1B15-BC8F-DB04C46EBF04}"/>
              </a:ext>
            </a:extLst>
          </p:cNvPr>
          <p:cNvSpPr txBox="1"/>
          <p:nvPr/>
        </p:nvSpPr>
        <p:spPr>
          <a:xfrm>
            <a:off x="1754011" y="2157535"/>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35" name="TextBox 34">
            <a:extLst>
              <a:ext uri="{FF2B5EF4-FFF2-40B4-BE49-F238E27FC236}">
                <a16:creationId xmlns:a16="http://schemas.microsoft.com/office/drawing/2014/main" id="{F3A51077-287C-43B8-B377-4411FBEC8416}"/>
              </a:ext>
            </a:extLst>
          </p:cNvPr>
          <p:cNvSpPr txBox="1"/>
          <p:nvPr/>
        </p:nvSpPr>
        <p:spPr>
          <a:xfrm>
            <a:off x="3514806" y="2730702"/>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37" name="TextBox 36">
            <a:extLst>
              <a:ext uri="{FF2B5EF4-FFF2-40B4-BE49-F238E27FC236}">
                <a16:creationId xmlns:a16="http://schemas.microsoft.com/office/drawing/2014/main" id="{732C910E-86F4-024E-191F-0B57B86B06EF}"/>
              </a:ext>
            </a:extLst>
          </p:cNvPr>
          <p:cNvSpPr txBox="1"/>
          <p:nvPr/>
        </p:nvSpPr>
        <p:spPr>
          <a:xfrm>
            <a:off x="6096000" y="2041054"/>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38" name="TextBox 37">
            <a:extLst>
              <a:ext uri="{FF2B5EF4-FFF2-40B4-BE49-F238E27FC236}">
                <a16:creationId xmlns:a16="http://schemas.microsoft.com/office/drawing/2014/main" id="{B1A39B86-DCB3-429F-8978-0D76CDC77265}"/>
              </a:ext>
            </a:extLst>
          </p:cNvPr>
          <p:cNvSpPr txBox="1"/>
          <p:nvPr/>
        </p:nvSpPr>
        <p:spPr>
          <a:xfrm>
            <a:off x="2186594" y="2776870"/>
            <a:ext cx="1098892" cy="276999"/>
          </a:xfrm>
          <a:prstGeom prst="rect">
            <a:avLst/>
          </a:prstGeom>
          <a:noFill/>
        </p:spPr>
        <p:txBody>
          <a:bodyPr wrap="square" rtlCol="0">
            <a:spAutoFit/>
          </a:bodyPr>
          <a:lstStyle/>
          <a:p>
            <a:pPr algn="ctr"/>
            <a:r>
              <a:rPr lang="en-US" sz="1200">
                <a:solidFill>
                  <a:schemeClr val="accent4">
                    <a:lumMod val="75000"/>
                  </a:schemeClr>
                </a:solidFill>
              </a:rPr>
              <a:t>N/P LNR</a:t>
            </a:r>
          </a:p>
        </p:txBody>
      </p:sp>
      <p:sp>
        <p:nvSpPr>
          <p:cNvPr id="39" name="TextBox 38">
            <a:extLst>
              <a:ext uri="{FF2B5EF4-FFF2-40B4-BE49-F238E27FC236}">
                <a16:creationId xmlns:a16="http://schemas.microsoft.com/office/drawing/2014/main" id="{51208B17-6188-106D-466D-D7B9E6BF0B93}"/>
              </a:ext>
            </a:extLst>
          </p:cNvPr>
          <p:cNvSpPr txBox="1"/>
          <p:nvPr/>
        </p:nvSpPr>
        <p:spPr>
          <a:xfrm>
            <a:off x="2868011" y="2151673"/>
            <a:ext cx="905418" cy="276999"/>
          </a:xfrm>
          <a:prstGeom prst="rect">
            <a:avLst/>
          </a:prstGeom>
          <a:noFill/>
        </p:spPr>
        <p:txBody>
          <a:bodyPr wrap="square" rtlCol="0">
            <a:spAutoFit/>
          </a:bodyPr>
          <a:lstStyle/>
          <a:p>
            <a:r>
              <a:rPr lang="en-US" sz="1200">
                <a:solidFill>
                  <a:schemeClr val="accent4">
                    <a:lumMod val="75000"/>
                  </a:schemeClr>
                </a:solidFill>
              </a:rPr>
              <a:t>N/P Legs</a:t>
            </a:r>
          </a:p>
        </p:txBody>
      </p:sp>
      <p:sp>
        <p:nvSpPr>
          <p:cNvPr id="41" name="TextBox 40">
            <a:extLst>
              <a:ext uri="{FF2B5EF4-FFF2-40B4-BE49-F238E27FC236}">
                <a16:creationId xmlns:a16="http://schemas.microsoft.com/office/drawing/2014/main" id="{45779138-527F-9BA8-151D-6AD6CEB4C5F0}"/>
              </a:ext>
            </a:extLst>
          </p:cNvPr>
          <p:cNvSpPr txBox="1"/>
          <p:nvPr/>
        </p:nvSpPr>
        <p:spPr>
          <a:xfrm>
            <a:off x="4922538" y="2730703"/>
            <a:ext cx="1202018" cy="276999"/>
          </a:xfrm>
          <a:prstGeom prst="rect">
            <a:avLst/>
          </a:prstGeom>
          <a:noFill/>
        </p:spPr>
        <p:txBody>
          <a:bodyPr wrap="square" rtlCol="0">
            <a:spAutoFit/>
          </a:bodyPr>
          <a:lstStyle/>
          <a:p>
            <a:r>
              <a:rPr lang="en-US" sz="1200">
                <a:solidFill>
                  <a:schemeClr val="accent4">
                    <a:lumMod val="75000"/>
                  </a:schemeClr>
                </a:solidFill>
              </a:rPr>
              <a:t>#Stages</a:t>
            </a:r>
          </a:p>
        </p:txBody>
      </p:sp>
      <p:sp>
        <p:nvSpPr>
          <p:cNvPr id="42" name="TextBox 41">
            <a:extLst>
              <a:ext uri="{FF2B5EF4-FFF2-40B4-BE49-F238E27FC236}">
                <a16:creationId xmlns:a16="http://schemas.microsoft.com/office/drawing/2014/main" id="{49A72A85-18C1-8BA6-0F5E-7321D4BB1DDB}"/>
              </a:ext>
            </a:extLst>
          </p:cNvPr>
          <p:cNvSpPr txBox="1"/>
          <p:nvPr/>
        </p:nvSpPr>
        <p:spPr>
          <a:xfrm>
            <a:off x="7975996" y="2776870"/>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43" name="TextBox 42">
            <a:extLst>
              <a:ext uri="{FF2B5EF4-FFF2-40B4-BE49-F238E27FC236}">
                <a16:creationId xmlns:a16="http://schemas.microsoft.com/office/drawing/2014/main" id="{3F66562D-66D8-E5A3-03F7-81B2F3E26B27}"/>
              </a:ext>
            </a:extLst>
          </p:cNvPr>
          <p:cNvSpPr txBox="1"/>
          <p:nvPr/>
        </p:nvSpPr>
        <p:spPr>
          <a:xfrm>
            <a:off x="8754762" y="212811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44" name="TextBox 43">
            <a:extLst>
              <a:ext uri="{FF2B5EF4-FFF2-40B4-BE49-F238E27FC236}">
                <a16:creationId xmlns:a16="http://schemas.microsoft.com/office/drawing/2014/main" id="{71F33712-9E6A-93AB-BF4F-85536DB3897B}"/>
              </a:ext>
            </a:extLst>
          </p:cNvPr>
          <p:cNvSpPr txBox="1"/>
          <p:nvPr/>
        </p:nvSpPr>
        <p:spPr>
          <a:xfrm>
            <a:off x="7269463" y="2776870"/>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45" name="TextBox 44">
            <a:extLst>
              <a:ext uri="{FF2B5EF4-FFF2-40B4-BE49-F238E27FC236}">
                <a16:creationId xmlns:a16="http://schemas.microsoft.com/office/drawing/2014/main" id="{0A4A3266-7D17-A7A0-3D19-9B07E04A6F37}"/>
              </a:ext>
            </a:extLst>
          </p:cNvPr>
          <p:cNvSpPr txBox="1"/>
          <p:nvPr/>
        </p:nvSpPr>
        <p:spPr>
          <a:xfrm>
            <a:off x="5869891" y="2776870"/>
            <a:ext cx="990596" cy="276999"/>
          </a:xfrm>
          <a:prstGeom prst="rect">
            <a:avLst/>
          </a:prstGeom>
          <a:noFill/>
        </p:spPr>
        <p:txBody>
          <a:bodyPr wrap="square" rtlCol="0">
            <a:spAutoFit/>
          </a:bodyPr>
          <a:lstStyle/>
          <a:p>
            <a:r>
              <a:rPr lang="en-US" sz="1200">
                <a:solidFill>
                  <a:schemeClr val="accent4">
                    <a:lumMod val="75000"/>
                  </a:schemeClr>
                </a:solidFill>
              </a:rPr>
              <a:t>Fan Out</a:t>
            </a:r>
          </a:p>
        </p:txBody>
      </p:sp>
      <p:sp>
        <p:nvSpPr>
          <p:cNvPr id="5" name="TextBox 4">
            <a:extLst>
              <a:ext uri="{FF2B5EF4-FFF2-40B4-BE49-F238E27FC236}">
                <a16:creationId xmlns:a16="http://schemas.microsoft.com/office/drawing/2014/main" id="{94BA1E06-0CD7-B1FE-22B9-7F949B3EC258}"/>
              </a:ext>
            </a:extLst>
          </p:cNvPr>
          <p:cNvSpPr txBox="1"/>
          <p:nvPr/>
        </p:nvSpPr>
        <p:spPr>
          <a:xfrm>
            <a:off x="4216004" y="2059339"/>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7" name="TextBox 6">
            <a:extLst>
              <a:ext uri="{FF2B5EF4-FFF2-40B4-BE49-F238E27FC236}">
                <a16:creationId xmlns:a16="http://schemas.microsoft.com/office/drawing/2014/main" id="{4E8249A0-7903-FE26-24E5-E1F4064E3B97}"/>
              </a:ext>
            </a:extLst>
          </p:cNvPr>
          <p:cNvSpPr txBox="1"/>
          <p:nvPr/>
        </p:nvSpPr>
        <p:spPr>
          <a:xfrm>
            <a:off x="457200" y="3187028"/>
            <a:ext cx="8055061"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100">
                <a:solidFill>
                  <a:schemeClr val="accent4">
                    <a:lumMod val="75000"/>
                  </a:schemeClr>
                </a:solidFill>
              </a:rPr>
              <a:t>ROS PFT and ROS follow style convention right after legs in place of environment for CMOS PFT consistency</a:t>
            </a:r>
          </a:p>
          <a:p>
            <a:r>
              <a:rPr lang="en-US" sz="1100">
                <a:solidFill>
                  <a:schemeClr val="accent4">
                    <a:lumMod val="75000"/>
                  </a:schemeClr>
                </a:solidFill>
              </a:rPr>
              <a:t>Stages is replaced with Nesting, Fan out is replaced with Isolation in ROSPFT</a:t>
            </a:r>
          </a:p>
        </p:txBody>
      </p:sp>
    </p:spTree>
    <p:extLst>
      <p:ext uri="{BB962C8B-B14F-4D97-AF65-F5344CB8AC3E}">
        <p14:creationId xmlns:p14="http://schemas.microsoft.com/office/powerpoint/2010/main" val="310638247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2D4B7A-11D9-F024-1E71-B759B0DC0220}"/>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3" name="TextBox 2">
            <a:extLst>
              <a:ext uri="{FF2B5EF4-FFF2-40B4-BE49-F238E27FC236}">
                <a16:creationId xmlns:a16="http://schemas.microsoft.com/office/drawing/2014/main" id="{9F06D108-61FF-D3BE-C81C-4CCA29A8BFBA}"/>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ROS PFT</a:t>
            </a:r>
          </a:p>
        </p:txBody>
      </p:sp>
      <p:sp>
        <p:nvSpPr>
          <p:cNvPr id="48" name="TextBox 47">
            <a:extLst>
              <a:ext uri="{FF2B5EF4-FFF2-40B4-BE49-F238E27FC236}">
                <a16:creationId xmlns:a16="http://schemas.microsoft.com/office/drawing/2014/main" id="{77CB289A-9C52-27F8-5046-1175446695F5}"/>
              </a:ext>
            </a:extLst>
          </p:cNvPr>
          <p:cNvSpPr txBox="1"/>
          <p:nvPr/>
        </p:nvSpPr>
        <p:spPr>
          <a:xfrm>
            <a:off x="457200" y="1267777"/>
            <a:ext cx="11438964" cy="4062651"/>
          </a:xfrm>
          <a:prstGeom prst="rect">
            <a:avLst/>
          </a:prstGeom>
          <a:noFill/>
        </p:spPr>
        <p:txBody>
          <a:bodyPr wrap="square" lIns="91440" tIns="45720" rIns="91440" bIns="45720" anchor="t">
            <a:spAutoFit/>
          </a:bodyPr>
          <a:lstStyle/>
          <a:p>
            <a:r>
              <a:rPr lang="en-US" sz="1200">
                <a:solidFill>
                  <a:schemeClr val="accent2">
                    <a:lumMod val="75000"/>
                  </a:schemeClr>
                </a:solidFill>
                <a:latin typeface="IntelOne Display Regular"/>
              </a:rPr>
              <a:t>TESTNAME_CATEGORYCELLHEIGHT-DIFF-LEGS-VT-Style-FTI-ISO-LayoutHeight-</a:t>
            </a:r>
            <a:r>
              <a:rPr lang="en-US" sz="1200" b="1">
                <a:solidFill>
                  <a:srgbClr val="C00000"/>
                </a:solidFill>
                <a:highlight>
                  <a:srgbClr val="FFFF00"/>
                </a:highlight>
                <a:latin typeface="IntelOne Display Regular"/>
              </a:rPr>
              <a:t>Type:NOM|Type:Skew-</a:t>
            </a:r>
            <a:r>
              <a:rPr lang="en-US" sz="1200">
                <a:solidFill>
                  <a:schemeClr val="accent2">
                    <a:lumMod val="75000"/>
                  </a:schemeClr>
                </a:solidFill>
                <a:latin typeface="IntelOne Display Regular"/>
              </a:rPr>
              <a:t>(Routing)-</a:t>
            </a:r>
            <a:r>
              <a:rPr lang="en-US" sz="1200" err="1">
                <a:solidFill>
                  <a:schemeClr val="accent2">
                    <a:lumMod val="75000"/>
                  </a:schemeClr>
                </a:solidFill>
                <a:latin typeface="IntelOne Display Regular"/>
              </a:rPr>
              <a:t>Additional_TCxx_Count</a:t>
            </a:r>
            <a:endParaRPr lang="en-US" sz="1400">
              <a:solidFill>
                <a:schemeClr val="accent2">
                  <a:lumMod val="75000"/>
                </a:schemeClr>
              </a:solidFill>
              <a:latin typeface="IntelOne Display Regular"/>
            </a:endParaRPr>
          </a:p>
          <a:p>
            <a:endParaRPr lang="en-US" sz="1600"/>
          </a:p>
          <a:p>
            <a:r>
              <a:rPr lang="en-US" sz="1600"/>
              <a:t>Inline Structure Example</a:t>
            </a:r>
          </a:p>
          <a:p>
            <a:endParaRPr lang="en-US" sz="1400"/>
          </a:p>
          <a:p>
            <a:endParaRPr lang="en-US" sz="1400"/>
          </a:p>
          <a:p>
            <a:r>
              <a:rPr lang="en-US" sz="2400"/>
              <a:t>ROSN132-Z3-2L-</a:t>
            </a:r>
            <a:r>
              <a:rPr lang="en-US" sz="2400" b="1">
                <a:solidFill>
                  <a:srgbClr val="C00000"/>
                </a:solidFill>
                <a:highlight>
                  <a:srgbClr val="FFFF00"/>
                </a:highlight>
              </a:rPr>
              <a:t>E</a:t>
            </a:r>
            <a:r>
              <a:rPr lang="en-US" sz="2400"/>
              <a:t>-NAN-1X1-IXI-SH</a:t>
            </a:r>
            <a:r>
              <a:rPr lang="en-US" sz="2400" b="1">
                <a:solidFill>
                  <a:srgbClr val="C00000"/>
                </a:solidFill>
                <a:highlight>
                  <a:srgbClr val="FFFF00"/>
                </a:highlight>
              </a:rPr>
              <a:t>-A:NOM</a:t>
            </a:r>
            <a:r>
              <a:rPr lang="en-US" sz="2400"/>
              <a:t>-M1-WAC-6X_TCxx_y</a:t>
            </a:r>
          </a:p>
          <a:p>
            <a:endParaRPr lang="en-US" sz="3200"/>
          </a:p>
          <a:p>
            <a:endParaRPr lang="en-US" sz="3200"/>
          </a:p>
          <a:p>
            <a:endParaRPr lang="en-US"/>
          </a:p>
          <a:p>
            <a:r>
              <a:rPr lang="en-US"/>
              <a:t>EOL Structure Example</a:t>
            </a:r>
            <a:endParaRPr lang="en-US" sz="1600"/>
          </a:p>
          <a:p>
            <a:endParaRPr lang="en-US" sz="1600"/>
          </a:p>
          <a:p>
            <a:endParaRPr lang="en-US" sz="1600"/>
          </a:p>
          <a:p>
            <a:r>
              <a:rPr lang="en-US" sz="2800"/>
              <a:t>ROSP132-Z3-2L-</a:t>
            </a:r>
            <a:r>
              <a:rPr lang="en-US" sz="2800" b="1">
                <a:solidFill>
                  <a:srgbClr val="C00000"/>
                </a:solidFill>
                <a:highlight>
                  <a:srgbClr val="FFFF00"/>
                </a:highlight>
              </a:rPr>
              <a:t>S</a:t>
            </a:r>
            <a:r>
              <a:rPr lang="en-US" sz="2800"/>
              <a:t>-AOI-10X10-IXI-SH-M2-STK-16X_TCxx_y</a:t>
            </a:r>
          </a:p>
        </p:txBody>
      </p:sp>
      <p:sp>
        <p:nvSpPr>
          <p:cNvPr id="50" name="TextBox 49">
            <a:extLst>
              <a:ext uri="{FF2B5EF4-FFF2-40B4-BE49-F238E27FC236}">
                <a16:creationId xmlns:a16="http://schemas.microsoft.com/office/drawing/2014/main" id="{148DE924-162F-904D-EBF8-72D675DACFAE}"/>
              </a:ext>
            </a:extLst>
          </p:cNvPr>
          <p:cNvSpPr txBox="1"/>
          <p:nvPr/>
        </p:nvSpPr>
        <p:spPr>
          <a:xfrm>
            <a:off x="897855" y="2766349"/>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1" name="TextBox 50">
            <a:extLst>
              <a:ext uri="{FF2B5EF4-FFF2-40B4-BE49-F238E27FC236}">
                <a16:creationId xmlns:a16="http://schemas.microsoft.com/office/drawing/2014/main" id="{FC34CFB3-BE35-62E8-534E-5F798285CC39}"/>
              </a:ext>
            </a:extLst>
          </p:cNvPr>
          <p:cNvSpPr txBox="1"/>
          <p:nvPr/>
        </p:nvSpPr>
        <p:spPr>
          <a:xfrm>
            <a:off x="457200" y="2065201"/>
            <a:ext cx="1013552" cy="461665"/>
          </a:xfrm>
          <a:prstGeom prst="rect">
            <a:avLst/>
          </a:prstGeom>
          <a:noFill/>
        </p:spPr>
        <p:txBody>
          <a:bodyPr wrap="square" rtlCol="0">
            <a:spAutoFit/>
          </a:bodyPr>
          <a:lstStyle/>
          <a:p>
            <a:pPr algn="ctr"/>
            <a:r>
              <a:rPr lang="en-US" sz="1200">
                <a:solidFill>
                  <a:schemeClr val="accent4">
                    <a:lumMod val="75000"/>
                  </a:schemeClr>
                </a:solidFill>
              </a:rPr>
              <a:t>ROS-env. PFT</a:t>
            </a:r>
          </a:p>
        </p:txBody>
      </p:sp>
      <p:sp>
        <p:nvSpPr>
          <p:cNvPr id="53" name="TextBox 52">
            <a:extLst>
              <a:ext uri="{FF2B5EF4-FFF2-40B4-BE49-F238E27FC236}">
                <a16:creationId xmlns:a16="http://schemas.microsoft.com/office/drawing/2014/main" id="{7BCBC91D-94D6-7557-6416-3A894DC9B33E}"/>
              </a:ext>
            </a:extLst>
          </p:cNvPr>
          <p:cNvSpPr txBox="1"/>
          <p:nvPr/>
        </p:nvSpPr>
        <p:spPr>
          <a:xfrm>
            <a:off x="1294347" y="2157535"/>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54" name="TextBox 53">
            <a:extLst>
              <a:ext uri="{FF2B5EF4-FFF2-40B4-BE49-F238E27FC236}">
                <a16:creationId xmlns:a16="http://schemas.microsoft.com/office/drawing/2014/main" id="{967582D2-5CCF-BA59-FA2C-F50E87035CF6}"/>
              </a:ext>
            </a:extLst>
          </p:cNvPr>
          <p:cNvSpPr txBox="1"/>
          <p:nvPr/>
        </p:nvSpPr>
        <p:spPr>
          <a:xfrm>
            <a:off x="4670080" y="2780456"/>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55" name="TextBox 54">
            <a:extLst>
              <a:ext uri="{FF2B5EF4-FFF2-40B4-BE49-F238E27FC236}">
                <a16:creationId xmlns:a16="http://schemas.microsoft.com/office/drawing/2014/main" id="{2655B3F9-7D15-3CA9-939B-993359B67AA3}"/>
              </a:ext>
            </a:extLst>
          </p:cNvPr>
          <p:cNvSpPr txBox="1"/>
          <p:nvPr/>
        </p:nvSpPr>
        <p:spPr>
          <a:xfrm>
            <a:off x="3043550" y="2157533"/>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56" name="TextBox 55">
            <a:extLst>
              <a:ext uri="{FF2B5EF4-FFF2-40B4-BE49-F238E27FC236}">
                <a16:creationId xmlns:a16="http://schemas.microsoft.com/office/drawing/2014/main" id="{C3344105-E343-587C-8FE2-E63A7F109FC4}"/>
              </a:ext>
            </a:extLst>
          </p:cNvPr>
          <p:cNvSpPr txBox="1"/>
          <p:nvPr/>
        </p:nvSpPr>
        <p:spPr>
          <a:xfrm>
            <a:off x="7458635" y="2705118"/>
            <a:ext cx="1713425" cy="646331"/>
          </a:xfrm>
          <a:prstGeom prst="rect">
            <a:avLst/>
          </a:prstGeom>
          <a:noFill/>
        </p:spPr>
        <p:txBody>
          <a:bodyPr wrap="square" rtlCol="0">
            <a:spAutoFit/>
          </a:bodyPr>
          <a:lstStyle/>
          <a:p>
            <a:pPr algn="ctr"/>
            <a:r>
              <a:rPr lang="en-US" sz="1200">
                <a:solidFill>
                  <a:schemeClr val="accent4">
                    <a:lumMod val="75000"/>
                  </a:schemeClr>
                </a:solidFill>
              </a:rPr>
              <a:t>Additional WAC/Instance Information</a:t>
            </a:r>
          </a:p>
        </p:txBody>
      </p:sp>
      <p:sp>
        <p:nvSpPr>
          <p:cNvPr id="57" name="TextBox 56">
            <a:extLst>
              <a:ext uri="{FF2B5EF4-FFF2-40B4-BE49-F238E27FC236}">
                <a16:creationId xmlns:a16="http://schemas.microsoft.com/office/drawing/2014/main" id="{1F462EB9-E3D4-2D60-0E4C-79320725EDFA}"/>
              </a:ext>
            </a:extLst>
          </p:cNvPr>
          <p:cNvSpPr txBox="1"/>
          <p:nvPr/>
        </p:nvSpPr>
        <p:spPr>
          <a:xfrm>
            <a:off x="5397642" y="2776870"/>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59" name="TextBox 58">
            <a:extLst>
              <a:ext uri="{FF2B5EF4-FFF2-40B4-BE49-F238E27FC236}">
                <a16:creationId xmlns:a16="http://schemas.microsoft.com/office/drawing/2014/main" id="{89EE97AD-4AB0-05C8-8DEE-59A187008836}"/>
              </a:ext>
            </a:extLst>
          </p:cNvPr>
          <p:cNvSpPr txBox="1"/>
          <p:nvPr/>
        </p:nvSpPr>
        <p:spPr>
          <a:xfrm>
            <a:off x="1774166" y="2776870"/>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60" name="TextBox 59">
            <a:extLst>
              <a:ext uri="{FF2B5EF4-FFF2-40B4-BE49-F238E27FC236}">
                <a16:creationId xmlns:a16="http://schemas.microsoft.com/office/drawing/2014/main" id="{9FCE981E-14E1-88BB-0CF0-1F97008A2A5F}"/>
              </a:ext>
            </a:extLst>
          </p:cNvPr>
          <p:cNvSpPr txBox="1"/>
          <p:nvPr/>
        </p:nvSpPr>
        <p:spPr>
          <a:xfrm>
            <a:off x="2563184" y="2780921"/>
            <a:ext cx="619747"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62" name="TextBox 61">
            <a:extLst>
              <a:ext uri="{FF2B5EF4-FFF2-40B4-BE49-F238E27FC236}">
                <a16:creationId xmlns:a16="http://schemas.microsoft.com/office/drawing/2014/main" id="{0DCDC2EE-894A-9B6C-EC6B-E5F1D2D897C0}"/>
              </a:ext>
            </a:extLst>
          </p:cNvPr>
          <p:cNvSpPr txBox="1"/>
          <p:nvPr/>
        </p:nvSpPr>
        <p:spPr>
          <a:xfrm>
            <a:off x="5160164" y="2157533"/>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63" name="TextBox 62">
            <a:extLst>
              <a:ext uri="{FF2B5EF4-FFF2-40B4-BE49-F238E27FC236}">
                <a16:creationId xmlns:a16="http://schemas.microsoft.com/office/drawing/2014/main" id="{19BAF659-F72C-980E-9212-8C330CB75626}"/>
              </a:ext>
            </a:extLst>
          </p:cNvPr>
          <p:cNvSpPr txBox="1"/>
          <p:nvPr/>
        </p:nvSpPr>
        <p:spPr>
          <a:xfrm>
            <a:off x="3602633" y="2080069"/>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64" name="TextBox 63">
            <a:extLst>
              <a:ext uri="{FF2B5EF4-FFF2-40B4-BE49-F238E27FC236}">
                <a16:creationId xmlns:a16="http://schemas.microsoft.com/office/drawing/2014/main" id="{5A903F32-1708-5468-1F9D-AEF589BA3A41}"/>
              </a:ext>
            </a:extLst>
          </p:cNvPr>
          <p:cNvSpPr txBox="1"/>
          <p:nvPr/>
        </p:nvSpPr>
        <p:spPr>
          <a:xfrm>
            <a:off x="7990742" y="2157532"/>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65" name="TextBox 64">
            <a:extLst>
              <a:ext uri="{FF2B5EF4-FFF2-40B4-BE49-F238E27FC236}">
                <a16:creationId xmlns:a16="http://schemas.microsoft.com/office/drawing/2014/main" id="{EBB02B8B-BDBA-D688-DEE2-2BC5EED98EF2}"/>
              </a:ext>
            </a:extLst>
          </p:cNvPr>
          <p:cNvSpPr txBox="1"/>
          <p:nvPr/>
        </p:nvSpPr>
        <p:spPr>
          <a:xfrm>
            <a:off x="8886707" y="2814372"/>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66" name="TextBox 65">
            <a:extLst>
              <a:ext uri="{FF2B5EF4-FFF2-40B4-BE49-F238E27FC236}">
                <a16:creationId xmlns:a16="http://schemas.microsoft.com/office/drawing/2014/main" id="{46BC9472-D1BC-A7C7-F397-9D2327009540}"/>
              </a:ext>
            </a:extLst>
          </p:cNvPr>
          <p:cNvSpPr txBox="1"/>
          <p:nvPr/>
        </p:nvSpPr>
        <p:spPr>
          <a:xfrm>
            <a:off x="6421605" y="2157535"/>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67" name="TextBox 66">
            <a:extLst>
              <a:ext uri="{FF2B5EF4-FFF2-40B4-BE49-F238E27FC236}">
                <a16:creationId xmlns:a16="http://schemas.microsoft.com/office/drawing/2014/main" id="{67713758-504C-A824-37E6-D44BC1E5519D}"/>
              </a:ext>
            </a:extLst>
          </p:cNvPr>
          <p:cNvSpPr txBox="1"/>
          <p:nvPr/>
        </p:nvSpPr>
        <p:spPr>
          <a:xfrm>
            <a:off x="344035" y="3437761"/>
            <a:ext cx="9535192" cy="646331"/>
          </a:xfrm>
          <a:prstGeom prst="rect">
            <a:avLst/>
          </a:prstGeom>
          <a:noFill/>
        </p:spPr>
        <p:txBody>
          <a:bodyPr wrap="square" rtlCol="0">
            <a:spAutoFit/>
          </a:bodyPr>
          <a:lstStyle/>
          <a:p>
            <a:r>
              <a:rPr lang="en-US" sz="1200">
                <a:solidFill>
                  <a:schemeClr val="accent4">
                    <a:lumMod val="75000"/>
                  </a:schemeClr>
                </a:solidFill>
              </a:rPr>
              <a:t>Precedes with M – Matching Pair PFT </a:t>
            </a:r>
            <a:r>
              <a:rPr lang="en-US" sz="1200" b="1">
                <a:solidFill>
                  <a:srgbClr val="C00000"/>
                </a:solidFill>
                <a:highlight>
                  <a:srgbClr val="FFFF00"/>
                </a:highlight>
              </a:rPr>
              <a:t>(MNS/MPS);</a:t>
            </a:r>
            <a:r>
              <a:rPr lang="en-US" sz="1200">
                <a:solidFill>
                  <a:schemeClr val="accent4">
                    <a:lumMod val="75000"/>
                  </a:schemeClr>
                </a:solidFill>
              </a:rPr>
              <a:t> </a:t>
            </a:r>
            <a:r>
              <a:rPr lang="en-US" sz="1200" b="1">
                <a:solidFill>
                  <a:srgbClr val="C00000"/>
                </a:solidFill>
                <a:highlight>
                  <a:srgbClr val="FFFF00"/>
                </a:highlight>
              </a:rPr>
              <a:t>pair</a:t>
            </a:r>
            <a:r>
              <a:rPr lang="en-US" sz="1200">
                <a:solidFill>
                  <a:schemeClr val="accent4">
                    <a:lumMod val="75000"/>
                  </a:schemeClr>
                </a:solidFill>
              </a:rPr>
              <a:t> </a:t>
            </a:r>
            <a:r>
              <a:rPr lang="en-US" sz="1200" b="1">
                <a:solidFill>
                  <a:srgbClr val="C00000"/>
                </a:solidFill>
                <a:highlight>
                  <a:srgbClr val="FFFF00"/>
                </a:highlight>
              </a:rPr>
              <a:t>given</a:t>
            </a:r>
            <a:r>
              <a:rPr lang="en-US" sz="1200">
                <a:solidFill>
                  <a:schemeClr val="accent4">
                    <a:lumMod val="75000"/>
                  </a:schemeClr>
                </a:solidFill>
              </a:rPr>
              <a:t> in </a:t>
            </a:r>
            <a:r>
              <a:rPr lang="en-US" sz="1200" b="1">
                <a:solidFill>
                  <a:srgbClr val="C00000"/>
                </a:solidFill>
                <a:highlight>
                  <a:srgbClr val="FFFF00"/>
                </a:highlight>
              </a:rPr>
              <a:t>environment</a:t>
            </a:r>
            <a:r>
              <a:rPr lang="en-US" sz="1200">
                <a:solidFill>
                  <a:schemeClr val="accent4">
                    <a:lumMod val="75000"/>
                  </a:schemeClr>
                </a:solidFill>
              </a:rPr>
              <a:t> </a:t>
            </a:r>
            <a:r>
              <a:rPr lang="en-US" sz="1200" b="1">
                <a:solidFill>
                  <a:srgbClr val="C00000"/>
                </a:solidFill>
                <a:highlight>
                  <a:srgbClr val="FFFF00"/>
                </a:highlight>
              </a:rPr>
              <a:t>as CMOS/NP or CMOS/PP</a:t>
            </a:r>
          </a:p>
          <a:p>
            <a:r>
              <a:rPr lang="en-US" sz="1200">
                <a:solidFill>
                  <a:schemeClr val="accent4">
                    <a:lumMod val="75000"/>
                  </a:schemeClr>
                </a:solidFill>
              </a:rPr>
              <a:t>Precedes with W – Within Die </a:t>
            </a:r>
            <a:r>
              <a:rPr lang="en-US" sz="1200" b="1">
                <a:solidFill>
                  <a:srgbClr val="C00000"/>
                </a:solidFill>
                <a:highlight>
                  <a:srgbClr val="FFFF00"/>
                </a:highlight>
              </a:rPr>
              <a:t>PFTs</a:t>
            </a:r>
            <a:r>
              <a:rPr lang="en-US" sz="1200">
                <a:solidFill>
                  <a:schemeClr val="accent4">
                    <a:lumMod val="75000"/>
                  </a:schemeClr>
                </a:solidFill>
              </a:rPr>
              <a:t> </a:t>
            </a:r>
            <a:r>
              <a:rPr lang="en-US" sz="1200" b="1">
                <a:solidFill>
                  <a:srgbClr val="C00000"/>
                </a:solidFill>
                <a:highlight>
                  <a:srgbClr val="FFFF00"/>
                </a:highlight>
              </a:rPr>
              <a:t>(W</a:t>
            </a:r>
            <a:r>
              <a:rPr lang="en-US" sz="1200">
                <a:solidFill>
                  <a:schemeClr val="accent4">
                    <a:lumMod val="75000"/>
                  </a:schemeClr>
                </a:solidFill>
              </a:rPr>
              <a:t> </a:t>
            </a:r>
            <a:r>
              <a:rPr lang="en-US" sz="1200" b="1">
                <a:solidFill>
                  <a:srgbClr val="C00000"/>
                </a:solidFill>
                <a:highlight>
                  <a:srgbClr val="FFFF00"/>
                </a:highlight>
              </a:rPr>
              <a:t>prefix</a:t>
            </a:r>
            <a:r>
              <a:rPr lang="en-US" sz="1200">
                <a:solidFill>
                  <a:schemeClr val="accent4">
                    <a:lumMod val="75000"/>
                  </a:schemeClr>
                </a:solidFill>
              </a:rPr>
              <a:t> </a:t>
            </a:r>
            <a:r>
              <a:rPr lang="en-US" sz="1200" b="1">
                <a:solidFill>
                  <a:srgbClr val="C00000"/>
                </a:solidFill>
                <a:highlight>
                  <a:srgbClr val="FFFF00"/>
                </a:highlight>
              </a:rPr>
              <a:t>replaces</a:t>
            </a:r>
            <a:r>
              <a:rPr lang="en-US" sz="1200">
                <a:solidFill>
                  <a:schemeClr val="accent4">
                    <a:lumMod val="75000"/>
                  </a:schemeClr>
                </a:solidFill>
              </a:rPr>
              <a:t> </a:t>
            </a:r>
            <a:r>
              <a:rPr lang="en-US" sz="1200" b="1">
                <a:solidFill>
                  <a:srgbClr val="C00000"/>
                </a:solidFill>
                <a:highlight>
                  <a:srgbClr val="FFFF00"/>
                </a:highlight>
              </a:rPr>
              <a:t>the</a:t>
            </a:r>
            <a:r>
              <a:rPr lang="en-US" sz="1200">
                <a:solidFill>
                  <a:schemeClr val="accent4">
                    <a:lumMod val="75000"/>
                  </a:schemeClr>
                </a:solidFill>
              </a:rPr>
              <a:t> </a:t>
            </a:r>
            <a:r>
              <a:rPr lang="en-US" sz="1200" b="1">
                <a:solidFill>
                  <a:srgbClr val="C00000"/>
                </a:solidFill>
                <a:highlight>
                  <a:srgbClr val="FFFF00"/>
                </a:highlight>
              </a:rPr>
              <a:t>'-WID'</a:t>
            </a:r>
            <a:r>
              <a:rPr lang="en-US" sz="1200">
                <a:solidFill>
                  <a:schemeClr val="accent4">
                    <a:lumMod val="75000"/>
                  </a:schemeClr>
                </a:solidFill>
              </a:rPr>
              <a:t> </a:t>
            </a:r>
            <a:r>
              <a:rPr lang="en-US" sz="1200" b="1">
                <a:solidFill>
                  <a:srgbClr val="C00000"/>
                </a:solidFill>
                <a:highlight>
                  <a:srgbClr val="FFFF00"/>
                </a:highlight>
              </a:rPr>
              <a:t>suffix;</a:t>
            </a:r>
            <a:r>
              <a:rPr lang="en-US" sz="1200">
                <a:solidFill>
                  <a:schemeClr val="accent4">
                    <a:lumMod val="75000"/>
                  </a:schemeClr>
                </a:solidFill>
              </a:rPr>
              <a:t> </a:t>
            </a:r>
            <a:r>
              <a:rPr lang="en-US" sz="1200" b="1">
                <a:solidFill>
                  <a:srgbClr val="C00000"/>
                </a:solidFill>
                <a:highlight>
                  <a:srgbClr val="FFFF00"/>
                </a:highlight>
              </a:rPr>
              <a:t>W</a:t>
            </a:r>
            <a:r>
              <a:rPr lang="en-US" sz="1200">
                <a:solidFill>
                  <a:schemeClr val="accent4">
                    <a:lumMod val="75000"/>
                  </a:schemeClr>
                </a:solidFill>
              </a:rPr>
              <a:t> </a:t>
            </a:r>
            <a:r>
              <a:rPr lang="en-US" sz="1200" b="1">
                <a:solidFill>
                  <a:srgbClr val="C00000"/>
                </a:solidFill>
                <a:highlight>
                  <a:srgbClr val="FFFF00"/>
                </a:highlight>
              </a:rPr>
              <a:t>before M)</a:t>
            </a:r>
          </a:p>
          <a:p>
            <a:r>
              <a:rPr lang="en-US" sz="1200">
                <a:solidFill>
                  <a:schemeClr val="accent4">
                    <a:lumMod val="75000"/>
                  </a:schemeClr>
                </a:solidFill>
              </a:rPr>
              <a:t>ROS PFT and ROS follow style convention right after legs in place of environment for CMOS PFT consistency</a:t>
            </a:r>
          </a:p>
        </p:txBody>
      </p:sp>
    </p:spTree>
    <p:extLst>
      <p:ext uri="{BB962C8B-B14F-4D97-AF65-F5344CB8AC3E}">
        <p14:creationId xmlns:p14="http://schemas.microsoft.com/office/powerpoint/2010/main" val="3152824069"/>
      </p:ext>
    </p:extLst>
  </p:cSld>
  <p:clrMapOvr>
    <a:masterClrMapping/>
  </p:clrMapOvr>
  <p:transition spd="med"/>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75962-684F-D839-6572-BB37B20DB6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212172-D432-C8DA-D709-DB583B5AE576}"/>
              </a:ext>
            </a:extLst>
          </p:cNvPr>
          <p:cNvSpPr>
            <a:spLocks noGrp="1"/>
          </p:cNvSpPr>
          <p:nvPr>
            <p:ph type="sldNum" sz="quarter" idx="2"/>
          </p:nvPr>
        </p:nvSpPr>
        <p:spPr/>
        <p:txBody>
          <a:bodyPr/>
          <a:lstStyle/>
          <a:p>
            <a:fld id="{86CB4B4D-7CA3-9044-876B-883B54F8677D}" type="slidenum">
              <a:rPr lang="en-US" smtClean="0"/>
              <a:t>11</a:t>
            </a:fld>
            <a:endParaRPr lang="en-US"/>
          </a:p>
        </p:txBody>
      </p:sp>
      <p:sp>
        <p:nvSpPr>
          <p:cNvPr id="3" name="TextBox 2">
            <a:extLst>
              <a:ext uri="{FF2B5EF4-FFF2-40B4-BE49-F238E27FC236}">
                <a16:creationId xmlns:a16="http://schemas.microsoft.com/office/drawing/2014/main" id="{B011EE30-4EEB-FC20-4586-6BD4814C8035}"/>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LLE-neutral PFT</a:t>
            </a:r>
          </a:p>
        </p:txBody>
      </p:sp>
      <p:sp>
        <p:nvSpPr>
          <p:cNvPr id="48" name="TextBox 47">
            <a:extLst>
              <a:ext uri="{FF2B5EF4-FFF2-40B4-BE49-F238E27FC236}">
                <a16:creationId xmlns:a16="http://schemas.microsoft.com/office/drawing/2014/main" id="{06D18509-6E4C-3BFF-BDE0-2AC787BC0339}"/>
              </a:ext>
            </a:extLst>
          </p:cNvPr>
          <p:cNvSpPr txBox="1"/>
          <p:nvPr/>
        </p:nvSpPr>
        <p:spPr>
          <a:xfrm>
            <a:off x="457200" y="1267777"/>
            <a:ext cx="11438964" cy="4093428"/>
          </a:xfrm>
          <a:prstGeom prst="rect">
            <a:avLst/>
          </a:prstGeom>
          <a:noFill/>
        </p:spPr>
        <p:txBody>
          <a:bodyPr wrap="square" lIns="91440" tIns="45720" rIns="91440" bIns="45720" anchor="t">
            <a:spAutoFit/>
          </a:bodyPr>
          <a:lstStyle/>
          <a:p>
            <a:r>
              <a:rPr lang="en-US" sz="1200" dirty="0">
                <a:solidFill>
                  <a:schemeClr val="accent2">
                    <a:lumMod val="75000"/>
                  </a:schemeClr>
                </a:solidFill>
                <a:latin typeface="IntelOne Display Regular"/>
              </a:rPr>
              <a:t>TESTNAME_CATEGORYCELLHEIGHT-DIFF-LEGS-VT-Environment-FTI-ISO-LayoutHeight-</a:t>
            </a:r>
            <a:r>
              <a:rPr lang="en-US" sz="1200" dirty="0" b="1">
                <a:solidFill>
                  <a:srgbClr val="C00000"/>
                </a:solidFill>
                <a:highlight>
                  <a:srgbClr val="FFFF00"/>
                </a:highlight>
                <a:latin typeface="IntelOne Display Regular"/>
              </a:rPr>
              <a:t>Type:NOM|Type:Skew</a:t>
            </a:r>
            <a:r>
              <a:rPr lang="en-US" sz="1200" dirty="0">
                <a:solidFill>
                  <a:schemeClr val="accent2">
                    <a:lumMod val="75000"/>
                  </a:schemeClr>
                </a:solidFill>
                <a:latin typeface="IntelOne Display Regular"/>
              </a:rPr>
              <a:t>-</a:t>
            </a:r>
            <a:r>
              <a:rPr lang="en-US" sz="1200" dirty="0" err="1">
                <a:solidFill>
                  <a:schemeClr val="accent2">
                    <a:lumMod val="75000"/>
                  </a:schemeClr>
                </a:solidFill>
                <a:latin typeface="IntelOne Display Regular"/>
              </a:rPr>
              <a:t>Additional_TCxx_Count</a:t>
            </a:r>
            <a:endParaRPr lang="en-US" sz="1400" dirty="0">
              <a:solidFill>
                <a:schemeClr val="accent2">
                  <a:lumMod val="75000"/>
                </a:schemeClr>
              </a:solidFill>
              <a:latin typeface="IntelOne Display Regular"/>
            </a:endParaRPr>
          </a:p>
          <a:p>
            <a:endParaRPr lang="en-US" sz="1600" dirty="0"/>
          </a:p>
          <a:p>
            <a:r>
              <a:rPr lang="en-US" sz="1600" dirty="0"/>
              <a:t>Inline Structure Example</a:t>
            </a:r>
          </a:p>
          <a:p>
            <a:endParaRPr lang="en-US" sz="1600" dirty="0"/>
          </a:p>
          <a:p>
            <a:endParaRPr lang="en-US" sz="1600" dirty="0"/>
          </a:p>
          <a:p>
            <a:r>
              <a:rPr lang="en-US" sz="3200" dirty="0"/>
              <a:t>NS132-Z5-1L-</a:t>
            </a:r>
            <a:r>
              <a:rPr lang="en-US" sz="3200" dirty="0" b="1">
                <a:solidFill>
                  <a:srgbClr val="C00000"/>
                </a:solidFill>
                <a:highlight>
                  <a:srgbClr val="FFFF00"/>
                </a:highlight>
              </a:rPr>
              <a:t>U</a:t>
            </a:r>
            <a:r>
              <a:rPr lang="en-US" sz="3200" dirty="0"/>
              <a:t>-CMOS-1X1-IXI-SH-</a:t>
            </a:r>
            <a:r>
              <a:rPr lang="en-US" sz="3200" dirty="0" b="1">
                <a:solidFill>
                  <a:srgbClr val="C00000"/>
                </a:solidFill>
                <a:highlight>
                  <a:srgbClr val="FFFF00"/>
                </a:highlight>
              </a:rPr>
              <a:t>A:</a:t>
            </a:r>
            <a:r>
              <a:rPr lang="en-US" sz="3200" dirty="0"/>
              <a:t>NOM_TCxx_y</a:t>
            </a:r>
          </a:p>
          <a:p>
            <a:endParaRPr lang="en-US" dirty="0"/>
          </a:p>
          <a:p>
            <a:endParaRPr lang="en-US" sz="3200" dirty="0"/>
          </a:p>
          <a:p>
            <a:endParaRPr lang="en-US" dirty="0"/>
          </a:p>
          <a:p>
            <a:r>
              <a:rPr lang="en-US" dirty="0"/>
              <a:t>EOL Structure Example</a:t>
            </a:r>
            <a:endParaRPr lang="en-US" sz="1600" dirty="0"/>
          </a:p>
          <a:p>
            <a:endParaRPr lang="en-US" sz="1600" dirty="0"/>
          </a:p>
          <a:p>
            <a:endParaRPr lang="en-US" sz="1600" dirty="0"/>
          </a:p>
          <a:p>
            <a:r>
              <a:rPr lang="en-US" sz="3200" dirty="0"/>
              <a:t>NS110-Z8-1L-</a:t>
            </a:r>
            <a:r>
              <a:rPr lang="en-US" sz="3200" dirty="0" b="1">
                <a:solidFill>
                  <a:srgbClr val="C00000"/>
                </a:solidFill>
                <a:highlight>
                  <a:srgbClr val="FFFF00"/>
                </a:highlight>
              </a:rPr>
              <a:t>E</a:t>
            </a:r>
            <a:r>
              <a:rPr lang="en-US" sz="3200" dirty="0"/>
              <a:t>-BCMOS-1X1-IXI-DH</a:t>
            </a:r>
            <a:r>
              <a:rPr lang="en-US" sz="3200" dirty="0" b="1">
                <a:solidFill>
                  <a:srgbClr val="C00000"/>
                </a:solidFill>
                <a:highlight>
                  <a:srgbClr val="FFFF00"/>
                </a:highlight>
              </a:rPr>
              <a:t>-A:NOM</a:t>
            </a:r>
            <a:r>
              <a:rPr lang="en-US" sz="3200" dirty="0"/>
              <a:t>_TCxx_y</a:t>
            </a:r>
          </a:p>
        </p:txBody>
      </p:sp>
      <p:sp>
        <p:nvSpPr>
          <p:cNvPr id="4" name="TextBox 3">
            <a:extLst>
              <a:ext uri="{FF2B5EF4-FFF2-40B4-BE49-F238E27FC236}">
                <a16:creationId xmlns:a16="http://schemas.microsoft.com/office/drawing/2014/main" id="{7CCAC9F9-EF1B-20B2-51B6-C3E9CF01BD21}"/>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 name="TextBox 4">
            <a:extLst>
              <a:ext uri="{FF2B5EF4-FFF2-40B4-BE49-F238E27FC236}">
                <a16:creationId xmlns:a16="http://schemas.microsoft.com/office/drawing/2014/main" id="{B221F0C5-F695-4483-D6C2-C2242F00B047}"/>
              </a:ext>
            </a:extLst>
          </p:cNvPr>
          <p:cNvSpPr txBox="1"/>
          <p:nvPr/>
        </p:nvSpPr>
        <p:spPr>
          <a:xfrm>
            <a:off x="268734" y="2174762"/>
            <a:ext cx="1202018" cy="461665"/>
          </a:xfrm>
          <a:prstGeom prst="rect">
            <a:avLst/>
          </a:prstGeom>
          <a:noFill/>
        </p:spPr>
        <p:txBody>
          <a:bodyPr wrap="square" rtlCol="0">
            <a:spAutoFit/>
          </a:bodyPr>
          <a:lstStyle/>
          <a:p>
            <a:pPr algn="ctr"/>
            <a:r>
              <a:rPr lang="en-US" sz="1200">
                <a:solidFill>
                  <a:schemeClr val="accent4">
                    <a:lumMod val="75000"/>
                  </a:schemeClr>
                </a:solidFill>
              </a:rPr>
              <a:t>LLE-neutral PFT</a:t>
            </a:r>
          </a:p>
        </p:txBody>
      </p:sp>
      <p:sp>
        <p:nvSpPr>
          <p:cNvPr id="6" name="TextBox 5">
            <a:extLst>
              <a:ext uri="{FF2B5EF4-FFF2-40B4-BE49-F238E27FC236}">
                <a16:creationId xmlns:a16="http://schemas.microsoft.com/office/drawing/2014/main" id="{2D23485D-A6FA-695F-D415-39ED63522039}"/>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1BE853DE-F1D0-1972-E70F-7A811BF42637}"/>
              </a:ext>
            </a:extLst>
          </p:cNvPr>
          <p:cNvSpPr txBox="1"/>
          <p:nvPr/>
        </p:nvSpPr>
        <p:spPr>
          <a:xfrm>
            <a:off x="5898388" y="2875908"/>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8" name="TextBox 7">
            <a:extLst>
              <a:ext uri="{FF2B5EF4-FFF2-40B4-BE49-F238E27FC236}">
                <a16:creationId xmlns:a16="http://schemas.microsoft.com/office/drawing/2014/main" id="{B2C50270-C6C4-0D5E-EA5D-4CCFD33F9D3A}"/>
              </a:ext>
            </a:extLst>
          </p:cNvPr>
          <p:cNvSpPr txBox="1"/>
          <p:nvPr/>
        </p:nvSpPr>
        <p:spPr>
          <a:xfrm>
            <a:off x="3245253" y="2875908"/>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0" name="TextBox 9">
            <a:extLst>
              <a:ext uri="{FF2B5EF4-FFF2-40B4-BE49-F238E27FC236}">
                <a16:creationId xmlns:a16="http://schemas.microsoft.com/office/drawing/2014/main" id="{F720B76E-F465-9911-D7E6-5D1C65B1D92D}"/>
              </a:ext>
            </a:extLst>
          </p:cNvPr>
          <p:cNvSpPr txBox="1"/>
          <p:nvPr/>
        </p:nvSpPr>
        <p:spPr>
          <a:xfrm>
            <a:off x="3351449" y="5460583"/>
            <a:ext cx="2876624" cy="461665"/>
          </a:xfrm>
          <a:prstGeom prst="rect">
            <a:avLst/>
          </a:prstGeom>
          <a:noFill/>
        </p:spPr>
        <p:txBody>
          <a:bodyPr wrap="square" lIns="91440" tIns="45720" rIns="91440" bIns="45720" rtlCol="0" anchor="t">
            <a:spAutoFit/>
          </a:bodyPr>
          <a:lstStyle/>
          <a:p>
            <a:pPr algn="ctr"/>
            <a:r>
              <a:rPr lang="en-US" sz="1200">
                <a:solidFill>
                  <a:schemeClr val="accent4">
                    <a:lumMod val="75000"/>
                  </a:schemeClr>
                </a:solidFill>
              </a:rPr>
              <a:t>For PW skews, follow ISO convention in additional section</a:t>
            </a:r>
            <a:endParaRPr lang="en-US">
              <a:solidFill>
                <a:schemeClr val="accent4">
                  <a:lumMod val="75000"/>
                </a:schemeClr>
              </a:solidFill>
            </a:endParaRPr>
          </a:p>
        </p:txBody>
      </p:sp>
      <p:sp>
        <p:nvSpPr>
          <p:cNvPr id="11" name="TextBox 10">
            <a:extLst>
              <a:ext uri="{FF2B5EF4-FFF2-40B4-BE49-F238E27FC236}">
                <a16:creationId xmlns:a16="http://schemas.microsoft.com/office/drawing/2014/main" id="{F0E44227-687F-A046-316A-4FA9960DBB03}"/>
              </a:ext>
            </a:extLst>
          </p:cNvPr>
          <p:cNvSpPr txBox="1"/>
          <p:nvPr/>
        </p:nvSpPr>
        <p:spPr>
          <a:xfrm>
            <a:off x="1683532" y="2267096"/>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2" name="TextBox 11">
            <a:extLst>
              <a:ext uri="{FF2B5EF4-FFF2-40B4-BE49-F238E27FC236}">
                <a16:creationId xmlns:a16="http://schemas.microsoft.com/office/drawing/2014/main" id="{9E1EA5CE-B6F0-1905-B975-1DD78EEE107C}"/>
              </a:ext>
            </a:extLst>
          </p:cNvPr>
          <p:cNvSpPr txBox="1"/>
          <p:nvPr/>
        </p:nvSpPr>
        <p:spPr>
          <a:xfrm>
            <a:off x="2589682" y="2267096"/>
            <a:ext cx="611813"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3" name="TextBox 12">
            <a:extLst>
              <a:ext uri="{FF2B5EF4-FFF2-40B4-BE49-F238E27FC236}">
                <a16:creationId xmlns:a16="http://schemas.microsoft.com/office/drawing/2014/main" id="{00F24A36-71FE-EB7F-DC1F-5AEEA90A8883}"/>
              </a:ext>
            </a:extLst>
          </p:cNvPr>
          <p:cNvSpPr txBox="1"/>
          <p:nvPr/>
        </p:nvSpPr>
        <p:spPr>
          <a:xfrm>
            <a:off x="6496182" y="2267096"/>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4" name="TextBox 13">
            <a:extLst>
              <a:ext uri="{FF2B5EF4-FFF2-40B4-BE49-F238E27FC236}">
                <a16:creationId xmlns:a16="http://schemas.microsoft.com/office/drawing/2014/main" id="{1A860DD4-24EA-4A3F-BDF2-BACDF6C6B4D4}"/>
              </a:ext>
            </a:extLst>
          </p:cNvPr>
          <p:cNvSpPr txBox="1"/>
          <p:nvPr/>
        </p:nvSpPr>
        <p:spPr>
          <a:xfrm>
            <a:off x="4541865" y="2886431"/>
            <a:ext cx="1202018" cy="276999"/>
          </a:xfrm>
          <a:prstGeom prst="rect">
            <a:avLst/>
          </a:prstGeom>
          <a:noFill/>
        </p:spPr>
        <p:txBody>
          <a:bodyPr wrap="square" rtlCol="0">
            <a:spAutoFit/>
          </a:bodyPr>
          <a:lstStyle/>
          <a:p>
            <a:r>
              <a:rPr lang="en-US" sz="1200">
                <a:solidFill>
                  <a:schemeClr val="accent4">
                    <a:lumMod val="75000"/>
                  </a:schemeClr>
                </a:solidFill>
              </a:rPr>
              <a:t>Environment</a:t>
            </a:r>
          </a:p>
        </p:txBody>
      </p:sp>
      <p:sp>
        <p:nvSpPr>
          <p:cNvPr id="15" name="TextBox 14">
            <a:extLst>
              <a:ext uri="{FF2B5EF4-FFF2-40B4-BE49-F238E27FC236}">
                <a16:creationId xmlns:a16="http://schemas.microsoft.com/office/drawing/2014/main" id="{8AF33B12-7C97-4E73-3F44-D8166D209F8E}"/>
              </a:ext>
            </a:extLst>
          </p:cNvPr>
          <p:cNvSpPr txBox="1"/>
          <p:nvPr/>
        </p:nvSpPr>
        <p:spPr>
          <a:xfrm>
            <a:off x="9189390" y="2886431"/>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6" name="TextBox 15">
            <a:extLst>
              <a:ext uri="{FF2B5EF4-FFF2-40B4-BE49-F238E27FC236}">
                <a16:creationId xmlns:a16="http://schemas.microsoft.com/office/drawing/2014/main" id="{8B396584-7E7C-B3AC-869D-0ACA18E9C8FA}"/>
              </a:ext>
            </a:extLst>
          </p:cNvPr>
          <p:cNvSpPr txBox="1"/>
          <p:nvPr/>
        </p:nvSpPr>
        <p:spPr>
          <a:xfrm>
            <a:off x="9968156" y="223767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7" name="TextBox 16">
            <a:extLst>
              <a:ext uri="{FF2B5EF4-FFF2-40B4-BE49-F238E27FC236}">
                <a16:creationId xmlns:a16="http://schemas.microsoft.com/office/drawing/2014/main" id="{A0B7B2F4-E9CB-FD58-75F2-A7FF7EC1742F}"/>
              </a:ext>
            </a:extLst>
          </p:cNvPr>
          <p:cNvSpPr txBox="1"/>
          <p:nvPr/>
        </p:nvSpPr>
        <p:spPr>
          <a:xfrm>
            <a:off x="7770230" y="2180868"/>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8" name="TextBox 17">
            <a:extLst>
              <a:ext uri="{FF2B5EF4-FFF2-40B4-BE49-F238E27FC236}">
                <a16:creationId xmlns:a16="http://schemas.microsoft.com/office/drawing/2014/main" id="{47DF93C2-CA4F-B2FE-B9B6-273F2209B7DD}"/>
              </a:ext>
            </a:extLst>
          </p:cNvPr>
          <p:cNvSpPr txBox="1"/>
          <p:nvPr/>
        </p:nvSpPr>
        <p:spPr>
          <a:xfrm>
            <a:off x="344035" y="3437761"/>
            <a:ext cx="8086733" cy="461665"/>
          </a:xfrm>
          <a:prstGeom prst="rect">
            <a:avLst/>
          </a:prstGeom>
          <a:noFill/>
        </p:spPr>
        <p:txBody>
          <a:bodyPr wrap="square" rtlCol="0">
            <a:spAutoFit/>
          </a:bodyPr>
          <a:lstStyle/>
          <a:p>
            <a:r>
              <a:rPr lang="en-US" sz="1200">
                <a:solidFill>
                  <a:schemeClr val="accent4">
                    <a:lumMod val="75000"/>
                  </a:schemeClr>
                </a:solidFill>
              </a:rPr>
              <a:t>Precedes with M – Matching Pair </a:t>
            </a:r>
            <a:r>
              <a:rPr lang="en-US" sz="1200" b="1">
                <a:solidFill>
                  <a:srgbClr val="C00000"/>
                </a:solidFill>
                <a:highlight>
                  <a:srgbClr val="FFFF00"/>
                </a:highlight>
              </a:rPr>
              <a:t>PFT</a:t>
            </a:r>
            <a:r>
              <a:rPr lang="en-US" sz="1200">
                <a:solidFill>
                  <a:schemeClr val="accent4">
                    <a:lumMod val="75000"/>
                  </a:schemeClr>
                </a:solidFill>
              </a:rPr>
              <a:t> </a:t>
            </a:r>
            <a:r>
              <a:rPr lang="en-US" sz="1200" b="1">
                <a:solidFill>
                  <a:srgbClr val="C00000"/>
                </a:solidFill>
                <a:highlight>
                  <a:srgbClr val="FFFF00"/>
                </a:highlight>
              </a:rPr>
              <a:t>(MNS/MPS);</a:t>
            </a:r>
            <a:r>
              <a:rPr lang="en-US" sz="1200">
                <a:solidFill>
                  <a:schemeClr val="accent4">
                    <a:lumMod val="75000"/>
                  </a:schemeClr>
                </a:solidFill>
              </a:rPr>
              <a:t> </a:t>
            </a:r>
            <a:r>
              <a:rPr lang="en-US" sz="1200" b="1">
                <a:solidFill>
                  <a:srgbClr val="C00000"/>
                </a:solidFill>
                <a:highlight>
                  <a:srgbClr val="FFFF00"/>
                </a:highlight>
              </a:rPr>
              <a:t>pair</a:t>
            </a:r>
            <a:r>
              <a:rPr lang="en-US" sz="1200">
                <a:solidFill>
                  <a:schemeClr val="accent4">
                    <a:lumMod val="75000"/>
                  </a:schemeClr>
                </a:solidFill>
              </a:rPr>
              <a:t> </a:t>
            </a:r>
            <a:r>
              <a:rPr lang="en-US" sz="1200" b="1">
                <a:solidFill>
                  <a:srgbClr val="C00000"/>
                </a:solidFill>
                <a:highlight>
                  <a:srgbClr val="FFFF00"/>
                </a:highlight>
              </a:rPr>
              <a:t>given</a:t>
            </a:r>
            <a:r>
              <a:rPr lang="en-US" sz="1200">
                <a:solidFill>
                  <a:schemeClr val="accent4">
                    <a:lumMod val="75000"/>
                  </a:schemeClr>
                </a:solidFill>
              </a:rPr>
              <a:t> in </a:t>
            </a:r>
            <a:r>
              <a:rPr lang="en-US" sz="1200" b="1">
                <a:solidFill>
                  <a:srgbClr val="C00000"/>
                </a:solidFill>
                <a:highlight>
                  <a:srgbClr val="FFFF00"/>
                </a:highlight>
              </a:rPr>
              <a:t>environment</a:t>
            </a:r>
            <a:r>
              <a:rPr lang="en-US" sz="1200">
                <a:solidFill>
                  <a:schemeClr val="accent4">
                    <a:lumMod val="75000"/>
                  </a:schemeClr>
                </a:solidFill>
              </a:rPr>
              <a:t> </a:t>
            </a:r>
            <a:r>
              <a:rPr lang="en-US" sz="1200" b="1">
                <a:solidFill>
                  <a:srgbClr val="C00000"/>
                </a:solidFill>
                <a:highlight>
                  <a:srgbClr val="FFFF00"/>
                </a:highlight>
              </a:rPr>
              <a:t>as CMOS/NP or CMOS/PP</a:t>
            </a:r>
          </a:p>
          <a:p>
            <a:r>
              <a:rPr lang="en-US" sz="1200">
                <a:solidFill>
                  <a:schemeClr val="accent4">
                    <a:lumMod val="75000"/>
                  </a:schemeClr>
                </a:solidFill>
              </a:rPr>
              <a:t>Precedes with W – Within Die </a:t>
            </a:r>
            <a:r>
              <a:rPr lang="en-US" sz="1200" b="1">
                <a:solidFill>
                  <a:srgbClr val="C00000"/>
                </a:solidFill>
                <a:highlight>
                  <a:srgbClr val="FFFF00"/>
                </a:highlight>
              </a:rPr>
              <a:t>PFTs</a:t>
            </a:r>
            <a:r>
              <a:rPr lang="en-US" sz="1200">
                <a:solidFill>
                  <a:schemeClr val="accent4">
                    <a:lumMod val="75000"/>
                  </a:schemeClr>
                </a:solidFill>
              </a:rPr>
              <a:t> </a:t>
            </a:r>
            <a:r>
              <a:rPr lang="en-US" sz="1200" b="1">
                <a:solidFill>
                  <a:srgbClr val="C00000"/>
                </a:solidFill>
                <a:highlight>
                  <a:srgbClr val="FFFF00"/>
                </a:highlight>
              </a:rPr>
              <a:t>(W</a:t>
            </a:r>
            <a:r>
              <a:rPr lang="en-US" sz="1200">
                <a:solidFill>
                  <a:schemeClr val="accent4">
                    <a:lumMod val="75000"/>
                  </a:schemeClr>
                </a:solidFill>
              </a:rPr>
              <a:t> </a:t>
            </a:r>
            <a:r>
              <a:rPr lang="en-US" sz="1200" b="1">
                <a:solidFill>
                  <a:srgbClr val="C00000"/>
                </a:solidFill>
                <a:highlight>
                  <a:srgbClr val="FFFF00"/>
                </a:highlight>
              </a:rPr>
              <a:t>prefix</a:t>
            </a:r>
            <a:r>
              <a:rPr lang="en-US" sz="1200">
                <a:solidFill>
                  <a:schemeClr val="accent4">
                    <a:lumMod val="75000"/>
                  </a:schemeClr>
                </a:solidFill>
              </a:rPr>
              <a:t> </a:t>
            </a:r>
            <a:r>
              <a:rPr lang="en-US" sz="1200" b="1">
                <a:solidFill>
                  <a:srgbClr val="C00000"/>
                </a:solidFill>
                <a:highlight>
                  <a:srgbClr val="FFFF00"/>
                </a:highlight>
              </a:rPr>
              <a:t>replaces</a:t>
            </a:r>
            <a:r>
              <a:rPr lang="en-US" sz="1200">
                <a:solidFill>
                  <a:schemeClr val="accent4">
                    <a:lumMod val="75000"/>
                  </a:schemeClr>
                </a:solidFill>
              </a:rPr>
              <a:t> </a:t>
            </a:r>
            <a:r>
              <a:rPr lang="en-US" sz="1200" b="1">
                <a:solidFill>
                  <a:srgbClr val="C00000"/>
                </a:solidFill>
                <a:highlight>
                  <a:srgbClr val="FFFF00"/>
                </a:highlight>
              </a:rPr>
              <a:t>the</a:t>
            </a:r>
            <a:r>
              <a:rPr lang="en-US" sz="1200">
                <a:solidFill>
                  <a:schemeClr val="accent4">
                    <a:lumMod val="75000"/>
                  </a:schemeClr>
                </a:solidFill>
              </a:rPr>
              <a:t> </a:t>
            </a:r>
            <a:r>
              <a:rPr lang="en-US" sz="1200" b="1">
                <a:solidFill>
                  <a:srgbClr val="C00000"/>
                </a:solidFill>
                <a:highlight>
                  <a:srgbClr val="FFFF00"/>
                </a:highlight>
              </a:rPr>
              <a:t>'-WID'</a:t>
            </a:r>
            <a:r>
              <a:rPr lang="en-US" sz="1200">
                <a:solidFill>
                  <a:schemeClr val="accent4">
                    <a:lumMod val="75000"/>
                  </a:schemeClr>
                </a:solidFill>
              </a:rPr>
              <a:t> </a:t>
            </a:r>
            <a:r>
              <a:rPr lang="en-US" sz="1200" b="1">
                <a:solidFill>
                  <a:srgbClr val="C00000"/>
                </a:solidFill>
                <a:highlight>
                  <a:srgbClr val="FFFF00"/>
                </a:highlight>
              </a:rPr>
              <a:t>suffix;</a:t>
            </a:r>
            <a:r>
              <a:rPr lang="en-US" sz="1200">
                <a:solidFill>
                  <a:schemeClr val="accent4">
                    <a:lumMod val="75000"/>
                  </a:schemeClr>
                </a:solidFill>
              </a:rPr>
              <a:t> </a:t>
            </a:r>
            <a:r>
              <a:rPr lang="en-US" sz="1200" b="1">
                <a:solidFill>
                  <a:srgbClr val="C00000"/>
                </a:solidFill>
                <a:highlight>
                  <a:srgbClr val="FFFF00"/>
                </a:highlight>
              </a:rPr>
              <a:t>W</a:t>
            </a:r>
            <a:r>
              <a:rPr lang="en-US" sz="1200">
                <a:solidFill>
                  <a:schemeClr val="accent4">
                    <a:lumMod val="75000"/>
                  </a:schemeClr>
                </a:solidFill>
              </a:rPr>
              <a:t> </a:t>
            </a:r>
            <a:r>
              <a:rPr lang="en-US" sz="1200" b="1">
                <a:solidFill>
                  <a:srgbClr val="C00000"/>
                </a:solidFill>
                <a:highlight>
                  <a:srgbClr val="FFFF00"/>
                </a:highlight>
              </a:rPr>
              <a:t>before M)</a:t>
            </a:r>
          </a:p>
        </p:txBody>
      </p:sp>
      <p:sp>
        <p:nvSpPr>
          <p:cNvPr id="9" name="TextBox 8">
            <a:extLst>
              <a:ext uri="{FF2B5EF4-FFF2-40B4-BE49-F238E27FC236}">
                <a16:creationId xmlns:a16="http://schemas.microsoft.com/office/drawing/2014/main" id="{071ACCAF-9C4D-3A72-26BC-FF8BDB8D37B4}"/>
              </a:ext>
            </a:extLst>
          </p:cNvPr>
          <p:cNvSpPr txBox="1"/>
          <p:nvPr/>
        </p:nvSpPr>
        <p:spPr>
          <a:xfrm>
            <a:off x="6524677" y="5311588"/>
            <a:ext cx="6096000" cy="1138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3200" b="1">
                <a:solidFill>
                  <a:srgbClr val="C00000"/>
                </a:solidFill>
                <a:highlight>
                  <a:srgbClr val="FFFF00"/>
                </a:highlight>
              </a:rPr>
              <a:t>A:</a:t>
            </a:r>
            <a:r>
              <a:rPr lang="en-US" sz="3200"/>
              <a:t>FTI</a:t>
            </a:r>
            <a:r>
              <a:rPr lang="en-US" sz="3200">
                <a:solidFill>
                  <a:schemeClr val="accent4">
                    <a:lumMod val="75000"/>
                  </a:schemeClr>
                </a:solidFill>
              </a:rPr>
              <a:t>:</a:t>
            </a:r>
            <a:r>
              <a:rPr lang="en-US" sz="3200"/>
              <a:t>PGD</a:t>
            </a:r>
            <a:r>
              <a:rPr lang="en-US" sz="3200">
                <a:solidFill>
                  <a:schemeClr val="accent4">
                    <a:lumMod val="75000"/>
                  </a:schemeClr>
                </a:solidFill>
              </a:rPr>
              <a:t>:</a:t>
            </a:r>
            <a:r>
              <a:rPr lang="en-US" sz="3200"/>
              <a:t>CD</a:t>
            </a:r>
            <a:r>
              <a:rPr lang="en-US" sz="3200">
                <a:solidFill>
                  <a:schemeClr val="accent4">
                    <a:lumMod val="75000"/>
                  </a:schemeClr>
                </a:solidFill>
              </a:rPr>
              <a:t>:</a:t>
            </a:r>
            <a:r>
              <a:rPr lang="en-US" sz="3200"/>
              <a:t>P5</a:t>
            </a:r>
            <a:endParaRPr lang="en-US"/>
          </a:p>
          <a:p>
            <a:pPr marL="0" marR="0" indent="0" algn="l"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PLY:PP:CD:45/12</a:t>
            </a:r>
          </a:p>
          <a:p>
            <a:r>
              <a:rPr lang="en-US" sz="1200" b="1">
                <a:solidFill>
                  <a:srgbClr val="C00000"/>
                </a:solidFill>
                <a:highlight>
                  <a:srgbClr val="FFFF00"/>
                </a:highlight>
              </a:rPr>
              <a:t>A:</a:t>
            </a:r>
            <a:r>
              <a:rPr lang="en-US" sz="1200"/>
              <a:t>PLY:OGD:CD:12</a:t>
            </a:r>
          </a:p>
          <a:p>
            <a:r>
              <a:rPr lang="en-US" sz="1200" b="1">
                <a:solidFill>
                  <a:srgbClr val="C00000"/>
                </a:solidFill>
                <a:highlight>
                  <a:srgbClr val="FFFF00"/>
                </a:highlight>
              </a:rPr>
              <a:t>A:</a:t>
            </a:r>
            <a:r>
              <a:rPr lang="en-US" sz="1200"/>
              <a:t>PLY:OGD:PP:45</a:t>
            </a:r>
          </a:p>
        </p:txBody>
      </p:sp>
      <p:sp>
        <p:nvSpPr>
          <p:cNvPr id="20" name="TextBox 19">
            <a:extLst>
              <a:ext uri="{FF2B5EF4-FFF2-40B4-BE49-F238E27FC236}">
                <a16:creationId xmlns:a16="http://schemas.microsoft.com/office/drawing/2014/main" id="{06B4B4AF-CCBD-23F7-B6F6-995F61D009A6}"/>
              </a:ext>
            </a:extLst>
          </p:cNvPr>
          <p:cNvSpPr txBox="1"/>
          <p:nvPr/>
        </p:nvSpPr>
        <p:spPr>
          <a:xfrm>
            <a:off x="3831506" y="4174374"/>
            <a:ext cx="198281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4">
                    <a:lumMod val="75000"/>
                  </a:schemeClr>
                </a:solidFill>
              </a:rPr>
              <a:t>BCMOS – Balanced NPN</a:t>
            </a:r>
          </a:p>
          <a:p>
            <a:r>
              <a:rPr lang="en-US" sz="1200">
                <a:solidFill>
                  <a:schemeClr val="accent4">
                    <a:lumMod val="75000"/>
                  </a:schemeClr>
                </a:solidFill>
              </a:rPr>
              <a:t>LCMOS – LNR Max</a:t>
            </a:r>
          </a:p>
          <a:p>
            <a:r>
              <a:rPr lang="en-US" sz="1200">
                <a:solidFill>
                  <a:schemeClr val="accent4">
                    <a:lumMod val="75000"/>
                  </a:schemeClr>
                </a:solidFill>
              </a:rPr>
              <a:t>OCMOS - OPH</a:t>
            </a:r>
          </a:p>
        </p:txBody>
      </p:sp>
      <p:sp>
        <p:nvSpPr>
          <p:cNvPr id="21" name="TextBox 20">
            <a:extLst>
              <a:ext uri="{FF2B5EF4-FFF2-40B4-BE49-F238E27FC236}">
                <a16:creationId xmlns:a16="http://schemas.microsoft.com/office/drawing/2014/main" id="{2D57E0B5-104A-F420-57FD-B6049781B11C}"/>
              </a:ext>
            </a:extLst>
          </p:cNvPr>
          <p:cNvSpPr txBox="1"/>
          <p:nvPr/>
        </p:nvSpPr>
        <p:spPr>
          <a:xfrm>
            <a:off x="4541865" y="5184391"/>
            <a:ext cx="1982812"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a:solidFill>
                  <a:schemeClr val="accent4">
                    <a:lumMod val="75000"/>
                  </a:schemeClr>
                </a:solidFill>
              </a:rPr>
              <a:t>Environment</a:t>
            </a:r>
          </a:p>
        </p:txBody>
      </p:sp>
    </p:spTree>
    <p:extLst>
      <p:ext uri="{BB962C8B-B14F-4D97-AF65-F5344CB8AC3E}">
        <p14:creationId xmlns:p14="http://schemas.microsoft.com/office/powerpoint/2010/main" val="2957351948"/>
      </p:ext>
    </p:extLst>
  </p:cSld>
  <p:clrMapOvr>
    <a:masterClrMapping/>
  </p:clrMapOvr>
  <p:transition spd="med"/>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27954-913E-170E-4316-1B0F9143ED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3C6A9F-547F-CF64-39EC-D24B5438A22D}"/>
              </a:ext>
            </a:extLst>
          </p:cNvPr>
          <p:cNvSpPr>
            <a:spLocks noGrp="1"/>
          </p:cNvSpPr>
          <p:nvPr>
            <p:ph type="sldNum" sz="quarter" idx="2"/>
          </p:nvPr>
        </p:nvSpPr>
        <p:spPr/>
        <p:txBody>
          <a:bodyPr/>
          <a:lstStyle/>
          <a:p>
            <a:fld id="{86CB4B4D-7CA3-9044-876B-883B54F8677D}" type="slidenum">
              <a:rPr lang="en-US" smtClean="0"/>
              <a:t>12</a:t>
            </a:fld>
            <a:endParaRPr lang="en-US"/>
          </a:p>
        </p:txBody>
      </p:sp>
      <p:sp>
        <p:nvSpPr>
          <p:cNvPr id="3" name="TextBox 2">
            <a:extLst>
              <a:ext uri="{FF2B5EF4-FFF2-40B4-BE49-F238E27FC236}">
                <a16:creationId xmlns:a16="http://schemas.microsoft.com/office/drawing/2014/main" id="{A7398393-AE55-E4A4-E938-E7E8D51D0553}"/>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err="1"/>
              <a:t>Bitcell</a:t>
            </a:r>
            <a:r>
              <a:rPr lang="en-US" sz="3600" b="1"/>
              <a:t>/Column/TPRF PFT</a:t>
            </a:r>
          </a:p>
        </p:txBody>
      </p:sp>
      <p:sp>
        <p:nvSpPr>
          <p:cNvPr id="48" name="TextBox 47">
            <a:extLst>
              <a:ext uri="{FF2B5EF4-FFF2-40B4-BE49-F238E27FC236}">
                <a16:creationId xmlns:a16="http://schemas.microsoft.com/office/drawing/2014/main" id="{3B8C3707-D988-F6BC-E9BD-2EB519D5F5D4}"/>
              </a:ext>
            </a:extLst>
          </p:cNvPr>
          <p:cNvSpPr txBox="1"/>
          <p:nvPr/>
        </p:nvSpPr>
        <p:spPr>
          <a:xfrm>
            <a:off x="457200" y="1267777"/>
            <a:ext cx="11438964" cy="5232202"/>
          </a:xfrm>
          <a:prstGeom prst="rect">
            <a:avLst/>
          </a:prstGeom>
          <a:noFill/>
        </p:spPr>
        <p:txBody>
          <a:bodyPr wrap="square" lIns="91440" tIns="45720" rIns="91440" bIns="45720" anchor="t">
            <a:spAutoFit/>
          </a:bodyPr>
          <a:lstStyle/>
          <a:p>
            <a:r>
              <a:rPr lang="en-US" sz="1200">
                <a:solidFill>
                  <a:schemeClr val="accent2">
                    <a:lumMod val="75000"/>
                  </a:schemeClr>
                </a:solidFill>
                <a:latin typeface="IntelOne Display Regular" panose="020B0503020203020204" pitchFamily="34" charset="0"/>
              </a:rPr>
              <a:t>TESTNAME_CATEGORYCELLHEIGHT-DIFF-LEGS-</a:t>
            </a:r>
            <a:r>
              <a:rPr lang="en-US" sz="1200" b="1">
                <a:solidFill>
                  <a:srgbClr val="C00000"/>
                </a:solidFill>
                <a:highlight>
                  <a:srgbClr val="FFFF00"/>
                </a:highlight>
                <a:latin typeface="IntelOne Display Regular" panose="020B0503020203020204" pitchFamily="34" charset="0"/>
              </a:rPr>
              <a:t>DUT</a:t>
            </a:r>
            <a:r>
              <a:rPr lang="en-US" sz="1200">
                <a:solidFill>
                  <a:schemeClr val="accent2">
                    <a:lumMod val="75000"/>
                  </a:schemeClr>
                </a:solidFill>
                <a:latin typeface="IntelOne Display Regular" panose="020B0503020203020204" pitchFamily="34" charset="0"/>
              </a:rPr>
              <a:t>-</a:t>
            </a:r>
            <a:r>
              <a:rPr lang="en-US" sz="1200" b="1">
                <a:solidFill>
                  <a:srgbClr val="C00000"/>
                </a:solidFill>
                <a:highlight>
                  <a:srgbClr val="FFFF00"/>
                </a:highlight>
                <a:latin typeface="IntelOne Display Regular" panose="020B0503020203020204" pitchFamily="34" charset="0"/>
              </a:rPr>
              <a:t>Bitcell</a:t>
            </a:r>
            <a:r>
              <a:rPr lang="en-US" sz="1200">
                <a:solidFill>
                  <a:schemeClr val="accent2">
                    <a:lumMod val="75000"/>
                  </a:schemeClr>
                </a:solidFill>
                <a:latin typeface="IntelOne Display Regular" panose="020B0503020203020204" pitchFamily="34" charset="0"/>
              </a:rPr>
              <a:t>-FTI-ISO-</a:t>
            </a:r>
            <a:r>
              <a:rPr lang="en-US" sz="1200" b="1">
                <a:solidFill>
                  <a:srgbClr val="C00000"/>
                </a:solidFill>
                <a:highlight>
                  <a:srgbClr val="FFFF00"/>
                </a:highlight>
                <a:latin typeface="IntelOne Display Regular" panose="020B0503020203020204" pitchFamily="34" charset="0"/>
              </a:rPr>
              <a:t>Type:NOM|Type:Skew</a:t>
            </a:r>
            <a:r>
              <a:rPr lang="en-US" sz="1200">
                <a:solidFill>
                  <a:schemeClr val="accent2">
                    <a:lumMod val="75000"/>
                  </a:schemeClr>
                </a:solidFill>
                <a:latin typeface="IntelOne Display Regular" panose="020B0503020203020204" pitchFamily="34" charset="0"/>
              </a:rPr>
              <a:t>-</a:t>
            </a:r>
            <a:r>
              <a:rPr lang="en-US" sz="12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600"/>
          </a:p>
          <a:p>
            <a:endParaRPr lang="en-US" sz="1600"/>
          </a:p>
          <a:p>
            <a:r>
              <a:rPr lang="en-US" sz="2800"/>
              <a:t>SRN192-30-1L-</a:t>
            </a:r>
            <a:r>
              <a:rPr lang="en-US" sz="2800">
                <a:solidFill>
                  <a:srgbClr val="C00000"/>
                </a:solidFill>
              </a:rPr>
              <a:t>PD</a:t>
            </a:r>
            <a:r>
              <a:rPr lang="en-US" sz="2800"/>
              <a:t>-</a:t>
            </a:r>
            <a:r>
              <a:rPr lang="en-US" sz="2800" b="1">
                <a:solidFill>
                  <a:srgbClr val="C00000"/>
                </a:solidFill>
                <a:highlight>
                  <a:srgbClr val="FFFF00"/>
                </a:highlight>
              </a:rPr>
              <a:t>HDC1</a:t>
            </a:r>
            <a:r>
              <a:rPr lang="en-US" sz="2800"/>
              <a:t>-SNXSN-SNXSN-</a:t>
            </a:r>
            <a:r>
              <a:rPr lang="en-US" sz="2800" b="1">
                <a:solidFill>
                  <a:srgbClr val="C00000"/>
                </a:solidFill>
                <a:highlight>
                  <a:srgbClr val="FFFF00"/>
                </a:highlight>
              </a:rPr>
              <a:t>A:NOM</a:t>
            </a:r>
            <a:r>
              <a:rPr lang="en-US" sz="2800"/>
              <a:t>_TCxx_y</a:t>
            </a:r>
          </a:p>
          <a:p>
            <a:endParaRPr lang="en-US" sz="2800"/>
          </a:p>
          <a:p>
            <a:endParaRPr lang="en-US" sz="3200"/>
          </a:p>
          <a:p>
            <a:endParaRPr lang="en-US" sz="3200"/>
          </a:p>
          <a:p>
            <a:endParaRPr lang="en-US"/>
          </a:p>
          <a:p>
            <a:r>
              <a:rPr lang="en-US"/>
              <a:t>EOL Structure Example</a:t>
            </a:r>
          </a:p>
          <a:p>
            <a:endParaRPr lang="en-US" sz="1600"/>
          </a:p>
          <a:p>
            <a:r>
              <a:rPr lang="en-US" sz="2800"/>
              <a:t>SRP192-</a:t>
            </a:r>
            <a:r>
              <a:rPr lang="en-US" sz="2800" b="1">
                <a:solidFill>
                  <a:srgbClr val="C00000"/>
                </a:solidFill>
                <a:highlight>
                  <a:srgbClr val="FFFF00"/>
                </a:highlight>
              </a:rPr>
              <a:t>26</a:t>
            </a:r>
            <a:r>
              <a:rPr lang="en-US" sz="2800"/>
              <a:t>-1L-</a:t>
            </a:r>
            <a:r>
              <a:rPr lang="en-US" sz="2800">
                <a:solidFill>
                  <a:srgbClr val="C00000"/>
                </a:solidFill>
              </a:rPr>
              <a:t>PU</a:t>
            </a:r>
            <a:r>
              <a:rPr lang="en-US" sz="2800"/>
              <a:t>-</a:t>
            </a:r>
            <a:r>
              <a:rPr lang="en-US" sz="2800" b="1">
                <a:solidFill>
                  <a:srgbClr val="C00000"/>
                </a:solidFill>
                <a:highlight>
                  <a:srgbClr val="FFFF00"/>
                </a:highlight>
              </a:rPr>
              <a:t>HDC1</a:t>
            </a:r>
            <a:r>
              <a:rPr lang="en-US" sz="2800"/>
              <a:t>-SNXSN-</a:t>
            </a:r>
            <a:r>
              <a:rPr lang="en-US" sz="2800">
                <a:highlight>
                  <a:srgbClr val="FFFF00"/>
                </a:highlight>
              </a:rPr>
              <a:t>SNXSN</a:t>
            </a:r>
            <a:r>
              <a:rPr lang="en-US" sz="2800"/>
              <a:t>-</a:t>
            </a:r>
            <a:r>
              <a:rPr lang="en-US" sz="2800" b="1">
                <a:solidFill>
                  <a:srgbClr val="C00000"/>
                </a:solidFill>
                <a:highlight>
                  <a:srgbClr val="FFFF00"/>
                </a:highlight>
              </a:rPr>
              <a:t>A:NOM</a:t>
            </a:r>
            <a:r>
              <a:rPr lang="en-US" sz="2800"/>
              <a:t>_TCxx_y</a:t>
            </a:r>
          </a:p>
          <a:p>
            <a:r>
              <a:rPr lang="en-US" sz="2800"/>
              <a:t>RFN315-49-1L-</a:t>
            </a:r>
            <a:r>
              <a:rPr lang="en-US" sz="2800">
                <a:solidFill>
                  <a:srgbClr val="C00000"/>
                </a:solidFill>
              </a:rPr>
              <a:t>RP</a:t>
            </a:r>
            <a:r>
              <a:rPr lang="en-US" sz="2800"/>
              <a:t>-TPRF1-SNXSN-SNXSN-</a:t>
            </a:r>
            <a:r>
              <a:rPr lang="en-US" sz="2800" b="1">
                <a:solidFill>
                  <a:srgbClr val="C00000"/>
                </a:solidFill>
                <a:highlight>
                  <a:srgbClr val="FFFF00"/>
                </a:highlight>
              </a:rPr>
              <a:t>A:NOM</a:t>
            </a:r>
            <a:r>
              <a:rPr lang="en-US" sz="2800"/>
              <a:t>_TCxx_y</a:t>
            </a:r>
          </a:p>
          <a:p>
            <a:r>
              <a:rPr lang="en-US" sz="2800"/>
              <a:t>SR192-HDC1BCLA_TCxx_y</a:t>
            </a:r>
          </a:p>
        </p:txBody>
      </p:sp>
      <p:sp>
        <p:nvSpPr>
          <p:cNvPr id="4" name="TextBox 3">
            <a:extLst>
              <a:ext uri="{FF2B5EF4-FFF2-40B4-BE49-F238E27FC236}">
                <a16:creationId xmlns:a16="http://schemas.microsoft.com/office/drawing/2014/main" id="{F6EB221B-3D88-36F2-9E6A-D7231093FDA3}"/>
              </a:ext>
            </a:extLst>
          </p:cNvPr>
          <p:cNvSpPr txBox="1"/>
          <p:nvPr/>
        </p:nvSpPr>
        <p:spPr>
          <a:xfrm>
            <a:off x="466165" y="2891865"/>
            <a:ext cx="990596" cy="276999"/>
          </a:xfrm>
          <a:prstGeom prst="rect">
            <a:avLst/>
          </a:prstGeom>
          <a:noFill/>
        </p:spPr>
        <p:txBody>
          <a:bodyPr wrap="square" rtlCol="0">
            <a:spAutoFit/>
          </a:bodyPr>
          <a:lstStyle/>
          <a:p>
            <a:r>
              <a:rPr lang="en-US" sz="1200">
                <a:solidFill>
                  <a:schemeClr val="accent4">
                    <a:lumMod val="75000"/>
                  </a:schemeClr>
                </a:solidFill>
              </a:rPr>
              <a:t>Bitcell</a:t>
            </a:r>
          </a:p>
        </p:txBody>
      </p:sp>
      <p:sp>
        <p:nvSpPr>
          <p:cNvPr id="5" name="TextBox 4">
            <a:extLst>
              <a:ext uri="{FF2B5EF4-FFF2-40B4-BE49-F238E27FC236}">
                <a16:creationId xmlns:a16="http://schemas.microsoft.com/office/drawing/2014/main" id="{DF325A43-D05F-BBC3-F8C9-2A8D5648357C}"/>
              </a:ext>
            </a:extLst>
          </p:cNvPr>
          <p:cNvSpPr txBox="1"/>
          <p:nvPr/>
        </p:nvSpPr>
        <p:spPr>
          <a:xfrm>
            <a:off x="7247714" y="2262890"/>
            <a:ext cx="1266711" cy="276999"/>
          </a:xfrm>
          <a:prstGeom prst="rect">
            <a:avLst/>
          </a:prstGeom>
          <a:noFill/>
        </p:spPr>
        <p:txBody>
          <a:bodyPr wrap="square" rtlCol="0">
            <a:spAutoFit/>
          </a:bodyPr>
          <a:lstStyle/>
          <a:p>
            <a:pPr algn="ctr"/>
            <a:r>
              <a:rPr lang="en-US" sz="1200">
                <a:solidFill>
                  <a:schemeClr val="accent4">
                    <a:lumMod val="75000"/>
                  </a:schemeClr>
                </a:solidFill>
              </a:rPr>
              <a:t>Metal Routing</a:t>
            </a:r>
          </a:p>
        </p:txBody>
      </p:sp>
      <p:sp>
        <p:nvSpPr>
          <p:cNvPr id="6" name="TextBox 5">
            <a:extLst>
              <a:ext uri="{FF2B5EF4-FFF2-40B4-BE49-F238E27FC236}">
                <a16:creationId xmlns:a16="http://schemas.microsoft.com/office/drawing/2014/main" id="{A8A0B67F-9E95-21AF-BE1C-195BFCF609B5}"/>
              </a:ext>
            </a:extLst>
          </p:cNvPr>
          <p:cNvSpPr txBox="1"/>
          <p:nvPr/>
        </p:nvSpPr>
        <p:spPr>
          <a:xfrm>
            <a:off x="348894" y="2304047"/>
            <a:ext cx="990596" cy="276999"/>
          </a:xfrm>
          <a:prstGeom prst="rect">
            <a:avLst/>
          </a:prstGeom>
          <a:noFill/>
        </p:spPr>
        <p:txBody>
          <a:bodyPr wrap="square" rtlCol="0">
            <a:spAutoFit/>
          </a:bodyPr>
          <a:lstStyle/>
          <a:p>
            <a:pPr algn="ctr"/>
            <a:r>
              <a:rPr lang="en-US" sz="1200">
                <a:solidFill>
                  <a:schemeClr val="accent4">
                    <a:lumMod val="75000"/>
                  </a:schemeClr>
                </a:solidFill>
              </a:rPr>
              <a:t>SRAM</a:t>
            </a:r>
          </a:p>
        </p:txBody>
      </p:sp>
      <p:sp>
        <p:nvSpPr>
          <p:cNvPr id="7" name="TextBox 6">
            <a:extLst>
              <a:ext uri="{FF2B5EF4-FFF2-40B4-BE49-F238E27FC236}">
                <a16:creationId xmlns:a16="http://schemas.microsoft.com/office/drawing/2014/main" id="{2B2B6934-7AFE-C15F-13C2-A7E9DE1A2710}"/>
              </a:ext>
            </a:extLst>
          </p:cNvPr>
          <p:cNvSpPr txBox="1"/>
          <p:nvPr/>
        </p:nvSpPr>
        <p:spPr>
          <a:xfrm>
            <a:off x="7881070" y="2880567"/>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8" name="TextBox 7">
            <a:extLst>
              <a:ext uri="{FF2B5EF4-FFF2-40B4-BE49-F238E27FC236}">
                <a16:creationId xmlns:a16="http://schemas.microsoft.com/office/drawing/2014/main" id="{AB15828E-EA7A-2EAF-D1CD-F8CD18D7D0FD}"/>
              </a:ext>
            </a:extLst>
          </p:cNvPr>
          <p:cNvSpPr txBox="1"/>
          <p:nvPr/>
        </p:nvSpPr>
        <p:spPr>
          <a:xfrm>
            <a:off x="8534863" y="2318714"/>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9" name="TextBox 8">
            <a:extLst>
              <a:ext uri="{FF2B5EF4-FFF2-40B4-BE49-F238E27FC236}">
                <a16:creationId xmlns:a16="http://schemas.microsoft.com/office/drawing/2014/main" id="{73EB6CD5-06C5-6473-3DF5-01F9383EF072}"/>
              </a:ext>
            </a:extLst>
          </p:cNvPr>
          <p:cNvSpPr txBox="1"/>
          <p:nvPr/>
        </p:nvSpPr>
        <p:spPr>
          <a:xfrm>
            <a:off x="1146646" y="2280632"/>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10" name="TextBox 9">
            <a:extLst>
              <a:ext uri="{FF2B5EF4-FFF2-40B4-BE49-F238E27FC236}">
                <a16:creationId xmlns:a16="http://schemas.microsoft.com/office/drawing/2014/main" id="{795F3FA7-DA1E-AD95-874C-DB2B4B9C6FE9}"/>
              </a:ext>
            </a:extLst>
          </p:cNvPr>
          <p:cNvSpPr txBox="1"/>
          <p:nvPr/>
        </p:nvSpPr>
        <p:spPr>
          <a:xfrm>
            <a:off x="5147664" y="2891864"/>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11" name="TextBox 10">
            <a:extLst>
              <a:ext uri="{FF2B5EF4-FFF2-40B4-BE49-F238E27FC236}">
                <a16:creationId xmlns:a16="http://schemas.microsoft.com/office/drawing/2014/main" id="{6CEF0309-2475-735B-3BC8-C2B87CA1845C}"/>
              </a:ext>
            </a:extLst>
          </p:cNvPr>
          <p:cNvSpPr txBox="1"/>
          <p:nvPr/>
        </p:nvSpPr>
        <p:spPr>
          <a:xfrm>
            <a:off x="2894072" y="2280632"/>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2" name="TextBox 11">
            <a:extLst>
              <a:ext uri="{FF2B5EF4-FFF2-40B4-BE49-F238E27FC236}">
                <a16:creationId xmlns:a16="http://schemas.microsoft.com/office/drawing/2014/main" id="{AFC3C474-FBD6-1367-4BDA-5A6414783D3C}"/>
              </a:ext>
            </a:extLst>
          </p:cNvPr>
          <p:cNvSpPr txBox="1"/>
          <p:nvPr/>
        </p:nvSpPr>
        <p:spPr>
          <a:xfrm>
            <a:off x="1703456" y="2899967"/>
            <a:ext cx="1098892" cy="276999"/>
          </a:xfrm>
          <a:prstGeom prst="rect">
            <a:avLst/>
          </a:prstGeom>
          <a:noFill/>
        </p:spPr>
        <p:txBody>
          <a:bodyPr wrap="square" rtlCol="0">
            <a:spAutoFit/>
          </a:bodyPr>
          <a:lstStyle/>
          <a:p>
            <a:pPr algn="ctr"/>
            <a:r>
              <a:rPr lang="en-US" sz="1200">
                <a:solidFill>
                  <a:schemeClr val="accent4">
                    <a:lumMod val="75000"/>
                  </a:schemeClr>
                </a:solidFill>
              </a:rPr>
              <a:t>Diff. Width</a:t>
            </a:r>
          </a:p>
        </p:txBody>
      </p:sp>
      <p:sp>
        <p:nvSpPr>
          <p:cNvPr id="13" name="TextBox 12">
            <a:extLst>
              <a:ext uri="{FF2B5EF4-FFF2-40B4-BE49-F238E27FC236}">
                <a16:creationId xmlns:a16="http://schemas.microsoft.com/office/drawing/2014/main" id="{E0DD6E60-D1B0-ED6D-55FC-C022281CFF7C}"/>
              </a:ext>
            </a:extLst>
          </p:cNvPr>
          <p:cNvSpPr txBox="1"/>
          <p:nvPr/>
        </p:nvSpPr>
        <p:spPr>
          <a:xfrm>
            <a:off x="2389964" y="2280631"/>
            <a:ext cx="135597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4" name="TextBox 13">
            <a:extLst>
              <a:ext uri="{FF2B5EF4-FFF2-40B4-BE49-F238E27FC236}">
                <a16:creationId xmlns:a16="http://schemas.microsoft.com/office/drawing/2014/main" id="{07C391E0-4805-EE5B-AE9A-1ABD43EF3B69}"/>
              </a:ext>
            </a:extLst>
          </p:cNvPr>
          <p:cNvSpPr txBox="1"/>
          <p:nvPr/>
        </p:nvSpPr>
        <p:spPr>
          <a:xfrm>
            <a:off x="6034098" y="2280632"/>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5" name="TextBox 14">
            <a:extLst>
              <a:ext uri="{FF2B5EF4-FFF2-40B4-BE49-F238E27FC236}">
                <a16:creationId xmlns:a16="http://schemas.microsoft.com/office/drawing/2014/main" id="{60A29A05-F0E3-0E63-8834-54B5C96E4D27}"/>
              </a:ext>
            </a:extLst>
          </p:cNvPr>
          <p:cNvSpPr txBox="1"/>
          <p:nvPr/>
        </p:nvSpPr>
        <p:spPr>
          <a:xfrm>
            <a:off x="3638152" y="2803918"/>
            <a:ext cx="1202018" cy="461665"/>
          </a:xfrm>
          <a:prstGeom prst="rect">
            <a:avLst/>
          </a:prstGeom>
          <a:noFill/>
        </p:spPr>
        <p:txBody>
          <a:bodyPr wrap="square" rtlCol="0">
            <a:spAutoFit/>
          </a:bodyPr>
          <a:lstStyle/>
          <a:p>
            <a:pPr algn="ctr"/>
            <a:r>
              <a:rPr lang="en-US" sz="1200">
                <a:solidFill>
                  <a:schemeClr val="accent4">
                    <a:lumMod val="75000"/>
                  </a:schemeClr>
                </a:solidFill>
              </a:rPr>
              <a:t>DUT/</a:t>
            </a:r>
          </a:p>
          <a:p>
            <a:pPr algn="ctr"/>
            <a:r>
              <a:rPr lang="en-US" sz="1200">
                <a:solidFill>
                  <a:schemeClr val="accent4">
                    <a:lumMod val="75000"/>
                  </a:schemeClr>
                </a:solidFill>
              </a:rPr>
              <a:t>Environment</a:t>
            </a:r>
          </a:p>
        </p:txBody>
      </p:sp>
      <p:sp>
        <p:nvSpPr>
          <p:cNvPr id="16" name="TextBox 15">
            <a:extLst>
              <a:ext uri="{FF2B5EF4-FFF2-40B4-BE49-F238E27FC236}">
                <a16:creationId xmlns:a16="http://schemas.microsoft.com/office/drawing/2014/main" id="{6C7FC003-C047-EF22-0873-7E5D7D0F6A67}"/>
              </a:ext>
            </a:extLst>
          </p:cNvPr>
          <p:cNvSpPr txBox="1"/>
          <p:nvPr/>
        </p:nvSpPr>
        <p:spPr>
          <a:xfrm>
            <a:off x="344035" y="3511873"/>
            <a:ext cx="8086733" cy="646331"/>
          </a:xfrm>
          <a:prstGeom prst="rect">
            <a:avLst/>
          </a:prstGeom>
          <a:noFill/>
        </p:spPr>
        <p:txBody>
          <a:bodyPr wrap="square" rtlCol="0">
            <a:spAutoFit/>
          </a:bodyPr>
          <a:lstStyle/>
          <a:p>
            <a:r>
              <a:rPr lang="en-US" sz="1200">
                <a:solidFill>
                  <a:schemeClr val="accent4">
                    <a:lumMod val="75000"/>
                  </a:schemeClr>
                </a:solidFill>
              </a:rPr>
              <a:t>All SRAM PD/PG/PU are HVT</a:t>
            </a:r>
          </a:p>
          <a:p>
            <a:r>
              <a:rPr lang="en-US" sz="1200">
                <a:solidFill>
                  <a:schemeClr val="accent4">
                    <a:lumMod val="75000"/>
                  </a:schemeClr>
                </a:solidFill>
              </a:rPr>
              <a:t>TPRF PD/PG/PU are HVT</a:t>
            </a:r>
          </a:p>
          <a:p>
            <a:r>
              <a:rPr lang="en-US" sz="1200">
                <a:solidFill>
                  <a:schemeClr val="accent4">
                    <a:lumMod val="75000"/>
                  </a:schemeClr>
                </a:solidFill>
              </a:rPr>
              <a:t>TPRF1 RP is SVT; TPRF2 RP is ULVTLL</a:t>
            </a:r>
          </a:p>
        </p:txBody>
      </p:sp>
      <p:sp>
        <p:nvSpPr>
          <p:cNvPr id="20" name="TextBox 19">
            <a:extLst>
              <a:ext uri="{FF2B5EF4-FFF2-40B4-BE49-F238E27FC236}">
                <a16:creationId xmlns:a16="http://schemas.microsoft.com/office/drawing/2014/main" id="{01F8DC17-06F4-19D2-51BB-92D89642E6C2}"/>
              </a:ext>
            </a:extLst>
          </p:cNvPr>
          <p:cNvSpPr txBox="1"/>
          <p:nvPr/>
        </p:nvSpPr>
        <p:spPr>
          <a:xfrm>
            <a:off x="6657975" y="6336742"/>
            <a:ext cx="3545586" cy="369332"/>
          </a:xfrm>
          <a:prstGeom prst="rect">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solidFill>
                  <a:schemeClr val="accent2">
                    <a:lumMod val="75000"/>
                  </a:schemeClr>
                </a:solidFill>
                <a:latin typeface="IntelOne Display Regular" panose="020B0503020203020204" pitchFamily="34" charset="0"/>
              </a:rPr>
              <a:t>Ack: Divya, Andrew</a:t>
            </a:r>
            <a:endParaRPr lang="en-US">
              <a:solidFill>
                <a:schemeClr val="accent2">
                  <a:lumMod val="75000"/>
                </a:schemeClr>
              </a:solidFill>
            </a:endParaRPr>
          </a:p>
        </p:txBody>
      </p:sp>
      <p:graphicFrame>
        <p:nvGraphicFramePr>
          <p:cNvPr id="21" name="Table 20">
            <a:extLst>
              <a:ext uri="{FF2B5EF4-FFF2-40B4-BE49-F238E27FC236}">
                <a16:creationId xmlns:a16="http://schemas.microsoft.com/office/drawing/2014/main" id="{9327FE40-4A05-8B71-8E07-BCC5FF46A610}"/>
              </a:ext>
            </a:extLst>
          </p:cNvPr>
          <p:cNvGraphicFramePr>
            <a:graphicFrameLocks noGrp="1"/>
          </p:cNvGraphicFramePr>
          <p:nvPr>
            <p:extLst>
              <p:ext uri="{D42A27DB-BD31-4B8C-83A1-F6EECF244321}">
                <p14:modId xmlns:p14="http://schemas.microsoft.com/office/powerpoint/2010/main" val="1489917476"/>
              </p:ext>
            </p:extLst>
          </p:nvPr>
        </p:nvGraphicFramePr>
        <p:xfrm>
          <a:off x="10007896" y="2442546"/>
          <a:ext cx="1958646" cy="2794630"/>
        </p:xfrm>
        <a:graphic>
          <a:graphicData uri="http://schemas.openxmlformats.org/drawingml/2006/table">
            <a:tbl>
              <a:tblPr/>
              <a:tblGrid>
                <a:gridCol w="1958646">
                  <a:extLst>
                    <a:ext uri="{9D8B030D-6E8A-4147-A177-3AD203B41FA5}">
                      <a16:colId xmlns:a16="http://schemas.microsoft.com/office/drawing/2014/main" val="3618920677"/>
                    </a:ext>
                  </a:extLst>
                </a:gridCol>
              </a:tblGrid>
              <a:tr h="150593">
                <a:tc>
                  <a:txBody>
                    <a:bodyPr/>
                    <a:lstStyle/>
                    <a:p>
                      <a:pPr algn="ctr" rtl="0" fontAlgn="ctr">
                        <a:buNone/>
                      </a:pPr>
                      <a:r>
                        <a:rPr lang="en-US" sz="1050" b="0" i="0" u="none" strike="noStrike">
                          <a:solidFill>
                            <a:srgbClr val="525252"/>
                          </a:solidFill>
                          <a:effectLst/>
                          <a:latin typeface="+mj-lt"/>
                        </a:rPr>
                        <a:t>phpsrhdc1pu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5288439"/>
                  </a:ext>
                </a:extLst>
              </a:tr>
              <a:tr h="150593">
                <a:tc>
                  <a:txBody>
                    <a:bodyPr/>
                    <a:lstStyle/>
                    <a:p>
                      <a:pPr algn="ctr" rtl="0" fontAlgn="ctr">
                        <a:buNone/>
                      </a:pPr>
                      <a:r>
                        <a:rPr lang="en-US" sz="1050" b="0" i="0" u="none" strike="noStrike">
                          <a:solidFill>
                            <a:srgbClr val="525252"/>
                          </a:solidFill>
                          <a:effectLst/>
                          <a:latin typeface="+mj-lt"/>
                        </a:rPr>
                        <a:t>nhpsrhdc1pg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9612871"/>
                  </a:ext>
                </a:extLst>
              </a:tr>
              <a:tr h="150593">
                <a:tc>
                  <a:txBody>
                    <a:bodyPr/>
                    <a:lstStyle/>
                    <a:p>
                      <a:pPr algn="ctr" rtl="0" fontAlgn="ctr">
                        <a:buNone/>
                      </a:pPr>
                      <a:r>
                        <a:rPr lang="en-US" sz="1050" b="0" i="0" u="none" strike="noStrike">
                          <a:solidFill>
                            <a:srgbClr val="525252"/>
                          </a:solidFill>
                          <a:effectLst/>
                          <a:latin typeface="+mj-lt"/>
                        </a:rPr>
                        <a:t>nhpsrhdc1pd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1998989"/>
                  </a:ext>
                </a:extLst>
              </a:tr>
              <a:tr h="150593">
                <a:tc>
                  <a:txBody>
                    <a:bodyPr/>
                    <a:lstStyle/>
                    <a:p>
                      <a:pPr algn="ctr" rtl="0" fontAlgn="ctr">
                        <a:buNone/>
                      </a:pPr>
                      <a:r>
                        <a:rPr lang="en-US" sz="1050" b="0" i="0" u="none" strike="noStrike">
                          <a:solidFill>
                            <a:srgbClr val="525252"/>
                          </a:solidFill>
                          <a:effectLst/>
                          <a:latin typeface="+mj-lt"/>
                        </a:rPr>
                        <a:t>phpsrhdc2pu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7958567"/>
                  </a:ext>
                </a:extLst>
              </a:tr>
              <a:tr h="150593">
                <a:tc>
                  <a:txBody>
                    <a:bodyPr/>
                    <a:lstStyle/>
                    <a:p>
                      <a:pPr algn="ctr" rtl="0" fontAlgn="ctr">
                        <a:buNone/>
                      </a:pPr>
                      <a:r>
                        <a:rPr lang="en-US" sz="1050" b="0" i="0" u="none" strike="noStrike">
                          <a:solidFill>
                            <a:srgbClr val="525252"/>
                          </a:solidFill>
                          <a:effectLst/>
                          <a:latin typeface="+mj-lt"/>
                        </a:rPr>
                        <a:t>nhpsrhdc2pg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8677575"/>
                  </a:ext>
                </a:extLst>
              </a:tr>
              <a:tr h="150593">
                <a:tc>
                  <a:txBody>
                    <a:bodyPr/>
                    <a:lstStyle/>
                    <a:p>
                      <a:pPr algn="ctr" rtl="0" fontAlgn="ctr">
                        <a:buNone/>
                      </a:pPr>
                      <a:r>
                        <a:rPr lang="en-US" sz="1050" b="0" i="0" u="none" strike="noStrike">
                          <a:solidFill>
                            <a:srgbClr val="525252"/>
                          </a:solidFill>
                          <a:effectLst/>
                          <a:latin typeface="+mj-lt"/>
                        </a:rPr>
                        <a:t>nhpsrhdc2pd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9633149"/>
                  </a:ext>
                </a:extLst>
              </a:tr>
              <a:tr h="150593">
                <a:tc>
                  <a:txBody>
                    <a:bodyPr/>
                    <a:lstStyle/>
                    <a:p>
                      <a:pPr algn="ctr" rtl="0" fontAlgn="ctr">
                        <a:buNone/>
                      </a:pPr>
                      <a:r>
                        <a:rPr lang="en-US" sz="1050" b="0" i="0" u="none" strike="noStrike">
                          <a:solidFill>
                            <a:srgbClr val="525252"/>
                          </a:solidFill>
                          <a:effectLst/>
                          <a:latin typeface="+mj-lt"/>
                        </a:rPr>
                        <a:t>phpsrhcc1pu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3928994"/>
                  </a:ext>
                </a:extLst>
              </a:tr>
              <a:tr h="150593">
                <a:tc>
                  <a:txBody>
                    <a:bodyPr/>
                    <a:lstStyle/>
                    <a:p>
                      <a:pPr algn="ctr" rtl="0" fontAlgn="ctr">
                        <a:buNone/>
                      </a:pPr>
                      <a:r>
                        <a:rPr lang="en-US" sz="1050" b="0" i="0" u="none" strike="noStrike">
                          <a:solidFill>
                            <a:srgbClr val="525252"/>
                          </a:solidFill>
                          <a:effectLst/>
                          <a:latin typeface="+mj-lt"/>
                        </a:rPr>
                        <a:t>nhpsrhcc1pg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7901289"/>
                  </a:ext>
                </a:extLst>
              </a:tr>
              <a:tr h="150593">
                <a:tc>
                  <a:txBody>
                    <a:bodyPr/>
                    <a:lstStyle/>
                    <a:p>
                      <a:pPr algn="ctr" rtl="0" fontAlgn="ctr">
                        <a:buNone/>
                      </a:pPr>
                      <a:r>
                        <a:rPr lang="en-US" sz="1050" b="0" i="0" u="none" strike="noStrike">
                          <a:solidFill>
                            <a:srgbClr val="525252"/>
                          </a:solidFill>
                          <a:effectLst/>
                          <a:latin typeface="+mj-lt"/>
                        </a:rPr>
                        <a:t>nhpsrhcc1pd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5770299"/>
                  </a:ext>
                </a:extLst>
              </a:tr>
              <a:tr h="150593">
                <a:tc>
                  <a:txBody>
                    <a:bodyPr/>
                    <a:lstStyle/>
                    <a:p>
                      <a:pPr algn="ctr" rtl="0" fontAlgn="ctr">
                        <a:buNone/>
                      </a:pPr>
                      <a:r>
                        <a:rPr lang="en-US" sz="1050" b="0" i="0" u="none" strike="noStrike">
                          <a:solidFill>
                            <a:srgbClr val="525252"/>
                          </a:solidFill>
                          <a:effectLst/>
                          <a:latin typeface="+mj-lt"/>
                        </a:rPr>
                        <a:t>phprf1pu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950393"/>
                  </a:ext>
                </a:extLst>
              </a:tr>
              <a:tr h="150593">
                <a:tc>
                  <a:txBody>
                    <a:bodyPr/>
                    <a:lstStyle/>
                    <a:p>
                      <a:pPr algn="ctr" rtl="0" fontAlgn="ctr">
                        <a:buNone/>
                      </a:pPr>
                      <a:r>
                        <a:rPr lang="en-US" sz="1050" b="0" i="0" u="none" strike="noStrike">
                          <a:solidFill>
                            <a:srgbClr val="525252"/>
                          </a:solidFill>
                          <a:effectLst/>
                          <a:latin typeface="+mj-lt"/>
                        </a:rPr>
                        <a:t>nhprf1pg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7067225"/>
                  </a:ext>
                </a:extLst>
              </a:tr>
              <a:tr h="150593">
                <a:tc>
                  <a:txBody>
                    <a:bodyPr/>
                    <a:lstStyle/>
                    <a:p>
                      <a:pPr algn="ctr" rtl="0" fontAlgn="ctr">
                        <a:buNone/>
                      </a:pPr>
                      <a:r>
                        <a:rPr lang="en-US" sz="1050" b="0" i="0" u="none" strike="noStrike">
                          <a:solidFill>
                            <a:srgbClr val="525252"/>
                          </a:solidFill>
                          <a:effectLst/>
                          <a:latin typeface="+mj-lt"/>
                        </a:rPr>
                        <a:t>nhprf1pd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6282195"/>
                  </a:ext>
                </a:extLst>
              </a:tr>
              <a:tr h="150593">
                <a:tc>
                  <a:txBody>
                    <a:bodyPr/>
                    <a:lstStyle/>
                    <a:p>
                      <a:pPr algn="ctr" rtl="0" fontAlgn="ctr">
                        <a:buNone/>
                      </a:pPr>
                      <a:r>
                        <a:rPr lang="en-US" sz="1050" b="0" i="0" u="none" strike="noStrike">
                          <a:solidFill>
                            <a:srgbClr val="525252"/>
                          </a:solidFill>
                          <a:effectLst/>
                          <a:latin typeface="+mj-lt"/>
                        </a:rPr>
                        <a:t>nhprf1rp</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6409182"/>
                  </a:ext>
                </a:extLst>
              </a:tr>
              <a:tr h="150593">
                <a:tc>
                  <a:txBody>
                    <a:bodyPr/>
                    <a:lstStyle/>
                    <a:p>
                      <a:pPr algn="ctr" rtl="0" fontAlgn="ctr">
                        <a:buNone/>
                      </a:pPr>
                      <a:r>
                        <a:rPr lang="en-US" sz="1050" b="0" i="0" u="none" strike="noStrike">
                          <a:solidFill>
                            <a:srgbClr val="525252"/>
                          </a:solidFill>
                          <a:effectLst/>
                          <a:latin typeface="+mj-lt"/>
                        </a:rPr>
                        <a:t>phprf2pu</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831383"/>
                  </a:ext>
                </a:extLst>
              </a:tr>
              <a:tr h="150593">
                <a:tc>
                  <a:txBody>
                    <a:bodyPr/>
                    <a:lstStyle/>
                    <a:p>
                      <a:pPr algn="ctr" rtl="0" fontAlgn="ctr">
                        <a:buNone/>
                      </a:pPr>
                      <a:r>
                        <a:rPr lang="en-US" sz="1050" b="0" i="0" u="none" strike="noStrike">
                          <a:solidFill>
                            <a:srgbClr val="525252"/>
                          </a:solidFill>
                          <a:effectLst/>
                          <a:latin typeface="+mj-lt"/>
                        </a:rPr>
                        <a:t>nhprf2pg</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85556"/>
                  </a:ext>
                </a:extLst>
              </a:tr>
              <a:tr h="150593">
                <a:tc>
                  <a:txBody>
                    <a:bodyPr/>
                    <a:lstStyle/>
                    <a:p>
                      <a:pPr algn="ctr" rtl="0" fontAlgn="ctr">
                        <a:buNone/>
                      </a:pPr>
                      <a:r>
                        <a:rPr lang="en-US" sz="1050" b="0" i="0" u="none" strike="noStrike">
                          <a:solidFill>
                            <a:srgbClr val="525252"/>
                          </a:solidFill>
                          <a:effectLst/>
                          <a:latin typeface="+mj-lt"/>
                        </a:rPr>
                        <a:t>nhprf2pd</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6712942"/>
                  </a:ext>
                </a:extLst>
              </a:tr>
              <a:tr h="150593">
                <a:tc>
                  <a:txBody>
                    <a:bodyPr/>
                    <a:lstStyle/>
                    <a:p>
                      <a:pPr algn="ctr" rtl="0" fontAlgn="ctr">
                        <a:buNone/>
                      </a:pPr>
                      <a:r>
                        <a:rPr lang="en-US" sz="1050" b="0" i="0" u="none" strike="noStrike">
                          <a:solidFill>
                            <a:srgbClr val="525252"/>
                          </a:solidFill>
                          <a:effectLst/>
                          <a:latin typeface="+mj-lt"/>
                        </a:rPr>
                        <a:t>nhprf2rp</a:t>
                      </a:r>
                    </a:p>
                  </a:txBody>
                  <a:tcPr marL="4370" marR="4370" marT="437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462604"/>
                  </a:ext>
                </a:extLst>
              </a:tr>
            </a:tbl>
          </a:graphicData>
        </a:graphic>
      </p:graphicFrame>
    </p:spTree>
    <p:extLst>
      <p:ext uri="{BB962C8B-B14F-4D97-AF65-F5344CB8AC3E}">
        <p14:creationId xmlns:p14="http://schemas.microsoft.com/office/powerpoint/2010/main" val="3397401875"/>
      </p:ext>
    </p:extLst>
  </p:cSld>
  <p:clrMapOvr>
    <a:masterClrMapping/>
  </p:clrMapOvr>
  <p:transition spd="med"/>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FE40-390C-40D2-9B07-D1C11DF66F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F39E41-5CDD-3C9B-8806-08F1730DE78F}"/>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3" name="TextBox 2">
            <a:extLst>
              <a:ext uri="{FF2B5EF4-FFF2-40B4-BE49-F238E27FC236}">
                <a16:creationId xmlns:a16="http://schemas.microsoft.com/office/drawing/2014/main" id="{D78FB56D-4DF9-304F-C3D7-5414ECF9AC00}"/>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MLR</a:t>
            </a:r>
          </a:p>
        </p:txBody>
      </p:sp>
      <p:sp>
        <p:nvSpPr>
          <p:cNvPr id="48" name="TextBox 47">
            <a:extLst>
              <a:ext uri="{FF2B5EF4-FFF2-40B4-BE49-F238E27FC236}">
                <a16:creationId xmlns:a16="http://schemas.microsoft.com/office/drawing/2014/main" id="{E62C1BD4-93AA-4A83-165E-5B32A1DD87A4}"/>
              </a:ext>
            </a:extLst>
          </p:cNvPr>
          <p:cNvSpPr txBox="1"/>
          <p:nvPr/>
        </p:nvSpPr>
        <p:spPr>
          <a:xfrm>
            <a:off x="457200" y="1267777"/>
            <a:ext cx="11438964" cy="4278094"/>
          </a:xfrm>
          <a:prstGeom prst="rect">
            <a:avLst/>
          </a:prstGeom>
          <a:noFill/>
        </p:spPr>
        <p:txBody>
          <a:bodyPr wrap="square">
            <a:spAutoFit/>
          </a:bodyPr>
          <a:lstStyle/>
          <a:p>
            <a:r>
              <a:rPr lang="en-US" sz="1200" dirty="0">
                <a:solidFill>
                  <a:schemeClr val="accent2">
                    <a:lumMod val="75000"/>
                  </a:schemeClr>
                </a:solidFill>
                <a:latin typeface="IntelOne Display Regular" panose="020B0503020203020204" pitchFamily="34" charset="0"/>
              </a:rPr>
              <a:t>TESTNAME_CATEGORYCELLHEIGHT-DIFF-#ADF-VT-Environment-</a:t>
            </a:r>
            <a:r>
              <a:rPr lang="en-US" sz="1200" dirty="0" b="1">
                <a:solidFill>
                  <a:srgbClr val="C00000"/>
                </a:solidFill>
                <a:highlight>
                  <a:srgbClr val="FFFF00"/>
                </a:highlight>
                <a:latin typeface="IntelOne Display Regular" panose="020B0503020203020204" pitchFamily="34" charset="0"/>
              </a:rPr>
              <a:t>FTI</a:t>
            </a:r>
            <a:r>
              <a:rPr lang="en-US" sz="1200" dirty="0">
                <a:solidFill>
                  <a:schemeClr val="accent2">
                    <a:lumMod val="75000"/>
                  </a:schemeClr>
                </a:solidFill>
                <a:latin typeface="IntelOne Display Regular" panose="020B0503020203020204" pitchFamily="34" charset="0"/>
              </a:rPr>
              <a:t>-</a:t>
            </a:r>
            <a:r>
              <a:rPr lang="en-US" sz="1200" dirty="0" err="1" b="1">
                <a:solidFill>
                  <a:srgbClr val="C00000"/>
                </a:solidFill>
                <a:highlight>
                  <a:srgbClr val="FFFF00"/>
                </a:highlight>
                <a:latin typeface="IntelOne Display Regular" panose="020B0503020203020204" pitchFamily="34" charset="0"/>
              </a:rPr>
              <a:t>ISO-LayoutHeight-Type:NOM|Type:Skew-Additional</a:t>
            </a:r>
            <a:r>
              <a:rPr lang="en-US" sz="1200" dirty="0" err="1">
                <a:solidFill>
                  <a:schemeClr val="accent2">
                    <a:lumMod val="75000"/>
                  </a:schemeClr>
                </a:solidFill>
                <a:latin typeface="IntelOne Display Regular" panose="020B0503020203020204" pitchFamily="34" charset="0"/>
              </a:rPr>
              <a:t>_TCxx_Count</a:t>
            </a:r>
            <a:endParaRPr lang="en-US" sz="1600" dirty="0">
              <a:solidFill>
                <a:schemeClr val="accent2">
                  <a:lumMod val="75000"/>
                </a:schemeClr>
              </a:solidFill>
              <a:latin typeface="IntelOne Display Regular" panose="020B0503020203020204" pitchFamily="34" charset="0"/>
            </a:endParaRPr>
          </a:p>
          <a:p>
            <a:endParaRPr lang="en-US" sz="1600" dirty="0"/>
          </a:p>
          <a:p>
            <a:r>
              <a:rPr lang="en-US" sz="1600" dirty="0"/>
              <a:t>Inline Structure Example</a:t>
            </a:r>
          </a:p>
          <a:p>
            <a:endParaRPr lang="en-US" sz="1600" dirty="0"/>
          </a:p>
          <a:p>
            <a:endParaRPr lang="en-US" sz="1600" dirty="0"/>
          </a:p>
          <a:p>
            <a:r>
              <a:rPr lang="en-US" sz="3200" dirty="0"/>
              <a:t>NM132-Z5-1ADF-</a:t>
            </a:r>
            <a:r>
              <a:rPr lang="en-US" sz="3200" dirty="0" b="1">
                <a:solidFill>
                  <a:srgbClr val="C00000"/>
                </a:solidFill>
                <a:highlight>
                  <a:srgbClr val="FFFF00"/>
                </a:highlight>
              </a:rPr>
              <a:t>L</a:t>
            </a:r>
            <a:r>
              <a:rPr lang="en-US" sz="3200" dirty="0"/>
              <a:t>-CMOS-</a:t>
            </a:r>
            <a:r>
              <a:rPr lang="en-US" sz="3200" dirty="0" b="1">
                <a:solidFill>
                  <a:srgbClr val="C00000"/>
                </a:solidFill>
                <a:highlight>
                  <a:srgbClr val="FFFF00"/>
                </a:highlight>
              </a:rPr>
              <a:t>0X0</a:t>
            </a:r>
            <a:r>
              <a:rPr lang="en-US" sz="3200" dirty="0"/>
              <a:t>-</a:t>
            </a:r>
            <a:r>
              <a:rPr lang="en-US" sz="3200" dirty="0" b="1">
                <a:solidFill>
                  <a:srgbClr val="C00000"/>
                </a:solidFill>
                <a:highlight>
                  <a:srgbClr val="FFFF00"/>
                </a:highlight>
              </a:rPr>
              <a:t>IXI-SH-A:</a:t>
            </a:r>
            <a:r>
              <a:rPr lang="en-US" sz="3200" dirty="0"/>
              <a:t>NOM_TCxx_y</a:t>
            </a:r>
          </a:p>
          <a:p>
            <a:endParaRPr lang="en-US" dirty="0"/>
          </a:p>
          <a:p>
            <a:endParaRPr lang="en-US" sz="3200" dirty="0"/>
          </a:p>
          <a:p>
            <a:endParaRPr lang="en-US" dirty="0"/>
          </a:p>
          <a:p>
            <a:r>
              <a:rPr lang="en-US" dirty="0"/>
              <a:t>EOL Structure Example</a:t>
            </a:r>
            <a:endParaRPr lang="en-US" sz="1600" dirty="0"/>
          </a:p>
          <a:p>
            <a:endParaRPr lang="en-US" sz="1600" dirty="0"/>
          </a:p>
          <a:p>
            <a:endParaRPr lang="en-US" sz="1600" dirty="0"/>
          </a:p>
          <a:p>
            <a:r>
              <a:rPr lang="en-US" sz="3200" dirty="0"/>
              <a:t>PM110-Z8-2ADF-</a:t>
            </a:r>
            <a:r>
              <a:rPr lang="en-US" sz="3200" dirty="0" b="1">
                <a:solidFill>
                  <a:srgbClr val="C00000"/>
                </a:solidFill>
                <a:highlight>
                  <a:srgbClr val="FFFF00"/>
                </a:highlight>
              </a:rPr>
              <a:t>E</a:t>
            </a:r>
            <a:r>
              <a:rPr lang="en-US" sz="3200" dirty="0"/>
              <a:t>-UNI-</a:t>
            </a:r>
            <a:r>
              <a:rPr lang="en-US" sz="3200" dirty="0" b="1">
                <a:solidFill>
                  <a:srgbClr val="C00000"/>
                </a:solidFill>
                <a:highlight>
                  <a:srgbClr val="FFFF00"/>
                </a:highlight>
              </a:rPr>
              <a:t>0X0-IXI-SH-A:</a:t>
            </a:r>
            <a:r>
              <a:rPr lang="en-US" sz="3200" dirty="0"/>
              <a:t>NOM_TCxx_y</a:t>
            </a:r>
          </a:p>
        </p:txBody>
      </p:sp>
      <p:sp>
        <p:nvSpPr>
          <p:cNvPr id="5" name="TextBox 4">
            <a:extLst>
              <a:ext uri="{FF2B5EF4-FFF2-40B4-BE49-F238E27FC236}">
                <a16:creationId xmlns:a16="http://schemas.microsoft.com/office/drawing/2014/main" id="{20526273-8E21-8DEE-6E1D-0EF05C0BC6FE}"/>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6" name="TextBox 5">
            <a:extLst>
              <a:ext uri="{FF2B5EF4-FFF2-40B4-BE49-F238E27FC236}">
                <a16:creationId xmlns:a16="http://schemas.microsoft.com/office/drawing/2014/main" id="{E938841E-063B-AC38-A6A8-FB0CE826F66E}"/>
              </a:ext>
            </a:extLst>
          </p:cNvPr>
          <p:cNvSpPr txBox="1"/>
          <p:nvPr/>
        </p:nvSpPr>
        <p:spPr>
          <a:xfrm>
            <a:off x="469357" y="2252690"/>
            <a:ext cx="1202018" cy="276999"/>
          </a:xfrm>
          <a:prstGeom prst="rect">
            <a:avLst/>
          </a:prstGeom>
          <a:noFill/>
        </p:spPr>
        <p:txBody>
          <a:bodyPr wrap="square" rtlCol="0">
            <a:spAutoFit/>
          </a:bodyPr>
          <a:lstStyle/>
          <a:p>
            <a:pPr algn="ctr"/>
            <a:r>
              <a:rPr lang="en-US" sz="1200">
                <a:solidFill>
                  <a:schemeClr val="accent4">
                    <a:lumMod val="75000"/>
                  </a:schemeClr>
                </a:solidFill>
              </a:rPr>
              <a:t>Miller</a:t>
            </a:r>
          </a:p>
        </p:txBody>
      </p:sp>
      <p:sp>
        <p:nvSpPr>
          <p:cNvPr id="7" name="TextBox 6">
            <a:extLst>
              <a:ext uri="{FF2B5EF4-FFF2-40B4-BE49-F238E27FC236}">
                <a16:creationId xmlns:a16="http://schemas.microsoft.com/office/drawing/2014/main" id="{7AC1FBD6-42B5-E087-6FB3-B6FE369D181B}"/>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9" name="TextBox 8">
            <a:extLst>
              <a:ext uri="{FF2B5EF4-FFF2-40B4-BE49-F238E27FC236}">
                <a16:creationId xmlns:a16="http://schemas.microsoft.com/office/drawing/2014/main" id="{10277F87-0546-404B-6A04-C703C16E09E4}"/>
              </a:ext>
            </a:extLst>
          </p:cNvPr>
          <p:cNvSpPr txBox="1"/>
          <p:nvPr/>
        </p:nvSpPr>
        <p:spPr>
          <a:xfrm>
            <a:off x="3882532" y="2886431"/>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1" name="TextBox 10">
            <a:extLst>
              <a:ext uri="{FF2B5EF4-FFF2-40B4-BE49-F238E27FC236}">
                <a16:creationId xmlns:a16="http://schemas.microsoft.com/office/drawing/2014/main" id="{3DAFD32A-D594-42B8-FE84-FFE090F607ED}"/>
              </a:ext>
            </a:extLst>
          </p:cNvPr>
          <p:cNvSpPr txBox="1"/>
          <p:nvPr/>
        </p:nvSpPr>
        <p:spPr>
          <a:xfrm>
            <a:off x="1722581" y="223767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2" name="TextBox 11">
            <a:extLst>
              <a:ext uri="{FF2B5EF4-FFF2-40B4-BE49-F238E27FC236}">
                <a16:creationId xmlns:a16="http://schemas.microsoft.com/office/drawing/2014/main" id="{C0CB1C27-487E-130E-94C9-089D47EE5BD9}"/>
              </a:ext>
            </a:extLst>
          </p:cNvPr>
          <p:cNvSpPr txBox="1"/>
          <p:nvPr/>
        </p:nvSpPr>
        <p:spPr>
          <a:xfrm>
            <a:off x="2526554" y="2139912"/>
            <a:ext cx="1355978" cy="461665"/>
          </a:xfrm>
          <a:prstGeom prst="rect">
            <a:avLst/>
          </a:prstGeom>
          <a:noFill/>
        </p:spPr>
        <p:txBody>
          <a:bodyPr wrap="square" rtlCol="0">
            <a:spAutoFit/>
          </a:bodyPr>
          <a:lstStyle/>
          <a:p>
            <a:pPr algn="ctr"/>
            <a:r>
              <a:rPr lang="en-US" sz="1200">
                <a:solidFill>
                  <a:schemeClr val="accent4">
                    <a:lumMod val="75000"/>
                  </a:schemeClr>
                </a:solidFill>
              </a:rPr>
              <a:t>#Active Diffusion Tracks</a:t>
            </a:r>
          </a:p>
        </p:txBody>
      </p:sp>
      <p:sp>
        <p:nvSpPr>
          <p:cNvPr id="14" name="TextBox 13">
            <a:extLst>
              <a:ext uri="{FF2B5EF4-FFF2-40B4-BE49-F238E27FC236}">
                <a16:creationId xmlns:a16="http://schemas.microsoft.com/office/drawing/2014/main" id="{FFFD55A8-83B5-564D-5AFB-8C1C477CB940}"/>
              </a:ext>
            </a:extLst>
          </p:cNvPr>
          <p:cNvSpPr txBox="1"/>
          <p:nvPr/>
        </p:nvSpPr>
        <p:spPr>
          <a:xfrm>
            <a:off x="5054293" y="2873305"/>
            <a:ext cx="1202018" cy="276999"/>
          </a:xfrm>
          <a:prstGeom prst="rect">
            <a:avLst/>
          </a:prstGeom>
          <a:noFill/>
        </p:spPr>
        <p:txBody>
          <a:bodyPr wrap="square" rtlCol="0">
            <a:spAutoFit/>
          </a:bodyPr>
          <a:lstStyle/>
          <a:p>
            <a:r>
              <a:rPr lang="en-US" sz="1200">
                <a:solidFill>
                  <a:schemeClr val="accent4">
                    <a:lumMod val="75000"/>
                  </a:schemeClr>
                </a:solidFill>
              </a:rPr>
              <a:t>Environment</a:t>
            </a:r>
          </a:p>
        </p:txBody>
      </p:sp>
      <p:sp>
        <p:nvSpPr>
          <p:cNvPr id="15" name="TextBox 14">
            <a:extLst>
              <a:ext uri="{FF2B5EF4-FFF2-40B4-BE49-F238E27FC236}">
                <a16:creationId xmlns:a16="http://schemas.microsoft.com/office/drawing/2014/main" id="{0ED2DE49-F249-333F-FD00-EF865F3E0492}"/>
              </a:ext>
            </a:extLst>
          </p:cNvPr>
          <p:cNvSpPr txBox="1"/>
          <p:nvPr/>
        </p:nvSpPr>
        <p:spPr>
          <a:xfrm>
            <a:off x="7783723" y="2886431"/>
            <a:ext cx="1557532" cy="276999"/>
          </a:xfrm>
          <a:prstGeom prst="rect">
            <a:avLst/>
          </a:prstGeom>
          <a:noFill/>
        </p:spPr>
        <p:txBody>
          <a:bodyPr wrap="square" rtlCol="0">
            <a:spAutoFit/>
          </a:bodyPr>
          <a:lstStyle/>
          <a:p>
            <a:pPr algn="ctr"/>
            <a:r>
              <a:rPr lang="en-US" sz="1200" dirty="0">
                <a:solidFill>
                  <a:schemeClr val="accent4">
                    <a:lumMod val="75000"/>
                  </a:schemeClr>
                </a:solidFill>
              </a:rPr>
              <a:t>Test Chip</a:t>
            </a:r>
          </a:p>
        </p:txBody>
      </p:sp>
      <p:sp>
        <p:nvSpPr>
          <p:cNvPr id="16" name="TextBox 15">
            <a:extLst>
              <a:ext uri="{FF2B5EF4-FFF2-40B4-BE49-F238E27FC236}">
                <a16:creationId xmlns:a16="http://schemas.microsoft.com/office/drawing/2014/main" id="{19D34AD9-B08C-6CFD-EB81-AE8E5310BB2A}"/>
              </a:ext>
            </a:extLst>
          </p:cNvPr>
          <p:cNvSpPr txBox="1"/>
          <p:nvPr/>
        </p:nvSpPr>
        <p:spPr>
          <a:xfrm>
            <a:off x="8686092" y="2237677"/>
            <a:ext cx="1557532" cy="276999"/>
          </a:xfrm>
          <a:prstGeom prst="rect">
            <a:avLst/>
          </a:prstGeom>
          <a:noFill/>
        </p:spPr>
        <p:txBody>
          <a:bodyPr wrap="square" rtlCol="0">
            <a:spAutoFit/>
          </a:bodyPr>
          <a:lstStyle/>
          <a:p>
            <a:pPr algn="ctr"/>
            <a:r>
              <a:rPr lang="en-US" sz="1200" dirty="0">
                <a:solidFill>
                  <a:schemeClr val="accent4">
                    <a:lumMod val="75000"/>
                  </a:schemeClr>
                </a:solidFill>
              </a:rPr>
              <a:t>Row Instance</a:t>
            </a:r>
          </a:p>
        </p:txBody>
      </p:sp>
      <p:sp>
        <p:nvSpPr>
          <p:cNvPr id="17" name="TextBox 16">
            <a:extLst>
              <a:ext uri="{FF2B5EF4-FFF2-40B4-BE49-F238E27FC236}">
                <a16:creationId xmlns:a16="http://schemas.microsoft.com/office/drawing/2014/main" id="{492AA758-A4EF-C7AC-9AA0-DF5DC3CDAE74}"/>
              </a:ext>
            </a:extLst>
          </p:cNvPr>
          <p:cNvSpPr txBox="1"/>
          <p:nvPr/>
        </p:nvSpPr>
        <p:spPr>
          <a:xfrm>
            <a:off x="6010205" y="2267096"/>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Tree>
    <p:extLst>
      <p:ext uri="{BB962C8B-B14F-4D97-AF65-F5344CB8AC3E}">
        <p14:creationId xmlns:p14="http://schemas.microsoft.com/office/powerpoint/2010/main" val="234695740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3416-654F-ED95-15A8-B519E64C4D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9E81A-89B9-A0A9-468B-3C70D20D9CB1}"/>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3" name="TextBox 2">
            <a:extLst>
              <a:ext uri="{FF2B5EF4-FFF2-40B4-BE49-F238E27FC236}">
                <a16:creationId xmlns:a16="http://schemas.microsoft.com/office/drawing/2014/main" id="{615AB358-7DB0-CBB9-F1E2-DBC3A8FF5C1B}"/>
              </a:ext>
            </a:extLst>
          </p:cNvPr>
          <p:cNvSpPr txBox="1"/>
          <p:nvPr/>
        </p:nvSpPr>
        <p:spPr>
          <a:xfrm>
            <a:off x="376518" y="1306131"/>
            <a:ext cx="11438964" cy="4647426"/>
          </a:xfrm>
          <a:prstGeom prst="rect">
            <a:avLst/>
          </a:prstGeom>
          <a:noFill/>
        </p:spPr>
        <p:txBody>
          <a:bodyPr wrap="square">
            <a:spAutoFit/>
          </a:bodyPr>
          <a:lstStyle/>
          <a:p>
            <a:r>
              <a:rPr lang="en-US" dirty="0" err="1">
                <a:solidFill>
                  <a:schemeClr val="accent2">
                    <a:lumMod val="75000"/>
                  </a:schemeClr>
                </a:solidFill>
                <a:latin typeface="IntelOne Display Regular" panose="020B0503020203020204" pitchFamily="34" charset="0"/>
                <a:cs typeface="IntelOne Text TH Bold" panose="020B0803020203020204" pitchFamily="34" charset="-34"/>
              </a:rPr>
              <a:t>FailmodeCH</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a:t>
            </a:r>
            <a:r>
              <a:rPr lang="en-US" dirty="0" err="1">
                <a:solidFill>
                  <a:schemeClr val="accent2">
                    <a:lumMod val="75000"/>
                  </a:schemeClr>
                </a:solidFill>
                <a:latin typeface="IntelOne Display Regular" panose="020B0503020203020204" pitchFamily="34" charset="0"/>
                <a:cs typeface="IntelOne Text TH Bold" panose="020B0803020203020204" pitchFamily="34" charset="-34"/>
              </a:rPr>
              <a:t>PolarityDIFF</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a:t>
            </a:r>
            <a:r>
              <a:rPr lang="en-US" dirty="0" b="1">
                <a:solidFill>
                  <a:srgbClr val="C00000"/>
                </a:solidFill>
                <a:highlight>
                  <a:srgbClr val="FFFF00"/>
                </a:highlight>
                <a:latin typeface="IntelOne Display Regular" panose="020B0503020203020204" pitchFamily="34" charset="0"/>
                <a:cs typeface="IntelOne Text TH Bold" panose="020B0803020203020204" pitchFamily="34" charset="-34"/>
              </a:rPr>
              <a:t>NL-</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VT-</a:t>
            </a:r>
            <a:r>
              <a:rPr lang="en-US" dirty="0" b="1">
                <a:solidFill>
                  <a:srgbClr val="C00000"/>
                </a:solidFill>
                <a:highlight>
                  <a:srgbClr val="FFFF00"/>
                </a:highlight>
                <a:latin typeface="IntelOne Display Regular" panose="020B0503020203020204" pitchFamily="34" charset="0"/>
                <a:cs typeface="IntelOne Text TH Bold" panose="020B0803020203020204" pitchFamily="34" charset="-34"/>
              </a:rPr>
              <a:t>Type:Layer|NOM:Direction:SkewType:Magnitude[:Additional]</a:t>
            </a:r>
            <a:r>
              <a:rPr lang="en-US" dirty="0">
                <a:solidFill>
                  <a:schemeClr val="accent2">
                    <a:lumMod val="75000"/>
                  </a:schemeClr>
                </a:solidFill>
                <a:latin typeface="IntelOne Display Regular" panose="020B0503020203020204" pitchFamily="34" charset="0"/>
                <a:cs typeface="IntelOne Text TH Bold" panose="020B0803020203020204" pitchFamily="34" charset="-34"/>
              </a:rPr>
              <a:t>_TCxx_y</a:t>
            </a:r>
          </a:p>
          <a:p>
            <a:endParaRPr lang="en-US" sz="2400" dirty="0"/>
          </a:p>
          <a:p>
            <a:r>
              <a:rPr lang="en-US" sz="2800" dirty="0"/>
              <a:t>Examples:</a:t>
            </a:r>
          </a:p>
          <a:p>
            <a:endParaRPr lang="en-US" sz="2800" dirty="0"/>
          </a:p>
          <a:p>
            <a:r>
              <a:rPr lang="en-US" sz="3200" dirty="0"/>
              <a:t>CTGOGD132-NZ5-</a:t>
            </a:r>
            <a:r>
              <a:rPr lang="en-US" sz="3200" dirty="0" b="1">
                <a:solidFill>
                  <a:srgbClr val="C00000"/>
                </a:solidFill>
                <a:highlight>
                  <a:srgbClr val="FFFF00"/>
                </a:highlight>
              </a:rPr>
              <a:t>NL-UL</a:t>
            </a:r>
            <a:r>
              <a:rPr lang="en-US" sz="3200" dirty="0"/>
              <a:t>-A:TCP:OGD:REG:N7_TCxx_y</a:t>
            </a:r>
          </a:p>
          <a:p>
            <a:endParaRPr lang="en-US" sz="2800" dirty="0"/>
          </a:p>
          <a:p>
            <a:endParaRPr lang="en-US" sz="2800" dirty="0"/>
          </a:p>
          <a:p>
            <a:r>
              <a:rPr lang="en-US" sz="2800" dirty="0"/>
              <a:t>TCNETE165-NZ6-</a:t>
            </a:r>
            <a:r>
              <a:rPr lang="en-US" sz="2800" dirty="0" b="1">
                <a:solidFill>
                  <a:srgbClr val="C00000"/>
                </a:solidFill>
                <a:highlight>
                  <a:srgbClr val="FFFF00"/>
                </a:highlight>
              </a:rPr>
              <a:t>NL</a:t>
            </a:r>
            <a:r>
              <a:rPr lang="en-US" sz="2800" dirty="0"/>
              <a:t>-</a:t>
            </a:r>
            <a:r>
              <a:rPr lang="en-US" sz="2800" dirty="0" b="1">
                <a:solidFill>
                  <a:srgbClr val="C00000"/>
                </a:solidFill>
                <a:highlight>
                  <a:srgbClr val="FFFF00"/>
                </a:highlight>
              </a:rPr>
              <a:t>L-A:NOM</a:t>
            </a:r>
            <a:r>
              <a:rPr lang="en-US" sz="2800" dirty="0"/>
              <a:t>_TCxx_y</a:t>
            </a:r>
          </a:p>
          <a:p>
            <a:r>
              <a:rPr lang="en-US" sz="2800" dirty="0"/>
              <a:t>DIFFOGD110-PZ3-</a:t>
            </a:r>
            <a:r>
              <a:rPr lang="en-US" sz="2800" dirty="0" b="1">
                <a:solidFill>
                  <a:srgbClr val="C00000"/>
                </a:solidFill>
                <a:highlight>
                  <a:srgbClr val="FFFF00"/>
                </a:highlight>
              </a:rPr>
              <a:t>NL-S</a:t>
            </a:r>
            <a:r>
              <a:rPr lang="en-US" sz="2800" dirty="0"/>
              <a:t>-B:FTIML:OGD:CD:P2_TCxx_y</a:t>
            </a:r>
          </a:p>
          <a:p>
            <a:r>
              <a:rPr lang="en-US" sz="2800" dirty="0"/>
              <a:t>DIFFOGD110-PZ3-</a:t>
            </a:r>
            <a:r>
              <a:rPr lang="en-US" sz="2800" dirty="0" b="1">
                <a:solidFill>
                  <a:srgbClr val="C00000"/>
                </a:solidFill>
                <a:highlight>
                  <a:srgbClr val="FFFF00"/>
                </a:highlight>
              </a:rPr>
              <a:t>NL-S</a:t>
            </a:r>
            <a:r>
              <a:rPr lang="en-US" sz="2800" dirty="0"/>
              <a:t>-A:DPR:PGD:CD:N2_TCxx_y</a:t>
            </a:r>
          </a:p>
          <a:p>
            <a:endParaRPr lang="en-US" sz="2400" dirty="0"/>
          </a:p>
        </p:txBody>
      </p:sp>
      <p:sp>
        <p:nvSpPr>
          <p:cNvPr id="4" name="TextBox 3">
            <a:extLst>
              <a:ext uri="{FF2B5EF4-FFF2-40B4-BE49-F238E27FC236}">
                <a16:creationId xmlns:a16="http://schemas.microsoft.com/office/drawing/2014/main" id="{DB3D1962-80AB-A848-4334-B405C9527717}"/>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ISO-FE</a:t>
            </a:r>
          </a:p>
        </p:txBody>
      </p:sp>
      <p:sp>
        <p:nvSpPr>
          <p:cNvPr id="5" name="TextBox 4">
            <a:extLst>
              <a:ext uri="{FF2B5EF4-FFF2-40B4-BE49-F238E27FC236}">
                <a16:creationId xmlns:a16="http://schemas.microsoft.com/office/drawing/2014/main" id="{63237803-1CC5-BB42-2CEC-EAC453480ED0}"/>
              </a:ext>
            </a:extLst>
          </p:cNvPr>
          <p:cNvSpPr txBox="1"/>
          <p:nvPr/>
        </p:nvSpPr>
        <p:spPr>
          <a:xfrm>
            <a:off x="709795" y="3290500"/>
            <a:ext cx="1202018" cy="461665"/>
          </a:xfrm>
          <a:prstGeom prst="rect">
            <a:avLst/>
          </a:prstGeom>
          <a:noFill/>
        </p:spPr>
        <p:txBody>
          <a:bodyPr wrap="square" rtlCol="0">
            <a:spAutoFit/>
          </a:bodyPr>
          <a:lstStyle/>
          <a:p>
            <a:pPr algn="ctr"/>
            <a:r>
              <a:rPr lang="en-US" sz="1200">
                <a:solidFill>
                  <a:schemeClr val="accent4">
                    <a:lumMod val="75000"/>
                  </a:schemeClr>
                </a:solidFill>
              </a:rPr>
              <a:t>Fail Mode Segment</a:t>
            </a:r>
          </a:p>
        </p:txBody>
      </p:sp>
      <p:sp>
        <p:nvSpPr>
          <p:cNvPr id="6" name="TextBox 5">
            <a:extLst>
              <a:ext uri="{FF2B5EF4-FFF2-40B4-BE49-F238E27FC236}">
                <a16:creationId xmlns:a16="http://schemas.microsoft.com/office/drawing/2014/main" id="{160028E6-0FB5-4C6D-09BF-F371C8606815}"/>
              </a:ext>
            </a:extLst>
          </p:cNvPr>
          <p:cNvSpPr txBox="1"/>
          <p:nvPr/>
        </p:nvSpPr>
        <p:spPr>
          <a:xfrm>
            <a:off x="2063650" y="2643630"/>
            <a:ext cx="1202018" cy="276999"/>
          </a:xfrm>
          <a:prstGeom prst="rect">
            <a:avLst/>
          </a:prstGeom>
          <a:noFill/>
        </p:spPr>
        <p:txBody>
          <a:bodyPr wrap="square" rtlCol="0">
            <a:spAutoFit/>
          </a:bodyPr>
          <a:lstStyle/>
          <a:p>
            <a:pPr algn="ctr"/>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C5D584C5-125C-CC62-B47D-C25E0BF1A062}"/>
              </a:ext>
            </a:extLst>
          </p:cNvPr>
          <p:cNvSpPr txBox="1"/>
          <p:nvPr/>
        </p:nvSpPr>
        <p:spPr>
          <a:xfrm>
            <a:off x="3265668" y="265226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9" name="TextBox 8">
            <a:extLst>
              <a:ext uri="{FF2B5EF4-FFF2-40B4-BE49-F238E27FC236}">
                <a16:creationId xmlns:a16="http://schemas.microsoft.com/office/drawing/2014/main" id="{9192C8FF-7544-CA44-B058-BF327F48024E}"/>
              </a:ext>
            </a:extLst>
          </p:cNvPr>
          <p:cNvSpPr txBox="1"/>
          <p:nvPr/>
        </p:nvSpPr>
        <p:spPr>
          <a:xfrm>
            <a:off x="9669750" y="2643629"/>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0" name="TextBox 9">
            <a:extLst>
              <a:ext uri="{FF2B5EF4-FFF2-40B4-BE49-F238E27FC236}">
                <a16:creationId xmlns:a16="http://schemas.microsoft.com/office/drawing/2014/main" id="{9AED4A13-D268-730B-6410-800388C30826}"/>
              </a:ext>
            </a:extLst>
          </p:cNvPr>
          <p:cNvSpPr txBox="1"/>
          <p:nvPr/>
        </p:nvSpPr>
        <p:spPr>
          <a:xfrm>
            <a:off x="10780038" y="3293686"/>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1" name="TextBox 10">
            <a:extLst>
              <a:ext uri="{FF2B5EF4-FFF2-40B4-BE49-F238E27FC236}">
                <a16:creationId xmlns:a16="http://schemas.microsoft.com/office/drawing/2014/main" id="{BF7E8A9B-35E9-8B58-CBFA-64CAC53316B7}"/>
              </a:ext>
            </a:extLst>
          </p:cNvPr>
          <p:cNvSpPr txBox="1"/>
          <p:nvPr/>
        </p:nvSpPr>
        <p:spPr>
          <a:xfrm>
            <a:off x="2781036" y="3293686"/>
            <a:ext cx="109889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12" name="TextBox 11">
            <a:extLst>
              <a:ext uri="{FF2B5EF4-FFF2-40B4-BE49-F238E27FC236}">
                <a16:creationId xmlns:a16="http://schemas.microsoft.com/office/drawing/2014/main" id="{6F5F1BFF-9592-B1CC-2215-39F5331FE491}"/>
              </a:ext>
            </a:extLst>
          </p:cNvPr>
          <p:cNvSpPr txBox="1"/>
          <p:nvPr/>
        </p:nvSpPr>
        <p:spPr>
          <a:xfrm>
            <a:off x="4529227" y="3350151"/>
            <a:ext cx="1098892" cy="276999"/>
          </a:xfrm>
          <a:prstGeom prst="rect">
            <a:avLst/>
          </a:prstGeom>
          <a:noFill/>
        </p:spPr>
        <p:txBody>
          <a:bodyPr wrap="square" rtlCol="0">
            <a:spAutoFit/>
          </a:bodyPr>
          <a:lstStyle/>
          <a:p>
            <a:pPr algn="ctr"/>
            <a:r>
              <a:rPr lang="en-US" sz="1200">
                <a:solidFill>
                  <a:schemeClr val="accent4">
                    <a:lumMod val="75000"/>
                  </a:schemeClr>
                </a:solidFill>
              </a:rPr>
              <a:t>Metal Gate</a:t>
            </a:r>
          </a:p>
        </p:txBody>
      </p:sp>
      <p:sp>
        <p:nvSpPr>
          <p:cNvPr id="13" name="TextBox 12">
            <a:extLst>
              <a:ext uri="{FF2B5EF4-FFF2-40B4-BE49-F238E27FC236}">
                <a16:creationId xmlns:a16="http://schemas.microsoft.com/office/drawing/2014/main" id="{A90688DB-FBE7-1FA5-EAD7-3105C4D70F73}"/>
              </a:ext>
            </a:extLst>
          </p:cNvPr>
          <p:cNvSpPr txBox="1"/>
          <p:nvPr/>
        </p:nvSpPr>
        <p:spPr>
          <a:xfrm>
            <a:off x="6366182" y="2652267"/>
            <a:ext cx="1098892" cy="276999"/>
          </a:xfrm>
          <a:prstGeom prst="rect">
            <a:avLst/>
          </a:prstGeom>
          <a:noFill/>
        </p:spPr>
        <p:txBody>
          <a:bodyPr wrap="square" rtlCol="0">
            <a:spAutoFit/>
          </a:bodyPr>
          <a:lstStyle/>
          <a:p>
            <a:pPr algn="ctr"/>
            <a:r>
              <a:rPr lang="en-US" sz="1200">
                <a:solidFill>
                  <a:schemeClr val="accent4">
                    <a:lumMod val="75000"/>
                  </a:schemeClr>
                </a:solidFill>
              </a:rPr>
              <a:t>TSDR Layer</a:t>
            </a:r>
          </a:p>
        </p:txBody>
      </p:sp>
      <p:sp>
        <p:nvSpPr>
          <p:cNvPr id="14" name="TextBox 13">
            <a:extLst>
              <a:ext uri="{FF2B5EF4-FFF2-40B4-BE49-F238E27FC236}">
                <a16:creationId xmlns:a16="http://schemas.microsoft.com/office/drawing/2014/main" id="{E348F6A2-97D4-AB15-071B-FB75BC4891FD}"/>
              </a:ext>
            </a:extLst>
          </p:cNvPr>
          <p:cNvSpPr txBox="1"/>
          <p:nvPr/>
        </p:nvSpPr>
        <p:spPr>
          <a:xfrm>
            <a:off x="6915628" y="3293686"/>
            <a:ext cx="1098892" cy="276999"/>
          </a:xfrm>
          <a:prstGeom prst="rect">
            <a:avLst/>
          </a:prstGeom>
          <a:noFill/>
        </p:spPr>
        <p:txBody>
          <a:bodyPr wrap="square" rtlCol="0">
            <a:spAutoFit/>
          </a:bodyPr>
          <a:lstStyle/>
          <a:p>
            <a:pPr algn="ctr"/>
            <a:r>
              <a:rPr lang="en-US" sz="1200">
                <a:solidFill>
                  <a:schemeClr val="accent4">
                    <a:lumMod val="75000"/>
                  </a:schemeClr>
                </a:solidFill>
              </a:rPr>
              <a:t>Direction</a:t>
            </a:r>
          </a:p>
        </p:txBody>
      </p:sp>
      <p:sp>
        <p:nvSpPr>
          <p:cNvPr id="15" name="TextBox 14">
            <a:extLst>
              <a:ext uri="{FF2B5EF4-FFF2-40B4-BE49-F238E27FC236}">
                <a16:creationId xmlns:a16="http://schemas.microsoft.com/office/drawing/2014/main" id="{ED5D8518-46F8-0517-794D-615CCC1E74AC}"/>
              </a:ext>
            </a:extLst>
          </p:cNvPr>
          <p:cNvSpPr txBox="1"/>
          <p:nvPr/>
        </p:nvSpPr>
        <p:spPr>
          <a:xfrm>
            <a:off x="8181709" y="2652267"/>
            <a:ext cx="1098892" cy="276999"/>
          </a:xfrm>
          <a:prstGeom prst="rect">
            <a:avLst/>
          </a:prstGeom>
          <a:noFill/>
        </p:spPr>
        <p:txBody>
          <a:bodyPr wrap="square" rtlCol="0">
            <a:spAutoFit/>
          </a:bodyPr>
          <a:lstStyle/>
          <a:p>
            <a:pPr algn="ctr"/>
            <a:r>
              <a:rPr lang="en-US" sz="1200">
                <a:solidFill>
                  <a:schemeClr val="accent4">
                    <a:lumMod val="75000"/>
                  </a:schemeClr>
                </a:solidFill>
              </a:rPr>
              <a:t>Skew Type</a:t>
            </a:r>
          </a:p>
        </p:txBody>
      </p:sp>
      <p:sp>
        <p:nvSpPr>
          <p:cNvPr id="16" name="TextBox 15">
            <a:extLst>
              <a:ext uri="{FF2B5EF4-FFF2-40B4-BE49-F238E27FC236}">
                <a16:creationId xmlns:a16="http://schemas.microsoft.com/office/drawing/2014/main" id="{7EBEF1A3-E41A-3749-D30C-F800E5C78110}"/>
              </a:ext>
            </a:extLst>
          </p:cNvPr>
          <p:cNvSpPr txBox="1"/>
          <p:nvPr/>
        </p:nvSpPr>
        <p:spPr>
          <a:xfrm>
            <a:off x="8902382" y="3301021"/>
            <a:ext cx="1557532" cy="276999"/>
          </a:xfrm>
          <a:prstGeom prst="rect">
            <a:avLst/>
          </a:prstGeom>
          <a:noFill/>
        </p:spPr>
        <p:txBody>
          <a:bodyPr wrap="square" rtlCol="0">
            <a:spAutoFit/>
          </a:bodyPr>
          <a:lstStyle/>
          <a:p>
            <a:pPr algn="ctr"/>
            <a:r>
              <a:rPr lang="en-US" sz="1200">
                <a:solidFill>
                  <a:schemeClr val="accent4">
                    <a:lumMod val="75000"/>
                  </a:schemeClr>
                </a:solidFill>
              </a:rPr>
              <a:t>Magnitude</a:t>
            </a:r>
          </a:p>
        </p:txBody>
      </p:sp>
      <p:sp>
        <p:nvSpPr>
          <p:cNvPr id="8" name="TextBox 7">
            <a:extLst>
              <a:ext uri="{FF2B5EF4-FFF2-40B4-BE49-F238E27FC236}">
                <a16:creationId xmlns:a16="http://schemas.microsoft.com/office/drawing/2014/main" id="{7F2720E2-27C8-A4DA-3066-1A2A40859BC4}"/>
              </a:ext>
            </a:extLst>
          </p:cNvPr>
          <p:cNvSpPr txBox="1"/>
          <p:nvPr/>
        </p:nvSpPr>
        <p:spPr>
          <a:xfrm>
            <a:off x="5628119" y="2643628"/>
            <a:ext cx="1098892" cy="276999"/>
          </a:xfrm>
          <a:prstGeom prst="rect">
            <a:avLst/>
          </a:prstGeom>
          <a:noFill/>
        </p:spPr>
        <p:txBody>
          <a:bodyPr wrap="square" rtlCol="0">
            <a:spAutoFit/>
          </a:bodyPr>
          <a:lstStyle/>
          <a:p>
            <a:pPr algn="ctr"/>
            <a:r>
              <a:rPr lang="en-US" sz="1200">
                <a:solidFill>
                  <a:schemeClr val="accent4">
                    <a:lumMod val="75000"/>
                  </a:schemeClr>
                </a:solidFill>
              </a:rPr>
              <a:t>Type</a:t>
            </a:r>
          </a:p>
        </p:txBody>
      </p:sp>
    </p:spTree>
    <p:extLst>
      <p:ext uri="{BB962C8B-B14F-4D97-AF65-F5344CB8AC3E}">
        <p14:creationId xmlns:p14="http://schemas.microsoft.com/office/powerpoint/2010/main" val="24773124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15E89-ABB8-25A2-EADB-66C92A149E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967A1-2ABE-8F41-9C25-0FAB612263BA}"/>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3" name="TextBox 2">
            <a:extLst>
              <a:ext uri="{FF2B5EF4-FFF2-40B4-BE49-F238E27FC236}">
                <a16:creationId xmlns:a16="http://schemas.microsoft.com/office/drawing/2014/main" id="{BF878AB7-3745-6D8F-B0EB-D29CF340D587}"/>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ADT</a:t>
            </a:r>
          </a:p>
        </p:txBody>
      </p:sp>
      <p:sp>
        <p:nvSpPr>
          <p:cNvPr id="48" name="TextBox 47">
            <a:extLst>
              <a:ext uri="{FF2B5EF4-FFF2-40B4-BE49-F238E27FC236}">
                <a16:creationId xmlns:a16="http://schemas.microsoft.com/office/drawing/2014/main" id="{C93E8F51-F444-BE2A-DEDE-729431EEC8A5}"/>
              </a:ext>
            </a:extLst>
          </p:cNvPr>
          <p:cNvSpPr txBox="1"/>
          <p:nvPr/>
        </p:nvSpPr>
        <p:spPr>
          <a:xfrm>
            <a:off x="457200" y="1267777"/>
            <a:ext cx="11438964" cy="4031873"/>
          </a:xfrm>
          <a:prstGeom prst="rect">
            <a:avLst/>
          </a:prstGeom>
          <a:noFill/>
        </p:spPr>
        <p:txBody>
          <a:bodyPr wrap="square">
            <a:spAutoFit/>
          </a:bodyPr>
          <a:lstStyle/>
          <a:p>
            <a:r>
              <a:rPr lang="en-US" sz="1200">
                <a:solidFill>
                  <a:schemeClr val="accent2">
                    <a:lumMod val="75000"/>
                  </a:schemeClr>
                </a:solidFill>
                <a:latin typeface="IntelOne Display Regular" panose="020B0503020203020204" pitchFamily="34" charset="0"/>
              </a:rPr>
              <a:t>TESTNAME_CATEGORYCELLHEIGHT-DIFF-LEGS-VT-Environment-FTI-ISO-LayoutHeight-</a:t>
            </a:r>
            <a:r>
              <a:rPr lang="en-US" sz="1200" b="1">
                <a:solidFill>
                  <a:srgbClr val="C00000"/>
                </a:solidFill>
                <a:highlight>
                  <a:srgbClr val="FFFF00"/>
                </a:highlight>
                <a:latin typeface="IntelOne Display Regular" panose="020B0503020203020204" pitchFamily="34" charset="0"/>
              </a:rPr>
              <a:t>Type:NOM|Type:Skew</a:t>
            </a:r>
            <a:r>
              <a:rPr lang="en-US" sz="1200">
                <a:solidFill>
                  <a:schemeClr val="accent2">
                    <a:lumMod val="75000"/>
                  </a:schemeClr>
                </a:solidFill>
                <a:latin typeface="IntelOne Display Regular" panose="020B0503020203020204" pitchFamily="34" charset="0"/>
              </a:rPr>
              <a:t>-</a:t>
            </a:r>
            <a:r>
              <a:rPr lang="en-US" sz="1200" err="1">
                <a:solidFill>
                  <a:schemeClr val="accent2">
                    <a:lumMod val="75000"/>
                  </a:schemeClr>
                </a:solidFill>
                <a:latin typeface="IntelOne Display Regular" panose="020B0503020203020204" pitchFamily="34" charset="0"/>
              </a:rPr>
              <a:t>Additional_TCxx_Count</a:t>
            </a:r>
            <a:endParaRPr lang="en-US" sz="1400">
              <a:solidFill>
                <a:schemeClr val="accent2">
                  <a:lumMod val="75000"/>
                </a:schemeClr>
              </a:solidFill>
              <a:latin typeface="IntelOne Display Regular" panose="020B0503020203020204" pitchFamily="34" charset="0"/>
            </a:endParaRPr>
          </a:p>
          <a:p>
            <a:endParaRPr lang="en-US" sz="1600"/>
          </a:p>
          <a:p>
            <a:r>
              <a:rPr lang="en-US" sz="1600"/>
              <a:t>Inline Structure Example</a:t>
            </a:r>
          </a:p>
          <a:p>
            <a:endParaRPr lang="en-US" sz="1600"/>
          </a:p>
          <a:p>
            <a:endParaRPr lang="en-US" sz="1600"/>
          </a:p>
          <a:p>
            <a:r>
              <a:rPr lang="en-US" sz="2800"/>
              <a:t>PS165-Z6-1L-</a:t>
            </a:r>
            <a:r>
              <a:rPr lang="en-US" sz="2800" b="1">
                <a:solidFill>
                  <a:srgbClr val="C00000"/>
                </a:solidFill>
                <a:highlight>
                  <a:srgbClr val="FFFF00"/>
                </a:highlight>
              </a:rPr>
              <a:t>L</a:t>
            </a:r>
            <a:r>
              <a:rPr lang="en-US" sz="2800"/>
              <a:t>-</a:t>
            </a:r>
            <a:r>
              <a:rPr lang="en-US" sz="2800" b="1">
                <a:solidFill>
                  <a:srgbClr val="C00000"/>
                </a:solidFill>
                <a:highlight>
                  <a:srgbClr val="FFFF00"/>
                </a:highlight>
              </a:rPr>
              <a:t>ADTUNI</a:t>
            </a:r>
            <a:r>
              <a:rPr lang="en-US" sz="2800"/>
              <a:t>-3X3-IXI-DH</a:t>
            </a:r>
            <a:r>
              <a:rPr lang="en-US" sz="2800"/>
              <a:t>-48X-STK_TCxx_y</a:t>
            </a:r>
          </a:p>
          <a:p>
            <a:endParaRPr lang="en-US"/>
          </a:p>
          <a:p>
            <a:endParaRPr lang="en-US" sz="3200"/>
          </a:p>
          <a:p>
            <a:endParaRPr lang="en-US"/>
          </a:p>
          <a:p>
            <a:r>
              <a:rPr lang="en-US"/>
              <a:t>EOL Structure Example</a:t>
            </a:r>
            <a:endParaRPr lang="en-US" sz="1600"/>
          </a:p>
          <a:p>
            <a:endParaRPr lang="en-US" sz="1600"/>
          </a:p>
          <a:p>
            <a:endParaRPr lang="en-US" sz="1600"/>
          </a:p>
          <a:p>
            <a:r>
              <a:rPr lang="en-US" sz="3200"/>
              <a:t>NS110-Z8-1L-</a:t>
            </a:r>
            <a:r>
              <a:rPr lang="en-US" sz="3200" b="1">
                <a:solidFill>
                  <a:srgbClr val="C00000"/>
                </a:solidFill>
                <a:highlight>
                  <a:srgbClr val="FFFF00"/>
                </a:highlight>
              </a:rPr>
              <a:t>L</a:t>
            </a:r>
            <a:r>
              <a:rPr lang="en-US" sz="3200"/>
              <a:t>-</a:t>
            </a:r>
            <a:r>
              <a:rPr lang="en-US" sz="3200" b="1">
                <a:solidFill>
                  <a:srgbClr val="C00000"/>
                </a:solidFill>
                <a:highlight>
                  <a:srgbClr val="FFFF00"/>
                </a:highlight>
              </a:rPr>
              <a:t>ADTUNI</a:t>
            </a:r>
            <a:r>
              <a:rPr lang="en-US" sz="3200"/>
              <a:t>-3X3-IXI-DH-4X-STK_TCxx_y</a:t>
            </a:r>
          </a:p>
        </p:txBody>
      </p:sp>
      <p:sp>
        <p:nvSpPr>
          <p:cNvPr id="4" name="TextBox 3">
            <a:extLst>
              <a:ext uri="{FF2B5EF4-FFF2-40B4-BE49-F238E27FC236}">
                <a16:creationId xmlns:a16="http://schemas.microsoft.com/office/drawing/2014/main" id="{342D9EAF-BCDD-51CE-6A4C-EBBE08240D51}"/>
              </a:ext>
            </a:extLst>
          </p:cNvPr>
          <p:cNvSpPr txBox="1"/>
          <p:nvPr/>
        </p:nvSpPr>
        <p:spPr>
          <a:xfrm>
            <a:off x="344035" y="2875910"/>
            <a:ext cx="833717" cy="276999"/>
          </a:xfrm>
          <a:prstGeom prst="rect">
            <a:avLst/>
          </a:prstGeom>
          <a:noFill/>
        </p:spPr>
        <p:txBody>
          <a:bodyPr wrap="square" rtlCol="0">
            <a:spAutoFit/>
          </a:bodyPr>
          <a:lstStyle/>
          <a:p>
            <a:r>
              <a:rPr lang="en-US" sz="1200">
                <a:solidFill>
                  <a:schemeClr val="accent4">
                    <a:lumMod val="75000"/>
                  </a:schemeClr>
                </a:solidFill>
              </a:rPr>
              <a:t>Polarity</a:t>
            </a:r>
          </a:p>
        </p:txBody>
      </p:sp>
      <p:sp>
        <p:nvSpPr>
          <p:cNvPr id="5" name="TextBox 4">
            <a:extLst>
              <a:ext uri="{FF2B5EF4-FFF2-40B4-BE49-F238E27FC236}">
                <a16:creationId xmlns:a16="http://schemas.microsoft.com/office/drawing/2014/main" id="{0E9DFF2D-B65E-A052-DC93-E8997C160F1A}"/>
              </a:ext>
            </a:extLst>
          </p:cNvPr>
          <p:cNvSpPr txBox="1"/>
          <p:nvPr/>
        </p:nvSpPr>
        <p:spPr>
          <a:xfrm>
            <a:off x="295836" y="2237677"/>
            <a:ext cx="1202018" cy="276999"/>
          </a:xfrm>
          <a:prstGeom prst="rect">
            <a:avLst/>
          </a:prstGeom>
          <a:noFill/>
        </p:spPr>
        <p:txBody>
          <a:bodyPr wrap="square" rtlCol="0">
            <a:spAutoFit/>
          </a:bodyPr>
          <a:lstStyle/>
          <a:p>
            <a:pPr algn="ctr"/>
            <a:r>
              <a:rPr lang="en-US" sz="1200">
                <a:solidFill>
                  <a:schemeClr val="accent4">
                    <a:lumMod val="75000"/>
                  </a:schemeClr>
                </a:solidFill>
              </a:rPr>
              <a:t>PFT</a:t>
            </a:r>
          </a:p>
        </p:txBody>
      </p:sp>
      <p:sp>
        <p:nvSpPr>
          <p:cNvPr id="6" name="TextBox 5">
            <a:extLst>
              <a:ext uri="{FF2B5EF4-FFF2-40B4-BE49-F238E27FC236}">
                <a16:creationId xmlns:a16="http://schemas.microsoft.com/office/drawing/2014/main" id="{EB1F8C55-02FC-63D5-911B-E46EE278B667}"/>
              </a:ext>
            </a:extLst>
          </p:cNvPr>
          <p:cNvSpPr txBox="1"/>
          <p:nvPr/>
        </p:nvSpPr>
        <p:spPr>
          <a:xfrm>
            <a:off x="1027202" y="2875908"/>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7" name="TextBox 6">
            <a:extLst>
              <a:ext uri="{FF2B5EF4-FFF2-40B4-BE49-F238E27FC236}">
                <a16:creationId xmlns:a16="http://schemas.microsoft.com/office/drawing/2014/main" id="{648A5E8E-5D19-8395-57B4-863ECE34DDA7}"/>
              </a:ext>
            </a:extLst>
          </p:cNvPr>
          <p:cNvSpPr txBox="1"/>
          <p:nvPr/>
        </p:nvSpPr>
        <p:spPr>
          <a:xfrm>
            <a:off x="4627473" y="2237677"/>
            <a:ext cx="833717" cy="276999"/>
          </a:xfrm>
          <a:prstGeom prst="rect">
            <a:avLst/>
          </a:prstGeom>
          <a:noFill/>
        </p:spPr>
        <p:txBody>
          <a:bodyPr wrap="square" rtlCol="0">
            <a:spAutoFit/>
          </a:bodyPr>
          <a:lstStyle/>
          <a:p>
            <a:r>
              <a:rPr lang="en-US" sz="1200">
                <a:solidFill>
                  <a:schemeClr val="accent4">
                    <a:lumMod val="75000"/>
                  </a:schemeClr>
                </a:solidFill>
              </a:rPr>
              <a:t>Nesting</a:t>
            </a:r>
          </a:p>
        </p:txBody>
      </p:sp>
      <p:sp>
        <p:nvSpPr>
          <p:cNvPr id="8" name="TextBox 7">
            <a:extLst>
              <a:ext uri="{FF2B5EF4-FFF2-40B4-BE49-F238E27FC236}">
                <a16:creationId xmlns:a16="http://schemas.microsoft.com/office/drawing/2014/main" id="{ACF86D25-4C6B-32EE-B088-30FCF7918D6C}"/>
              </a:ext>
            </a:extLst>
          </p:cNvPr>
          <p:cNvSpPr txBox="1"/>
          <p:nvPr/>
        </p:nvSpPr>
        <p:spPr>
          <a:xfrm>
            <a:off x="2654501" y="2886431"/>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9" name="TextBox 8">
            <a:extLst>
              <a:ext uri="{FF2B5EF4-FFF2-40B4-BE49-F238E27FC236}">
                <a16:creationId xmlns:a16="http://schemas.microsoft.com/office/drawing/2014/main" id="{2B830AB3-33D9-D0C3-4367-1646C415169F}"/>
              </a:ext>
            </a:extLst>
          </p:cNvPr>
          <p:cNvSpPr txBox="1"/>
          <p:nvPr/>
        </p:nvSpPr>
        <p:spPr>
          <a:xfrm>
            <a:off x="5521522" y="2139912"/>
            <a:ext cx="1557532" cy="461665"/>
          </a:xfrm>
          <a:prstGeom prst="rect">
            <a:avLst/>
          </a:prstGeom>
          <a:noFill/>
        </p:spPr>
        <p:txBody>
          <a:bodyPr wrap="square" rtlCol="0">
            <a:spAutoFit/>
          </a:bodyPr>
          <a:lstStyle/>
          <a:p>
            <a:pPr algn="ctr"/>
            <a:r>
              <a:rPr lang="en-US" sz="1200">
                <a:solidFill>
                  <a:schemeClr val="accent4">
                    <a:lumMod val="75000"/>
                  </a:schemeClr>
                </a:solidFill>
              </a:rPr>
              <a:t>Single/Double Height Cell</a:t>
            </a:r>
          </a:p>
        </p:txBody>
      </p:sp>
      <p:sp>
        <p:nvSpPr>
          <p:cNvPr id="10" name="TextBox 9">
            <a:extLst>
              <a:ext uri="{FF2B5EF4-FFF2-40B4-BE49-F238E27FC236}">
                <a16:creationId xmlns:a16="http://schemas.microsoft.com/office/drawing/2014/main" id="{C439C14C-CBDE-D75A-10F2-9B62700D6929}"/>
              </a:ext>
            </a:extLst>
          </p:cNvPr>
          <p:cNvSpPr txBox="1"/>
          <p:nvPr/>
        </p:nvSpPr>
        <p:spPr>
          <a:xfrm>
            <a:off x="1468352" y="2237677"/>
            <a:ext cx="1098892" cy="276999"/>
          </a:xfrm>
          <a:prstGeom prst="rect">
            <a:avLst/>
          </a:prstGeom>
          <a:noFill/>
        </p:spPr>
        <p:txBody>
          <a:bodyPr wrap="square" rtlCol="0">
            <a:spAutoFit/>
          </a:bodyPr>
          <a:lstStyle/>
          <a:p>
            <a:pPr algn="ctr"/>
            <a:r>
              <a:rPr lang="en-US" sz="1200">
                <a:solidFill>
                  <a:schemeClr val="accent4">
                    <a:lumMod val="75000"/>
                  </a:schemeClr>
                </a:solidFill>
              </a:rPr>
              <a:t>LNR</a:t>
            </a:r>
          </a:p>
        </p:txBody>
      </p:sp>
      <p:sp>
        <p:nvSpPr>
          <p:cNvPr id="11" name="TextBox 10">
            <a:extLst>
              <a:ext uri="{FF2B5EF4-FFF2-40B4-BE49-F238E27FC236}">
                <a16:creationId xmlns:a16="http://schemas.microsoft.com/office/drawing/2014/main" id="{97CAC536-194F-71A8-96DC-9D36D4EDF2B7}"/>
              </a:ext>
            </a:extLst>
          </p:cNvPr>
          <p:cNvSpPr txBox="1"/>
          <p:nvPr/>
        </p:nvSpPr>
        <p:spPr>
          <a:xfrm>
            <a:off x="2278530" y="2237677"/>
            <a:ext cx="135597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2" name="TextBox 11">
            <a:extLst>
              <a:ext uri="{FF2B5EF4-FFF2-40B4-BE49-F238E27FC236}">
                <a16:creationId xmlns:a16="http://schemas.microsoft.com/office/drawing/2014/main" id="{079E17A8-BFC0-E207-6BD0-64684CA4F8FD}"/>
              </a:ext>
            </a:extLst>
          </p:cNvPr>
          <p:cNvSpPr txBox="1"/>
          <p:nvPr/>
        </p:nvSpPr>
        <p:spPr>
          <a:xfrm>
            <a:off x="5270762" y="2886431"/>
            <a:ext cx="833717" cy="276999"/>
          </a:xfrm>
          <a:prstGeom prst="rect">
            <a:avLst/>
          </a:prstGeom>
          <a:noFill/>
        </p:spPr>
        <p:txBody>
          <a:bodyPr wrap="square" rtlCol="0">
            <a:spAutoFit/>
          </a:bodyPr>
          <a:lstStyle/>
          <a:p>
            <a:r>
              <a:rPr lang="en-US" sz="1200">
                <a:solidFill>
                  <a:schemeClr val="accent4">
                    <a:lumMod val="75000"/>
                  </a:schemeClr>
                </a:solidFill>
              </a:rPr>
              <a:t>Isolation</a:t>
            </a:r>
          </a:p>
        </p:txBody>
      </p:sp>
      <p:sp>
        <p:nvSpPr>
          <p:cNvPr id="13" name="TextBox 12">
            <a:extLst>
              <a:ext uri="{FF2B5EF4-FFF2-40B4-BE49-F238E27FC236}">
                <a16:creationId xmlns:a16="http://schemas.microsoft.com/office/drawing/2014/main" id="{2E3C9F35-08CD-83DA-A6FC-FF35DC453002}"/>
              </a:ext>
            </a:extLst>
          </p:cNvPr>
          <p:cNvSpPr txBox="1"/>
          <p:nvPr/>
        </p:nvSpPr>
        <p:spPr>
          <a:xfrm>
            <a:off x="3368057" y="2829010"/>
            <a:ext cx="1346988" cy="646331"/>
          </a:xfrm>
          <a:prstGeom prst="rect">
            <a:avLst/>
          </a:prstGeom>
          <a:noFill/>
        </p:spPr>
        <p:txBody>
          <a:bodyPr wrap="square" rtlCol="0">
            <a:spAutoFit/>
          </a:bodyPr>
          <a:lstStyle/>
          <a:p>
            <a:pPr algn="ctr"/>
            <a:r>
              <a:rPr lang="en-US" sz="1200">
                <a:solidFill>
                  <a:schemeClr val="accent4">
                    <a:lumMod val="75000"/>
                  </a:schemeClr>
                </a:solidFill>
              </a:rPr>
              <a:t>Two active diffusion type ADT</a:t>
            </a:r>
          </a:p>
        </p:txBody>
      </p:sp>
      <p:sp>
        <p:nvSpPr>
          <p:cNvPr id="14" name="TextBox 13">
            <a:extLst>
              <a:ext uri="{FF2B5EF4-FFF2-40B4-BE49-F238E27FC236}">
                <a16:creationId xmlns:a16="http://schemas.microsoft.com/office/drawing/2014/main" id="{28922E9F-F393-7809-5730-B7233700ADB5}"/>
              </a:ext>
            </a:extLst>
          </p:cNvPr>
          <p:cNvSpPr txBox="1"/>
          <p:nvPr/>
        </p:nvSpPr>
        <p:spPr>
          <a:xfrm>
            <a:off x="8720740" y="2886431"/>
            <a:ext cx="1557532" cy="276999"/>
          </a:xfrm>
          <a:prstGeom prst="rect">
            <a:avLst/>
          </a:prstGeom>
          <a:noFill/>
        </p:spPr>
        <p:txBody>
          <a:bodyPr wrap="square" rtlCol="0">
            <a:spAutoFit/>
          </a:bodyPr>
          <a:lstStyle/>
          <a:p>
            <a:pPr algn="ctr"/>
            <a:r>
              <a:rPr lang="en-US" sz="1200">
                <a:solidFill>
                  <a:schemeClr val="accent4">
                    <a:lumMod val="75000"/>
                  </a:schemeClr>
                </a:solidFill>
              </a:rPr>
              <a:t>Test Chip</a:t>
            </a:r>
          </a:p>
        </p:txBody>
      </p:sp>
      <p:sp>
        <p:nvSpPr>
          <p:cNvPr id="15" name="TextBox 14">
            <a:extLst>
              <a:ext uri="{FF2B5EF4-FFF2-40B4-BE49-F238E27FC236}">
                <a16:creationId xmlns:a16="http://schemas.microsoft.com/office/drawing/2014/main" id="{FA52199B-90BD-A9D4-AA56-8BE33211F52D}"/>
              </a:ext>
            </a:extLst>
          </p:cNvPr>
          <p:cNvSpPr txBox="1"/>
          <p:nvPr/>
        </p:nvSpPr>
        <p:spPr>
          <a:xfrm>
            <a:off x="9607266" y="2237677"/>
            <a:ext cx="1557532" cy="276999"/>
          </a:xfrm>
          <a:prstGeom prst="rect">
            <a:avLst/>
          </a:prstGeom>
          <a:noFill/>
        </p:spPr>
        <p:txBody>
          <a:bodyPr wrap="square" rtlCol="0">
            <a:spAutoFit/>
          </a:bodyPr>
          <a:lstStyle/>
          <a:p>
            <a:pPr algn="ctr"/>
            <a:r>
              <a:rPr lang="en-US" sz="1200">
                <a:solidFill>
                  <a:schemeClr val="accent4">
                    <a:lumMod val="75000"/>
                  </a:schemeClr>
                </a:solidFill>
              </a:rPr>
              <a:t>Row Instance</a:t>
            </a:r>
          </a:p>
        </p:txBody>
      </p:sp>
      <p:sp>
        <p:nvSpPr>
          <p:cNvPr id="16" name="TextBox 15">
            <a:extLst>
              <a:ext uri="{FF2B5EF4-FFF2-40B4-BE49-F238E27FC236}">
                <a16:creationId xmlns:a16="http://schemas.microsoft.com/office/drawing/2014/main" id="{954D44D0-89DD-2FA0-BB8C-CEDE774B9331}"/>
              </a:ext>
            </a:extLst>
          </p:cNvPr>
          <p:cNvSpPr txBox="1"/>
          <p:nvPr/>
        </p:nvSpPr>
        <p:spPr>
          <a:xfrm>
            <a:off x="6749563" y="2875907"/>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7" name="TextBox 16">
            <a:extLst>
              <a:ext uri="{FF2B5EF4-FFF2-40B4-BE49-F238E27FC236}">
                <a16:creationId xmlns:a16="http://schemas.microsoft.com/office/drawing/2014/main" id="{DD9B0937-9FB5-904E-C2A8-CAD846821974}"/>
              </a:ext>
            </a:extLst>
          </p:cNvPr>
          <p:cNvSpPr txBox="1"/>
          <p:nvPr/>
        </p:nvSpPr>
        <p:spPr>
          <a:xfrm>
            <a:off x="7497222" y="2129387"/>
            <a:ext cx="2002284" cy="461665"/>
          </a:xfrm>
          <a:prstGeom prst="rect">
            <a:avLst/>
          </a:prstGeom>
          <a:noFill/>
        </p:spPr>
        <p:txBody>
          <a:bodyPr wrap="square" rtlCol="0">
            <a:spAutoFit/>
          </a:bodyPr>
          <a:lstStyle/>
          <a:p>
            <a:pPr algn="ctr"/>
            <a:r>
              <a:rPr lang="en-US" sz="1200">
                <a:solidFill>
                  <a:schemeClr val="accent4">
                    <a:lumMod val="75000"/>
                  </a:schemeClr>
                </a:solidFill>
              </a:rPr>
              <a:t>Additional WAC/Instance Information</a:t>
            </a:r>
          </a:p>
        </p:txBody>
      </p:sp>
    </p:spTree>
    <p:extLst>
      <p:ext uri="{BB962C8B-B14F-4D97-AF65-F5344CB8AC3E}">
        <p14:creationId xmlns:p14="http://schemas.microsoft.com/office/powerpoint/2010/main" val="268367267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6A6C6-2375-208E-1B3C-4162DC2FE1D3}"/>
              </a:ext>
            </a:extLst>
          </p:cNvPr>
          <p:cNvSpPr>
            <a:spLocks noGrp="1"/>
          </p:cNvSpPr>
          <p:nvPr>
            <p:ph type="sldNum" sz="quarter" idx="2"/>
          </p:nvPr>
        </p:nvSpPr>
        <p:spPr/>
        <p:txBody>
          <a:bodyPr/>
          <a:lstStyle/>
          <a:p>
            <a:fld id="{86CB4B4D-7CA3-9044-876B-883B54F8677D}" type="slidenum">
              <a:rPr lang="en-US" smtClean="0"/>
              <a:t>16</a:t>
            </a:fld>
            <a:endParaRPr lang="en-US"/>
          </a:p>
        </p:txBody>
      </p:sp>
      <p:sp>
        <p:nvSpPr>
          <p:cNvPr id="4" name="TextBox 3">
            <a:extLst>
              <a:ext uri="{FF2B5EF4-FFF2-40B4-BE49-F238E27FC236}">
                <a16:creationId xmlns:a16="http://schemas.microsoft.com/office/drawing/2014/main" id="{D76C6FC4-3DEF-CDCD-ACDF-8D22F2B2DE8F}"/>
              </a:ext>
            </a:extLst>
          </p:cNvPr>
          <p:cNvSpPr txBox="1"/>
          <p:nvPr/>
        </p:nvSpPr>
        <p:spPr>
          <a:xfrm>
            <a:off x="612800" y="1348195"/>
            <a:ext cx="9875905" cy="43396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old name to extrapolate what grouping is</a:t>
            </a: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new name to extrapolate what grouping is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Compare new and old names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Use LVS strings to make sure structure names are right</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Spot check structures individually</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Generate (Ask Agent) </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r>
              <a:rPr lang="en-US" sz="2000" dirty="0">
                <a:solidFill>
                  <a:schemeClr val="accent2">
                    <a:lumMod val="75000"/>
                  </a:schemeClr>
                </a:solidFill>
                <a:latin typeface="IntelOne Display Regular" panose="020B0503020203020204" pitchFamily="34" charset="0"/>
              </a:rPr>
              <a:t>Generate structure names that are compliant with this</a:t>
            </a:r>
          </a:p>
          <a:p>
            <a:pPr marL="342900" indent="-342900">
              <a:buFont typeface="Arial" panose="020B0604020202020204" pitchFamily="34" charset="0"/>
              <a:buChar char="•"/>
            </a:pPr>
            <a:endParaRPr lang="en-US" sz="2000" dirty="0">
              <a:solidFill>
                <a:schemeClr val="accent2">
                  <a:lumMod val="75000"/>
                </a:schemeClr>
              </a:solidFill>
              <a:latin typeface="IntelOne Display Regular" panose="020B0503020203020204" pitchFamily="34" charset="0"/>
            </a:endParaRPr>
          </a:p>
          <a:p>
            <a:pPr marL="342900" indent="-342900">
              <a:buFont typeface="Arial" panose="020B0604020202020204" pitchFamily="34" charset="0"/>
              <a:buChar char="•"/>
            </a:pPr>
            <a:endParaRPr lang="en-US" sz="1600" dirty="0">
              <a:solidFill>
                <a:schemeClr val="accent2">
                  <a:lumMod val="75000"/>
                </a:schemeClr>
              </a:solidFill>
              <a:latin typeface="IntelOne Display Regular" panose="020B0503020203020204" pitchFamily="34" charset="0"/>
            </a:endParaRPr>
          </a:p>
        </p:txBody>
      </p:sp>
    </p:spTree>
    <p:extLst>
      <p:ext uri="{BB962C8B-B14F-4D97-AF65-F5344CB8AC3E}">
        <p14:creationId xmlns:p14="http://schemas.microsoft.com/office/powerpoint/2010/main" val="193610197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89813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D00E90-9655-D5C1-ABCC-C241B0EF81F4}"/>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3" name="TextBox 2">
            <a:extLst>
              <a:ext uri="{FF2B5EF4-FFF2-40B4-BE49-F238E27FC236}">
                <a16:creationId xmlns:a16="http://schemas.microsoft.com/office/drawing/2014/main" id="{A590C1EF-D0A3-838E-06C5-E70818B038F4}"/>
              </a:ext>
            </a:extLst>
          </p:cNvPr>
          <p:cNvSpPr txBox="1"/>
          <p:nvPr/>
        </p:nvSpPr>
        <p:spPr>
          <a:xfrm>
            <a:off x="376518" y="336592"/>
            <a:ext cx="11438964" cy="646331"/>
          </a:xfrm>
          <a:prstGeom prst="rect">
            <a:avLst/>
          </a:prstGeom>
          <a:noFill/>
        </p:spPr>
        <p:txBody>
          <a:bodyPr wrap="square">
            <a:spAutoFit/>
          </a:bodyPr>
          <a:lstStyle/>
          <a:p>
            <a:r>
              <a:rPr lang="en-US" sz="3200" b="1">
                <a:latin typeface="IntelOne Display HE Regular" panose="020B0503020203020204" pitchFamily="34" charset="-79"/>
                <a:cs typeface="IntelOne Display HE Regular" panose="020B0503020203020204" pitchFamily="34" charset="-79"/>
              </a:rPr>
              <a:t>Structure Name – </a:t>
            </a:r>
            <a:r>
              <a:rPr lang="en-US" sz="3600" b="1"/>
              <a:t>82Z vs 80BR</a:t>
            </a:r>
          </a:p>
        </p:txBody>
      </p:sp>
      <p:sp>
        <p:nvSpPr>
          <p:cNvPr id="4" name="TextBox 3">
            <a:extLst>
              <a:ext uri="{FF2B5EF4-FFF2-40B4-BE49-F238E27FC236}">
                <a16:creationId xmlns:a16="http://schemas.microsoft.com/office/drawing/2014/main" id="{880F8508-F11D-4FB5-DFEE-9C1F5F033BD6}"/>
              </a:ext>
            </a:extLst>
          </p:cNvPr>
          <p:cNvSpPr txBox="1"/>
          <p:nvPr/>
        </p:nvSpPr>
        <p:spPr>
          <a:xfrm>
            <a:off x="457200" y="1267777"/>
            <a:ext cx="11438964" cy="4647426"/>
          </a:xfrm>
          <a:prstGeom prst="rect">
            <a:avLst/>
          </a:prstGeom>
          <a:noFill/>
        </p:spPr>
        <p:txBody>
          <a:bodyPr wrap="square">
            <a:spAutoFit/>
          </a:bodyPr>
          <a:lstStyle/>
          <a:p>
            <a:r>
              <a:rPr lang="en-US" sz="1200" dirty="0">
                <a:solidFill>
                  <a:schemeClr val="accent2">
                    <a:lumMod val="75000"/>
                  </a:schemeClr>
                </a:solidFill>
                <a:latin typeface="IntelOne Display Regular" panose="020B0503020203020204" pitchFamily="34" charset="0"/>
              </a:rPr>
              <a:t>TESTNAME_CATEGORYCELLHEIGHT-DIFF-LEGS-VT-Environment-FTI-ISO-LayoutHeight-(Routing)-</a:t>
            </a:r>
            <a:r>
              <a:rPr lang="en-US" sz="1200" dirty="0" err="1">
                <a:solidFill>
                  <a:schemeClr val="accent2">
                    <a:lumMod val="75000"/>
                  </a:schemeClr>
                </a:solidFill>
                <a:latin typeface="IntelOne Display Regular" panose="020B0503020203020204" pitchFamily="34" charset="0"/>
              </a:rPr>
              <a:t>Additional_TCxx_Count</a:t>
            </a:r>
            <a:endParaRPr lang="en-US" sz="1400" dirty="0">
              <a:solidFill>
                <a:schemeClr val="accent2">
                  <a:lumMod val="75000"/>
                </a:schemeClr>
              </a:solidFill>
              <a:latin typeface="IntelOne Display Regular" panose="020B0503020203020204" pitchFamily="34" charset="0"/>
            </a:endParaRPr>
          </a:p>
          <a:p>
            <a:endParaRPr lang="en-US" sz="1600" dirty="0"/>
          </a:p>
          <a:p>
            <a:endParaRPr lang="en-US" sz="1600" dirty="0"/>
          </a:p>
          <a:p>
            <a:r>
              <a:rPr lang="en-US" sz="1600" dirty="0">
                <a:highlight>
                  <a:srgbClr val="FFFF00"/>
                </a:highlight>
              </a:rPr>
              <a:t>80BR CMOS PFT</a:t>
            </a:r>
          </a:p>
          <a:p>
            <a:r>
              <a:rPr lang="en-US" sz="2800" dirty="0"/>
              <a:t>NS144-A50-1X1-IXI-L-CMOS_TC31_1</a:t>
            </a:r>
          </a:p>
          <a:p>
            <a:endParaRPr lang="en-US" sz="1600" dirty="0"/>
          </a:p>
          <a:p>
            <a:r>
              <a:rPr lang="en-US" sz="1600" dirty="0">
                <a:highlight>
                  <a:srgbClr val="FFFF00"/>
                </a:highlight>
              </a:rPr>
              <a:t>80BR CMOS PFT</a:t>
            </a:r>
          </a:p>
          <a:p>
            <a:r>
              <a:rPr lang="en-US" sz="2800" dirty="0"/>
              <a:t>ROSN-144-50-2L-INV-LVT_M1FECL_TC31_1</a:t>
            </a:r>
          </a:p>
          <a:p>
            <a:endParaRPr lang="en-US" dirty="0"/>
          </a:p>
          <a:p>
            <a:endParaRPr lang="en-US" dirty="0"/>
          </a:p>
          <a:p>
            <a:r>
              <a:rPr lang="en-US" dirty="0">
                <a:highlight>
                  <a:srgbClr val="00FF00"/>
                </a:highlight>
              </a:rPr>
              <a:t>82Z CMOS PFT</a:t>
            </a:r>
            <a:endParaRPr lang="en-US" sz="1600" dirty="0">
              <a:highlight>
                <a:srgbClr val="00FF00"/>
              </a:highlight>
            </a:endParaRPr>
          </a:p>
          <a:p>
            <a:r>
              <a:rPr lang="en-US" sz="2800" dirty="0"/>
              <a:t>NS-108-A36-1X1-IXI-LVT-CMOS_TCxx_y</a:t>
            </a:r>
          </a:p>
          <a:p>
            <a:endParaRPr lang="en-US" dirty="0"/>
          </a:p>
          <a:p>
            <a:r>
              <a:rPr lang="en-US" dirty="0">
                <a:highlight>
                  <a:srgbClr val="00FF00"/>
                </a:highlight>
              </a:rPr>
              <a:t>82Z ROS PFT</a:t>
            </a:r>
          </a:p>
          <a:p>
            <a:r>
              <a:rPr lang="en-US" sz="2800" dirty="0"/>
              <a:t>NROSMOS-INV-L18-108H-FS_TC13_1</a:t>
            </a:r>
          </a:p>
        </p:txBody>
      </p:sp>
      <p:sp>
        <p:nvSpPr>
          <p:cNvPr id="5" name="TextBox 4">
            <a:extLst>
              <a:ext uri="{FF2B5EF4-FFF2-40B4-BE49-F238E27FC236}">
                <a16:creationId xmlns:a16="http://schemas.microsoft.com/office/drawing/2014/main" id="{9D9F3C0E-F214-4C34-CF92-AC558A22E4B8}"/>
              </a:ext>
            </a:extLst>
          </p:cNvPr>
          <p:cNvSpPr txBox="1"/>
          <p:nvPr/>
        </p:nvSpPr>
        <p:spPr>
          <a:xfrm>
            <a:off x="1062318" y="4765284"/>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6" name="TextBox 5">
            <a:extLst>
              <a:ext uri="{FF2B5EF4-FFF2-40B4-BE49-F238E27FC236}">
                <a16:creationId xmlns:a16="http://schemas.microsoft.com/office/drawing/2014/main" id="{02AFA379-3090-DB8E-EE75-928DCD5A3934}"/>
              </a:ext>
            </a:extLst>
          </p:cNvPr>
          <p:cNvSpPr txBox="1"/>
          <p:nvPr/>
        </p:nvSpPr>
        <p:spPr>
          <a:xfrm>
            <a:off x="3814435" y="4765284"/>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7" name="TextBox 6">
            <a:extLst>
              <a:ext uri="{FF2B5EF4-FFF2-40B4-BE49-F238E27FC236}">
                <a16:creationId xmlns:a16="http://schemas.microsoft.com/office/drawing/2014/main" id="{7D7F59E4-3E0E-503D-5C22-2065850D2A2E}"/>
              </a:ext>
            </a:extLst>
          </p:cNvPr>
          <p:cNvSpPr txBox="1"/>
          <p:nvPr/>
        </p:nvSpPr>
        <p:spPr>
          <a:xfrm>
            <a:off x="1777643" y="4765284"/>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8" name="TextBox 7">
            <a:extLst>
              <a:ext uri="{FF2B5EF4-FFF2-40B4-BE49-F238E27FC236}">
                <a16:creationId xmlns:a16="http://schemas.microsoft.com/office/drawing/2014/main" id="{8EEF8475-40FF-921B-C9FD-E0A3E15EA67E}"/>
              </a:ext>
            </a:extLst>
          </p:cNvPr>
          <p:cNvSpPr txBox="1"/>
          <p:nvPr/>
        </p:nvSpPr>
        <p:spPr>
          <a:xfrm>
            <a:off x="2898751" y="3511245"/>
            <a:ext cx="905418" cy="276999"/>
          </a:xfrm>
          <a:prstGeom prst="rect">
            <a:avLst/>
          </a:prstGeom>
          <a:noFill/>
        </p:spPr>
        <p:txBody>
          <a:bodyPr wrap="square" rtlCol="0">
            <a:spAutoFit/>
          </a:bodyPr>
          <a:lstStyle/>
          <a:p>
            <a:r>
              <a:rPr lang="en-US" sz="1200">
                <a:solidFill>
                  <a:schemeClr val="accent4">
                    <a:lumMod val="75000"/>
                  </a:schemeClr>
                </a:solidFill>
              </a:rPr>
              <a:t>#Legs</a:t>
            </a:r>
          </a:p>
        </p:txBody>
      </p:sp>
      <p:sp>
        <p:nvSpPr>
          <p:cNvPr id="10" name="TextBox 9">
            <a:extLst>
              <a:ext uri="{FF2B5EF4-FFF2-40B4-BE49-F238E27FC236}">
                <a16:creationId xmlns:a16="http://schemas.microsoft.com/office/drawing/2014/main" id="{A4D0C984-45BB-22B3-619D-30751A45AF2B}"/>
              </a:ext>
            </a:extLst>
          </p:cNvPr>
          <p:cNvSpPr txBox="1"/>
          <p:nvPr/>
        </p:nvSpPr>
        <p:spPr>
          <a:xfrm>
            <a:off x="4805031" y="5772457"/>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12" name="TextBox 11">
            <a:extLst>
              <a:ext uri="{FF2B5EF4-FFF2-40B4-BE49-F238E27FC236}">
                <a16:creationId xmlns:a16="http://schemas.microsoft.com/office/drawing/2014/main" id="{E1C6B77F-097F-1361-6505-F65C9E0CEDAF}"/>
              </a:ext>
            </a:extLst>
          </p:cNvPr>
          <p:cNvSpPr txBox="1"/>
          <p:nvPr/>
        </p:nvSpPr>
        <p:spPr>
          <a:xfrm>
            <a:off x="2180700" y="5738392"/>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13" name="TextBox 12">
            <a:extLst>
              <a:ext uri="{FF2B5EF4-FFF2-40B4-BE49-F238E27FC236}">
                <a16:creationId xmlns:a16="http://schemas.microsoft.com/office/drawing/2014/main" id="{4FB6EBFB-F5FF-B1EA-0357-E920F5D668E5}"/>
              </a:ext>
            </a:extLst>
          </p:cNvPr>
          <p:cNvSpPr txBox="1"/>
          <p:nvPr/>
        </p:nvSpPr>
        <p:spPr>
          <a:xfrm>
            <a:off x="899892" y="2596067"/>
            <a:ext cx="990596" cy="276999"/>
          </a:xfrm>
          <a:prstGeom prst="rect">
            <a:avLst/>
          </a:prstGeom>
          <a:noFill/>
        </p:spPr>
        <p:txBody>
          <a:bodyPr wrap="square" rtlCol="0">
            <a:spAutoFit/>
          </a:bodyPr>
          <a:lstStyle/>
          <a:p>
            <a:r>
              <a:rPr lang="en-US" sz="1200">
                <a:solidFill>
                  <a:schemeClr val="accent4">
                    <a:lumMod val="75000"/>
                  </a:schemeClr>
                </a:solidFill>
              </a:rPr>
              <a:t>Cell Height</a:t>
            </a:r>
          </a:p>
        </p:txBody>
      </p:sp>
      <p:sp>
        <p:nvSpPr>
          <p:cNvPr id="14" name="TextBox 13">
            <a:extLst>
              <a:ext uri="{FF2B5EF4-FFF2-40B4-BE49-F238E27FC236}">
                <a16:creationId xmlns:a16="http://schemas.microsoft.com/office/drawing/2014/main" id="{CAA34200-05EA-19D4-80FA-CD7200354647}"/>
              </a:ext>
            </a:extLst>
          </p:cNvPr>
          <p:cNvSpPr txBox="1"/>
          <p:nvPr/>
        </p:nvSpPr>
        <p:spPr>
          <a:xfrm>
            <a:off x="3652009" y="2596067"/>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15" name="TextBox 14">
            <a:extLst>
              <a:ext uri="{FF2B5EF4-FFF2-40B4-BE49-F238E27FC236}">
                <a16:creationId xmlns:a16="http://schemas.microsoft.com/office/drawing/2014/main" id="{19FC10CA-CA4B-A1AD-0075-65E5894C817C}"/>
              </a:ext>
            </a:extLst>
          </p:cNvPr>
          <p:cNvSpPr txBox="1"/>
          <p:nvPr/>
        </p:nvSpPr>
        <p:spPr>
          <a:xfrm>
            <a:off x="4908157" y="4765284"/>
            <a:ext cx="1098892" cy="276999"/>
          </a:xfrm>
          <a:prstGeom prst="rect">
            <a:avLst/>
          </a:prstGeom>
          <a:noFill/>
        </p:spPr>
        <p:txBody>
          <a:bodyPr wrap="square" rtlCol="0">
            <a:spAutoFit/>
          </a:bodyPr>
          <a:lstStyle/>
          <a:p>
            <a:pPr algn="ctr"/>
            <a:r>
              <a:rPr lang="en-US" sz="1200">
                <a:solidFill>
                  <a:schemeClr val="accent4">
                    <a:lumMod val="75000"/>
                  </a:schemeClr>
                </a:solidFill>
              </a:rPr>
              <a:t>Environment</a:t>
            </a:r>
          </a:p>
        </p:txBody>
      </p:sp>
      <p:sp>
        <p:nvSpPr>
          <p:cNvPr id="16" name="TextBox 15">
            <a:extLst>
              <a:ext uri="{FF2B5EF4-FFF2-40B4-BE49-F238E27FC236}">
                <a16:creationId xmlns:a16="http://schemas.microsoft.com/office/drawing/2014/main" id="{1F6221EE-388D-0CE9-6378-B7AFCEEBCD3E}"/>
              </a:ext>
            </a:extLst>
          </p:cNvPr>
          <p:cNvSpPr txBox="1"/>
          <p:nvPr/>
        </p:nvSpPr>
        <p:spPr>
          <a:xfrm>
            <a:off x="2768239" y="4765284"/>
            <a:ext cx="1098892" cy="276999"/>
          </a:xfrm>
          <a:prstGeom prst="rect">
            <a:avLst/>
          </a:prstGeom>
          <a:noFill/>
        </p:spPr>
        <p:txBody>
          <a:bodyPr wrap="square" rtlCol="0">
            <a:spAutoFit/>
          </a:bodyPr>
          <a:lstStyle/>
          <a:p>
            <a:pPr algn="ctr"/>
            <a:r>
              <a:rPr lang="en-US" sz="1200">
                <a:solidFill>
                  <a:schemeClr val="accent4">
                    <a:lumMod val="75000"/>
                  </a:schemeClr>
                </a:solidFill>
              </a:rPr>
              <a:t>Nest/Roost</a:t>
            </a:r>
          </a:p>
        </p:txBody>
      </p:sp>
      <p:sp>
        <p:nvSpPr>
          <p:cNvPr id="17" name="TextBox 16">
            <a:extLst>
              <a:ext uri="{FF2B5EF4-FFF2-40B4-BE49-F238E27FC236}">
                <a16:creationId xmlns:a16="http://schemas.microsoft.com/office/drawing/2014/main" id="{3B4E103A-A147-F55D-410B-5D24D5E786EB}"/>
              </a:ext>
            </a:extLst>
          </p:cNvPr>
          <p:cNvSpPr txBox="1"/>
          <p:nvPr/>
        </p:nvSpPr>
        <p:spPr>
          <a:xfrm>
            <a:off x="3172740" y="5769795"/>
            <a:ext cx="1098892" cy="276999"/>
          </a:xfrm>
          <a:prstGeom prst="rect">
            <a:avLst/>
          </a:prstGeom>
          <a:noFill/>
        </p:spPr>
        <p:txBody>
          <a:bodyPr wrap="square" rtlCol="0">
            <a:spAutoFit/>
          </a:bodyPr>
          <a:lstStyle/>
          <a:p>
            <a:pPr algn="ctr"/>
            <a:r>
              <a:rPr lang="en-US" sz="1200">
                <a:solidFill>
                  <a:schemeClr val="accent4">
                    <a:lumMod val="75000"/>
                  </a:schemeClr>
                </a:solidFill>
              </a:rPr>
              <a:t>N/P LNR</a:t>
            </a:r>
          </a:p>
        </p:txBody>
      </p:sp>
      <p:sp>
        <p:nvSpPr>
          <p:cNvPr id="18" name="TextBox 17">
            <a:extLst>
              <a:ext uri="{FF2B5EF4-FFF2-40B4-BE49-F238E27FC236}">
                <a16:creationId xmlns:a16="http://schemas.microsoft.com/office/drawing/2014/main" id="{46D33804-331E-E3A5-3EEA-A82DF0563C28}"/>
              </a:ext>
            </a:extLst>
          </p:cNvPr>
          <p:cNvSpPr txBox="1"/>
          <p:nvPr/>
        </p:nvSpPr>
        <p:spPr>
          <a:xfrm>
            <a:off x="1672356" y="2597118"/>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19" name="TextBox 18">
            <a:extLst>
              <a:ext uri="{FF2B5EF4-FFF2-40B4-BE49-F238E27FC236}">
                <a16:creationId xmlns:a16="http://schemas.microsoft.com/office/drawing/2014/main" id="{1CFF32DC-25E1-21B7-8EDA-BE7C6994ADDA}"/>
              </a:ext>
            </a:extLst>
          </p:cNvPr>
          <p:cNvSpPr txBox="1"/>
          <p:nvPr/>
        </p:nvSpPr>
        <p:spPr>
          <a:xfrm>
            <a:off x="1361070" y="2178062"/>
            <a:ext cx="1098892" cy="230832"/>
          </a:xfrm>
          <a:prstGeom prst="rect">
            <a:avLst/>
          </a:prstGeom>
          <a:noFill/>
        </p:spPr>
        <p:txBody>
          <a:bodyPr wrap="square" rtlCol="0">
            <a:spAutoFit/>
          </a:bodyPr>
          <a:lstStyle/>
          <a:p>
            <a:pPr algn="ctr"/>
            <a:r>
              <a:rPr lang="en-US" sz="900">
                <a:solidFill>
                  <a:schemeClr val="accent4">
                    <a:lumMod val="75000"/>
                  </a:schemeClr>
                </a:solidFill>
              </a:rPr>
              <a:t>Lego Type</a:t>
            </a:r>
          </a:p>
        </p:txBody>
      </p:sp>
      <p:sp>
        <p:nvSpPr>
          <p:cNvPr id="20" name="TextBox 19">
            <a:extLst>
              <a:ext uri="{FF2B5EF4-FFF2-40B4-BE49-F238E27FC236}">
                <a16:creationId xmlns:a16="http://schemas.microsoft.com/office/drawing/2014/main" id="{31B5E5C1-B7E5-68E2-F171-55EE46399178}"/>
              </a:ext>
            </a:extLst>
          </p:cNvPr>
          <p:cNvSpPr txBox="1"/>
          <p:nvPr/>
        </p:nvSpPr>
        <p:spPr>
          <a:xfrm>
            <a:off x="1503468" y="4337357"/>
            <a:ext cx="1098892" cy="230832"/>
          </a:xfrm>
          <a:prstGeom prst="rect">
            <a:avLst/>
          </a:prstGeom>
          <a:noFill/>
        </p:spPr>
        <p:txBody>
          <a:bodyPr wrap="square" rtlCol="0">
            <a:spAutoFit/>
          </a:bodyPr>
          <a:lstStyle/>
          <a:p>
            <a:pPr algn="ctr"/>
            <a:r>
              <a:rPr lang="en-US" sz="900">
                <a:solidFill>
                  <a:schemeClr val="accent4">
                    <a:lumMod val="75000"/>
                  </a:schemeClr>
                </a:solidFill>
              </a:rPr>
              <a:t>Lego Type</a:t>
            </a:r>
          </a:p>
        </p:txBody>
      </p:sp>
      <p:sp>
        <p:nvSpPr>
          <p:cNvPr id="21" name="TextBox 20">
            <a:extLst>
              <a:ext uri="{FF2B5EF4-FFF2-40B4-BE49-F238E27FC236}">
                <a16:creationId xmlns:a16="http://schemas.microsoft.com/office/drawing/2014/main" id="{2ADB8069-E951-0DD9-F3C5-F3C96034FDD7}"/>
              </a:ext>
            </a:extLst>
          </p:cNvPr>
          <p:cNvSpPr txBox="1"/>
          <p:nvPr/>
        </p:nvSpPr>
        <p:spPr>
          <a:xfrm>
            <a:off x="4255585" y="2086430"/>
            <a:ext cx="1098892" cy="276999"/>
          </a:xfrm>
          <a:prstGeom prst="rect">
            <a:avLst/>
          </a:prstGeom>
          <a:noFill/>
        </p:spPr>
        <p:txBody>
          <a:bodyPr wrap="square" rtlCol="0">
            <a:spAutoFit/>
          </a:bodyPr>
          <a:lstStyle/>
          <a:p>
            <a:pPr algn="ctr"/>
            <a:r>
              <a:rPr lang="en-US" sz="1200">
                <a:solidFill>
                  <a:schemeClr val="accent4">
                    <a:lumMod val="75000"/>
                  </a:schemeClr>
                </a:solidFill>
              </a:rPr>
              <a:t>Environment</a:t>
            </a:r>
          </a:p>
        </p:txBody>
      </p:sp>
      <p:sp>
        <p:nvSpPr>
          <p:cNvPr id="22" name="TextBox 21">
            <a:extLst>
              <a:ext uri="{FF2B5EF4-FFF2-40B4-BE49-F238E27FC236}">
                <a16:creationId xmlns:a16="http://schemas.microsoft.com/office/drawing/2014/main" id="{A9EE6623-9D44-A95F-3A1B-721E0BAEBA0E}"/>
              </a:ext>
            </a:extLst>
          </p:cNvPr>
          <p:cNvSpPr txBox="1"/>
          <p:nvPr/>
        </p:nvSpPr>
        <p:spPr>
          <a:xfrm>
            <a:off x="2639340" y="2596066"/>
            <a:ext cx="1098892" cy="276999"/>
          </a:xfrm>
          <a:prstGeom prst="rect">
            <a:avLst/>
          </a:prstGeom>
          <a:noFill/>
        </p:spPr>
        <p:txBody>
          <a:bodyPr wrap="square" rtlCol="0">
            <a:spAutoFit/>
          </a:bodyPr>
          <a:lstStyle/>
          <a:p>
            <a:pPr algn="ctr"/>
            <a:r>
              <a:rPr lang="en-US" sz="1200">
                <a:solidFill>
                  <a:schemeClr val="accent4">
                    <a:lumMod val="75000"/>
                  </a:schemeClr>
                </a:solidFill>
              </a:rPr>
              <a:t>Nest/Roost</a:t>
            </a:r>
          </a:p>
        </p:txBody>
      </p:sp>
      <p:sp>
        <p:nvSpPr>
          <p:cNvPr id="23" name="TextBox 22">
            <a:extLst>
              <a:ext uri="{FF2B5EF4-FFF2-40B4-BE49-F238E27FC236}">
                <a16:creationId xmlns:a16="http://schemas.microsoft.com/office/drawing/2014/main" id="{2A19DB32-C348-E3D7-2679-6C78252656E9}"/>
              </a:ext>
            </a:extLst>
          </p:cNvPr>
          <p:cNvSpPr txBox="1"/>
          <p:nvPr/>
        </p:nvSpPr>
        <p:spPr>
          <a:xfrm>
            <a:off x="-54064" y="5738392"/>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4" name="TextBox 23">
            <a:extLst>
              <a:ext uri="{FF2B5EF4-FFF2-40B4-BE49-F238E27FC236}">
                <a16:creationId xmlns:a16="http://schemas.microsoft.com/office/drawing/2014/main" id="{309CF30E-1D59-4A85-1CBD-B6B51063E5DE}"/>
              </a:ext>
            </a:extLst>
          </p:cNvPr>
          <p:cNvSpPr txBox="1"/>
          <p:nvPr/>
        </p:nvSpPr>
        <p:spPr>
          <a:xfrm>
            <a:off x="-54064" y="4748797"/>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5" name="TextBox 24">
            <a:extLst>
              <a:ext uri="{FF2B5EF4-FFF2-40B4-BE49-F238E27FC236}">
                <a16:creationId xmlns:a16="http://schemas.microsoft.com/office/drawing/2014/main" id="{F18090DE-6A9A-0BD5-F784-6B3AF3B6AD65}"/>
              </a:ext>
            </a:extLst>
          </p:cNvPr>
          <p:cNvSpPr txBox="1"/>
          <p:nvPr/>
        </p:nvSpPr>
        <p:spPr>
          <a:xfrm>
            <a:off x="724702" y="3514127"/>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6" name="TextBox 25">
            <a:extLst>
              <a:ext uri="{FF2B5EF4-FFF2-40B4-BE49-F238E27FC236}">
                <a16:creationId xmlns:a16="http://schemas.microsoft.com/office/drawing/2014/main" id="{114CACE5-C410-296F-5FD2-3EB4BC02BC94}"/>
              </a:ext>
            </a:extLst>
          </p:cNvPr>
          <p:cNvSpPr txBox="1"/>
          <p:nvPr/>
        </p:nvSpPr>
        <p:spPr>
          <a:xfrm>
            <a:off x="-166783" y="2593729"/>
            <a:ext cx="1557532" cy="276999"/>
          </a:xfrm>
          <a:prstGeom prst="rect">
            <a:avLst/>
          </a:prstGeom>
          <a:noFill/>
        </p:spPr>
        <p:txBody>
          <a:bodyPr wrap="square" rtlCol="0">
            <a:spAutoFit/>
          </a:bodyPr>
          <a:lstStyle/>
          <a:p>
            <a:pPr algn="ctr"/>
            <a:r>
              <a:rPr lang="en-US" sz="1200">
                <a:solidFill>
                  <a:schemeClr val="accent4">
                    <a:lumMod val="75000"/>
                  </a:schemeClr>
                </a:solidFill>
              </a:rPr>
              <a:t>Polarity</a:t>
            </a:r>
          </a:p>
        </p:txBody>
      </p:sp>
      <p:sp>
        <p:nvSpPr>
          <p:cNvPr id="27" name="TextBox 26">
            <a:extLst>
              <a:ext uri="{FF2B5EF4-FFF2-40B4-BE49-F238E27FC236}">
                <a16:creationId xmlns:a16="http://schemas.microsoft.com/office/drawing/2014/main" id="{7FB3DC54-AFD9-04B2-2A14-8537CD3EC2CE}"/>
              </a:ext>
            </a:extLst>
          </p:cNvPr>
          <p:cNvSpPr txBox="1"/>
          <p:nvPr/>
        </p:nvSpPr>
        <p:spPr>
          <a:xfrm>
            <a:off x="5406040" y="3542176"/>
            <a:ext cx="1202018" cy="276999"/>
          </a:xfrm>
          <a:prstGeom prst="rect">
            <a:avLst/>
          </a:prstGeom>
          <a:noFill/>
        </p:spPr>
        <p:txBody>
          <a:bodyPr wrap="square" rtlCol="0">
            <a:spAutoFit/>
          </a:bodyPr>
          <a:lstStyle/>
          <a:p>
            <a:r>
              <a:rPr lang="en-US" sz="1200">
                <a:solidFill>
                  <a:schemeClr val="accent4">
                    <a:lumMod val="75000"/>
                  </a:schemeClr>
                </a:solidFill>
              </a:rPr>
              <a:t>Metal Routing</a:t>
            </a:r>
          </a:p>
        </p:txBody>
      </p:sp>
      <p:sp>
        <p:nvSpPr>
          <p:cNvPr id="28" name="TextBox 27">
            <a:extLst>
              <a:ext uri="{FF2B5EF4-FFF2-40B4-BE49-F238E27FC236}">
                <a16:creationId xmlns:a16="http://schemas.microsoft.com/office/drawing/2014/main" id="{027B7C73-1F13-7280-5E1F-A24C2AEDFA2B}"/>
              </a:ext>
            </a:extLst>
          </p:cNvPr>
          <p:cNvSpPr txBox="1"/>
          <p:nvPr/>
        </p:nvSpPr>
        <p:spPr>
          <a:xfrm>
            <a:off x="4309733" y="3511246"/>
            <a:ext cx="990596" cy="276999"/>
          </a:xfrm>
          <a:prstGeom prst="rect">
            <a:avLst/>
          </a:prstGeom>
          <a:noFill/>
        </p:spPr>
        <p:txBody>
          <a:bodyPr wrap="square" rtlCol="0">
            <a:spAutoFit/>
          </a:bodyPr>
          <a:lstStyle/>
          <a:p>
            <a:r>
              <a:rPr lang="en-US" sz="1200">
                <a:solidFill>
                  <a:schemeClr val="accent4">
                    <a:lumMod val="75000"/>
                  </a:schemeClr>
                </a:solidFill>
              </a:rPr>
              <a:t>Metal Gate</a:t>
            </a:r>
          </a:p>
        </p:txBody>
      </p:sp>
      <p:sp>
        <p:nvSpPr>
          <p:cNvPr id="29" name="TextBox 28">
            <a:extLst>
              <a:ext uri="{FF2B5EF4-FFF2-40B4-BE49-F238E27FC236}">
                <a16:creationId xmlns:a16="http://schemas.microsoft.com/office/drawing/2014/main" id="{3EED130D-0A85-5FB0-74F5-C88561AC1684}"/>
              </a:ext>
            </a:extLst>
          </p:cNvPr>
          <p:cNvSpPr txBox="1"/>
          <p:nvPr/>
        </p:nvSpPr>
        <p:spPr>
          <a:xfrm>
            <a:off x="3119156" y="3475882"/>
            <a:ext cx="1557532" cy="461665"/>
          </a:xfrm>
          <a:prstGeom prst="rect">
            <a:avLst/>
          </a:prstGeom>
          <a:noFill/>
        </p:spPr>
        <p:txBody>
          <a:bodyPr wrap="square" rtlCol="0">
            <a:spAutoFit/>
          </a:bodyPr>
          <a:lstStyle/>
          <a:p>
            <a:pPr algn="ctr"/>
            <a:r>
              <a:rPr lang="en-US" sz="1200">
                <a:solidFill>
                  <a:schemeClr val="accent4">
                    <a:lumMod val="75000"/>
                  </a:schemeClr>
                </a:solidFill>
              </a:rPr>
              <a:t>Style/</a:t>
            </a:r>
          </a:p>
          <a:p>
            <a:pPr algn="ctr"/>
            <a:r>
              <a:rPr lang="en-US" sz="1200">
                <a:solidFill>
                  <a:schemeClr val="accent4">
                    <a:lumMod val="75000"/>
                  </a:schemeClr>
                </a:solidFill>
              </a:rPr>
              <a:t>Environment</a:t>
            </a:r>
          </a:p>
        </p:txBody>
      </p:sp>
      <p:sp>
        <p:nvSpPr>
          <p:cNvPr id="30" name="TextBox 29">
            <a:extLst>
              <a:ext uri="{FF2B5EF4-FFF2-40B4-BE49-F238E27FC236}">
                <a16:creationId xmlns:a16="http://schemas.microsoft.com/office/drawing/2014/main" id="{B9893CC4-7459-0851-2CA3-1D8D3BB99F19}"/>
              </a:ext>
            </a:extLst>
          </p:cNvPr>
          <p:cNvSpPr txBox="1"/>
          <p:nvPr/>
        </p:nvSpPr>
        <p:spPr>
          <a:xfrm>
            <a:off x="2056145" y="3542176"/>
            <a:ext cx="1098892" cy="276999"/>
          </a:xfrm>
          <a:prstGeom prst="rect">
            <a:avLst/>
          </a:prstGeom>
          <a:noFill/>
        </p:spPr>
        <p:txBody>
          <a:bodyPr wrap="square" rtlCol="0">
            <a:spAutoFit/>
          </a:bodyPr>
          <a:lstStyle/>
          <a:p>
            <a:pPr algn="ctr"/>
            <a:r>
              <a:rPr lang="en-US" sz="1200">
                <a:solidFill>
                  <a:schemeClr val="accent4">
                    <a:lumMod val="75000"/>
                  </a:schemeClr>
                </a:solidFill>
              </a:rPr>
              <a:t>N/P Diff.</a:t>
            </a:r>
          </a:p>
        </p:txBody>
      </p:sp>
      <p:sp>
        <p:nvSpPr>
          <p:cNvPr id="31" name="TextBox 30">
            <a:extLst>
              <a:ext uri="{FF2B5EF4-FFF2-40B4-BE49-F238E27FC236}">
                <a16:creationId xmlns:a16="http://schemas.microsoft.com/office/drawing/2014/main" id="{20883FEA-8253-459A-8D21-7175AFCD71E6}"/>
              </a:ext>
            </a:extLst>
          </p:cNvPr>
          <p:cNvSpPr txBox="1"/>
          <p:nvPr/>
        </p:nvSpPr>
        <p:spPr>
          <a:xfrm>
            <a:off x="1729290" y="3518054"/>
            <a:ext cx="732225" cy="461665"/>
          </a:xfrm>
          <a:prstGeom prst="rect">
            <a:avLst/>
          </a:prstGeom>
          <a:noFill/>
        </p:spPr>
        <p:txBody>
          <a:bodyPr wrap="square" rtlCol="0">
            <a:spAutoFit/>
          </a:bodyPr>
          <a:lstStyle/>
          <a:p>
            <a:pPr algn="ctr"/>
            <a:r>
              <a:rPr lang="en-US" sz="1200">
                <a:solidFill>
                  <a:schemeClr val="accent4">
                    <a:lumMod val="75000"/>
                  </a:schemeClr>
                </a:solidFill>
              </a:rPr>
              <a:t>Cell Height</a:t>
            </a:r>
          </a:p>
        </p:txBody>
      </p:sp>
      <p:graphicFrame>
        <p:nvGraphicFramePr>
          <p:cNvPr id="9" name="Table 8">
            <a:extLst>
              <a:ext uri="{FF2B5EF4-FFF2-40B4-BE49-F238E27FC236}">
                <a16:creationId xmlns:a16="http://schemas.microsoft.com/office/drawing/2014/main" id="{F7B42644-1223-913B-9432-7D0ACFEB42B8}"/>
              </a:ext>
            </a:extLst>
          </p:cNvPr>
          <p:cNvGraphicFramePr>
            <a:graphicFrameLocks noGrp="1"/>
          </p:cNvGraphicFramePr>
          <p:nvPr>
            <p:extLst>
              <p:ext uri="{D42A27DB-BD31-4B8C-83A1-F6EECF244321}">
                <p14:modId xmlns:p14="http://schemas.microsoft.com/office/powerpoint/2010/main" val="590372585"/>
              </p:ext>
            </p:extLst>
          </p:nvPr>
        </p:nvGraphicFramePr>
        <p:xfrm>
          <a:off x="8771373" y="2178062"/>
          <a:ext cx="2728964" cy="3362960"/>
        </p:xfrm>
        <a:graphic>
          <a:graphicData uri="http://schemas.openxmlformats.org/drawingml/2006/table">
            <a:tbl>
              <a:tblPr firstRow="1" bandRow="1">
                <a:tableStyleId>{5940675A-B579-460E-94D1-54222C63F5DA}</a:tableStyleId>
              </a:tblPr>
              <a:tblGrid>
                <a:gridCol w="682241">
                  <a:extLst>
                    <a:ext uri="{9D8B030D-6E8A-4147-A177-3AD203B41FA5}">
                      <a16:colId xmlns:a16="http://schemas.microsoft.com/office/drawing/2014/main" val="1183161901"/>
                    </a:ext>
                  </a:extLst>
                </a:gridCol>
                <a:gridCol w="682241">
                  <a:extLst>
                    <a:ext uri="{9D8B030D-6E8A-4147-A177-3AD203B41FA5}">
                      <a16:colId xmlns:a16="http://schemas.microsoft.com/office/drawing/2014/main" val="615021152"/>
                    </a:ext>
                  </a:extLst>
                </a:gridCol>
                <a:gridCol w="682241">
                  <a:extLst>
                    <a:ext uri="{9D8B030D-6E8A-4147-A177-3AD203B41FA5}">
                      <a16:colId xmlns:a16="http://schemas.microsoft.com/office/drawing/2014/main" val="51655487"/>
                    </a:ext>
                  </a:extLst>
                </a:gridCol>
                <a:gridCol w="682241">
                  <a:extLst>
                    <a:ext uri="{9D8B030D-6E8A-4147-A177-3AD203B41FA5}">
                      <a16:colId xmlns:a16="http://schemas.microsoft.com/office/drawing/2014/main" val="697843483"/>
                    </a:ext>
                  </a:extLst>
                </a:gridCol>
              </a:tblGrid>
              <a:tr h="370840">
                <a:tc>
                  <a:txBody>
                    <a:bodyPr/>
                    <a:lstStyle/>
                    <a:p>
                      <a:r>
                        <a:rPr lang="en-US"/>
                        <a:t>CH</a:t>
                      </a:r>
                    </a:p>
                  </a:txBody>
                  <a:tcPr/>
                </a:tc>
                <a:tc>
                  <a:txBody>
                    <a:bodyPr/>
                    <a:lstStyle/>
                    <a:p>
                      <a:r>
                        <a:rPr lang="en-US"/>
                        <a:t>Diff. Width</a:t>
                      </a:r>
                    </a:p>
                  </a:txBody>
                  <a:tcPr/>
                </a:tc>
                <a:tc>
                  <a:txBody>
                    <a:bodyPr/>
                    <a:lstStyle/>
                    <a:p>
                      <a:r>
                        <a:rPr lang="en-US"/>
                        <a:t>LNR</a:t>
                      </a:r>
                    </a:p>
                  </a:txBody>
                  <a:tcPr/>
                </a:tc>
                <a:tc>
                  <a:txBody>
                    <a:bodyPr/>
                    <a:lstStyle/>
                    <a:p>
                      <a:r>
                        <a:rPr lang="en-US"/>
                        <a:t>Z</a:t>
                      </a:r>
                    </a:p>
                  </a:txBody>
                  <a:tcPr/>
                </a:tc>
                <a:extLst>
                  <a:ext uri="{0D108BD9-81ED-4DB2-BD59-A6C34878D82A}">
                    <a16:rowId xmlns:a16="http://schemas.microsoft.com/office/drawing/2014/main" val="3326429977"/>
                  </a:ext>
                </a:extLst>
              </a:tr>
              <a:tr h="370840">
                <a:tc rowSpan="3">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a:t>120</a:t>
                      </a:r>
                    </a:p>
                  </a:txBody>
                  <a:tcPr/>
                </a:tc>
                <a:tc>
                  <a:txBody>
                    <a:bodyPr/>
                    <a:lstStyle/>
                    <a:p>
                      <a:r>
                        <a:rPr lang="en-US"/>
                        <a:t>34</a:t>
                      </a:r>
                    </a:p>
                  </a:txBody>
                  <a:tcPr/>
                </a:tc>
                <a:tc>
                  <a:txBody>
                    <a:bodyPr/>
                    <a:lstStyle/>
                    <a:p>
                      <a:r>
                        <a:rPr lang="en-US"/>
                        <a:t>16</a:t>
                      </a:r>
                    </a:p>
                  </a:txBody>
                  <a:tcPr/>
                </a:tc>
                <a:tc>
                  <a:txBody>
                    <a:bodyPr/>
                    <a:lstStyle/>
                    <a:p>
                      <a:r>
                        <a:rPr lang="en-US"/>
                        <a:t>Z2</a:t>
                      </a:r>
                    </a:p>
                  </a:txBody>
                  <a:tcPr/>
                </a:tc>
                <a:extLst>
                  <a:ext uri="{0D108BD9-81ED-4DB2-BD59-A6C34878D82A}">
                    <a16:rowId xmlns:a16="http://schemas.microsoft.com/office/drawing/2014/main" val="3633380419"/>
                  </a:ext>
                </a:extLst>
              </a:tr>
              <a:tr h="370840">
                <a:tc vMerge="1">
                  <a:txBody>
                    <a:bodyPr/>
                    <a:lstStyle/>
                    <a:p>
                      <a:endParaRPr lang="en-US"/>
                    </a:p>
                  </a:txBody>
                  <a:tcPr/>
                </a:tc>
                <a:tc>
                  <a:txBody>
                    <a:bodyPr/>
                    <a:lstStyle/>
                    <a:p>
                      <a:r>
                        <a:rPr lang="en-US"/>
                        <a:t>36</a:t>
                      </a:r>
                    </a:p>
                  </a:txBody>
                  <a:tcPr/>
                </a:tc>
                <a:tc>
                  <a:txBody>
                    <a:bodyPr/>
                    <a:lstStyle/>
                    <a:p>
                      <a:r>
                        <a:rPr lang="en-US"/>
                        <a:t>18</a:t>
                      </a:r>
                    </a:p>
                  </a:txBody>
                  <a:tcPr/>
                </a:tc>
                <a:tc>
                  <a:txBody>
                    <a:bodyPr/>
                    <a:lstStyle/>
                    <a:p>
                      <a:r>
                        <a:rPr lang="en-US"/>
                        <a:t>Z3</a:t>
                      </a:r>
                    </a:p>
                  </a:txBody>
                  <a:tcPr/>
                </a:tc>
                <a:extLst>
                  <a:ext uri="{0D108BD9-81ED-4DB2-BD59-A6C34878D82A}">
                    <a16:rowId xmlns:a16="http://schemas.microsoft.com/office/drawing/2014/main" val="1507595911"/>
                  </a:ext>
                </a:extLst>
              </a:tr>
              <a:tr h="370840">
                <a:tc vMerge="1">
                  <a:txBody>
                    <a:bodyPr/>
                    <a:lstStyle/>
                    <a:p>
                      <a:endParaRPr lang="en-US"/>
                    </a:p>
                  </a:txBody>
                  <a:tcPr/>
                </a:tc>
                <a:tc>
                  <a:txBody>
                    <a:bodyPr/>
                    <a:lstStyle/>
                    <a:p>
                      <a:r>
                        <a:rPr lang="en-US"/>
                        <a:t>42</a:t>
                      </a:r>
                    </a:p>
                  </a:txBody>
                  <a:tcPr/>
                </a:tc>
                <a:tc>
                  <a:txBody>
                    <a:bodyPr/>
                    <a:lstStyle/>
                    <a:p>
                      <a:r>
                        <a:rPr lang="en-US"/>
                        <a:t>24</a:t>
                      </a:r>
                    </a:p>
                  </a:txBody>
                  <a:tcPr/>
                </a:tc>
                <a:tc>
                  <a:txBody>
                    <a:bodyPr/>
                    <a:lstStyle/>
                    <a:p>
                      <a:r>
                        <a:rPr lang="en-US"/>
                        <a:t>Z4</a:t>
                      </a:r>
                    </a:p>
                  </a:txBody>
                  <a:tcPr/>
                </a:tc>
                <a:extLst>
                  <a:ext uri="{0D108BD9-81ED-4DB2-BD59-A6C34878D82A}">
                    <a16:rowId xmlns:a16="http://schemas.microsoft.com/office/drawing/2014/main" val="2661747597"/>
                  </a:ext>
                </a:extLst>
              </a:tr>
              <a:tr h="370840">
                <a:tc rowSpan="2">
                  <a:txBody>
                    <a:bodyPr/>
                    <a:lstStyle/>
                    <a:p>
                      <a:r>
                        <a:rPr lang="en-US"/>
                        <a:t>108</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1314521122"/>
                  </a:ext>
                </a:extLst>
              </a:tr>
              <a:tr h="370840">
                <a:tc vMerge="1">
                  <a:txBody>
                    <a:bodyPr/>
                    <a:lstStyle/>
                    <a:p>
                      <a:endParaRPr lang="en-US"/>
                    </a:p>
                  </a:txBody>
                  <a:tcPr/>
                </a:tc>
                <a:tc>
                  <a:txBody>
                    <a:bodyPr/>
                    <a:lstStyle/>
                    <a:p>
                      <a:r>
                        <a:rPr lang="en-US"/>
                        <a:t>36</a:t>
                      </a:r>
                    </a:p>
                  </a:txBody>
                  <a:tcPr/>
                </a:tc>
                <a:tc>
                  <a:txBody>
                    <a:bodyPr/>
                    <a:lstStyle/>
                    <a:p>
                      <a:r>
                        <a:rPr lang="en-US"/>
                        <a:t>18</a:t>
                      </a:r>
                    </a:p>
                  </a:txBody>
                  <a:tcPr/>
                </a:tc>
                <a:tc>
                  <a:txBody>
                    <a:bodyPr/>
                    <a:lstStyle/>
                    <a:p>
                      <a:r>
                        <a:rPr lang="en-US"/>
                        <a:t>Z3</a:t>
                      </a:r>
                    </a:p>
                  </a:txBody>
                  <a:tcPr/>
                </a:tc>
                <a:extLst>
                  <a:ext uri="{0D108BD9-81ED-4DB2-BD59-A6C34878D82A}">
                    <a16:rowId xmlns:a16="http://schemas.microsoft.com/office/drawing/2014/main" val="304906296"/>
                  </a:ext>
                </a:extLst>
              </a:tr>
              <a:tr h="370840">
                <a:tc>
                  <a:txBody>
                    <a:bodyPr/>
                    <a:lstStyle/>
                    <a:p>
                      <a:r>
                        <a:rPr lang="en-US"/>
                        <a:t>96</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491893704"/>
                  </a:ext>
                </a:extLst>
              </a:tr>
              <a:tr h="370840">
                <a:tc>
                  <a:txBody>
                    <a:bodyPr/>
                    <a:lstStyle/>
                    <a:p>
                      <a:r>
                        <a:rPr lang="en-US"/>
                        <a:t>92</a:t>
                      </a:r>
                    </a:p>
                  </a:txBody>
                  <a:tcPr/>
                </a:tc>
                <a:tc>
                  <a:txBody>
                    <a:bodyPr/>
                    <a:lstStyle/>
                    <a:p>
                      <a:r>
                        <a:rPr lang="en-US"/>
                        <a:t>30</a:t>
                      </a:r>
                    </a:p>
                  </a:txBody>
                  <a:tcPr/>
                </a:tc>
                <a:tc>
                  <a:txBody>
                    <a:bodyPr/>
                    <a:lstStyle/>
                    <a:p>
                      <a:r>
                        <a:rPr lang="en-US"/>
                        <a:t>12</a:t>
                      </a:r>
                    </a:p>
                  </a:txBody>
                  <a:tcPr/>
                </a:tc>
                <a:tc>
                  <a:txBody>
                    <a:bodyPr/>
                    <a:lstStyle/>
                    <a:p>
                      <a:r>
                        <a:rPr lang="en-US"/>
                        <a:t>Z1</a:t>
                      </a:r>
                    </a:p>
                  </a:txBody>
                  <a:tcPr/>
                </a:tc>
                <a:extLst>
                  <a:ext uri="{0D108BD9-81ED-4DB2-BD59-A6C34878D82A}">
                    <a16:rowId xmlns:a16="http://schemas.microsoft.com/office/drawing/2014/main" val="3540059789"/>
                  </a:ext>
                </a:extLst>
              </a:tr>
              <a:tr h="370840">
                <a:tc>
                  <a:txBody>
                    <a:bodyPr/>
                    <a:lstStyle/>
                    <a:p>
                      <a:endParaRPr lang="en-US"/>
                    </a:p>
                  </a:txBody>
                  <a:tcPr/>
                </a:tc>
                <a:tc>
                  <a:txBody>
                    <a:bodyPr/>
                    <a:lstStyle/>
                    <a:p>
                      <a:r>
                        <a:rPr lang="en-US"/>
                        <a:t>34</a:t>
                      </a:r>
                    </a:p>
                  </a:txBody>
                  <a:tcPr/>
                </a:tc>
                <a:tc>
                  <a:txBody>
                    <a:bodyPr/>
                    <a:lstStyle/>
                    <a:p>
                      <a:r>
                        <a:rPr lang="en-US"/>
                        <a:t>16</a:t>
                      </a:r>
                    </a:p>
                  </a:txBody>
                  <a:tcPr/>
                </a:tc>
                <a:tc>
                  <a:txBody>
                    <a:bodyPr/>
                    <a:lstStyle/>
                    <a:p>
                      <a:r>
                        <a:rPr lang="en-US"/>
                        <a:t>Z2</a:t>
                      </a:r>
                    </a:p>
                  </a:txBody>
                  <a:tcPr/>
                </a:tc>
                <a:extLst>
                  <a:ext uri="{0D108BD9-81ED-4DB2-BD59-A6C34878D82A}">
                    <a16:rowId xmlns:a16="http://schemas.microsoft.com/office/drawing/2014/main" val="3993068376"/>
                  </a:ext>
                </a:extLst>
              </a:tr>
            </a:tbl>
          </a:graphicData>
        </a:graphic>
      </p:graphicFrame>
      <p:sp>
        <p:nvSpPr>
          <p:cNvPr id="11" name="TextBox 10">
            <a:extLst>
              <a:ext uri="{FF2B5EF4-FFF2-40B4-BE49-F238E27FC236}">
                <a16:creationId xmlns:a16="http://schemas.microsoft.com/office/drawing/2014/main" id="{0B6781BF-B0A2-4FE7-5387-8CD414C7B8DE}"/>
              </a:ext>
            </a:extLst>
          </p:cNvPr>
          <p:cNvSpPr txBox="1"/>
          <p:nvPr/>
        </p:nvSpPr>
        <p:spPr>
          <a:xfrm>
            <a:off x="8771373" y="5926609"/>
            <a:ext cx="2587925" cy="4308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#Unique LNRs</a:t>
            </a:r>
          </a:p>
          <a:p>
            <a:pPr marL="0" marR="0" indent="0" algn="l" defTabSz="914400" rtl="0" fontAlgn="auto" latinLnBrk="0" hangingPunct="0">
              <a:lnSpc>
                <a:spcPct val="100000"/>
              </a:lnSpc>
              <a:spcBef>
                <a:spcPts val="0"/>
              </a:spcBef>
              <a:spcAft>
                <a:spcPts val="0"/>
              </a:spcAft>
              <a:buClrTx/>
              <a:buSzTx/>
              <a:buFontTx/>
              <a:buNone/>
              <a:tabLst/>
            </a:pPr>
            <a:r>
              <a:rPr kumimoji="0" lang="en-US" sz="1100" b="0" i="0" u="none" strike="noStrike" cap="none" spc="0" normalizeH="0" baseline="0">
                <a:ln>
                  <a:noFill/>
                </a:ln>
                <a:solidFill>
                  <a:srgbClr val="525252"/>
                </a:solidFill>
                <a:effectLst/>
                <a:uFillTx/>
                <a:latin typeface="IntelOne Text Light"/>
                <a:ea typeface="IntelOne Text Light"/>
                <a:cs typeface="IntelOne Text Light"/>
                <a:sym typeface="IntelOne Text Light"/>
              </a:rPr>
              <a:t>12, 16, 18, 24</a:t>
            </a:r>
          </a:p>
        </p:txBody>
      </p:sp>
    </p:spTree>
    <p:extLst>
      <p:ext uri="{BB962C8B-B14F-4D97-AF65-F5344CB8AC3E}">
        <p14:creationId xmlns:p14="http://schemas.microsoft.com/office/powerpoint/2010/main" val="202523937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09F54-7DBF-7A06-BDA6-3745AD578E32}"/>
              </a:ext>
            </a:extLst>
          </p:cNvPr>
          <p:cNvSpPr>
            <a:spLocks noGrp="1"/>
          </p:cNvSpPr>
          <p:nvPr>
            <p:ph type="sldNum" sz="quarter" idx="2"/>
          </p:nvPr>
        </p:nvSpPr>
        <p:spPr/>
        <p:txBody>
          <a:bodyPr/>
          <a:lstStyle/>
          <a:p>
            <a:fld id="{86CB4B4D-7CA3-9044-876B-883B54F8677D}" type="slidenum">
              <a:rPr lang="en-US" smtClean="0"/>
              <a:t>19</a:t>
            </a:fld>
            <a:endParaRPr lang="en-US"/>
          </a:p>
        </p:txBody>
      </p:sp>
      <p:pic>
        <p:nvPicPr>
          <p:cNvPr id="33" name="Picture 32">
            <a:extLst>
              <a:ext uri="{FF2B5EF4-FFF2-40B4-BE49-F238E27FC236}">
                <a16:creationId xmlns:a16="http://schemas.microsoft.com/office/drawing/2014/main" id="{3D3FF1C2-73C4-7F8D-45D4-B4569D0907E6}"/>
              </a:ext>
            </a:extLst>
          </p:cNvPr>
          <p:cNvPicPr>
            <a:picLocks noChangeAspect="1"/>
          </p:cNvPicPr>
          <p:nvPr/>
        </p:nvPicPr>
        <p:blipFill>
          <a:blip r:embed="rId2"/>
          <a:stretch>
            <a:fillRect/>
          </a:stretch>
        </p:blipFill>
        <p:spPr>
          <a:xfrm>
            <a:off x="451608" y="4668253"/>
            <a:ext cx="11084301" cy="1370360"/>
          </a:xfrm>
          <a:prstGeom prst="rect">
            <a:avLst/>
          </a:prstGeom>
        </p:spPr>
      </p:pic>
      <p:sp>
        <p:nvSpPr>
          <p:cNvPr id="4" name="TextBox 3">
            <a:extLst>
              <a:ext uri="{FF2B5EF4-FFF2-40B4-BE49-F238E27FC236}">
                <a16:creationId xmlns:a16="http://schemas.microsoft.com/office/drawing/2014/main" id="{F542D15B-E68A-5EF6-7FD6-74B6BAD044C7}"/>
              </a:ext>
            </a:extLst>
          </p:cNvPr>
          <p:cNvSpPr txBox="1"/>
          <p:nvPr/>
        </p:nvSpPr>
        <p:spPr>
          <a:xfrm>
            <a:off x="359443" y="4345224"/>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ighlight>
                  <a:srgbClr val="00FF00"/>
                </a:highlight>
              </a:rPr>
              <a:t>82Z WIJT pull</a:t>
            </a:r>
          </a:p>
        </p:txBody>
      </p:sp>
      <p:pic>
        <p:nvPicPr>
          <p:cNvPr id="6" name="Picture 5">
            <a:extLst>
              <a:ext uri="{FF2B5EF4-FFF2-40B4-BE49-F238E27FC236}">
                <a16:creationId xmlns:a16="http://schemas.microsoft.com/office/drawing/2014/main" id="{B1641228-94AB-D011-4F81-618FCB936A9D}"/>
              </a:ext>
            </a:extLst>
          </p:cNvPr>
          <p:cNvPicPr>
            <a:picLocks noChangeAspect="1"/>
          </p:cNvPicPr>
          <p:nvPr/>
        </p:nvPicPr>
        <p:blipFill>
          <a:blip r:embed="rId3"/>
          <a:stretch>
            <a:fillRect/>
          </a:stretch>
        </p:blipFill>
        <p:spPr>
          <a:xfrm>
            <a:off x="436568" y="2408619"/>
            <a:ext cx="11099341" cy="1833689"/>
          </a:xfrm>
          <a:prstGeom prst="rect">
            <a:avLst/>
          </a:prstGeom>
        </p:spPr>
      </p:pic>
      <p:sp>
        <p:nvSpPr>
          <p:cNvPr id="7" name="TextBox 6">
            <a:extLst>
              <a:ext uri="{FF2B5EF4-FFF2-40B4-BE49-F238E27FC236}">
                <a16:creationId xmlns:a16="http://schemas.microsoft.com/office/drawing/2014/main" id="{E5C72B6B-4C5B-7EBC-437D-211AB7653509}"/>
              </a:ext>
            </a:extLst>
          </p:cNvPr>
          <p:cNvSpPr txBox="1"/>
          <p:nvPr/>
        </p:nvSpPr>
        <p:spPr>
          <a:xfrm>
            <a:off x="359443" y="1973755"/>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highlight>
                  <a:srgbClr val="00FF00"/>
                </a:highlight>
              </a:rPr>
              <a:t>82Z Addin Old Method</a:t>
            </a:r>
          </a:p>
        </p:txBody>
      </p:sp>
      <p:pic>
        <p:nvPicPr>
          <p:cNvPr id="9" name="Picture 8">
            <a:extLst>
              <a:ext uri="{FF2B5EF4-FFF2-40B4-BE49-F238E27FC236}">
                <a16:creationId xmlns:a16="http://schemas.microsoft.com/office/drawing/2014/main" id="{C25E785C-3385-7CCE-5947-4055074EE8F0}"/>
              </a:ext>
            </a:extLst>
          </p:cNvPr>
          <p:cNvPicPr>
            <a:picLocks noChangeAspect="1"/>
          </p:cNvPicPr>
          <p:nvPr/>
        </p:nvPicPr>
        <p:blipFill>
          <a:blip r:embed="rId4"/>
          <a:stretch>
            <a:fillRect/>
          </a:stretch>
        </p:blipFill>
        <p:spPr>
          <a:xfrm>
            <a:off x="8412766" y="3087774"/>
            <a:ext cx="2662304" cy="911671"/>
          </a:xfrm>
          <a:prstGeom prst="rect">
            <a:avLst/>
          </a:prstGeom>
          <a:ln w="19050">
            <a:solidFill>
              <a:srgbClr val="FF0000"/>
            </a:solidFill>
          </a:ln>
        </p:spPr>
      </p:pic>
      <p:pic>
        <p:nvPicPr>
          <p:cNvPr id="11" name="Picture 10">
            <a:extLst>
              <a:ext uri="{FF2B5EF4-FFF2-40B4-BE49-F238E27FC236}">
                <a16:creationId xmlns:a16="http://schemas.microsoft.com/office/drawing/2014/main" id="{184E2DE5-840B-A697-9FCA-D4D5C0A52904}"/>
              </a:ext>
            </a:extLst>
          </p:cNvPr>
          <p:cNvPicPr>
            <a:picLocks noChangeAspect="1"/>
          </p:cNvPicPr>
          <p:nvPr/>
        </p:nvPicPr>
        <p:blipFill>
          <a:blip r:embed="rId5"/>
          <a:stretch>
            <a:fillRect/>
          </a:stretch>
        </p:blipFill>
        <p:spPr>
          <a:xfrm>
            <a:off x="3311064" y="562023"/>
            <a:ext cx="2177870" cy="1693898"/>
          </a:xfrm>
          <a:prstGeom prst="rect">
            <a:avLst/>
          </a:prstGeom>
          <a:ln w="12700">
            <a:solidFill>
              <a:srgbClr val="FF0000"/>
            </a:solidFill>
          </a:ln>
        </p:spPr>
      </p:pic>
      <p:sp>
        <p:nvSpPr>
          <p:cNvPr id="13" name="TextBox 12">
            <a:extLst>
              <a:ext uri="{FF2B5EF4-FFF2-40B4-BE49-F238E27FC236}">
                <a16:creationId xmlns:a16="http://schemas.microsoft.com/office/drawing/2014/main" id="{2136BF62-E725-AD20-F1EB-137363530D1B}"/>
              </a:ext>
            </a:extLst>
          </p:cNvPr>
          <p:cNvSpPr txBox="1"/>
          <p:nvPr/>
        </p:nvSpPr>
        <p:spPr>
          <a:xfrm>
            <a:off x="3125202" y="192691"/>
            <a:ext cx="60970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a:highlight>
                  <a:srgbClr val="FFFF00"/>
                </a:highlight>
              </a:rPr>
              <a:t>80BR Data from CNAI Addin</a:t>
            </a:r>
          </a:p>
        </p:txBody>
      </p:sp>
    </p:spTree>
    <p:extLst>
      <p:ext uri="{BB962C8B-B14F-4D97-AF65-F5344CB8AC3E}">
        <p14:creationId xmlns:p14="http://schemas.microsoft.com/office/powerpoint/2010/main" val="6243215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0E61CC-C690-D2E4-7303-EEC018B3C5C4}"/>
              </a:ext>
            </a:extLst>
          </p:cNvPr>
          <p:cNvSpPr>
            <a:spLocks noGrp="1"/>
          </p:cNvSpPr>
          <p:nvPr>
            <p:ph type="sldNum" sz="quarter" idx="2"/>
          </p:nvPr>
        </p:nvSpPr>
        <p:spPr/>
        <p:txBody>
          <a:bodyPr/>
          <a:lstStyle/>
          <a:p>
            <a:fld id="{86CB4B4D-7CA3-9044-876B-883B54F8677D}" type="slidenum">
              <a:rPr lang="en-US" smtClean="0"/>
              <a:t>20</a:t>
            </a:fld>
            <a:endParaRPr lang="en-US"/>
          </a:p>
        </p:txBody>
      </p:sp>
      <p:graphicFrame>
        <p:nvGraphicFramePr>
          <p:cNvPr id="3" name="Table 2">
            <a:extLst>
              <a:ext uri="{FF2B5EF4-FFF2-40B4-BE49-F238E27FC236}">
                <a16:creationId xmlns:a16="http://schemas.microsoft.com/office/drawing/2014/main" id="{16A6417A-1C37-DFD3-B9CB-90EC8AB62994}"/>
              </a:ext>
            </a:extLst>
          </p:cNvPr>
          <p:cNvGraphicFramePr>
            <a:graphicFrameLocks noGrp="1"/>
          </p:cNvGraphicFramePr>
          <p:nvPr>
            <p:extLst>
              <p:ext uri="{D42A27DB-BD31-4B8C-83A1-F6EECF244321}">
                <p14:modId xmlns:p14="http://schemas.microsoft.com/office/powerpoint/2010/main" val="2400613337"/>
              </p:ext>
            </p:extLst>
          </p:nvPr>
        </p:nvGraphicFramePr>
        <p:xfrm>
          <a:off x="381000" y="3175794"/>
          <a:ext cx="10935268" cy="1676400"/>
        </p:xfrm>
        <a:graphic>
          <a:graphicData uri="http://schemas.openxmlformats.org/drawingml/2006/table">
            <a:tbl>
              <a:tblPr/>
              <a:tblGrid>
                <a:gridCol w="2743200">
                  <a:extLst>
                    <a:ext uri="{9D8B030D-6E8A-4147-A177-3AD203B41FA5}">
                      <a16:colId xmlns:a16="http://schemas.microsoft.com/office/drawing/2014/main" val="514157265"/>
                    </a:ext>
                  </a:extLst>
                </a:gridCol>
                <a:gridCol w="2743200">
                  <a:extLst>
                    <a:ext uri="{9D8B030D-6E8A-4147-A177-3AD203B41FA5}">
                      <a16:colId xmlns:a16="http://schemas.microsoft.com/office/drawing/2014/main" val="76451604"/>
                    </a:ext>
                  </a:extLst>
                </a:gridCol>
                <a:gridCol w="2986405">
                  <a:extLst>
                    <a:ext uri="{9D8B030D-6E8A-4147-A177-3AD203B41FA5}">
                      <a16:colId xmlns:a16="http://schemas.microsoft.com/office/drawing/2014/main" val="2686624271"/>
                    </a:ext>
                  </a:extLst>
                </a:gridCol>
                <a:gridCol w="2462463">
                  <a:extLst>
                    <a:ext uri="{9D8B030D-6E8A-4147-A177-3AD203B41FA5}">
                      <a16:colId xmlns:a16="http://schemas.microsoft.com/office/drawing/2014/main" val="1319326857"/>
                    </a:ext>
                  </a:extLst>
                </a:gridCol>
              </a:tblGrid>
              <a:tr h="0">
                <a:tc>
                  <a:txBody>
                    <a:bodyPr/>
                    <a:lstStyle/>
                    <a:p>
                      <a:pPr>
                        <a:buNone/>
                      </a:pPr>
                      <a:r>
                        <a:rPr lang="en-US"/>
                        <a:t>Testchip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Etest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CNAI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Testname to Structurename Delimiter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3854624"/>
                  </a:ext>
                </a:extLst>
              </a:tr>
              <a:tr h="0">
                <a:tc>
                  <a:txBody>
                    <a:bodyPr/>
                    <a:lstStyle/>
                    <a:p>
                      <a:pPr>
                        <a:buNone/>
                      </a:pPr>
                      <a:r>
                        <a:rPr lang="en-US"/>
                        <a:t>X802Z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ROSN-108-32-2L-INV-LVT_M1BECL-WAC_TC31_1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ROSPFT_NZ1_108H_2LG_LVT_BM1WAC_INV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2363755"/>
                  </a:ext>
                </a:extLst>
              </a:tr>
              <a:tr h="0">
                <a:tc>
                  <a:txBody>
                    <a:bodyPr/>
                    <a:lstStyle/>
                    <a:p>
                      <a:pPr>
                        <a:buNone/>
                      </a:pPr>
                      <a:r>
                        <a:rPr lang="en-US"/>
                        <a:t>X80C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ROSN-144-50-2L-INV-LVT-SH-M2_WAC_TC12_1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ROSPFT_NZ3_144H_2LG_LVT_M2_INV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752953"/>
                  </a:ext>
                </a:extLst>
              </a:tr>
              <a:tr h="0">
                <a:tc>
                  <a:txBody>
                    <a:bodyPr/>
                    <a:lstStyle/>
                    <a:p>
                      <a:pPr>
                        <a:buNone/>
                      </a:pPr>
                      <a:r>
                        <a:rPr lang="en-US"/>
                        <a:t>X82Z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NROSMOS-INV-L18-108H-FS_TC31_1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ROSN108-Z3-L-1L-INV-1X1-IXI-SH-M1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891355"/>
                  </a:ext>
                </a:extLst>
              </a:tr>
              <a:tr h="0">
                <a:tc>
                  <a:txBody>
                    <a:bodyPr/>
                    <a:lstStyle/>
                    <a:p>
                      <a:pPr>
                        <a:buNone/>
                      </a:pPr>
                      <a:r>
                        <a:rPr lang="en-US"/>
                        <a:t>X81Z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sz="1000"/>
                        <a:t>ROSN132-Z3-</a:t>
                      </a:r>
                      <a:r>
                        <a:rPr lang="en-US" sz="1000" b="1">
                          <a:solidFill>
                            <a:srgbClr val="C00000"/>
                          </a:solidFill>
                          <a:highlight>
                            <a:srgbClr val="FFFF00"/>
                          </a:highlight>
                        </a:rPr>
                        <a:t>2L-</a:t>
                      </a:r>
                      <a:r>
                        <a:rPr lang="en-US" sz="1000"/>
                        <a:t>E</a:t>
                      </a:r>
                      <a:r>
                        <a:rPr lang="en-US" sz="1000"/>
                        <a:t>-INV-1X1-IXI-SH-</a:t>
                      </a:r>
                      <a:r>
                        <a:rPr lang="en-US" sz="1000" b="1">
                          <a:solidFill>
                            <a:srgbClr val="C00000"/>
                          </a:solidFill>
                          <a:highlight>
                            <a:srgbClr val="FFFF00"/>
                          </a:highlight>
                        </a:rPr>
                        <a:t>A:NOM-</a:t>
                      </a:r>
                      <a:r>
                        <a:rPr lang="en-US" sz="1000"/>
                        <a:t>M1_TCxx_y</a:t>
                      </a:r>
                      <a:r>
                        <a:rPr lang="en-US"/>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2438337" rtl="0" eaLnBrk="1" fontAlgn="auto" latinLnBrk="0" hangingPunct="1">
                        <a:lnSpc>
                          <a:spcPct val="100000"/>
                        </a:lnSpc>
                        <a:spcBef>
                          <a:spcPts val="0"/>
                        </a:spcBef>
                        <a:spcAft>
                          <a:spcPts val="0"/>
                        </a:spcAft>
                        <a:buClrTx/>
                        <a:buSzTx/>
                        <a:buFontTx/>
                        <a:buNone/>
                        <a:tabLst/>
                        <a:defRPr/>
                      </a:pPr>
                      <a:r>
                        <a:rPr lang="en-US" sz="1000"/>
                        <a:t>ROSN132-Z3-</a:t>
                      </a:r>
                      <a:r>
                        <a:rPr lang="en-US" sz="1000" b="1">
                          <a:solidFill>
                            <a:srgbClr val="C00000"/>
                          </a:solidFill>
                          <a:highlight>
                            <a:srgbClr val="FFFF00"/>
                          </a:highlight>
                        </a:rPr>
                        <a:t>2L-</a:t>
                      </a:r>
                      <a:r>
                        <a:rPr lang="en-US" sz="1000"/>
                        <a:t>E</a:t>
                      </a:r>
                      <a:r>
                        <a:rPr lang="en-US" sz="1000"/>
                        <a:t>-INV-1X1-IXI-SH-</a:t>
                      </a:r>
                      <a:r>
                        <a:rPr lang="en-US" sz="1000" b="1">
                          <a:solidFill>
                            <a:srgbClr val="C00000"/>
                          </a:solidFill>
                          <a:highlight>
                            <a:srgbClr val="FFFF00"/>
                          </a:highlight>
                        </a:rPr>
                        <a:t>A:NOM-</a:t>
                      </a:r>
                      <a:r>
                        <a:rPr lang="en-US" sz="1000"/>
                        <a:t>M1-WAC-6X</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515131"/>
                  </a:ext>
                </a:extLst>
              </a:tr>
            </a:tbl>
          </a:graphicData>
        </a:graphic>
      </p:graphicFrame>
      <p:sp>
        <p:nvSpPr>
          <p:cNvPr id="4" name="Rectangle 1">
            <a:extLst>
              <a:ext uri="{FF2B5EF4-FFF2-40B4-BE49-F238E27FC236}">
                <a16:creationId xmlns:a16="http://schemas.microsoft.com/office/drawing/2014/main" id="{40791E53-43D1-3090-E401-29C849572947}"/>
              </a:ext>
            </a:extLst>
          </p:cNvPr>
          <p:cNvSpPr>
            <a:spLocks noChangeArrowheads="1"/>
          </p:cNvSpPr>
          <p:nvPr/>
        </p:nvSpPr>
        <p:spPr bwMode="auto">
          <a:xfrm>
            <a:off x="381000" y="31765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a:extLst>
              <a:ext uri="{FF2B5EF4-FFF2-40B4-BE49-F238E27FC236}">
                <a16:creationId xmlns:a16="http://schemas.microsoft.com/office/drawing/2014/main" id="{EE92F5B6-2071-FBE7-AEDF-CB21018D26A4}"/>
              </a:ext>
            </a:extLst>
          </p:cNvPr>
          <p:cNvPicPr>
            <a:picLocks noChangeAspect="1"/>
          </p:cNvPicPr>
          <p:nvPr/>
        </p:nvPicPr>
        <p:blipFill>
          <a:blip r:embed="rId2"/>
          <a:stretch>
            <a:fillRect/>
          </a:stretch>
        </p:blipFill>
        <p:spPr>
          <a:xfrm>
            <a:off x="523416" y="1500189"/>
            <a:ext cx="10650436" cy="371527"/>
          </a:xfrm>
          <a:prstGeom prst="rect">
            <a:avLst/>
          </a:prstGeom>
        </p:spPr>
      </p:pic>
      <p:sp>
        <p:nvSpPr>
          <p:cNvPr id="7" name="Freeform: Shape 6">
            <a:extLst>
              <a:ext uri="{FF2B5EF4-FFF2-40B4-BE49-F238E27FC236}">
                <a16:creationId xmlns:a16="http://schemas.microsoft.com/office/drawing/2014/main" id="{4012E587-B4F0-243B-A6D6-523F559830C7}"/>
              </a:ext>
            </a:extLst>
          </p:cNvPr>
          <p:cNvSpPr/>
          <p:nvPr/>
        </p:nvSpPr>
        <p:spPr>
          <a:xfrm>
            <a:off x="4718649" y="1299709"/>
            <a:ext cx="526211" cy="209914"/>
          </a:xfrm>
          <a:custGeom>
            <a:avLst/>
            <a:gdLst>
              <a:gd name="csX0" fmla="*/ 526211 w 526211"/>
              <a:gd name="csY0" fmla="*/ 184034 h 209914"/>
              <a:gd name="csX1" fmla="*/ 396815 w 526211"/>
              <a:gd name="csY1" fmla="*/ 11506 h 209914"/>
              <a:gd name="csX2" fmla="*/ 138023 w 526211"/>
              <a:gd name="csY2" fmla="*/ 37385 h 209914"/>
              <a:gd name="csX3" fmla="*/ 0 w 526211"/>
              <a:gd name="csY3" fmla="*/ 209914 h 209914"/>
            </a:gdLst>
            <a:ahLst/>
            <a:cxnLst>
              <a:cxn ang="0">
                <a:pos x="csX0" y="csY0"/>
              </a:cxn>
              <a:cxn ang="0">
                <a:pos x="csX1" y="csY1"/>
              </a:cxn>
              <a:cxn ang="0">
                <a:pos x="csX2" y="csY2"/>
              </a:cxn>
              <a:cxn ang="0">
                <a:pos x="csX3" y="csY3"/>
              </a:cxn>
            </a:cxnLst>
            <a:rect l="l" t="t" r="r" b="b"/>
            <a:pathLst>
              <a:path w="526211" h="209914">
                <a:moveTo>
                  <a:pt x="526211" y="184034"/>
                </a:moveTo>
                <a:cubicBezTo>
                  <a:pt x="493862" y="109990"/>
                  <a:pt x="461513" y="35947"/>
                  <a:pt x="396815" y="11506"/>
                </a:cubicBezTo>
                <a:cubicBezTo>
                  <a:pt x="332117" y="-12935"/>
                  <a:pt x="204159" y="4317"/>
                  <a:pt x="138023" y="37385"/>
                </a:cubicBezTo>
                <a:cubicBezTo>
                  <a:pt x="71887" y="70453"/>
                  <a:pt x="35943" y="140183"/>
                  <a:pt x="0" y="209914"/>
                </a:cubicBezTo>
              </a:path>
            </a:pathLst>
          </a:custGeom>
          <a:noFill/>
          <a:ln w="28575" cap="flat">
            <a:solidFill>
              <a:srgbClr val="FF0000"/>
            </a:solidFill>
            <a:prstDash val="solid"/>
            <a:miter lim="800000"/>
            <a:headEnd type="none" w="med" len="med"/>
            <a:tailEnd type="arrow" w="med" len="me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8" name="TextBox 7">
            <a:extLst>
              <a:ext uri="{FF2B5EF4-FFF2-40B4-BE49-F238E27FC236}">
                <a16:creationId xmlns:a16="http://schemas.microsoft.com/office/drawing/2014/main" id="{6C0D08A0-014D-B744-286F-E7128E4C8524}"/>
              </a:ext>
            </a:extLst>
          </p:cNvPr>
          <p:cNvSpPr txBox="1"/>
          <p:nvPr/>
        </p:nvSpPr>
        <p:spPr>
          <a:xfrm>
            <a:off x="5141344" y="1690777"/>
            <a:ext cx="31055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FF0000"/>
                </a:solidFill>
                <a:effectLst/>
                <a:uFillTx/>
                <a:latin typeface="IntelOne Text Light"/>
                <a:ea typeface="IntelOne Text Light"/>
                <a:cs typeface="IntelOne Text Light"/>
                <a:sym typeface="IntelOne Text Light"/>
              </a:rPr>
              <a:t>^</a:t>
            </a:r>
          </a:p>
        </p:txBody>
      </p:sp>
    </p:spTree>
    <p:extLst>
      <p:ext uri="{BB962C8B-B14F-4D97-AF65-F5344CB8AC3E}">
        <p14:creationId xmlns:p14="http://schemas.microsoft.com/office/powerpoint/2010/main" val="4272144977"/>
      </p:ext>
    </p:extLst>
  </p:cSld>
  <p:clrMapOvr>
    <a:masterClrMapping/>
  </p:clrMapOvr>
  <p:transition spd="med"/>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333333"/>
                </a:solidFill>
              </a:rPr>
              <a:t>Make a uniform delimiter</a:t>
            </a:r>
          </a:p>
          <a:p>
            <a:pPr>
              <a:spcAft>
                <a:spcPts val="600"/>
              </a:spcAft>
            </a:pPr>
            <a:r>
              <a:rPr sz="1400" b="1">
                <a:solidFill>
                  <a:srgbClr val="C00000"/>
                </a:solidFill>
                <a:highlight>
                  <a:srgbClr val="FFFF00"/>
                </a:highlight>
              </a:rPr>
              <a:t>'/' only inside the environment field (/D = no diffusion; CMOS/NP, CMOS/PP = matching pair), in back-end layer pairs / W-S values, and between alternative DIR / SKEW values of a POR reference (OGD/PGD, CD/REG)</a:t>
            </a:r>
          </a:p>
          <a:p>
            <a:pPr>
              <a:spcAft>
                <a:spcPts val="600"/>
              </a:spcAft>
            </a:pPr>
            <a:r>
              <a:rPr sz="1400" b="1">
                <a:solidFill>
                  <a:srgbClr val="C00000"/>
                </a:solidFill>
                <a:highlight>
                  <a:srgbClr val="FFFF00"/>
                </a:highlight>
              </a:rPr>
              <a:t>POR structures without a TSDR skew carry A:NOM (lego type first, as in skews) as the first additional token; POR / REF / SDR are written NOM</a:t>
            </a:r>
          </a:p>
          <a:p>
            <a:pPr>
              <a:spcAft>
                <a:spcPts val="600"/>
              </a:spcAft>
            </a:pPr>
            <a:r>
              <a:rPr sz="1400" b="1">
                <a:solidFill>
                  <a:srgbClr val="C00000"/>
                </a:solidFill>
                <a:highlight>
                  <a:srgbClr val="FFFF00"/>
                </a:highlight>
              </a:rPr>
              <a:t>Signed magnitudes are written N#/P#/NOM - never '+' / '-' (collides with the '-' delimiter)</a:t>
            </a:r>
          </a:p>
          <a:p>
            <a:pPr>
              <a:spcAft>
                <a:spcPts val="600"/>
              </a:spcAft>
            </a:pPr>
            <a:r>
              <a:rPr sz="1400" b="1">
                <a:solidFill>
                  <a:srgbClr val="C00000"/>
                </a:solidFill>
                <a:highlight>
                  <a:srgbClr val="FFFF00"/>
                </a:highlight>
              </a:rPr>
              <a:t>Inline '_' is not allowed; '_' only before seat name for a trailing instance index (e.g. _2)</a:t>
            </a:r>
          </a:p>
          <a:p>
            <a:pPr>
              <a:spcAft>
                <a:spcPts val="600"/>
              </a:spcAft>
            </a:pPr>
            <a:r>
              <a:rPr sz="1400" b="1">
                <a:solidFill>
                  <a:srgbClr val="C00000"/>
                </a:solidFill>
                <a:highlight>
                  <a:srgbClr val="FFFF00"/>
                </a:highlight>
              </a:rPr>
              <a:t>LLE (local layout effects) rows: a structure carries an LLE layout descriptor (NEST, VTMX, UDEG, FTIRST, ...) or, if it has none (A:NOM, A:PXL), the tag ':LLE' (A:NOM:LLE)</a:t>
            </a:r>
          </a:p>
          <a:p>
            <a:pPr>
              <a:spcAft>
                <a:spcPts val="600"/>
              </a:spcAft>
            </a:pPr>
            <a:r>
              <a:rPr sz="1400" b="1">
                <a:solidFill>
                  <a:srgbClr val="C00000"/>
                </a:solidFill>
                <a:highlight>
                  <a:srgbClr val="FFFF00"/>
                </a:highlight>
              </a:rPr>
              <a:t>Every TSDR skew (ISO, PFT, MLR, KLV, BE) uses TYPE:LAYER:DIR:SKEW:MAG[:extra]; TYPE = lego type ('A' when not specified); DIR: PXL=PGD, PLY/TCN/FTI=OGD; decimals as D (N1D2); CD relative to nominal (VCR 12 nm, VCRNUB 44 nm)</a:t>
            </a:r>
          </a:p>
          <a:p>
            <a:pPr>
              <a:spcAft>
                <a:spcPts val="600"/>
              </a:spcAft>
            </a:pPr>
            <a:r>
              <a:rPr sz="1400" b="1">
                <a:solidFill>
                  <a:srgbClr val="C00000"/>
                </a:solidFill>
                <a:highlight>
                  <a:srgbClr val="FFFF00"/>
                </a:highlight>
              </a:rPr>
              <a:t>Layout-variant descriptors that are not TSDR skews (VTMX, NEST, UDEG, JOG, FTIRST, ...) carry the lego type as prefix (A:VTMX:CRL:H); a trailing REF / POR inside them is written NOM; signed values '+5' -&gt; P5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5)</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333333"/>
                </a:solidFill>
              </a:rPr>
              <a:t>Character limit is 64</a:t>
            </a:r>
          </a:p>
          <a:p>
            <a:pPr>
              <a:spcAft>
                <a:spcPts val="600"/>
              </a:spcAft>
            </a:pPr>
            <a:r>
              <a:rPr sz="1600" b="1">
                <a:solidFill>
                  <a:srgbClr val="C00000"/>
                </a:solidFill>
                <a:highlight>
                  <a:srgbClr val="FFFF00"/>
                </a:highlight>
              </a:rPr>
              <a:t>64-character limit is checked on the full name including _TCxx_y</a:t>
            </a:r>
          </a:p>
          <a:p>
            <a:pPr>
              <a:spcAft>
                <a:spcPts val="600"/>
              </a:spcAft>
            </a:pPr>
            <a:r>
              <a:rPr sz="1600" b="1">
                <a:solidFill>
                  <a:srgbClr val="C00000"/>
                </a:solidFill>
                <a:highlight>
                  <a:srgbClr val="FFFF00"/>
                </a:highlight>
              </a:rPr>
              <a:t>Metal-gate VT is written with the single-letter code (table) and follows LEGS/#ADF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11)</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333333"/>
                </a:solidFill>
              </a:rPr>
              <a:t>BCMOS – Balanced NPN</a:t>
            </a:r>
          </a:p>
          <a:p>
            <a:pPr>
              <a:spcAft>
                <a:spcPts val="600"/>
              </a:spcAft>
            </a:pPr>
            <a:r>
              <a:rPr sz="1400" b="1">
                <a:solidFill>
                  <a:srgbClr val="C00000"/>
                </a:solidFill>
                <a:highlight>
                  <a:srgbClr val="FFFF00"/>
                </a:highlight>
              </a:rPr>
              <a:t>/D – no diffusion (replaces CMOS/UNI)</a:t>
            </a:r>
          </a:p>
          <a:p>
            <a:pPr>
              <a:spcAft>
                <a:spcPts val="600"/>
              </a:spcAft>
            </a:pPr>
            <a:r>
              <a:rPr sz="1400" b="1">
                <a:solidFill>
                  <a:srgbClr val="C00000"/>
                </a:solidFill>
                <a:highlight>
                  <a:srgbClr val="FFFF00"/>
                </a:highlight>
              </a:rPr>
              <a:t>CMOS/NP, CMOS/PP – matching pair</a:t>
            </a:r>
          </a:p>
          <a:p>
            <a:pPr>
              <a:spcAft>
                <a:spcPts val="600"/>
              </a:spcAft>
            </a:pPr>
            <a:r>
              <a:rPr sz="1400" b="1">
                <a:solidFill>
                  <a:srgbClr val="C00000"/>
                </a:solidFill>
                <a:highlight>
                  <a:srgbClr val="FFFF00"/>
                </a:highlight>
              </a:rPr>
              <a:t>ADTUNI – two active diffusion (ADT)</a:t>
            </a:r>
          </a:p>
          <a:p>
            <a:pPr>
              <a:spcAft>
                <a:spcPts val="600"/>
              </a:spcAft>
            </a:pPr>
            <a:r>
              <a:rPr sz="1400" b="1">
                <a:solidFill>
                  <a:srgbClr val="C00000"/>
                </a:solidFill>
                <a:highlight>
                  <a:srgbClr val="FFFF00"/>
                </a:highlight>
              </a:rPr>
              <a:t>If nesting not specified: 0X0-IXI</a:t>
            </a:r>
          </a:p>
          <a:p>
            <a:pPr>
              <a:spcAft>
                <a:spcPts val="600"/>
              </a:spcAft>
            </a:pPr>
            <a:r>
              <a:rPr sz="1400"/>
              <a:t/>
            </a:r>
          </a:p>
          <a:p>
            <a:pPr>
              <a:spcAft>
                <a:spcPts val="600"/>
              </a:spcAft>
            </a:pPr>
            <a:r>
              <a:rPr sz="1400" b="1">
                <a:solidFill>
                  <a:srgbClr val="333333"/>
                </a:solidFill>
              </a:rPr>
              <a:t>Inline Structure Example</a:t>
            </a:r>
          </a:p>
          <a:p>
            <a:pPr>
              <a:spcAft>
                <a:spcPts val="600"/>
              </a:spcAft>
            </a:pPr>
            <a:r>
              <a:rPr sz="1400" b="1">
                <a:solidFill>
                  <a:srgbClr val="C00000"/>
                </a:solidFill>
                <a:highlight>
                  <a:srgbClr val="FFFF00"/>
                </a:highlight>
              </a:rPr>
              <a:t>Matching: MNS132-Z5-1L-L-CMOS/NP-0X1-IXI-SH-A:NOM_TCxx_y</a:t>
            </a:r>
          </a:p>
          <a:p>
            <a:pPr>
              <a:spcAft>
                <a:spcPts val="600"/>
              </a:spcAft>
            </a:pPr>
            <a:r>
              <a:rPr sz="1400" b="1">
                <a:solidFill>
                  <a:srgbClr val="C00000"/>
                </a:solidFill>
                <a:highlight>
                  <a:srgbClr val="FFFF00"/>
                </a:highlight>
              </a:rPr>
              <a:t>WID: WNS132-Z5-1L-L-CMOS-0X1-IXI-SH-A:NOM_TCxx_y</a:t>
            </a:r>
          </a:p>
          <a:p>
            <a:pPr>
              <a:spcAft>
                <a:spcPts val="600"/>
              </a:spcAft>
            </a:pPr>
            <a:r>
              <a:rPr sz="1400" b="1">
                <a:solidFill>
                  <a:srgbClr val="C00000"/>
                </a:solidFill>
                <a:highlight>
                  <a:srgbClr val="FFFF00"/>
                </a:highlight>
              </a:rPr>
              <a:t>PLY/TCN CD skews - layer code states TCN and poly-pitch behaviour (POR PP 44): PLYFTCN = PLY skew, TCN fixed, PP = 44+MAG (A:PLYFTCN:OGD:CD:N1 = 43PP); PLYFPP = PLY only, fixed 44PP, TCN nominal; PLYITCN = PLY skew, TCN inverse, fixed 44PP (A:PLYITCN:OGD:CD:N0D4 = PLY -0.4 / TCN +0.4); TCNFPP = TCN only, fixed 44PP. ISO/KLV keep A:TCN:OGD:CD:{MAG}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13)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333333"/>
                </a:solidFill>
              </a:rPr>
              <a:t>Inline Structure Example</a:t>
            </a:r>
          </a:p>
          <a:p>
            <a:pPr>
              <a:spcAft>
                <a:spcPts val="600"/>
              </a:spcAft>
            </a:pPr>
            <a:r>
              <a:rPr sz="1600" b="1">
                <a:solidFill>
                  <a:srgbClr val="C00000"/>
                </a:solidFill>
                <a:highlight>
                  <a:srgbClr val="FFFF00"/>
                </a:highlight>
              </a:rPr>
              <a:t>Metal routing (M#) is not part of PFT / MLR / BITCELL names (kept only for ROS / ROSPFT where needed); FTI-ISO-LayoutHeight padded 0X0-IXI-SH</a:t>
            </a:r>
          </a:p>
          <a:p>
            <a:pPr>
              <a:spcAft>
                <a:spcPts val="600"/>
              </a:spcAft>
            </a:pPr>
            <a:r>
              <a:rPr sz="1600" b="1">
                <a:solidFill>
                  <a:srgbClr val="C00000"/>
                </a:solidFill>
                <a:highlight>
                  <a:srgbClr val="FFFF00"/>
                </a:highlight>
              </a:rPr>
              <a:t>/D environment = no diffusion: NM132-Z5-1ADF-E-/D-0X0-IXI-SH-A:NOM_TCxx_y</a:t>
            </a:r>
          </a:p>
          <a:p>
            <a:pPr>
              <a:spcAft>
                <a:spcPts val="600"/>
              </a:spcAft>
            </a:pPr>
            <a:r>
              <a:rPr sz="1600" b="1">
                <a:solidFill>
                  <a:srgbClr val="C00000"/>
                </a:solidFill>
                <a:highlight>
                  <a:srgbClr val="FFFF00"/>
                </a:highlight>
              </a:rPr>
              <a:t>VCRNUB PGD CD relative to single-sided nominal 8.4 nm (110H) / 13.4 nm (132H, 165H); double-sided 16.8 / 26.8 nm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additions (to WW19 slide 14)</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333333"/>
                </a:solidFill>
              </a:rPr>
              <a:t>Examples:</a:t>
            </a:r>
          </a:p>
          <a:p>
            <a:pPr>
              <a:spcAft>
                <a:spcPts val="600"/>
              </a:spcAft>
            </a:pPr>
            <a:r>
              <a:rPr sz="1600" b="1">
                <a:solidFill>
                  <a:srgbClr val="C00000"/>
                </a:solidFill>
                <a:highlight>
                  <a:srgbClr val="FFFF00"/>
                </a:highlight>
              </a:rPr>
              <a:t>POR layer 'SDR' is written NOM; diffusion always Z code (NZ1, not N27)</a:t>
            </a:r>
          </a:p>
          <a:p>
            <a:pPr>
              <a:spcAft>
                <a:spcPts val="600"/>
              </a:spcAft>
            </a:pPr>
            <a:r>
              <a:rPr sz="1600" b="1">
                <a:solidFill>
                  <a:srgbClr val="C00000"/>
                </a:solidFill>
                <a:highlight>
                  <a:srgbClr val="FFFF00"/>
                </a:highlight>
              </a:rPr>
              <a:t>POR reference without its own direction lists all DIR / SKEW of its series: DIFFOGD132-NZ5-NL-L-A:FTIML:OGD/PGD:CD/REG:NOM</a:t>
            </a:r>
          </a:p>
          <a:p>
            <a:pPr>
              <a:spcAft>
                <a:spcPts val="600"/>
              </a:spcAft>
            </a:pPr>
            <a:r>
              <a:rPr sz="1600" b="1">
                <a:solidFill>
                  <a:srgbClr val="C00000"/>
                </a:solidFill>
                <a:highlight>
                  <a:srgbClr val="FFFF00"/>
                </a:highlight>
              </a:rPr>
              <a:t>Qualifiers (e.g. NDBI) go to a trailing ':' chunk: A:NOM:PGD:ESD:2TRK1PP:NDBI</a:t>
            </a:r>
          </a:p>
          <a:p>
            <a:pPr>
              <a:spcAft>
                <a:spcPts val="600"/>
              </a:spcAft>
            </a:pPr>
            <a:r>
              <a:rPr sz="1600" b="1">
                <a:solidFill>
                  <a:srgbClr val="C00000"/>
                </a:solidFill>
                <a:highlight>
                  <a:srgbClr val="FFFF00"/>
                </a:highlight>
              </a:rPr>
              <a:t>No legs in ISO / KLV names: 'NL' (no legs) keeps VT in field 4; SRAM bitcells already carry the device type (PD/PG/PU/RP/IR) in field 4; bitcells have no layout height, so the skew is field 8; two diffusions are joined with ':' (SRN192-29:28-1L-PD-...)</a:t>
            </a:r>
          </a:p>
          <a:p>
            <a:pPr>
              <a:spcAft>
                <a:spcPts val="600"/>
              </a:spcAft>
            </a:pPr>
            <a:r>
              <a:rPr sz="1600" b="1">
                <a:solidFill>
                  <a:srgbClr val="C00000"/>
                </a:solidFill>
                <a:highlight>
                  <a:srgbClr val="FFFF00"/>
                </a:highlight>
              </a:rPr>
              <a:t>KLV structures use this layout: GATEKLV132-NDZ5-NL-L-NPXLNGLK, VTKLV132-NZ5-NL-L-SDRENC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Structure Name – Full KTCN (FK) PFT   [NEW WW43]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C00000"/>
                </a:solidFill>
                <a:highlight>
                  <a:srgbClr val="FFFF00"/>
                </a:highlight>
              </a:rPr>
              <a:t>TESTNAME_{N|P}S{CH}-{Z}-1L-{VT}-CMOS-1X1-IXI-SH-A:FKTCN:{Dir}:{SkewType}:{Mag}:44PP_TCxx_y</a:t>
            </a:r>
          </a:p>
          <a:p>
            <a:pPr>
              <a:spcAft>
                <a:spcPts val="600"/>
              </a:spcAft>
            </a:pPr>
            <a:r>
              <a:rPr sz="1600"/>
              <a:t/>
            </a:r>
          </a:p>
          <a:p>
            <a:pPr>
              <a:spcAft>
                <a:spcPts val="600"/>
              </a:spcAft>
            </a:pPr>
            <a:r>
              <a:rPr sz="1600" b="1">
                <a:solidFill>
                  <a:srgbClr val="C00000"/>
                </a:solidFill>
                <a:highlight>
                  <a:srgbClr val="FFFF00"/>
                </a:highlight>
              </a:rPr>
              <a:t>Follows the CMOS PFT template; full-KTCN identity carried by the skew layer FKTCN; 44 = 44 PP</a:t>
            </a:r>
          </a:p>
          <a:p>
            <a:pPr>
              <a:spcAft>
                <a:spcPts val="600"/>
              </a:spcAft>
            </a:pPr>
            <a:r>
              <a:rPr sz="1600" b="1">
                <a:solidFill>
                  <a:srgbClr val="C00000"/>
                </a:solidFill>
                <a:highlight>
                  <a:srgbClr val="FFFF00"/>
                </a:highlight>
              </a:rPr>
              <a:t>Old: FKNS44-132-Z5-L-TCN:OGD:CD:N1_TCxx_y</a:t>
            </a:r>
          </a:p>
          <a:p>
            <a:pPr>
              <a:spcAft>
                <a:spcPts val="600"/>
              </a:spcAft>
            </a:pPr>
            <a:r>
              <a:rPr sz="1600" b="1">
                <a:solidFill>
                  <a:srgbClr val="C00000"/>
                </a:solidFill>
                <a:highlight>
                  <a:srgbClr val="FFFF00"/>
                </a:highlight>
              </a:rPr>
              <a:t>New: NS132-Z5-1L-L-CMOS-1X1-IXI-SH-A:FKTCN:OGD:CD:N1:44PP_TCxx_y</a:t>
            </a:r>
          </a:p>
          <a:p>
            <a:pPr>
              <a:spcAft>
                <a:spcPts val="600"/>
              </a:spcAft>
            </a:pPr>
            <a:r>
              <a:rPr sz="1600" b="1">
                <a:solidFill>
                  <a:srgbClr val="C00000"/>
                </a:solidFill>
                <a:highlight>
                  <a:srgbClr val="FFFF00"/>
                </a:highlight>
              </a:rPr>
              <a:t>Old: FKPS44-165-Z7-L-TCN:OGD:CD:NOM_TCxx_y</a:t>
            </a:r>
          </a:p>
          <a:p>
            <a:pPr>
              <a:spcAft>
                <a:spcPts val="600"/>
              </a:spcAft>
            </a:pPr>
            <a:r>
              <a:rPr sz="1600" b="1">
                <a:solidFill>
                  <a:srgbClr val="C00000"/>
                </a:solidFill>
                <a:highlight>
                  <a:srgbClr val="FFFF00"/>
                </a:highlight>
              </a:rPr>
              <a:t>New: PS165-Z7-1L-L-CMOS-1X1-IXI-SH-A:FKTCN:OGD:CD:NOM:44PP_TCxx_y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200" b="1">
                <a:latin typeface="IntelOne Display HE Regular" panose="020B0503020203020204" pitchFamily="34" charset="-79"/>
                <a:cs typeface="IntelOne Display HE Regular" panose="020B0503020203020204" pitchFamily="34" charset="-79"/>
              </a:rPr>
              <a:t>Structure Name – Back-end (Via / Metal)   [NEW WW43]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C00000"/>
                </a:solidFill>
                <a:highlight>
                  <a:srgbClr val="FFFF00"/>
                </a:highlight>
              </a:rPr>
              <a:t>{VIA}{TEST}{CH}-{Layers}-{W/S}-{W/S}-{Dim}-A:{VIA}:{Dir}:{Skew}:{N#|P#|NOM}_TCxx_y</a:t>
            </a:r>
          </a:p>
          <a:p>
            <a:pPr>
              <a:spcAft>
                <a:spcPts val="600"/>
              </a:spcAft>
            </a:pPr>
            <a:r>
              <a:rPr sz="1400"/>
              <a:t/>
            </a:r>
          </a:p>
          <a:p>
            <a:pPr>
              <a:spcAft>
                <a:spcPts val="600"/>
              </a:spcAft>
            </a:pPr>
            <a:r>
              <a:rPr sz="1400" b="1">
                <a:solidFill>
                  <a:srgbClr val="C00000"/>
                </a:solidFill>
                <a:highlight>
                  <a:srgbClr val="FFFF00"/>
                </a:highlight>
              </a:rPr>
              <a:t>TEST = back-end structure type, joined to the category like the front-end KLV family (VT_KLV_…_132H -&gt; VTKLV132-…, cf. VTKLV132-NZ5-L-…): KLV kelvin, MV via zipper, VCHN via chain, ECD electrical CD, SRP serpentine</a:t>
            </a:r>
          </a:p>
          <a:p>
            <a:pPr>
              <a:spcAft>
                <a:spcPts val="600"/>
              </a:spcAft>
            </a:pPr>
            <a:r>
              <a:rPr sz="1400" b="1">
                <a:solidFill>
                  <a:srgbClr val="C00000"/>
                </a:solidFill>
                <a:highlight>
                  <a:srgbClr val="FFFF00"/>
                </a:highlight>
              </a:rPr>
              <a:t>'-' replaces '_' as field delimiter; CH follows the category; '/' kept for layer pairs and W/S; skew in TYPE:LAYER:DIR:SKEW:MAG with layer = via/metal and DIR Z (back-end, as DIFFCHN); structures without skew carry A:NOM</a:t>
            </a:r>
          </a:p>
          <a:p>
            <a:pPr>
              <a:spcAft>
                <a:spcPts val="600"/>
              </a:spcAft>
            </a:pPr>
            <a:r>
              <a:rPr sz="1400" b="1">
                <a:solidFill>
                  <a:srgbClr val="C00000"/>
                </a:solidFill>
                <a:highlight>
                  <a:srgbClr val="FFFF00"/>
                </a:highlight>
              </a:rPr>
              <a:t>Old: V0_KLV_M0B/M1_12/9_24/20_21X9_CD_-3_TCxx_y  -&gt;  V0KLV-M0B/M1-12/9-24/20-21X9-A:V0:Z:CD:N3_TCxx_y</a:t>
            </a:r>
          </a:p>
          <a:p>
            <a:pPr>
              <a:spcAft>
                <a:spcPts val="600"/>
              </a:spcAft>
            </a:pPr>
            <a:r>
              <a:rPr sz="1400" b="1">
                <a:solidFill>
                  <a:srgbClr val="C00000"/>
                </a:solidFill>
                <a:highlight>
                  <a:srgbClr val="FFFF00"/>
                </a:highlight>
              </a:rPr>
              <a:t>Old: V1_VCHN_M1/M2B_…_REGOGD_-13_TCxx_y  -&gt;  V1VCHN-M1/M2B-…-A:V1:OGD:REG:N13_TCxx_y</a:t>
            </a:r>
          </a:p>
          <a:p>
            <a:pPr>
              <a:spcAft>
                <a:spcPts val="600"/>
              </a:spcAft>
            </a:pPr>
            <a:r>
              <a:rPr sz="1400" b="1">
                <a:solidFill>
                  <a:srgbClr val="C00000"/>
                </a:solidFill>
                <a:highlight>
                  <a:srgbClr val="FFFF00"/>
                </a:highlight>
              </a:rPr>
              <a:t>Old: V0_MV_M0B/M1_12/9_24/20_24X12_V0M0_-10_TCxx_y  -&gt;  V0MV-…-A:V0:Z:V0M0:N10_TCxx_y</a:t>
            </a:r>
          </a:p>
          <a:p>
            <a:pPr>
              <a:spcAft>
                <a:spcPts val="600"/>
              </a:spcAft>
            </a:pPr>
            <a:r>
              <a:rPr sz="1400" b="1">
                <a:solidFill>
                  <a:srgbClr val="C00000"/>
                </a:solidFill>
                <a:highlight>
                  <a:srgbClr val="FFFF00"/>
                </a:highlight>
              </a:rPr>
              <a:t>Old: VG_KLV_Z1N/M0B_12X10_DR_E_110H_TCxx_y  -&gt;  VGKLV110-Z1N/M0B-12X10-DR-E_TCxx_y</a:t>
            </a:r>
          </a:p>
          <a:p>
            <a:pPr>
              <a:spcAft>
                <a:spcPts val="600"/>
              </a:spcAft>
            </a:pPr>
            <a:r>
              <a:rPr sz="1400" b="1">
                <a:solidFill>
                  <a:srgbClr val="C00000"/>
                </a:solidFill>
                <a:highlight>
                  <a:srgbClr val="FFFF00"/>
                </a:highlight>
              </a:rPr>
              <a:t>DR -&gt; NOM only where confirmed per structure (DR_to_NOM_Decisions.csv)</a:t>
            </a:r>
          </a:p>
          <a:p>
            <a:pPr>
              <a:spcAft>
                <a:spcPts val="600"/>
              </a:spcAft>
            </a:pPr>
            <a:r>
              <a:rPr sz="1400" b="1">
                <a:solidFill>
                  <a:srgbClr val="C00000"/>
                </a:solidFill>
                <a:highlight>
                  <a:srgbClr val="FFFF00"/>
                </a:highlight>
              </a:rPr>
              <a:t>Uniform field count per {VIA}{TEST}: core fields - skew field (A:... / A:NOM / DR) - one optional ':'-joined additional field (NUB:0:1VCR, WL:DEN, TOP:L); '-WID' -&gt; 'W' head prefix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200" b="1">
                <a:latin typeface="IntelOne Display HE Regular" panose="020B0503020203020204" pitchFamily="34" charset="-79"/>
                <a:cs typeface="IntelOne Display HE Regular" panose="020B0503020203020204" pitchFamily="34" charset="-79"/>
              </a:rPr>
              <a:t>Structure Name – QnR (draft, decoder pending)   [NEW WW43]</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600" b="1">
                <a:solidFill>
                  <a:srgbClr val="C00000"/>
                </a:solidFill>
                <a:highlight>
                  <a:srgbClr val="FFFF00"/>
                </a:highlight>
              </a:rPr>
              <a:t>{QFAM}{CH}-{Z}-{VT}-{ENV}-{NEST}-{ISO}-R{rev}:{MOS code}:{CH variant}:{Geometry}:{Style}:{Topology}-{Location}</a:t>
            </a:r>
          </a:p>
          <a:p>
            <a:pPr>
              <a:spcAft>
                <a:spcPts val="600"/>
              </a:spcAft>
            </a:pPr>
            <a:r>
              <a:rPr sz="1600"/>
              <a:t/>
            </a:r>
          </a:p>
          <a:p>
            <a:pPr>
              <a:spcAft>
                <a:spcPts val="600"/>
              </a:spcAft>
            </a:pPr>
            <a:r>
              <a:rPr sz="1600" b="1">
                <a:solidFill>
                  <a:srgbClr val="C00000"/>
                </a:solidFill>
                <a:highlight>
                  <a:srgbClr val="FFFF00"/>
                </a:highlight>
              </a:rPr>
              <a:t>Old: QMN3-NM44-132A-Z521616I-0X0-IXI-SVT-L-2T-CMOS-BP35_TCxx_y</a:t>
            </a:r>
          </a:p>
          <a:p>
            <a:pPr>
              <a:spcAft>
                <a:spcPts val="600"/>
              </a:spcAft>
            </a:pPr>
            <a:r>
              <a:rPr sz="1600" b="1">
                <a:solidFill>
                  <a:srgbClr val="C00000"/>
                </a:solidFill>
                <a:highlight>
                  <a:srgbClr val="FFFF00"/>
                </a:highlight>
              </a:rPr>
              <a:t>Draft: QMN132-Z5-S-CMOS-0X0-IXI-R3:NM44:A:21616I:L:2T-BP35_TCxx_y</a:t>
            </a:r>
          </a:p>
          <a:p>
            <a:pPr>
              <a:spcAft>
                <a:spcPts val="600"/>
              </a:spcAft>
            </a:pPr>
            <a:r>
              <a:rPr sz="1600" b="1">
                <a:solidFill>
                  <a:srgbClr val="C00000"/>
                </a:solidFill>
                <a:highlight>
                  <a:srgbClr val="FFFF00"/>
                </a:highlight>
              </a:rPr>
              <a:t>Interim rule: '-' delimiter (QCNP used '_'), single-letter VT, 'ULVT-LL' -&gt; UL</a:t>
            </a:r>
          </a:p>
          <a:p>
            <a:pPr>
              <a:spcAft>
                <a:spcPts val="600"/>
              </a:spcAft>
            </a:pPr>
            <a:r>
              <a:rPr sz="1600" b="1">
                <a:solidFill>
                  <a:srgbClr val="C00000"/>
                </a:solidFill>
                <a:highlight>
                  <a:srgbClr val="FFFF00"/>
                </a:highlight>
              </a:rPr>
              <a:t>MOS code NM/PM/PC + 44 (PP); A = lego/orientation variant; BP/VP = pad/site index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9: VT-Style-FTI-ISO-LayoutHeight-(Routing)-Style-Additional_TCxx_Count  -&gt;  VT-Style-Stages-FanOut-LayoutHeight-Type:NOM|Type:Skew-(Routing)-Additional_TCxx_Count</a:t>
            </a:r>
          </a:p>
          <a:p>
            <a:pPr>
              <a:spcAft>
                <a:spcPts val="600"/>
              </a:spcAft>
            </a:pPr>
            <a:r>
              <a:rPr sz="1200" b="1">
                <a:solidFill>
                  <a:srgbClr val="C00000"/>
                </a:solidFill>
                <a:highlight>
                  <a:srgbClr val="FFFF00"/>
                </a:highlight>
              </a:rPr>
              <a:t>Slide 9: X81ZROS132-Z5-2L-ULVT-NAN-STG11-FO3-SH-M1_TCxx_y  -&gt;  X81ZROS132-Z5-2L-U-NAN-STG11-FO3-SH-A:NOM-M1_TCxx_y</a:t>
            </a:r>
          </a:p>
          <a:p>
            <a:pPr>
              <a:spcAft>
                <a:spcPts val="600"/>
              </a:spcAft>
            </a:pPr>
            <a:r>
              <a:rPr sz="1200" b="1">
                <a:solidFill>
                  <a:srgbClr val="C00000"/>
                </a:solidFill>
                <a:highlight>
                  <a:srgbClr val="FFFF00"/>
                </a:highlight>
              </a:rPr>
              <a:t>Slide 9: X81ZROS132-Z5-2L-LVT-INV-STG11-FO3-SH-M2-WAC_TCxx_y  -&gt;  X81ZROS132-Z5-2L-L-INV-STG11-FO3-SH-A:NOM-M2-WAC_TCxx_y</a:t>
            </a:r>
          </a:p>
          <a:p>
            <a:pPr>
              <a:spcAft>
                <a:spcPts val="600"/>
              </a:spcAft>
            </a:pPr>
            <a:r>
              <a:rPr sz="1200" b="1">
                <a:solidFill>
                  <a:srgbClr val="C00000"/>
                </a:solidFill>
                <a:highlight>
                  <a:srgbClr val="FFFF00"/>
                </a:highlight>
              </a:rPr>
              <a:t>Slide 10: -LayoutHeight-(Routing)-Additional_TCxx_Count  -&gt;  -LayoutHeight-Type:NOM|Type:Skew-(Routing)-Additional_TCxx_Count</a:t>
            </a:r>
          </a:p>
          <a:p>
            <a:pPr>
              <a:spcAft>
                <a:spcPts val="600"/>
              </a:spcAft>
            </a:pPr>
            <a:r>
              <a:rPr sz="1200" b="1">
                <a:solidFill>
                  <a:srgbClr val="C00000"/>
                </a:solidFill>
                <a:highlight>
                  <a:srgbClr val="FFFF00"/>
                </a:highlight>
              </a:rPr>
              <a:t>Slide 10: ROSN132-Z3-2L-ELVT-NAN-1X1-IXI-SH-M1-WAC-6X_TCxx_y  -&gt;  ROSN132-Z3-2L-E-NAN-1X1-IXI-SH-A:NOM-M1-WAC-6X_TCxx_y</a:t>
            </a:r>
          </a:p>
          <a:p>
            <a:pPr>
              <a:spcAft>
                <a:spcPts val="600"/>
              </a:spcAft>
            </a:pPr>
            <a:r>
              <a:rPr sz="1200" b="1">
                <a:solidFill>
                  <a:srgbClr val="C00000"/>
                </a:solidFill>
                <a:highlight>
                  <a:srgbClr val="FFFF00"/>
                </a:highlight>
              </a:rPr>
              <a:t>Slide 10: ROSP132-Z3-2L-SVT-AOI-10X10-IXI-SH-M2-STK-16X_TCxx_y  -&gt;  ROSP132-Z3-2L-S-AOI-10X10-IXI-SH-M2-STK-16X_TCxx_y</a:t>
            </a:r>
          </a:p>
          <a:p>
            <a:pPr>
              <a:spcAft>
                <a:spcPts val="600"/>
              </a:spcAft>
            </a:pPr>
            <a:r>
              <a:rPr sz="1200" b="1">
                <a:solidFill>
                  <a:srgbClr val="C00000"/>
                </a:solidFill>
                <a:highlight>
                  <a:srgbClr val="FFFF00"/>
                </a:highlight>
              </a:rPr>
              <a:t>Slide 10: Precedes with M – Matching Pair PFT , Structure instance to be added in additional section  -&gt;  Precedes with M – Matching Pair PFT (MNS/MPS); pair given in environment as CMOS/NP or CMOS/PP</a:t>
            </a:r>
          </a:p>
          <a:p>
            <a:pPr>
              <a:spcAft>
                <a:spcPts val="600"/>
              </a:spcAft>
            </a:pPr>
            <a:r>
              <a:rPr sz="1200" b="1">
                <a:solidFill>
                  <a:srgbClr val="C00000"/>
                </a:solidFill>
                <a:highlight>
                  <a:srgbClr val="FFFF00"/>
                </a:highlight>
              </a:rPr>
              <a:t>Slide 10: Precedes with W – Within Die PFTs, Structure instance to be added in additional section  -&gt;  Precedes with W – Within Die PFTs (W prefix replaces the '-WID' suffix; W before M)</a:t>
            </a:r>
          </a:p>
          <a:p>
            <a:pPr>
              <a:spcAft>
                <a:spcPts val="600"/>
              </a:spcAft>
            </a:pPr>
            <a:r>
              <a:rPr sz="1200" b="1">
                <a:solidFill>
                  <a:srgbClr val="C00000"/>
                </a:solidFill>
                <a:highlight>
                  <a:srgbClr val="FFFF00"/>
                </a:highlight>
              </a:rPr>
              <a:t>Slide 11: -LayoutHeight-(Routing)-Additional_TCxx_Count  -&gt;  -LayoutHeight-Type:NOM|Type:Skew-Additional_TCxx_Count</a:t>
            </a:r>
          </a:p>
          <a:p>
            <a:pPr>
              <a:spcAft>
                <a:spcPts val="600"/>
              </a:spcAft>
            </a:pPr>
            <a:r>
              <a:rPr sz="1200" b="1">
                <a:solidFill>
                  <a:srgbClr val="C00000"/>
                </a:solidFill>
                <a:highlight>
                  <a:srgbClr val="FFFF00"/>
                </a:highlight>
              </a:rPr>
              <a:t>Slide 11: NS132-Z5-1L-ULVT-CMOS-1X1-IXI-SH-M1-NOM_TCxx_y  -&gt;  NS132-Z5-1L-U-CMOS-1X1-IXI-SH-A:NOM_TCxx_y</a:t>
            </a:r>
          </a:p>
          <a:p>
            <a:pPr>
              <a:spcAft>
                <a:spcPts val="600"/>
              </a:spcAft>
            </a:pPr>
            <a:r>
              <a:rPr sz="1200" b="1">
                <a:solidFill>
                  <a:srgbClr val="C00000"/>
                </a:solidFill>
                <a:highlight>
                  <a:srgbClr val="FFFF00"/>
                </a:highlight>
              </a:rPr>
              <a:t>Slide 11: NS110-Z8-1L-ELVT-BCMOS-1X1-IXI-DH_TCxx_y  -&gt;  NS110-Z8-1L-E-BCMOS-1X1-IXI-DH-A:NOM_TCxx_y</a:t>
            </a:r>
          </a:p>
          <a:p>
            <a:pPr>
              <a:spcAft>
                <a:spcPts val="600"/>
              </a:spcAft>
            </a:pPr>
            <a:r>
              <a:rPr sz="1200" b="1">
                <a:solidFill>
                  <a:srgbClr val="C00000"/>
                </a:solidFill>
                <a:highlight>
                  <a:srgbClr val="FFFF00"/>
                </a:highlight>
              </a:rPr>
              <a:t>Slide 11: Precedes with M – Matching Pair PFT, Structure instance to be added in additional section  -&gt;  Precedes with M – Matching Pair PFT (MNS/MPS); pair given in environment as CMOS/NP or CMOS/PP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11: Precedes with W – Within Die PFTs, Structure instance to be added in additional section  -&gt;  Precedes with W – Within Die PFTs (W prefix replaces the '-WID' suffix; W before M)</a:t>
            </a:r>
          </a:p>
          <a:p>
            <a:pPr>
              <a:spcAft>
                <a:spcPts val="600"/>
              </a:spcAft>
            </a:pPr>
            <a:r>
              <a:rPr sz="1200" b="1">
                <a:solidFill>
                  <a:srgbClr val="C00000"/>
                </a:solidFill>
                <a:highlight>
                  <a:srgbClr val="FFFF00"/>
                </a:highlight>
              </a:rPr>
              <a:t>Slide 11: FTI:PGD:CD:P5  -&gt;  A:FTI:PGD:CD:P5</a:t>
            </a:r>
          </a:p>
          <a:p>
            <a:pPr>
              <a:spcAft>
                <a:spcPts val="600"/>
              </a:spcAft>
            </a:pPr>
            <a:r>
              <a:rPr sz="1200" b="1">
                <a:solidFill>
                  <a:srgbClr val="C00000"/>
                </a:solidFill>
                <a:highlight>
                  <a:srgbClr val="FFFF00"/>
                </a:highlight>
              </a:rPr>
              <a:t>Slide 11: PLY:OGD:CD:12  -&gt;  A:PLY:OGD:CD:12</a:t>
            </a:r>
          </a:p>
          <a:p>
            <a:pPr>
              <a:spcAft>
                <a:spcPts val="600"/>
              </a:spcAft>
            </a:pPr>
            <a:r>
              <a:rPr sz="1200" b="1">
                <a:solidFill>
                  <a:srgbClr val="C00000"/>
                </a:solidFill>
                <a:highlight>
                  <a:srgbClr val="FFFF00"/>
                </a:highlight>
              </a:rPr>
              <a:t>Slide 11: PLY:OGD:PP:45  -&gt;  A:PLY:OGD:PP:45</a:t>
            </a:r>
          </a:p>
          <a:p>
            <a:pPr>
              <a:spcAft>
                <a:spcPts val="600"/>
              </a:spcAft>
            </a:pPr>
            <a:r>
              <a:rPr sz="1200" b="1">
                <a:solidFill>
                  <a:srgbClr val="C00000"/>
                </a:solidFill>
                <a:highlight>
                  <a:srgbClr val="FFFF00"/>
                </a:highlight>
              </a:rPr>
              <a:t>Slide 12: DIFF-LEGS-VT-Environment-FTI-ISO-Bitcell-(Routing)-Additional_TCxx_Count  -&gt;  DIFF-LEGS-DUT-Bitcell-FTI-ISO-Type:NOM|Type:Skew-Additional_TCxx_Count</a:t>
            </a:r>
          </a:p>
          <a:p>
            <a:pPr>
              <a:spcAft>
                <a:spcPts val="600"/>
              </a:spcAft>
            </a:pPr>
            <a:r>
              <a:rPr sz="1200" b="1">
                <a:solidFill>
                  <a:srgbClr val="C00000"/>
                </a:solidFill>
                <a:highlight>
                  <a:srgbClr val="FFFF00"/>
                </a:highlight>
              </a:rPr>
              <a:t>Slide 12: SRN192-30-1L-PD-HCC1-SNXSN-SNXSN-M1_TCxx_y  -&gt;  SRN192-30-1L-PD-HDC1-SNXSN-SNXSN-A:NOM_TCxx_y</a:t>
            </a:r>
          </a:p>
          <a:p>
            <a:pPr>
              <a:spcAft>
                <a:spcPts val="600"/>
              </a:spcAft>
            </a:pPr>
            <a:r>
              <a:rPr sz="1200" b="1">
                <a:solidFill>
                  <a:srgbClr val="C00000"/>
                </a:solidFill>
                <a:highlight>
                  <a:srgbClr val="FFFF00"/>
                </a:highlight>
              </a:rPr>
              <a:t>Slide 12: SRP192-30-1L-PU-HCC1-SNXSN-SNXSN-M1_TCxx_y  -&gt;  SRP192-26-1L-PU-HDC1-SNXSN-SNXSN-A:NOM_TCxx_y</a:t>
            </a:r>
          </a:p>
          <a:p>
            <a:pPr>
              <a:spcAft>
                <a:spcPts val="600"/>
              </a:spcAft>
            </a:pPr>
            <a:r>
              <a:rPr sz="1200" b="1">
                <a:solidFill>
                  <a:srgbClr val="C00000"/>
                </a:solidFill>
                <a:highlight>
                  <a:srgbClr val="FFFF00"/>
                </a:highlight>
              </a:rPr>
              <a:t>Slide 12: RFN315-49-1L-RP-TPRF1-SNXSN-SNXSN-M2_TCxx_y  -&gt;  RFN315-49-1L-RP-TPRF1-SNXSN-SNXSN-A:NOM_TCxx_y</a:t>
            </a:r>
          </a:p>
          <a:p>
            <a:pPr>
              <a:spcAft>
                <a:spcPts val="600"/>
              </a:spcAft>
            </a:pPr>
            <a:r>
              <a:rPr sz="1200" b="1">
                <a:solidFill>
                  <a:srgbClr val="C00000"/>
                </a:solidFill>
                <a:highlight>
                  <a:srgbClr val="FFFF00"/>
                </a:highlight>
              </a:rPr>
              <a:t>Slide 13: DIFF-#ADF-VT-Environment-(Routing)-Additonal_TCxx_Count  -&gt;  DIFF-#ADF-VT-Environment-FTI-ISO-LayoutHeight-Type:NOM|Type:Skew-Additional_TCxx_Count</a:t>
            </a:r>
          </a:p>
          <a:p>
            <a:pPr>
              <a:spcAft>
                <a:spcPts val="600"/>
              </a:spcAft>
            </a:pPr>
            <a:r>
              <a:rPr sz="1200" b="1">
                <a:solidFill>
                  <a:srgbClr val="C00000"/>
                </a:solidFill>
                <a:highlight>
                  <a:srgbClr val="FFFF00"/>
                </a:highlight>
              </a:rPr>
              <a:t>Slide 13: NM132-Z5-1ADF-LVT-CMOS-M1-NOM_TCxx_y  -&gt;  NM132-Z5-1ADF-L-CMOS-0X0-IXI-SH-A:NOM_TCxx_y</a:t>
            </a:r>
          </a:p>
          <a:p>
            <a:pPr>
              <a:spcAft>
                <a:spcPts val="600"/>
              </a:spcAft>
            </a:pPr>
            <a:r>
              <a:rPr sz="1200" b="1">
                <a:solidFill>
                  <a:srgbClr val="C00000"/>
                </a:solidFill>
                <a:highlight>
                  <a:srgbClr val="FFFF00"/>
                </a:highlight>
              </a:rPr>
              <a:t>Slide 13: PM110-Z8-2ADF-ELVT-UNI-NOM_TCxx_y  -&gt;  PM110-Z8-2ADF-E-UNI-0X0-IXI-SH-A:NOM_TCxx_y</a:t>
            </a:r>
          </a:p>
          <a:p>
            <a:pPr>
              <a:spcAft>
                <a:spcPts val="600"/>
              </a:spcAft>
            </a:pPr>
            <a:r>
              <a:rPr sz="1200" b="1">
                <a:solidFill>
                  <a:srgbClr val="C00000"/>
                </a:solidFill>
                <a:highlight>
                  <a:srgbClr val="FFFF00"/>
                </a:highlight>
              </a:rPr>
              <a:t>Slide 14: FailmodeCH-PolarityDIFF-VT-(SDR)TSDRSkew_Additional_Detail_Magnitude_TCxx_y  -&gt;  FailmodeCH-PolarityDIFF-NL-VT-Type:Layer|NOM:Direction:SkewType:Magnitude[:Additional]_TCxx_y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C00000"/>
                </a:solidFill>
                <a:highlight>
                  <a:srgbClr val="FFFF00"/>
                </a:highlight>
              </a:rPr>
              <a:t>Slide 14: CTGOGD132-NZ5-ULVTLL-A:TCP:OGD:REG:N7_TCxx_y  -&gt;  CTGOGD132-NZ5-NL-UL-A:TCP:OGD:REG:N7_TCxx_y</a:t>
            </a:r>
          </a:p>
          <a:p>
            <a:pPr>
              <a:spcAft>
                <a:spcPts val="600"/>
              </a:spcAft>
            </a:pPr>
            <a:r>
              <a:rPr sz="1400" b="1">
                <a:solidFill>
                  <a:srgbClr val="C00000"/>
                </a:solidFill>
                <a:highlight>
                  <a:srgbClr val="FFFF00"/>
                </a:highlight>
              </a:rPr>
              <a:t>Slide 14: TCNETE165-NZ6-LVT-SDR_TCxx_y  -&gt;  TCNETE165-NZ6-NL-L-A:NOM_TCxx_y</a:t>
            </a:r>
          </a:p>
          <a:p>
            <a:pPr>
              <a:spcAft>
                <a:spcPts val="600"/>
              </a:spcAft>
            </a:pPr>
            <a:r>
              <a:rPr sz="1400" b="1">
                <a:solidFill>
                  <a:srgbClr val="C00000"/>
                </a:solidFill>
                <a:highlight>
                  <a:srgbClr val="FFFF00"/>
                </a:highlight>
              </a:rPr>
              <a:t>Slide 14: DIFFOGD110-PZ3-SVT-B:FTIML:OGD:CD:P2_TCxx_y  -&gt;  DIFFOGD110-PZ3-NL-S-B:FTIML:OGD:CD:P2_TCxx_y</a:t>
            </a:r>
          </a:p>
          <a:p>
            <a:pPr>
              <a:spcAft>
                <a:spcPts val="600"/>
              </a:spcAft>
            </a:pPr>
            <a:r>
              <a:rPr sz="1400" b="1">
                <a:solidFill>
                  <a:srgbClr val="C00000"/>
                </a:solidFill>
                <a:highlight>
                  <a:srgbClr val="FFFF00"/>
                </a:highlight>
              </a:rPr>
              <a:t>Slide 14: DIFFOGD110-PZ3-SVT-A:DPR:PGD:CD:N2_TCxx_y  -&gt;  DIFFOGD110-PZ3-NL-S-A:DPR:PGD:CD:N2_TCxx_y</a:t>
            </a:r>
          </a:p>
          <a:p>
            <a:pPr>
              <a:spcAft>
                <a:spcPts val="600"/>
              </a:spcAft>
            </a:pPr>
            <a:r>
              <a:rPr sz="1400" b="1">
                <a:solidFill>
                  <a:srgbClr val="C00000"/>
                </a:solidFill>
                <a:highlight>
                  <a:srgbClr val="FFFF00"/>
                </a:highlight>
              </a:rPr>
              <a:t>Slide 15: -LayoutHeight-(Routing)-Additional_TCxx_Count  -&gt;  -LayoutHeight-Type:NOM|Type:Skew-Additional_TCxx_Count</a:t>
            </a:r>
          </a:p>
          <a:p>
            <a:pPr>
              <a:spcAft>
                <a:spcPts val="600"/>
              </a:spcAft>
            </a:pPr>
            <a:r>
              <a:rPr sz="1400" b="1">
                <a:solidFill>
                  <a:srgbClr val="C00000"/>
                </a:solidFill>
                <a:highlight>
                  <a:srgbClr val="FFFF00"/>
                </a:highlight>
              </a:rPr>
              <a:t>Slide 15: PS165-Z6-1L-LVT-ADT-3X3-IXI-DH-M1-48X-STK_TCxx_y  -&gt;  PS165-Z6-1L-L-ADTUNI-3X3-IXI-DH-48X-STK_TCxx_y</a:t>
            </a:r>
          </a:p>
          <a:p>
            <a:pPr>
              <a:spcAft>
                <a:spcPts val="600"/>
              </a:spcAft>
            </a:pPr>
            <a:r>
              <a:rPr sz="1400" b="1">
                <a:solidFill>
                  <a:srgbClr val="C00000"/>
                </a:solidFill>
                <a:highlight>
                  <a:srgbClr val="FFFF00"/>
                </a:highlight>
              </a:rPr>
              <a:t>Slide 15: NS110-Z8-1L-LVT-ADT-3X3-IXI-DH-4X-STK_TCxx_y  -&gt;  NS110-Z8-1L-L-ADTUNI-3X3-IXI-DH-4X-STK_TCxx_y</a:t>
            </a:r>
          </a:p>
          <a:p>
            <a:pPr>
              <a:spcAft>
                <a:spcPts val="600"/>
              </a:spcAft>
            </a:pPr>
            <a:r>
              <a:rPr sz="1400" b="1">
                <a:solidFill>
                  <a:srgbClr val="C00000"/>
                </a:solidFill>
                <a:highlight>
                  <a:srgbClr val="FFFF00"/>
                </a:highlight>
              </a:rPr>
              <a:t>Slide 20: ROSN132-Z3-E-2L-INV-1X1-IXI-SH-M1_TCxx_y  -&gt;  ROSN132-Z3-2L-E-INV-1X1-IXI-SH-A:NOM-M1_TCxx_y</a:t>
            </a:r>
          </a:p>
          <a:p>
            <a:pPr>
              <a:spcAft>
                <a:spcPts val="600"/>
              </a:spcAft>
            </a:pPr>
            <a:r>
              <a:rPr sz="1400" b="1">
                <a:solidFill>
                  <a:srgbClr val="C00000"/>
                </a:solidFill>
                <a:highlight>
                  <a:srgbClr val="FFFF00"/>
                </a:highlight>
              </a:rPr>
              <a:t>Slide 20: ROSN132-Z3-E-2L-INV-1X1-IXI-SH-M1-WAC-6X  -&gt;  ROSN132-Z3-2L-E-INV-1X1-IXI-SH-A:NOM-M1-WAC-6X</a:t>
            </a:r>
          </a:p>
          <a:p>
            <a:pPr>
              <a:spcAft>
                <a:spcPts val="600"/>
              </a:spcAft>
            </a:pPr>
            <a:r>
              <a:rPr sz="1400" b="1">
                <a:solidFill>
                  <a:srgbClr val="C00000"/>
                </a:solidFill>
                <a:highlight>
                  <a:srgbClr val="FFFF00"/>
                </a:highlight>
              </a:rPr>
              <a:t>Slide 5: VT table symbol Symbol  -&gt;  Code in name</a:t>
            </a:r>
          </a:p>
          <a:p>
            <a:pPr>
              <a:spcAft>
                <a:spcPts val="600"/>
              </a:spcAft>
            </a:pPr>
            <a:r>
              <a:rPr sz="1400" b="1">
                <a:solidFill>
                  <a:srgbClr val="C00000"/>
                </a:solidFill>
                <a:highlight>
                  <a:srgbClr val="FFFF00"/>
                </a:highlight>
              </a:rPr>
              <a:t>Slide 5: VT table symbol HVT  -&gt;  H</a:t>
            </a:r>
          </a:p>
          <a:p>
            <a:pPr>
              <a:spcAft>
                <a:spcPts val="600"/>
              </a:spcAft>
            </a:pPr>
            <a:r>
              <a:rPr sz="1400" b="1">
                <a:solidFill>
                  <a:srgbClr val="C00000"/>
                </a:solidFill>
                <a:highlight>
                  <a:srgbClr val="FFFF00"/>
                </a:highlight>
              </a:rPr>
              <a:t>Slide 5: VT table symbol SVT  -&gt;  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5: VT table symbol LVT  -&gt;  L</a:t>
            </a:r>
          </a:p>
          <a:p>
            <a:pPr>
              <a:spcAft>
                <a:spcPts val="600"/>
              </a:spcAft>
            </a:pPr>
            <a:r>
              <a:rPr sz="1200" b="1">
                <a:solidFill>
                  <a:srgbClr val="C00000"/>
                </a:solidFill>
                <a:highlight>
                  <a:srgbClr val="FFFF00"/>
                </a:highlight>
              </a:rPr>
              <a:t>Slide 5: VT table symbol ULVT  -&gt;  U</a:t>
            </a:r>
          </a:p>
          <a:p>
            <a:pPr>
              <a:spcAft>
                <a:spcPts val="600"/>
              </a:spcAft>
            </a:pPr>
            <a:r>
              <a:rPr sz="1200" b="1">
                <a:solidFill>
                  <a:srgbClr val="C00000"/>
                </a:solidFill>
                <a:highlight>
                  <a:srgbClr val="FFFF00"/>
                </a:highlight>
              </a:rPr>
              <a:t>Slide 5: VT table symbol ULVTLL  -&gt;  UL</a:t>
            </a:r>
          </a:p>
          <a:p>
            <a:pPr>
              <a:spcAft>
                <a:spcPts val="600"/>
              </a:spcAft>
            </a:pPr>
            <a:r>
              <a:rPr sz="1200" b="1">
                <a:solidFill>
                  <a:srgbClr val="C00000"/>
                </a:solidFill>
                <a:highlight>
                  <a:srgbClr val="FFFF00"/>
                </a:highlight>
              </a:rPr>
              <a:t>Slide 5: VT table symbol ELVT  -&gt;  E</a:t>
            </a:r>
          </a:p>
          <a:p>
            <a:pPr>
              <a:spcAft>
                <a:spcPts val="600"/>
              </a:spcAft>
            </a:pPr>
            <a:r>
              <a:rPr sz="1200" b="1">
                <a:solidFill>
                  <a:srgbClr val="C00000"/>
                </a:solidFill>
                <a:highlight>
                  <a:srgbClr val="FFFF00"/>
                </a:highlight>
              </a:rPr>
              <a:t>Slide 3: Added: '/' only inside the environment field (/D = no diffusion; CMOS/NP, CMOS/PP = matching pair), in back-end layer pairs / W-S values, and between alternative DIR / SKEW values of a POR reference (OGD/PGD, CD/REG)</a:t>
            </a:r>
          </a:p>
          <a:p>
            <a:pPr>
              <a:spcAft>
                <a:spcPts val="600"/>
              </a:spcAft>
            </a:pPr>
            <a:r>
              <a:rPr sz="1200" b="1">
                <a:solidFill>
                  <a:srgbClr val="C00000"/>
                </a:solidFill>
                <a:highlight>
                  <a:srgbClr val="FFFF00"/>
                </a:highlight>
              </a:rPr>
              <a:t>Slide 3: Added: POR structures without a TSDR skew carry A:NOM (lego type first, as in skews) as the first additional token; POR / REF / SDR are written NOM</a:t>
            </a:r>
          </a:p>
          <a:p>
            <a:pPr>
              <a:spcAft>
                <a:spcPts val="600"/>
              </a:spcAft>
            </a:pPr>
            <a:r>
              <a:rPr sz="1200" b="1">
                <a:solidFill>
                  <a:srgbClr val="C00000"/>
                </a:solidFill>
                <a:highlight>
                  <a:srgbClr val="FFFF00"/>
                </a:highlight>
              </a:rPr>
              <a:t>Slide 3: Added: Signed magnitudes are written N#/P#/NOM - never '+' / '-' (collides with the '-' delimiter)</a:t>
            </a:r>
          </a:p>
          <a:p>
            <a:pPr>
              <a:spcAft>
                <a:spcPts val="600"/>
              </a:spcAft>
            </a:pPr>
            <a:r>
              <a:rPr sz="1200" b="1">
                <a:solidFill>
                  <a:srgbClr val="C00000"/>
                </a:solidFill>
                <a:highlight>
                  <a:srgbClr val="FFFF00"/>
                </a:highlight>
              </a:rPr>
              <a:t>Slide 3: Added: Inline '_' is not allowed; '_' only before seat name for a trailing instance index (e.g. _2)</a:t>
            </a:r>
          </a:p>
          <a:p>
            <a:pPr>
              <a:spcAft>
                <a:spcPts val="600"/>
              </a:spcAft>
            </a:pPr>
            <a:r>
              <a:rPr sz="1200" b="1">
                <a:solidFill>
                  <a:srgbClr val="C00000"/>
                </a:solidFill>
                <a:highlight>
                  <a:srgbClr val="FFFF00"/>
                </a:highlight>
              </a:rPr>
              <a:t>Slide 3: Added: LLE (local layout effects) rows: a structure carries an LLE layout descriptor (NEST, VTMX, UDEG, FTIRST, ...) or, if it has none (A:NOM, A:PXL), the tag ':LLE' (A:NOM:LLE)</a:t>
            </a:r>
          </a:p>
          <a:p>
            <a:pPr>
              <a:spcAft>
                <a:spcPts val="600"/>
              </a:spcAft>
            </a:pPr>
            <a:r>
              <a:rPr sz="1200" b="1">
                <a:solidFill>
                  <a:srgbClr val="C00000"/>
                </a:solidFill>
                <a:highlight>
                  <a:srgbClr val="FFFF00"/>
                </a:highlight>
              </a:rPr>
              <a:t>Slide 3: Added: Every TSDR skew (ISO, PFT, MLR, KLV, BE) uses TYPE:LAYER:DIR:SKEW:MAG[:extra]; TYPE = lego type ('A' when not specified); DIR: PXL=PGD, PLY/TCN/FTI=OGD; decimals as D (N1D2); CD relative to nominal (VCR 12 nm, VCRNUB 44 nm)</a:t>
            </a:r>
          </a:p>
          <a:p>
            <a:pPr>
              <a:spcAft>
                <a:spcPts val="600"/>
              </a:spcAft>
            </a:pPr>
            <a:r>
              <a:rPr sz="1200" b="1">
                <a:solidFill>
                  <a:srgbClr val="C00000"/>
                </a:solidFill>
                <a:highlight>
                  <a:srgbClr val="FFFF00"/>
                </a:highlight>
              </a:rPr>
              <a:t>Slide 3: Added: Layout-variant descriptors that are not TSDR skews (VTMX, NEST, UDEG, JOG, FTIRST, ...) carry the lego type as prefix (A:VTMX:CRL:H); a trailing REF / POR inside them is written NOM; signed values '+5' -&gt; P5</a:t>
            </a:r>
          </a:p>
          <a:p>
            <a:pPr>
              <a:spcAft>
                <a:spcPts val="600"/>
              </a:spcAft>
            </a:pPr>
            <a:r>
              <a:rPr sz="1200" b="1">
                <a:solidFill>
                  <a:srgbClr val="C00000"/>
                </a:solidFill>
                <a:highlight>
                  <a:srgbClr val="FFFF00"/>
                </a:highlight>
              </a:rPr>
              <a:t>Slide 5: Added: 64-character limit is checked on the full name including _TCxx_y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200" b="1">
                <a:solidFill>
                  <a:srgbClr val="C00000"/>
                </a:solidFill>
                <a:highlight>
                  <a:srgbClr val="FFFF00"/>
                </a:highlight>
              </a:rPr>
              <a:t>Slide 5: Added: Metal-gate VT is written with the single-letter code (table) and follows LEGS/#ADF</a:t>
            </a:r>
          </a:p>
          <a:p>
            <a:pPr>
              <a:spcAft>
                <a:spcPts val="600"/>
              </a:spcAft>
            </a:pPr>
            <a:r>
              <a:rPr sz="1200" b="1">
                <a:solidFill>
                  <a:srgbClr val="C00000"/>
                </a:solidFill>
                <a:highlight>
                  <a:srgbClr val="FFFF00"/>
                </a:highlight>
              </a:rPr>
              <a:t>Slide 11: Added: /D – no diffusion (replaces CMOS/UNI)</a:t>
            </a:r>
          </a:p>
          <a:p>
            <a:pPr>
              <a:spcAft>
                <a:spcPts val="600"/>
              </a:spcAft>
            </a:pPr>
            <a:r>
              <a:rPr sz="1200" b="1">
                <a:solidFill>
                  <a:srgbClr val="C00000"/>
                </a:solidFill>
                <a:highlight>
                  <a:srgbClr val="FFFF00"/>
                </a:highlight>
              </a:rPr>
              <a:t>Slide 11: Added: CMOS/NP, CMOS/PP – matching pair</a:t>
            </a:r>
          </a:p>
          <a:p>
            <a:pPr>
              <a:spcAft>
                <a:spcPts val="600"/>
              </a:spcAft>
            </a:pPr>
            <a:r>
              <a:rPr sz="1200" b="1">
                <a:solidFill>
                  <a:srgbClr val="C00000"/>
                </a:solidFill>
                <a:highlight>
                  <a:srgbClr val="FFFF00"/>
                </a:highlight>
              </a:rPr>
              <a:t>Slide 11: Added: ADTUNI – two active diffusion (ADT)</a:t>
            </a:r>
          </a:p>
          <a:p>
            <a:pPr>
              <a:spcAft>
                <a:spcPts val="600"/>
              </a:spcAft>
            </a:pPr>
            <a:r>
              <a:rPr sz="1200" b="1">
                <a:solidFill>
                  <a:srgbClr val="C00000"/>
                </a:solidFill>
                <a:highlight>
                  <a:srgbClr val="FFFF00"/>
                </a:highlight>
              </a:rPr>
              <a:t>Slide 11: Added: If nesting not specified: 0X0-IXI</a:t>
            </a:r>
          </a:p>
          <a:p>
            <a:pPr>
              <a:spcAft>
                <a:spcPts val="600"/>
              </a:spcAft>
            </a:pPr>
            <a:r>
              <a:rPr sz="1200" b="1">
                <a:solidFill>
                  <a:srgbClr val="C00000"/>
                </a:solidFill>
                <a:highlight>
                  <a:srgbClr val="FFFF00"/>
                </a:highlight>
              </a:rPr>
              <a:t>Slide 11: Added: Matching: MNS132-Z5-1L-L-CMOS/NP-0X1-IXI-SH-A:NOM_TCxx_y</a:t>
            </a:r>
          </a:p>
          <a:p>
            <a:pPr>
              <a:spcAft>
                <a:spcPts val="600"/>
              </a:spcAft>
            </a:pPr>
            <a:r>
              <a:rPr sz="1200" b="1">
                <a:solidFill>
                  <a:srgbClr val="C00000"/>
                </a:solidFill>
                <a:highlight>
                  <a:srgbClr val="FFFF00"/>
                </a:highlight>
              </a:rPr>
              <a:t>Slide 11: Added: WID: WNS132-Z5-1L-L-CMOS-0X1-IXI-SH-A:NOM_TCxx_y</a:t>
            </a:r>
          </a:p>
          <a:p>
            <a:pPr>
              <a:spcAft>
                <a:spcPts val="600"/>
              </a:spcAft>
            </a:pPr>
            <a:r>
              <a:rPr sz="1200" b="1">
                <a:solidFill>
                  <a:srgbClr val="C00000"/>
                </a:solidFill>
                <a:highlight>
                  <a:srgbClr val="FFFF00"/>
                </a:highlight>
              </a:rPr>
              <a:t>Slide 11: Added: PLY/TCN CD skews - layer code states TCN and poly-pitch behaviour (POR PP 44): PLYFTCN = PLY skew, TCN fixed, PP = 44+MAG (A:PLYFTCN:OGD:CD:N1 = 43PP); PLYFPP = PLY only, fixed 44PP, TCN nominal; PLYITCN = PLY skew, TCN inverse, fixed 44PP (A:PLYITCN:OGD:CD:N0D4 = PLY -0.4 / TCN +0.4); TCNFPP = TCN only, fixed 44PP. ISO/KLV keep A:TCN:OGD:CD:{MAG}</a:t>
            </a:r>
          </a:p>
          <a:p>
            <a:pPr>
              <a:spcAft>
                <a:spcPts val="600"/>
              </a:spcAft>
            </a:pPr>
            <a:r>
              <a:rPr sz="1200" b="1">
                <a:solidFill>
                  <a:srgbClr val="C00000"/>
                </a:solidFill>
                <a:highlight>
                  <a:srgbClr val="FFFF00"/>
                </a:highlight>
              </a:rPr>
              <a:t>Slide 13: Added: Metal routing (M#) is not part of PFT / MLR / BITCELL names (kept only for ROS / ROSPFT where needed); FTI-ISO-LayoutHeight padded 0X0-IXI-SH</a:t>
            </a:r>
          </a:p>
          <a:p>
            <a:pPr>
              <a:spcAft>
                <a:spcPts val="600"/>
              </a:spcAft>
            </a:pPr>
            <a:r>
              <a:rPr sz="1200" b="1">
                <a:solidFill>
                  <a:srgbClr val="C00000"/>
                </a:solidFill>
                <a:highlight>
                  <a:srgbClr val="FFFF00"/>
                </a:highlight>
              </a:rPr>
              <a:t>Slide 13: Added: /D environment = no diffusion: NM132-Z5-1ADF-E-/D-0X0-IXI-SH-A:NOM_TCxx_y</a:t>
            </a:r>
          </a:p>
          <a:p>
            <a:pPr>
              <a:spcAft>
                <a:spcPts val="600"/>
              </a:spcAft>
            </a:pPr>
            <a:r>
              <a:rPr sz="1200" b="1">
                <a:solidFill>
                  <a:srgbClr val="C00000"/>
                </a:solidFill>
                <a:highlight>
                  <a:srgbClr val="FFFF00"/>
                </a:highlight>
              </a:rPr>
              <a:t>Slide 13: Added: VCRNUB PGD CD relative to single-sided nominal 8.4 nm (110H) / 13.4 nm (132H, 165H); double-sided 16.8 / 26.8 nm</a:t>
            </a:r>
          </a:p>
          <a:p>
            <a:pPr>
              <a:spcAft>
                <a:spcPts val="600"/>
              </a:spcAft>
            </a:pPr>
            <a:r>
              <a:rPr sz="1200" b="1">
                <a:solidFill>
                  <a:srgbClr val="C00000"/>
                </a:solidFill>
                <a:highlight>
                  <a:srgbClr val="FFFF00"/>
                </a:highlight>
              </a:rPr>
              <a:t>Slide 14: Added: POR layer 'SDR' is written NOM; diffusion always Z code (NZ1, not N27)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015DBCEA-FAED-7BE4-13C8-0361EDE96F17}"/>
              </a:ext>
            </a:extLst>
          </p:cNvPr>
          <p:cNvSpPr txBox="1"/>
          <p:nvPr/>
        </p:nvSpPr>
        <p:spPr>
          <a:xfrm>
            <a:off x="376518" y="336592"/>
            <a:ext cx="11438964" cy="584775"/>
          </a:xfrm>
          <a:prstGeom prst="rect">
            <a:avLst/>
          </a:prstGeom>
          <a:noFill/>
        </p:spPr>
        <p:txBody>
          <a:bodyPr wrap="square">
            <a:spAutoFit/>
          </a:bodyPr>
          <a:lstStyle/>
          <a:p>
            <a:r>
              <a:rPr lang="en-US" sz="2800" b="1">
                <a:latin typeface="IntelOne Display HE Regular" panose="020B0503020203020204" pitchFamily="34" charset="-79"/>
                <a:cs typeface="IntelOne Display HE Regular" panose="020B0503020203020204" pitchFamily="34" charset="-79"/>
              </a:rPr>
              <a:t>WW43 change log (cont.)</a:t>
            </a:r>
            <a:endParaRPr lang="en-US" sz="3600">
              <a:latin typeface="IntelOne Display HE Regular" panose="020B0503020203020204" pitchFamily="34" charset="-79"/>
              <a:ea typeface="Intel Clear" panose="020B0604020203020204" pitchFamily="34" charset="0"/>
              <a:cs typeface="IntelOne Display HE Regular" panose="020B0503020203020204" pitchFamily="34" charset="-79"/>
            </a:endParaRPr>
          </a:p>
        </p:txBody>
      </p:sp>
      <p:sp>
        <p:nvSpPr>
          <p:cNvPr id="4" name="TextBox 3"/>
          <p:cNvSpPr txBox="1"/>
          <p:nvPr/>
        </p:nvSpPr>
        <p:spPr>
          <a:xfrm>
            <a:off x="376518" y="1100000"/>
            <a:ext cx="11438964" cy="5200000"/>
          </a:xfrm>
          <a:prstGeom prst="rect">
            <a:avLst/>
          </a:prstGeom>
          <a:noFill/>
        </p:spPr>
        <p:txBody>
          <a:bodyPr wrap="square">
            <a:spAutoFit/>
          </a:bodyPr>
          <a:lstStyle/>
          <a:p>
            <a:pPr>
              <a:spcAft>
                <a:spcPts val="600"/>
              </a:spcAft>
            </a:pPr>
            <a:r>
              <a:rPr sz="1400" b="1">
                <a:solidFill>
                  <a:srgbClr val="C00000"/>
                </a:solidFill>
                <a:highlight>
                  <a:srgbClr val="FFFF00"/>
                </a:highlight>
              </a:rPr>
              <a:t>Slide 14: Added: POR reference without its own direction lists all DIR / SKEW of its series: DIFFOGD132-NZ5-NL-L-A:FTIML:OGD/PGD:CD/REG:NOM</a:t>
            </a:r>
          </a:p>
          <a:p>
            <a:pPr>
              <a:spcAft>
                <a:spcPts val="600"/>
              </a:spcAft>
            </a:pPr>
            <a:r>
              <a:rPr sz="1400" b="1">
                <a:solidFill>
                  <a:srgbClr val="C00000"/>
                </a:solidFill>
                <a:highlight>
                  <a:srgbClr val="FFFF00"/>
                </a:highlight>
              </a:rPr>
              <a:t>Slide 14: Added: Qualifiers (e.g. NDBI) go to a trailing ':' chunk: A:NOM:PGD:ESD:2TRK1PP:NDBI</a:t>
            </a:r>
          </a:p>
          <a:p>
            <a:pPr>
              <a:spcAft>
                <a:spcPts val="600"/>
              </a:spcAft>
            </a:pPr>
            <a:r>
              <a:rPr sz="1400" b="1">
                <a:solidFill>
                  <a:srgbClr val="C00000"/>
                </a:solidFill>
                <a:highlight>
                  <a:srgbClr val="FFFF00"/>
                </a:highlight>
              </a:rPr>
              <a:t>Slide 14: Added: No legs in ISO / KLV names: 'NL' (no legs) keeps VT in field 4; SRAM bitcells already carry the device type (PD/PG/PU/RP/IR) in field 4; bitcells have no layout height, so the skew is field 8; two diffusions are joined with ':' (SRN192-29:28-1L-PD-...)</a:t>
            </a:r>
          </a:p>
          <a:p>
            <a:pPr>
              <a:spcAft>
                <a:spcPts val="600"/>
              </a:spcAft>
            </a:pPr>
            <a:r>
              <a:rPr sz="1400" b="1">
                <a:solidFill>
                  <a:srgbClr val="C00000"/>
                </a:solidFill>
                <a:highlight>
                  <a:srgbClr val="FFFF00"/>
                </a:highlight>
              </a:rPr>
              <a:t>Slide 14: Added: KLV structures use this layout: GATEKLV132-NDZ5-NL-L-NPXLNGLK, VTKLV132-NZ5-NL-L-SDRENC</a:t>
            </a:r>
          </a:p>
          <a:p>
            <a:pPr>
              <a:spcAft>
                <a:spcPts val="600"/>
              </a:spcAft>
            </a:pPr>
            <a:r>
              <a:rPr sz="1400" b="1">
                <a:solidFill>
                  <a:srgbClr val="C00000"/>
                </a:solidFill>
                <a:highlight>
                  <a:srgbClr val="FFFF00"/>
                </a:highlight>
              </a:rPr>
              <a:t>Slide 5: Speaker note: WW43 decision: VT stays after LEGS/#ADF as in the slide templates (supersedes "Move VT after diff width"); names use the single-letter metal-gate code.</a:t>
            </a:r>
          </a:p>
          <a:p>
            <a:pPr>
              <a:spcAft>
                <a:spcPts val="600"/>
              </a:spcAft>
            </a:pPr>
            <a:r>
              <a:rPr sz="1400" b="1">
                <a:solidFill>
                  <a:srgbClr val="C00000"/>
                </a:solidFill>
                <a:highlight>
                  <a:srgbClr val="FFFF00"/>
                </a:highlight>
              </a:rPr>
              <a:t>Slide new: Structure Name – Full KTCN (FK) PFT</a:t>
            </a:r>
          </a:p>
          <a:p>
            <a:pPr>
              <a:spcAft>
                <a:spcPts val="600"/>
              </a:spcAft>
            </a:pPr>
            <a:r>
              <a:rPr sz="1400" b="1">
                <a:solidFill>
                  <a:srgbClr val="C00000"/>
                </a:solidFill>
                <a:highlight>
                  <a:srgbClr val="FFFF00"/>
                </a:highlight>
              </a:rPr>
              <a:t>Slide new: Structure Name – Back-end (Via / Metal)</a:t>
            </a:r>
          </a:p>
          <a:p>
            <a:pPr>
              <a:spcAft>
                <a:spcPts val="600"/>
              </a:spcAft>
            </a:pPr>
            <a:r>
              <a:rPr sz="1400" b="1">
                <a:solidFill>
                  <a:srgbClr val="C00000"/>
                </a:solidFill>
                <a:highlight>
                  <a:srgbClr val="FFFF00"/>
                </a:highlight>
              </a:rPr>
              <a:t>Slide new: Structure Name – QnR (draft, decoder pending)</a:t>
            </a:r>
          </a:p>
        </p:txBody>
      </p:sp>
    </p:spTree>
  </p:cSld>
  <p:clrMapOvr>
    <a:masterClrMapping/>
  </p:clrMapOvr>
</p:sld>
</file>

<file path=ppt/theme/theme1.xml><?xml version="1.0" encoding="utf-8"?>
<a:theme xmlns:a="http://schemas.openxmlformats.org/drawingml/2006/main" name="Theme1">
  <a:themeElements>
    <a:clrScheme name="Theme1">
      <a:dk1>
        <a:srgbClr val="525252"/>
      </a:dk1>
      <a:lt1>
        <a:srgbClr val="F2F2F2"/>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Theme1">
  <a:themeElements>
    <a:clrScheme name="Theme1">
      <a:dk1>
        <a:srgbClr val="525252"/>
      </a:dk1>
      <a:lt1>
        <a:srgbClr val="F2F2F2"/>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heme1">
  <a:themeElements>
    <a:clrScheme name="Theme1">
      <a:dk1>
        <a:srgbClr val="525252"/>
      </a:dk1>
      <a:lt1>
        <a:srgbClr val="FFFFFF"/>
      </a:lt1>
      <a:dk2>
        <a:srgbClr val="A7A7A7"/>
      </a:dk2>
      <a:lt2>
        <a:srgbClr val="535353"/>
      </a:lt2>
      <a:accent1>
        <a:srgbClr val="0068B5"/>
      </a:accent1>
      <a:accent2>
        <a:srgbClr val="00C7FD"/>
      </a:accent2>
      <a:accent3>
        <a:srgbClr val="FEC91B"/>
      </a:accent3>
      <a:accent4>
        <a:srgbClr val="E96115"/>
      </a:accent4>
      <a:accent5>
        <a:srgbClr val="8F5DA2"/>
      </a:accent5>
      <a:accent6>
        <a:srgbClr val="8BAE46"/>
      </a:accent6>
      <a:hlink>
        <a:srgbClr val="0000FF"/>
      </a:hlink>
      <a:folHlink>
        <a:srgbClr val="FF00FF"/>
      </a:folHlink>
    </a:clrScheme>
    <a:fontScheme name="Theme1">
      <a:majorFont>
        <a:latin typeface="Helvetica"/>
        <a:ea typeface="Helvetica"/>
        <a:cs typeface="Helvetica"/>
      </a:majorFont>
      <a:minorFont>
        <a:latin typeface="Arial"/>
        <a:ea typeface="Arial"/>
        <a:cs typeface="Arial"/>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525252"/>
            </a:solidFill>
            <a:effectLst/>
            <a:uFillTx/>
            <a:latin typeface="IntelOne Text Light"/>
            <a:ea typeface="IntelOne Text Light"/>
            <a:cs typeface="IntelOne Text Light"/>
            <a:sym typeface="IntelOne Text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5A87B4EF6DD84787A84E450FC83619" ma:contentTypeVersion="9" ma:contentTypeDescription="Create a new document." ma:contentTypeScope="" ma:versionID="9655d4f725996bdb79f090c9adcfadf4">
  <xsd:schema xmlns:xsd="http://www.w3.org/2001/XMLSchema" xmlns:xs="http://www.w3.org/2001/XMLSchema" xmlns:p="http://schemas.microsoft.com/office/2006/metadata/properties" xmlns:ns2="8c5c7c43-7776-4be4-9b66-f0e598a006f2" targetNamespace="http://schemas.microsoft.com/office/2006/metadata/properties" ma:root="true" ma:fieldsID="5e7f22aa02e8ff6ad58c10ac94e8f8c8" ns2:_="">
    <xsd:import namespace="8c5c7c43-7776-4be4-9b66-f0e598a006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Comment"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5c7c43-7776-4be4-9b66-f0e598a006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Comment" ma:index="12" nillable="true" ma:displayName="Comment" ma:format="Dropdown" ma:internalName="Comment">
      <xsd:simpleType>
        <xsd:restriction base="dms:Text">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 xmlns="8c5c7c43-7776-4be4-9b66-f0e598a006f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9EBBFD-2AFB-4406-9343-DD781DA89532}">
  <ds:schemaRefs>
    <ds:schemaRef ds:uri="8c5c7c43-7776-4be4-9b66-f0e598a006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6DB82DF-DFF3-4748-8C54-6CF55EB21F18}">
  <ds:schemaRefs>
    <ds:schemaRef ds:uri="8c5c7c43-7776-4be4-9b66-f0e598a006f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0B99CF-7936-4CE3-B5C4-4D3067797873}">
  <ds:schemaRefs>
    <ds:schemaRef ds:uri="http://schemas.microsoft.com/sharepoint/v3/contenttype/forms"/>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777</TotalTime>
  <Words>2391</Words>
  <Application>Microsoft Office PowerPoint</Application>
  <PresentationFormat>Widescreen</PresentationFormat>
  <Paragraphs>732</Paragraphs>
  <Slides>20</Slides>
  <Notes>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2" baseType="lpstr">
      <vt:lpstr>Aptos Serif</vt:lpstr>
      <vt:lpstr>Arial</vt:lpstr>
      <vt:lpstr>Intel Clear</vt:lpstr>
      <vt:lpstr>IntelOne Display HE Regular</vt:lpstr>
      <vt:lpstr>IntelOne Display Light</vt:lpstr>
      <vt:lpstr>IntelOne Display Regular</vt:lpstr>
      <vt:lpstr>IntelOne Text</vt:lpstr>
      <vt:lpstr>IntelOne Text Light</vt:lpstr>
      <vt:lpstr>IntelOne Text Medium</vt:lpstr>
      <vt:lpstr>Theme1</vt:lpstr>
      <vt:lpstr>1_Theme1</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PowerPoint Template Use IntelOne Fonts For All Text (General Employee Usage)</dc:title>
  <dc:creator>Chung, Jeff</dc:creator>
  <cp:lastModifiedBy>Oberoi, Aaryan</cp:lastModifiedBy>
  <cp:revision>2</cp:revision>
  <dcterms:modified xsi:type="dcterms:W3CDTF">2026-10-21T05:40:30Z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0x010100DF5A87B4EF6DD84787A84E450FC83619</vt:lpwstr>
  </property>
  <property fmtid="{D5CDD505-2E9C-101B-9397-08002B2CF9AE}" pid="3" name="MediaServiceImageTags">
    <vt:lpwstr/>
  </property>
</Properties>
</file>