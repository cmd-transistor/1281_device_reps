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7FFFFCF1_2B5E2754.xml" ContentType="application/vnd.ms-powerpoint.comments+xml"/>
  <Override PartName="/ppt/comments/modernComment_7FFFFCF5_FABE7D57.xml" ContentType="application/vnd.ms-powerpoint.comments+xml"/>
  <Override PartName="/ppt/notesSlides/notesSlide2.xml" ContentType="application/vnd.openxmlformats-officedocument.presentationml.notesSlide+xml"/>
  <Override PartName="/ppt/comments/modernComment_7FFFFFF8_3BF43B21.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7FFFFD1A_2796272A.xml" ContentType="application/vnd.ms-powerpoint.comments+xml"/>
  <Override PartName="/ppt/comments/modernComment_7FFFFCFE_C49400EA.xml" ContentType="application/vnd.ms-powerpoint.comments+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9"/>
  </p:notesMasterIdLst>
  <p:sldIdLst>
    <p:sldId id="256" r:id="rId5"/>
    <p:sldId id="2147482867" r:id="rId6"/>
    <p:sldId id="2147482850" r:id="rId7"/>
    <p:sldId id="2147482901" r:id="rId8"/>
    <p:sldId id="2147482863" r:id="rId9"/>
    <p:sldId id="2147469688" r:id="rId10"/>
    <p:sldId id="2147482871" r:id="rId11"/>
    <p:sldId id="2147469692" r:id="rId12"/>
    <p:sldId id="2147482865" r:id="rId13"/>
    <p:sldId id="2147469694" r:id="rId14"/>
    <p:sldId id="2147482853" r:id="rId15"/>
    <p:sldId id="2147469695" r:id="rId16"/>
    <p:sldId id="2147482866" r:id="rId17"/>
    <p:sldId id="2147482870" r:id="rId18"/>
    <p:sldId id="2147482789" r:id="rId19"/>
    <p:sldId id="2147482790" r:id="rId20"/>
    <p:sldId id="2147482869" r:id="rId21"/>
    <p:sldId id="2147469698" r:id="rId22"/>
    <p:sldId id="2147482854" r:id="rId23"/>
    <p:sldId id="2147469721" r:id="rId24"/>
    <p:sldId id="2147469702" r:id="rId25"/>
    <p:sldId id="2147469703" r:id="rId26"/>
    <p:sldId id="2147483602" r:id="rId27"/>
    <p:sldId id="281" r:id="rId28"/>
    <p:sldId id="259" r:id="rId29"/>
    <p:sldId id="301" r:id="rId30"/>
    <p:sldId id="2147483599" r:id="rId31"/>
    <p:sldId id="2147483600" r:id="rId32"/>
    <p:sldId id="260" r:id="rId33"/>
    <p:sldId id="2147483640" r:id="rId34"/>
    <p:sldId id="2147483622" r:id="rId35"/>
    <p:sldId id="2147483620" r:id="rId36"/>
    <p:sldId id="2147482851" r:id="rId37"/>
    <p:sldId id="2147482903" r:id="rId38"/>
    <p:sldId id="2147482856" r:id="rId39"/>
    <p:sldId id="2147482864" r:id="rId40"/>
    <p:sldId id="2147482904" r:id="rId41"/>
    <p:sldId id="2147482905" r:id="rId42"/>
    <p:sldId id="2147482906" r:id="rId43"/>
    <p:sldId id="2147482908" r:id="rId44"/>
    <p:sldId id="2147482907" r:id="rId45"/>
    <p:sldId id="2147482902" r:id="rId46"/>
    <p:sldId id="2147483641" r:id="rId47"/>
    <p:sldId id="2147483642" r:id="rId48"/>
    <p:sldId id="2147482910" r:id="rId49"/>
    <p:sldId id="2147482878" r:id="rId50"/>
    <p:sldId id="2147482879" r:id="rId51"/>
    <p:sldId id="2147482857" r:id="rId52"/>
    <p:sldId id="2147482911" r:id="rId53"/>
    <p:sldId id="2147482880" r:id="rId54"/>
    <p:sldId id="2147482872" r:id="rId55"/>
    <p:sldId id="2147482881" r:id="rId56"/>
    <p:sldId id="2147482873" r:id="rId57"/>
    <p:sldId id="2147482912" r:id="rId58"/>
    <p:sldId id="2147482882" r:id="rId59"/>
    <p:sldId id="2147482874" r:id="rId60"/>
    <p:sldId id="2147482883" r:id="rId61"/>
    <p:sldId id="2147482875" r:id="rId62"/>
    <p:sldId id="2147482884" r:id="rId63"/>
    <p:sldId id="2147482876" r:id="rId64"/>
    <p:sldId id="2147482885" r:id="rId65"/>
    <p:sldId id="2147482898" r:id="rId66"/>
    <p:sldId id="2147482877" r:id="rId67"/>
    <p:sldId id="2147482886" r:id="rId68"/>
    <p:sldId id="2147482899" r:id="rId69"/>
    <p:sldId id="2147482900" r:id="rId70"/>
    <p:sldId id="2147482891" r:id="rId71"/>
    <p:sldId id="2147482890" r:id="rId72"/>
    <p:sldId id="2147482892" r:id="rId73"/>
    <p:sldId id="2147482893" r:id="rId74"/>
    <p:sldId id="2147482894" r:id="rId75"/>
    <p:sldId id="2147482895" r:id="rId76"/>
    <p:sldId id="2147482896" r:id="rId77"/>
    <p:sldId id="2147482897" r:id="rId78"/>
  </p:sldIdLst>
  <p:sldSz cx="12192000" cy="6858000"/>
  <p:notesSz cx="6858000" cy="9144000"/>
  <p:custDataLst>
    <p:tags r:id="rId8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B648BEE-367B-4C23-8E43-C5335FEBDD86}">
          <p14:sldIdLst>
            <p14:sldId id="256"/>
            <p14:sldId id="2147482867"/>
            <p14:sldId id="2147482850"/>
            <p14:sldId id="2147482901"/>
            <p14:sldId id="2147482863"/>
          </p14:sldIdLst>
        </p14:section>
        <p14:section name="Front-End Layers" id="{8AADBB49-88BE-43DD-A893-AB1A772F7085}">
          <p14:sldIdLst>
            <p14:sldId id="2147469688"/>
            <p14:sldId id="2147482871"/>
            <p14:sldId id="2147469692"/>
            <p14:sldId id="2147482865"/>
            <p14:sldId id="2147469694"/>
            <p14:sldId id="2147482853"/>
            <p14:sldId id="2147469695"/>
            <p14:sldId id="2147482866"/>
            <p14:sldId id="2147482870"/>
            <p14:sldId id="2147482789"/>
            <p14:sldId id="2147482790"/>
            <p14:sldId id="2147482869"/>
            <p14:sldId id="2147469698"/>
            <p14:sldId id="2147482854"/>
            <p14:sldId id="2147469721"/>
            <p14:sldId id="2147469702"/>
            <p14:sldId id="2147469703"/>
            <p14:sldId id="2147483602"/>
            <p14:sldId id="281"/>
            <p14:sldId id="259"/>
            <p14:sldId id="301"/>
            <p14:sldId id="2147483599"/>
            <p14:sldId id="2147483600"/>
            <p14:sldId id="260"/>
            <p14:sldId id="2147483640"/>
            <p14:sldId id="2147483622"/>
            <p14:sldId id="2147483620"/>
          </p14:sldIdLst>
        </p14:section>
        <p14:section name="Backend Summary" id="{52B698B3-792C-4C96-B0F2-D3E9959C1051}">
          <p14:sldIdLst>
            <p14:sldId id="2147482851"/>
            <p14:sldId id="2147482903"/>
            <p14:sldId id="2147482856"/>
            <p14:sldId id="2147482864"/>
            <p14:sldId id="2147482904"/>
            <p14:sldId id="2147482905"/>
            <p14:sldId id="2147482906"/>
            <p14:sldId id="2147482908"/>
            <p14:sldId id="2147482907"/>
            <p14:sldId id="2147482902"/>
            <p14:sldId id="2147483641"/>
            <p14:sldId id="2147483642"/>
            <p14:sldId id="2147482910"/>
          </p14:sldIdLst>
        </p14:section>
        <p14:section name="Backend (M0-M5)" id="{FFFB365D-3BD3-48DC-AE16-4B28C5968106}">
          <p14:sldIdLst>
            <p14:sldId id="2147482878"/>
            <p14:sldId id="2147482879"/>
            <p14:sldId id="2147482857"/>
            <p14:sldId id="2147482911"/>
            <p14:sldId id="2147482880"/>
            <p14:sldId id="2147482872"/>
            <p14:sldId id="2147482881"/>
            <p14:sldId id="2147482873"/>
            <p14:sldId id="2147482912"/>
            <p14:sldId id="2147482882"/>
            <p14:sldId id="2147482874"/>
            <p14:sldId id="2147482883"/>
            <p14:sldId id="2147482875"/>
            <p14:sldId id="2147482884"/>
            <p14:sldId id="2147482876"/>
            <p14:sldId id="2147482885"/>
          </p14:sldIdLst>
        </p14:section>
        <p14:section name="Backend (Mya+)" id="{C2F8D0A1-777E-40C3-9F8D-A9ADA6559DDC}">
          <p14:sldIdLst>
            <p14:sldId id="2147482898"/>
            <p14:sldId id="2147482877"/>
            <p14:sldId id="2147482886"/>
            <p14:sldId id="2147482899"/>
            <p14:sldId id="2147482900"/>
            <p14:sldId id="2147482891"/>
            <p14:sldId id="2147482890"/>
            <p14:sldId id="2147482892"/>
          </p14:sldIdLst>
        </p14:section>
        <p14:section name="Backend (Mga+)" id="{F878ECF2-611A-460B-86BA-4E28F5964A82}">
          <p14:sldIdLst>
            <p14:sldId id="2147482893"/>
            <p14:sldId id="2147482894"/>
            <p14:sldId id="2147482895"/>
            <p14:sldId id="2147482896"/>
            <p14:sldId id="21474828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219E03-8C23-989B-995A-B736CE9643CC}" name="Chakraborty, Subhrakanti" initials="" userId="S::subhrakanti.chakraborty@intel.com::16dfb040-407c-432a-bb2e-7548cd39c0da" providerId="AD"/>
  <p188:author id="{7B9C0916-1B82-529F-C97F-A695367CC7EC}" name="Uncuer, Muhammet" initials="MU" userId="S::muhammet.uncuer@intel.com::3354a092-42f3-4828-a531-05d1ebe71f4f" providerId="AD"/>
  <p188:author id="{A621B82B-B0E8-8546-9FE8-6991D1EA3308}" name="Aykol, Mehmet" initials="AM" userId="S::mehmet.aykol@intel.com::d0ac8677-8424-4bfd-9fa6-cc1fc7815e28" providerId="AD"/>
  <p188:author id="{4DA1C87D-CB31-72C3-6C4A-1B20EAD13526}" name="Sameck, Chantal E" initials="CS" userId="S::chantal.e.sameck@intel.com::9ac3a4e9-3336-46dd-8851-6ca7f6b3410a" providerId="AD"/>
  <p188:author id="{59E78FA8-8102-8EFE-4B3E-7E6298657D7D}" name="Danon, Alon" initials="DA" userId="S::alon.danon@intel.com::fb3e5043-05c3-44b0-9a51-9d34a491ab0a" providerId="AD"/>
  <p188:author id="{E93C1ED8-154C-A63F-3BA6-CD134E7A8DFB}" name="Ege, Canay" initials="EC" userId="S::canay.ege@intel.com::4b6e4c72-870a-4e9c-9d6f-92f2a8ae325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699"/>
    <a:srgbClr val="CCCCCC"/>
    <a:srgbClr val="FFFFFF"/>
    <a:srgbClr val="CC66FF"/>
    <a:srgbClr val="8F5DA2"/>
    <a:srgbClr val="FFCCFF"/>
    <a:srgbClr val="C04F15"/>
    <a:srgbClr val="D9F2D0"/>
    <a:srgbClr val="FFD966"/>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60C3FC-94F8-542D-0FDF-164D11EAEB50}" v="1" dt="2026-06-09T17:48:16.8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027"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gs" Target="tags/tag1.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86"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viewProps" Target="viewProps.xml"/></Relationships>
</file>

<file path=ppt/comments/modernComment_7FFFFCF1_2B5E2754.xml><?xml version="1.0" encoding="utf-8"?>
<p188:cmLst xmlns:a="http://schemas.openxmlformats.org/drawingml/2006/main" xmlns:r="http://schemas.openxmlformats.org/officeDocument/2006/relationships" xmlns:p188="http://schemas.microsoft.com/office/powerpoint/2018/8/main">
  <p188:cm id="{D70274AE-CCD1-4C9E-85C1-31D6B2DA47AD}" authorId="{4DA1C87D-CB31-72C3-6C4A-1B20EAD13526}" created="2026-05-20T17:45:23.354">
    <ac:deMkLst xmlns:ac="http://schemas.microsoft.com/office/drawing/2013/main/command">
      <pc:docMk xmlns:pc="http://schemas.microsoft.com/office/powerpoint/2013/main/command"/>
      <pc:sldMk xmlns:pc="http://schemas.microsoft.com/office/powerpoint/2013/main/command" cId="727590740" sldId="2147482865"/>
      <ac:spMk id="53" creationId="{C8CE997A-1FD5-1188-54D8-305DE3043975}"/>
    </ac:deMkLst>
    <p188:replyLst>
      <p188:reply id="{91A33AFB-E9EC-40A8-9E7E-7BC3C06ACF78}" authorId="{59E78FA8-8102-8EFE-4B3E-7E6298657D7D}" created="2026-05-20T17:59:50.526">
        <p188:txBody>
          <a:bodyPr/>
          <a:lstStyle/>
          <a:p>
            <a:r>
              <a:rPr lang="en-US"/>
              <a:t>updated</a:t>
            </a:r>
          </a:p>
        </p188:txBody>
      </p188:reply>
    </p188:replyLst>
    <p188:txBody>
      <a:bodyPr/>
      <a:lstStyle/>
      <a:p>
        <a:r>
          <a:rPr lang="en-US"/>
          <a:t>[@Danon, Alon] Add GLK for completeness on this poly if that is the DR (I think?)</a:t>
        </a:r>
      </a:p>
    </p188:txBody>
  </p188:cm>
  <p188:cm id="{B8AB2D24-71D9-4CE0-B8A6-E4250527AFBB}" authorId="{4DA1C87D-CB31-72C3-6C4A-1B20EAD13526}" created="2026-05-20T17:46:00.915">
    <ac:deMkLst xmlns:ac="http://schemas.microsoft.com/office/drawing/2013/main/command">
      <pc:docMk xmlns:pc="http://schemas.microsoft.com/office/powerpoint/2013/main/command"/>
      <pc:sldMk xmlns:pc="http://schemas.microsoft.com/office/powerpoint/2013/main/command" cId="727590740" sldId="2147482865"/>
      <ac:spMk id="35" creationId="{C33FD9CC-0577-22CA-B9F8-3D232AE7F598}"/>
    </ac:deMkLst>
    <p188:txBody>
      <a:bodyPr/>
      <a:lstStyle/>
      <a:p>
        <a:r>
          <a:rPr lang="en-US"/>
          <a:t>[@Danon, Alon] If ctcn is needed for DR here, add for completeness</a:t>
        </a:r>
      </a:p>
    </p188:txBody>
  </p188:cm>
</p188:cmLst>
</file>

<file path=ppt/comments/modernComment_7FFFFCF5_FABE7D57.xml><?xml version="1.0" encoding="utf-8"?>
<p188:cmLst xmlns:a="http://schemas.openxmlformats.org/drawingml/2006/main" xmlns:r="http://schemas.openxmlformats.org/officeDocument/2006/relationships" xmlns:p188="http://schemas.microsoft.com/office/powerpoint/2018/8/main">
  <p188:cm id="{76015C1B-46AF-4DA1-B968-BD88FE59E548}" authorId="{4DA1C87D-CB31-72C3-6C4A-1B20EAD13526}" created="2026-05-20T17:47:15.517">
    <ac:deMkLst xmlns:ac="http://schemas.microsoft.com/office/drawing/2013/main/command">
      <pc:docMk xmlns:pc="http://schemas.microsoft.com/office/powerpoint/2013/main/command"/>
      <pc:sldMk xmlns:pc="http://schemas.microsoft.com/office/powerpoint/2013/main/command" cId="4206787927" sldId="2147482869"/>
      <ac:spMk id="112" creationId="{3A68248C-DD1A-5AEB-F4CD-2804D980CDFC}"/>
    </ac:deMkLst>
    <p188:txBody>
      <a:bodyPr/>
      <a:lstStyle/>
      <a:p>
        <a:r>
          <a:rPr lang="en-US"/>
          <a:t>[@Danon, Alon] Add this NSVT/PSVT combo shifted up to center on CRL – is that clean or dirty?
</a:t>
        </a:r>
      </a:p>
    </p188:txBody>
  </p188:cm>
</p188:cmLst>
</file>

<file path=ppt/comments/modernComment_7FFFFCFE_C49400EA.xml><?xml version="1.0" encoding="utf-8"?>
<p188:cmLst xmlns:a="http://schemas.openxmlformats.org/drawingml/2006/main" xmlns:r="http://schemas.openxmlformats.org/officeDocument/2006/relationships" xmlns:p188="http://schemas.microsoft.com/office/powerpoint/2018/8/main">
  <p188:cm id="{040D60FB-91CB-44EE-A6B2-093039B3D49D}" authorId="{4DA1C87D-CB31-72C3-6C4A-1B20EAD13526}" created="2026-05-20T20:18:44.589">
    <ac:txMkLst xmlns:ac="http://schemas.microsoft.com/office/drawing/2013/main/command">
      <pc:docMk xmlns:pc="http://schemas.microsoft.com/office/powerpoint/2013/main/command"/>
      <pc:sldMk xmlns:pc="http://schemas.microsoft.com/office/powerpoint/2013/main/command" cId="3298033898" sldId="2147482878"/>
      <ac:graphicFrameMk id="3" creationId="{50B7719A-9346-46F5-D21B-DE6A92E03D4D}"/>
      <ac:tblMk/>
      <ac:tcMk rowId="3020609181" colId="779893350"/>
      <ac:txMk cp="23" len="34">
        <ac:context len="58" hash="2051797757"/>
      </ac:txMk>
    </ac:txMkLst>
    <p188:pos x="6757147" y="2539952"/>
    <p188:replyLst>
      <p188:reply id="{830FD2D2-E751-4993-BE98-38E82224C490}" authorId="{7B9C0916-1B82-529F-C97F-A695367CC7EC}" created="2026-05-20T21:01:48.457">
        <p188:txBody>
          <a:bodyPr/>
          <a:lstStyle/>
          <a:p>
            <a:r>
              <a:rPr lang="en-US"/>
              <a:t>[@Sameck, Chantal E] 
According to [@Aykol, Mehmet] , this has a serious yield concern. VCR is encouraged to be used
</a:t>
            </a:r>
          </a:p>
        </p188:txBody>
      </p188:reply>
      <p188:reply id="{BBE24B9E-ED47-440F-B343-FD02DB220440}" authorId="{A621B82B-B0E8-8546-9FE8-6991D1EA3308}" created="2026-05-20T21:20:18.248">
        <p188:txBody>
          <a:bodyPr/>
          <a:lstStyle/>
          <a:p>
            <a:r>
              <a:rPr lang="en-US"/>
              <a:t>I am unclear what the issue is. why is edge vs center aligned a problem?</a:t>
            </a:r>
          </a:p>
        </p188:txBody>
      </p188:reply>
    </p188:replyLst>
    <p188:txBody>
      <a:bodyPr/>
      <a:lstStyle/>
      <a:p>
        <a:r>
          <a:rPr lang="en-US"/>
          <a:t>[@Danon, Alon] I just want to say this everywhere I can: test structures have to be in place to look to relax this on 1281 – a limit didn’t work on 1280 and it’s not going to work on 1281 – unless we learn that TSMC is doing the same! Which we will probe about!  But: test structures!</a:t>
        </a:r>
      </a:p>
    </p188:txBody>
  </p188:cm>
</p188:cmLst>
</file>

<file path=ppt/comments/modernComment_7FFFFD1A_2796272A.xml><?xml version="1.0" encoding="utf-8"?>
<p188:cmLst xmlns:a="http://schemas.openxmlformats.org/drawingml/2006/main" xmlns:r="http://schemas.openxmlformats.org/officeDocument/2006/relationships" xmlns:p188="http://schemas.microsoft.com/office/powerpoint/2018/8/main">
  <p188:cm id="{87B15EB5-23D5-42BD-8704-D14D6F9E6CF0}" authorId="{4DA1C87D-CB31-72C3-6C4A-1B20EAD13526}" created="2026-05-20T20:09:37.979">
    <ac:txMkLst xmlns:ac="http://schemas.microsoft.com/office/drawing/2013/main/command">
      <pc:docMk xmlns:pc="http://schemas.microsoft.com/office/powerpoint/2013/main/command"/>
      <pc:sldMk xmlns:pc="http://schemas.microsoft.com/office/powerpoint/2013/main/command" cId="664151850" sldId="2147482906"/>
      <ac:spMk id="2" creationId="{9CFF8615-1C91-4B21-029C-D715BCC987AF}"/>
      <ac:txMk cp="7" len="11">
        <ac:context len="34" hash="1686274638"/>
      </ac:txMk>
    </ac:txMkLst>
    <p188:pos x="4437530" y="306041"/>
    <p188:replyLst>
      <p188:reply id="{6CD53F0E-9D09-4969-90BC-50AEB6B8297B}" authorId="{7B9C0916-1B82-529F-C97F-A695367CC7EC}" created="2026-05-20T20:59:43.156">
        <p188:txBody>
          <a:bodyPr/>
          <a:lstStyle/>
          <a:p>
            <a:r>
              <a:rPr lang="en-US"/>
              <a:t>[@Sameck, Chantal E] 
Do you have proposal? Options I can think of. I am in favor of Option 2
Option 1: drop feedthrough.
-  Downside: we will lose internal folks
Option 2: add explanation for the term Feedthrough = Length + ETE
</a:t>
            </a:r>
          </a:p>
        </p188:txBody>
      </p188:reply>
      <p188:reply id="{8F24DF97-9B12-4CB2-9675-3F1B0260001C}" authorId="{4DA1C87D-CB31-72C3-6C4A-1B20EAD13526}" created="2026-05-20T21:10:40.457">
        <p188:txBody>
          <a:bodyPr/>
          <a:lstStyle/>
          <a:p>
            <a:r>
              <a:rPr lang="en-US"/>
              <a:t>[@Uncuer, Muhammet] which internal folks are you concerned about?   I strongly think we should avoid this word.   Are we talking about a via stack?   We need a different name ☺️
</a:t>
            </a:r>
          </a:p>
        </p188:txBody>
      </p188:reply>
      <p188:reply id="{22517F49-FF9B-4F85-885C-449ECFBFD904}" authorId="{7B9C0916-1B82-529F-C97F-A695367CC7EC}" created="2026-05-20T22:42:36.986">
        <p188:txBody>
          <a:bodyPr/>
          <a:lstStyle/>
          <a:p>
            <a:r>
              <a:rPr lang="en-US"/>
              <a:t>[@Sameck, Chantal E] , just to be clear, DRM would NOT use the term -- feedthrough. We would use length, space similar to previous technologies.
This overview is quite informal in the way figures are drawn etc. It is not up to the DRM standard. 
Internal teams are the ones involved in the definition.
Let me know if you still want to change this.</a:t>
            </a:r>
          </a:p>
        </p188:txBody>
      </p188:reply>
    </p188:replyLst>
    <p188:txBody>
      <a:bodyPr/>
      <a:lstStyle/>
      <a:p>
        <a:r>
          <a:rPr lang="en-US"/>
          <a:t>[@Danon, Alon] Is this word necessary?   Seems like a bad choice since we have backside nodes...</a:t>
        </a:r>
      </a:p>
    </p188:txBody>
  </p188:cm>
</p188:cmLst>
</file>

<file path=ppt/comments/modernComment_7FFFFFF8_3BF43B21.xml><?xml version="1.0" encoding="utf-8"?>
<p188:cmLst xmlns:a="http://schemas.openxmlformats.org/drawingml/2006/main" xmlns:r="http://schemas.openxmlformats.org/officeDocument/2006/relationships" xmlns:p188="http://schemas.microsoft.com/office/powerpoint/2018/8/main">
  <p188:cm id="{26DF2C39-D9C9-4DDC-8090-2305B3852C6E}" authorId="{E93C1ED8-154C-A63F-3BA6-CD134E7A8DFB}" created="2026-05-07T16:32:34.660" startDate="2026-05-07T16:32:34.660" dueDate="2026-05-07T16:32:34.660" assignedTo="{EF219E03-8C23-989B-995A-B736CE9643CC}" title="@Chakraborty, Subhrakanti can you include the additional items in the legend. Also is there a difference between orange 132h and blue 132h">
    <pc:sldMkLst xmlns:pc="http://schemas.microsoft.com/office/powerpoint/2013/main/command">
      <pc:docMk/>
      <pc:sldMk cId="1005861665" sldId="2147483640"/>
    </pc:sldMkLst>
    <p188:replyLst>
      <p188:reply id="{D85DF8D8-A506-44E7-958D-4C5CC1054B29}" authorId="{EF219E03-8C23-989B-995A-B736CE9643CC}" created="2026-05-07T21:54:44.478">
        <p188:txBody>
          <a:bodyPr/>
          <a:lstStyle/>
          <a:p>
            <a:r>
              <a:rPr lang="en-US"/>
              <a:t>Thanks for highlighting this one, corrected and added legends</a:t>
            </a:r>
          </a:p>
        </p188:txBody>
      </p188:reply>
    </p188:replyLst>
    <p188:txBody>
      <a:bodyPr/>
      <a:lstStyle/>
      <a:p>
        <a:r>
          <a:rPr lang="en-US"/>
          <a:t>[@Chakraborty, Subhrakanti] can you include the additional items in the legend. Also is there a difference between orange 132h and blue 132h</a:t>
        </a:r>
      </a:p>
    </p188:txBody>
    <p188:extLst>
      <p:ext xmlns:p="http://schemas.openxmlformats.org/presentationml/2006/main" uri="{5BB2D875-25FF-4072-B9AC-8F64D62656EB}">
        <p228:taskDetails xmlns:p228="http://schemas.microsoft.com/office/powerpoint/2022/08/main">
          <p228:history>
            <p228:event time="2026-05-07T16:32:34.660" id="{A6E4D088-4EE8-4365-B8E8-6F7157B08443}">
              <p228:atrbtn authorId="{E93C1ED8-154C-A63F-3BA6-CD134E7A8DFB}"/>
              <p228:anchr>
                <p228:comment id="{26DF2C39-D9C9-4DDC-8090-2305B3852C6E}"/>
              </p228:anchr>
              <p228:add/>
            </p228:event>
            <p228:event time="2026-05-07T16:32:34.660" id="{26B2FE9C-8F6B-43E4-8F07-B1EF4C75A744}">
              <p228:atrbtn authorId="{E93C1ED8-154C-A63F-3BA6-CD134E7A8DFB}"/>
              <p228:anchr>
                <p228:comment id="{26DF2C39-D9C9-4DDC-8090-2305B3852C6E}"/>
              </p228:anchr>
              <p228:asgn authorId="{EF219E03-8C23-989B-995A-B736CE9643CC}"/>
            </p228:event>
            <p228:event time="2026-05-07T16:32:34.660" id="{F1A75A61-A58D-48BD-9E9B-1281D6259F8D}">
              <p228:atrbtn authorId="{E93C1ED8-154C-A63F-3BA6-CD134E7A8DFB}"/>
              <p228:anchr>
                <p228:comment id="{26DF2C39-D9C9-4DDC-8090-2305B3852C6E}"/>
              </p228:anchr>
              <p228:title val="@Chakraborty, Subhrakanti can you include the additional items in the legend. Also is there a difference between orange 132h and blue 132h"/>
            </p228:event>
            <p228:event time="2026-05-07T16:32:34.660" id="{8089D63D-FC4A-421C-B194-4D9BCCF5FAD9}">
              <p228:atrbtn authorId="{E93C1ED8-154C-A63F-3BA6-CD134E7A8DFB}"/>
              <p228:anchr>
                <p228:comment id="{26DF2C39-D9C9-4DDC-8090-2305B3852C6E}"/>
              </p228:anchr>
              <p228:date stDt="2026-05-07T16:32:34.660" endDt="2026-05-07T16:32:34.660"/>
            </p228:event>
          </p228:history>
        </p228:taskDetails>
      </p:ext>
    </p188:extLst>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3F3FA9-C0E8-432F-AECA-88E371A8BDA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B78FDF5-2F27-4BA3-A8D0-732AEFE276BD}">
      <dgm:prSet/>
      <dgm:spPr/>
      <dgm:t>
        <a:bodyPr/>
        <a:lstStyle/>
        <a:p>
          <a:r>
            <a:rPr lang="en-US" b="1" u="sng"/>
            <a:t>List:</a:t>
          </a:r>
          <a:endParaRPr lang="en-US"/>
        </a:p>
      </dgm:t>
    </dgm:pt>
    <dgm:pt modelId="{6368B5AC-3115-4BAB-861F-564390050649}" type="parTrans" cxnId="{ED06F4BD-1303-4B86-8E95-B5ECDCB3DDBB}">
      <dgm:prSet/>
      <dgm:spPr/>
      <dgm:t>
        <a:bodyPr/>
        <a:lstStyle/>
        <a:p>
          <a:endParaRPr lang="en-US"/>
        </a:p>
      </dgm:t>
    </dgm:pt>
    <dgm:pt modelId="{B25D3ABD-27C8-4C38-9DCC-02C23237A053}" type="sibTrans" cxnId="{ED06F4BD-1303-4B86-8E95-B5ECDCB3DDBB}">
      <dgm:prSet/>
      <dgm:spPr/>
      <dgm:t>
        <a:bodyPr/>
        <a:lstStyle/>
        <a:p>
          <a:endParaRPr lang="en-US"/>
        </a:p>
      </dgm:t>
    </dgm:pt>
    <dgm:pt modelId="{795D7B6D-32AE-48F9-860A-7DAD7EDA338F}">
      <dgm:prSet/>
      <dgm:spPr/>
      <dgm:t>
        <a:bodyPr/>
        <a:lstStyle/>
        <a:p>
          <a:pPr>
            <a:buFont typeface="+mj-lt"/>
            <a:buAutoNum type="arabicPeriod"/>
          </a:pPr>
          <a:r>
            <a:rPr lang="en-US"/>
            <a:t>Via size offerings are reduced</a:t>
          </a:r>
        </a:p>
      </dgm:t>
    </dgm:pt>
    <dgm:pt modelId="{9EB94B5B-8433-42B1-ADC1-F2AEA7AE7A0B}" type="parTrans" cxnId="{859FFAA4-2606-4DC6-A86B-5D1DE5EB946F}">
      <dgm:prSet/>
      <dgm:spPr/>
      <dgm:t>
        <a:bodyPr/>
        <a:lstStyle/>
        <a:p>
          <a:endParaRPr lang="en-US"/>
        </a:p>
      </dgm:t>
    </dgm:pt>
    <dgm:pt modelId="{2BE9DC5D-0A9A-4932-A045-1345D56F5EC6}" type="sibTrans" cxnId="{859FFAA4-2606-4DC6-A86B-5D1DE5EB946F}">
      <dgm:prSet/>
      <dgm:spPr/>
      <dgm:t>
        <a:bodyPr/>
        <a:lstStyle/>
        <a:p>
          <a:endParaRPr lang="en-US"/>
        </a:p>
      </dgm:t>
    </dgm:pt>
    <dgm:pt modelId="{49A1278A-6390-4D5F-B5E2-4E04DBB4550A}">
      <dgm:prSet/>
      <dgm:spPr/>
      <dgm:t>
        <a:bodyPr/>
        <a:lstStyle/>
        <a:p>
          <a:pPr>
            <a:buFont typeface="+mj-lt"/>
            <a:buAutoNum type="arabicPeriod"/>
          </a:pPr>
          <a:r>
            <a:rPr lang="en-US"/>
            <a:t>Large VT is offered with edge-alignment for performance</a:t>
          </a:r>
        </a:p>
      </dgm:t>
    </dgm:pt>
    <dgm:pt modelId="{1CE3A174-EC60-4547-A563-CB144F0E462F}" type="parTrans" cxnId="{F7175944-36A3-4FD7-86AA-63E15C597D94}">
      <dgm:prSet/>
      <dgm:spPr/>
      <dgm:t>
        <a:bodyPr/>
        <a:lstStyle/>
        <a:p>
          <a:endParaRPr lang="en-US"/>
        </a:p>
      </dgm:t>
    </dgm:pt>
    <dgm:pt modelId="{D80E1C12-039D-4D16-A42A-559FB750FADD}" type="sibTrans" cxnId="{F7175944-36A3-4FD7-86AA-63E15C597D94}">
      <dgm:prSet/>
      <dgm:spPr/>
      <dgm:t>
        <a:bodyPr/>
        <a:lstStyle/>
        <a:p>
          <a:endParaRPr lang="en-US"/>
        </a:p>
      </dgm:t>
    </dgm:pt>
    <dgm:pt modelId="{4CA4DFFB-EF4B-44C0-BE11-42714D6DD989}">
      <dgm:prSet/>
      <dgm:spPr/>
      <dgm:t>
        <a:bodyPr/>
        <a:lstStyle/>
        <a:p>
          <a:pPr>
            <a:buFont typeface="+mj-lt"/>
            <a:buAutoNum type="arabicPeriod"/>
          </a:pPr>
          <a:r>
            <a:rPr lang="en-US"/>
            <a:t>TFR is between M7-M8 (P1280 is between M1-M2)</a:t>
          </a:r>
        </a:p>
      </dgm:t>
    </dgm:pt>
    <dgm:pt modelId="{8340A623-3ABE-483E-94BD-3780E977857D}" type="parTrans" cxnId="{EE617D18-8736-4BB3-B63C-0FBA1F952965}">
      <dgm:prSet/>
      <dgm:spPr/>
      <dgm:t>
        <a:bodyPr/>
        <a:lstStyle/>
        <a:p>
          <a:endParaRPr lang="en-US"/>
        </a:p>
      </dgm:t>
    </dgm:pt>
    <dgm:pt modelId="{CABC33F1-133D-4104-B4BA-A10A9D50AB3D}" type="sibTrans" cxnId="{EE617D18-8736-4BB3-B63C-0FBA1F952965}">
      <dgm:prSet/>
      <dgm:spPr/>
      <dgm:t>
        <a:bodyPr/>
        <a:lstStyle/>
        <a:p>
          <a:endParaRPr lang="en-US"/>
        </a:p>
      </dgm:t>
    </dgm:pt>
    <dgm:pt modelId="{0773BBFF-09E5-44BB-9468-B3A4A42650B4}">
      <dgm:prSet/>
      <dgm:spPr/>
      <dgm:t>
        <a:bodyPr/>
        <a:lstStyle/>
        <a:p>
          <a:pPr>
            <a:buFont typeface="+mj-lt"/>
            <a:buAutoNum type="arabicPeriod"/>
          </a:pPr>
          <a:r>
            <a:rPr lang="en-US"/>
            <a:t>Self-aligned vias are removed for V6+</a:t>
          </a:r>
        </a:p>
      </dgm:t>
    </dgm:pt>
    <dgm:pt modelId="{D56908DE-DEC8-4566-98AF-71AE7228ED94}" type="parTrans" cxnId="{0FEF067C-AD89-4667-A653-85718E8E51B9}">
      <dgm:prSet/>
      <dgm:spPr/>
      <dgm:t>
        <a:bodyPr/>
        <a:lstStyle/>
        <a:p>
          <a:endParaRPr lang="en-US"/>
        </a:p>
      </dgm:t>
    </dgm:pt>
    <dgm:pt modelId="{7A787CB3-9564-4996-9222-44BE58EE7E65}" type="sibTrans" cxnId="{0FEF067C-AD89-4667-A653-85718E8E51B9}">
      <dgm:prSet/>
      <dgm:spPr/>
      <dgm:t>
        <a:bodyPr/>
        <a:lstStyle/>
        <a:p>
          <a:endParaRPr lang="en-US"/>
        </a:p>
      </dgm:t>
    </dgm:pt>
    <dgm:pt modelId="{F106468B-7470-4BC2-8D25-3B0EBC67CB22}">
      <dgm:prSet/>
      <dgm:spPr/>
      <dgm:t>
        <a:bodyPr/>
        <a:lstStyle/>
        <a:p>
          <a:pPr>
            <a:buFont typeface="+mj-lt"/>
            <a:buAutoNum type="arabicPeriod"/>
          </a:pPr>
          <a:r>
            <a:rPr lang="en-US"/>
            <a:t>Long vt, vg array is removed (must be &lt;=4)</a:t>
          </a:r>
        </a:p>
      </dgm:t>
    </dgm:pt>
    <dgm:pt modelId="{8C63CA77-AE59-424E-A351-8B48DD64BD57}" type="parTrans" cxnId="{9EFF8508-C6E7-4F9D-9323-6ED6290C9ADD}">
      <dgm:prSet/>
      <dgm:spPr/>
      <dgm:t>
        <a:bodyPr/>
        <a:lstStyle/>
        <a:p>
          <a:endParaRPr lang="en-US"/>
        </a:p>
      </dgm:t>
    </dgm:pt>
    <dgm:pt modelId="{8381FA9D-BDE5-4F54-8EB6-5FFADC9F4408}" type="sibTrans" cxnId="{9EFF8508-C6E7-4F9D-9323-6ED6290C9ADD}">
      <dgm:prSet/>
      <dgm:spPr/>
      <dgm:t>
        <a:bodyPr/>
        <a:lstStyle/>
        <a:p>
          <a:endParaRPr lang="en-US"/>
        </a:p>
      </dgm:t>
    </dgm:pt>
    <dgm:pt modelId="{0CE99B12-9716-4A06-BD9C-84BEE15EC870}">
      <dgm:prSet/>
      <dgm:spPr/>
      <dgm:t>
        <a:bodyPr/>
        <a:lstStyle/>
        <a:p>
          <a:pPr>
            <a:buFont typeface="+mj-lt"/>
            <a:buAutoNum type="arabicPeriod"/>
          </a:pPr>
          <a:r>
            <a:rPr lang="en-US"/>
            <a:t>M0, M2 allows flexible rules (depop)</a:t>
          </a:r>
        </a:p>
      </dgm:t>
    </dgm:pt>
    <dgm:pt modelId="{02400FB7-1A53-4D19-BC34-EF14D4F8E163}" type="parTrans" cxnId="{DEB37EC8-231F-45BB-9ED0-54B8F9262E8C}">
      <dgm:prSet/>
      <dgm:spPr/>
      <dgm:t>
        <a:bodyPr/>
        <a:lstStyle/>
        <a:p>
          <a:endParaRPr lang="en-US"/>
        </a:p>
      </dgm:t>
    </dgm:pt>
    <dgm:pt modelId="{DFB74BBB-345E-4E32-83EC-BD463080F18C}" type="sibTrans" cxnId="{DEB37EC8-231F-45BB-9ED0-54B8F9262E8C}">
      <dgm:prSet/>
      <dgm:spPr/>
      <dgm:t>
        <a:bodyPr/>
        <a:lstStyle/>
        <a:p>
          <a:endParaRPr lang="en-US"/>
        </a:p>
      </dgm:t>
    </dgm:pt>
    <dgm:pt modelId="{E7BD9FA9-D353-4CBE-B139-08A16633F8B9}">
      <dgm:prSet/>
      <dgm:spPr/>
      <dgm:t>
        <a:bodyPr/>
        <a:lstStyle/>
        <a:p>
          <a:pPr>
            <a:buFont typeface="+mj-lt"/>
            <a:buAutoNum type="arabicPeriod"/>
          </a:pPr>
          <a:r>
            <a:rPr lang="en-US"/>
            <a:t>Tight Corner-to-Corner is allowed for PPA for V2+</a:t>
          </a:r>
        </a:p>
      </dgm:t>
    </dgm:pt>
    <dgm:pt modelId="{0589C181-D41C-422F-A116-364D0FDEE361}" type="parTrans" cxnId="{76C1ACC2-1465-4199-8D71-8B157A473424}">
      <dgm:prSet/>
      <dgm:spPr/>
      <dgm:t>
        <a:bodyPr/>
        <a:lstStyle/>
        <a:p>
          <a:endParaRPr lang="en-US"/>
        </a:p>
      </dgm:t>
    </dgm:pt>
    <dgm:pt modelId="{97AD095A-8822-420A-8147-8CC7B215FADC}" type="sibTrans" cxnId="{76C1ACC2-1465-4199-8D71-8B157A473424}">
      <dgm:prSet/>
      <dgm:spPr/>
      <dgm:t>
        <a:bodyPr/>
        <a:lstStyle/>
        <a:p>
          <a:endParaRPr lang="en-US"/>
        </a:p>
      </dgm:t>
    </dgm:pt>
    <dgm:pt modelId="{B84C79C1-6D68-424E-B38A-3639830DED58}">
      <dgm:prSet/>
      <dgm:spPr/>
      <dgm:t>
        <a:bodyPr/>
        <a:lstStyle/>
        <a:p>
          <a:pPr>
            <a:buFont typeface="+mj-lt"/>
            <a:buAutoNum type="arabicPeriod"/>
          </a:pPr>
          <a:r>
            <a:rPr lang="en-US"/>
            <a:t>Bigger feedthrough (Length + ETE ) for M2+</a:t>
          </a:r>
        </a:p>
      </dgm:t>
    </dgm:pt>
    <dgm:pt modelId="{A992B25A-A920-4769-957E-6A74A0131D3D}" type="parTrans" cxnId="{ABC4C57F-EBB7-47FD-84FF-A9B89EDB1AC1}">
      <dgm:prSet/>
      <dgm:spPr/>
      <dgm:t>
        <a:bodyPr/>
        <a:lstStyle/>
        <a:p>
          <a:endParaRPr lang="en-US"/>
        </a:p>
      </dgm:t>
    </dgm:pt>
    <dgm:pt modelId="{38DB00BD-09FA-4DC8-BEBF-696E58C1F2C7}" type="sibTrans" cxnId="{ABC4C57F-EBB7-47FD-84FF-A9B89EDB1AC1}">
      <dgm:prSet/>
      <dgm:spPr/>
      <dgm:t>
        <a:bodyPr/>
        <a:lstStyle/>
        <a:p>
          <a:endParaRPr lang="en-US"/>
        </a:p>
      </dgm:t>
    </dgm:pt>
    <dgm:pt modelId="{4C2F8149-5FE8-4CBB-8158-5702ADE657E7}">
      <dgm:prSet/>
      <dgm:spPr/>
      <dgm:t>
        <a:bodyPr/>
        <a:lstStyle/>
        <a:p>
          <a:pPr>
            <a:buFont typeface="+mj-lt"/>
            <a:buAutoNum type="arabicPeriod"/>
          </a:pPr>
          <a:r>
            <a:rPr lang="en-US"/>
            <a:t>Bridge V0 is not allowed</a:t>
          </a:r>
        </a:p>
      </dgm:t>
    </dgm:pt>
    <dgm:pt modelId="{2051BD0D-5457-4304-9895-8720F4E934ED}" type="parTrans" cxnId="{B7FCD2F7-5669-4B03-A065-CD843A6E6798}">
      <dgm:prSet/>
      <dgm:spPr/>
      <dgm:t>
        <a:bodyPr/>
        <a:lstStyle/>
        <a:p>
          <a:endParaRPr lang="en-US"/>
        </a:p>
      </dgm:t>
    </dgm:pt>
    <dgm:pt modelId="{F5F64BEC-B76B-4F4F-97DB-2721A330AC83}" type="sibTrans" cxnId="{B7FCD2F7-5669-4B03-A065-CD843A6E6798}">
      <dgm:prSet/>
      <dgm:spPr/>
      <dgm:t>
        <a:bodyPr/>
        <a:lstStyle/>
        <a:p>
          <a:endParaRPr lang="en-US"/>
        </a:p>
      </dgm:t>
    </dgm:pt>
    <dgm:pt modelId="{3F8E50A5-0184-4DF0-9FA7-97C56F0FEE14}" type="pres">
      <dgm:prSet presAssocID="{393F3FA9-C0E8-432F-AECA-88E371A8BDAF}" presName="linear" presStyleCnt="0">
        <dgm:presLayoutVars>
          <dgm:animLvl val="lvl"/>
          <dgm:resizeHandles val="exact"/>
        </dgm:presLayoutVars>
      </dgm:prSet>
      <dgm:spPr/>
    </dgm:pt>
    <dgm:pt modelId="{45E595C7-7271-456D-BED3-C8CF2B671BA2}" type="pres">
      <dgm:prSet presAssocID="{3B78FDF5-2F27-4BA3-A8D0-732AEFE276BD}" presName="parentText" presStyleLbl="node1" presStyleIdx="0" presStyleCnt="1">
        <dgm:presLayoutVars>
          <dgm:chMax val="0"/>
          <dgm:bulletEnabled val="1"/>
        </dgm:presLayoutVars>
      </dgm:prSet>
      <dgm:spPr/>
    </dgm:pt>
    <dgm:pt modelId="{E6286200-A2CC-4176-A4AD-AD034171D445}" type="pres">
      <dgm:prSet presAssocID="{3B78FDF5-2F27-4BA3-A8D0-732AEFE276BD}" presName="childText" presStyleLbl="revTx" presStyleIdx="0" presStyleCnt="1">
        <dgm:presLayoutVars>
          <dgm:bulletEnabled val="1"/>
        </dgm:presLayoutVars>
      </dgm:prSet>
      <dgm:spPr/>
    </dgm:pt>
  </dgm:ptLst>
  <dgm:cxnLst>
    <dgm:cxn modelId="{9EFF8508-C6E7-4F9D-9323-6ED6290C9ADD}" srcId="{3B78FDF5-2F27-4BA3-A8D0-732AEFE276BD}" destId="{F106468B-7470-4BC2-8D25-3B0EBC67CB22}" srcOrd="2" destOrd="0" parTransId="{8C63CA77-AE59-424E-A351-8B48DD64BD57}" sibTransId="{8381FA9D-BDE5-4F54-8EB6-5FFADC9F4408}"/>
    <dgm:cxn modelId="{EE617D18-8736-4BB3-B63C-0FBA1F952965}" srcId="{3B78FDF5-2F27-4BA3-A8D0-732AEFE276BD}" destId="{4CA4DFFB-EF4B-44C0-BE11-42714D6DD989}" srcOrd="7" destOrd="0" parTransId="{8340A623-3ABE-483E-94BD-3780E977857D}" sibTransId="{CABC33F1-133D-4104-B4BA-A10A9D50AB3D}"/>
    <dgm:cxn modelId="{984D5D21-4E9F-4753-913C-C6B0D722F390}" type="presOf" srcId="{3B78FDF5-2F27-4BA3-A8D0-732AEFE276BD}" destId="{45E595C7-7271-456D-BED3-C8CF2B671BA2}" srcOrd="0" destOrd="0" presId="urn:microsoft.com/office/officeart/2005/8/layout/vList2"/>
    <dgm:cxn modelId="{A995A821-2A9C-4FBB-9DD2-5E3EA9A76A1B}" type="presOf" srcId="{0773BBFF-09E5-44BB-9468-B3A4A42650B4}" destId="{E6286200-A2CC-4176-A4AD-AD034171D445}" srcOrd="0" destOrd="8" presId="urn:microsoft.com/office/officeart/2005/8/layout/vList2"/>
    <dgm:cxn modelId="{0598163B-FF3E-42F2-9AD8-E3BF1ADC69C7}" type="presOf" srcId="{F106468B-7470-4BC2-8D25-3B0EBC67CB22}" destId="{E6286200-A2CC-4176-A4AD-AD034171D445}" srcOrd="0" destOrd="2" presId="urn:microsoft.com/office/officeart/2005/8/layout/vList2"/>
    <dgm:cxn modelId="{F9C12862-21D9-4896-AC54-DCA87A17C206}" type="presOf" srcId="{0CE99B12-9716-4A06-BD9C-84BEE15EC870}" destId="{E6286200-A2CC-4176-A4AD-AD034171D445}" srcOrd="0" destOrd="4" presId="urn:microsoft.com/office/officeart/2005/8/layout/vList2"/>
    <dgm:cxn modelId="{F7175944-36A3-4FD7-86AA-63E15C597D94}" srcId="{3B78FDF5-2F27-4BA3-A8D0-732AEFE276BD}" destId="{49A1278A-6390-4D5F-B5E2-4E04DBB4550A}" srcOrd="1" destOrd="0" parTransId="{1CE3A174-EC60-4547-A563-CB144F0E462F}" sibTransId="{D80E1C12-039D-4D16-A42A-559FB750FADD}"/>
    <dgm:cxn modelId="{DCF2DE54-2C0D-40C3-A26A-7CB1DE209460}" type="presOf" srcId="{4CA4DFFB-EF4B-44C0-BE11-42714D6DD989}" destId="{E6286200-A2CC-4176-A4AD-AD034171D445}" srcOrd="0" destOrd="7" presId="urn:microsoft.com/office/officeart/2005/8/layout/vList2"/>
    <dgm:cxn modelId="{0FEF067C-AD89-4667-A653-85718E8E51B9}" srcId="{3B78FDF5-2F27-4BA3-A8D0-732AEFE276BD}" destId="{0773BBFF-09E5-44BB-9468-B3A4A42650B4}" srcOrd="8" destOrd="0" parTransId="{D56908DE-DEC8-4566-98AF-71AE7228ED94}" sibTransId="{7A787CB3-9564-4996-9222-44BE58EE7E65}"/>
    <dgm:cxn modelId="{ABC4C57F-EBB7-47FD-84FF-A9B89EDB1AC1}" srcId="{3B78FDF5-2F27-4BA3-A8D0-732AEFE276BD}" destId="{B84C79C1-6D68-424E-B38A-3639830DED58}" srcOrd="5" destOrd="0" parTransId="{A992B25A-A920-4769-957E-6A74A0131D3D}" sibTransId="{38DB00BD-09FA-4DC8-BEBF-696E58C1F2C7}"/>
    <dgm:cxn modelId="{859FFAA4-2606-4DC6-A86B-5D1DE5EB946F}" srcId="{3B78FDF5-2F27-4BA3-A8D0-732AEFE276BD}" destId="{795D7B6D-32AE-48F9-860A-7DAD7EDA338F}" srcOrd="0" destOrd="0" parTransId="{9EB94B5B-8433-42B1-ADC1-F2AEA7AE7A0B}" sibTransId="{2BE9DC5D-0A9A-4932-A045-1345D56F5EC6}"/>
    <dgm:cxn modelId="{ED06F4BD-1303-4B86-8E95-B5ECDCB3DDBB}" srcId="{393F3FA9-C0E8-432F-AECA-88E371A8BDAF}" destId="{3B78FDF5-2F27-4BA3-A8D0-732AEFE276BD}" srcOrd="0" destOrd="0" parTransId="{6368B5AC-3115-4BAB-861F-564390050649}" sibTransId="{B25D3ABD-27C8-4C38-9DCC-02C23237A053}"/>
    <dgm:cxn modelId="{76C1ACC2-1465-4199-8D71-8B157A473424}" srcId="{3B78FDF5-2F27-4BA3-A8D0-732AEFE276BD}" destId="{E7BD9FA9-D353-4CBE-B139-08A16633F8B9}" srcOrd="6" destOrd="0" parTransId="{0589C181-D41C-422F-A116-364D0FDEE361}" sibTransId="{97AD095A-8822-420A-8147-8CC7B215FADC}"/>
    <dgm:cxn modelId="{99FBECC5-7396-49DA-86A9-381AA9D9A564}" type="presOf" srcId="{393F3FA9-C0E8-432F-AECA-88E371A8BDAF}" destId="{3F8E50A5-0184-4DF0-9FA7-97C56F0FEE14}" srcOrd="0" destOrd="0" presId="urn:microsoft.com/office/officeart/2005/8/layout/vList2"/>
    <dgm:cxn modelId="{DEB37EC8-231F-45BB-9ED0-54B8F9262E8C}" srcId="{3B78FDF5-2F27-4BA3-A8D0-732AEFE276BD}" destId="{0CE99B12-9716-4A06-BD9C-84BEE15EC870}" srcOrd="4" destOrd="0" parTransId="{02400FB7-1A53-4D19-BC34-EF14D4F8E163}" sibTransId="{DFB74BBB-345E-4E32-83EC-BD463080F18C}"/>
    <dgm:cxn modelId="{CA18FED6-8113-4960-8C9A-54285E6EE5F5}" type="presOf" srcId="{E7BD9FA9-D353-4CBE-B139-08A16633F8B9}" destId="{E6286200-A2CC-4176-A4AD-AD034171D445}" srcOrd="0" destOrd="6" presId="urn:microsoft.com/office/officeart/2005/8/layout/vList2"/>
    <dgm:cxn modelId="{7D9D7BD9-8E49-40E8-A541-7A197E7D6C20}" type="presOf" srcId="{49A1278A-6390-4D5F-B5E2-4E04DBB4550A}" destId="{E6286200-A2CC-4176-A4AD-AD034171D445}" srcOrd="0" destOrd="1" presId="urn:microsoft.com/office/officeart/2005/8/layout/vList2"/>
    <dgm:cxn modelId="{941DCDD9-C2FF-4A28-AAA7-1B4C5E0FCBA9}" type="presOf" srcId="{795D7B6D-32AE-48F9-860A-7DAD7EDA338F}" destId="{E6286200-A2CC-4176-A4AD-AD034171D445}" srcOrd="0" destOrd="0" presId="urn:microsoft.com/office/officeart/2005/8/layout/vList2"/>
    <dgm:cxn modelId="{0CFB0BDD-718C-415B-ADDE-15A319A2E7D1}" type="presOf" srcId="{4C2F8149-5FE8-4CBB-8158-5702ADE657E7}" destId="{E6286200-A2CC-4176-A4AD-AD034171D445}" srcOrd="0" destOrd="3" presId="urn:microsoft.com/office/officeart/2005/8/layout/vList2"/>
    <dgm:cxn modelId="{729DF0E5-D278-4B85-BD9C-A094ADC3A96B}" type="presOf" srcId="{B84C79C1-6D68-424E-B38A-3639830DED58}" destId="{E6286200-A2CC-4176-A4AD-AD034171D445}" srcOrd="0" destOrd="5" presId="urn:microsoft.com/office/officeart/2005/8/layout/vList2"/>
    <dgm:cxn modelId="{B7FCD2F7-5669-4B03-A065-CD843A6E6798}" srcId="{3B78FDF5-2F27-4BA3-A8D0-732AEFE276BD}" destId="{4C2F8149-5FE8-4CBB-8158-5702ADE657E7}" srcOrd="3" destOrd="0" parTransId="{2051BD0D-5457-4304-9895-8720F4E934ED}" sibTransId="{F5F64BEC-B76B-4F4F-97DB-2721A330AC83}"/>
    <dgm:cxn modelId="{5C990A3B-4189-45FC-A61F-71BB1FFE821E}" type="presParOf" srcId="{3F8E50A5-0184-4DF0-9FA7-97C56F0FEE14}" destId="{45E595C7-7271-456D-BED3-C8CF2B671BA2}" srcOrd="0" destOrd="0" presId="urn:microsoft.com/office/officeart/2005/8/layout/vList2"/>
    <dgm:cxn modelId="{826A8DCB-4A30-4953-9BCE-6DB2BC3B720F}" type="presParOf" srcId="{3F8E50A5-0184-4DF0-9FA7-97C56F0FEE14}" destId="{E6286200-A2CC-4176-A4AD-AD034171D44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3F3FA9-C0E8-432F-AECA-88E371A8BDA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B78FDF5-2F27-4BA3-A8D0-732AEFE276BD}">
      <dgm:prSet/>
      <dgm:spPr/>
      <dgm:t>
        <a:bodyPr/>
        <a:lstStyle/>
        <a:p>
          <a:r>
            <a:rPr lang="en-US" b="1" u="sng"/>
            <a:t>Note:</a:t>
          </a:r>
          <a:endParaRPr lang="en-US"/>
        </a:p>
      </dgm:t>
    </dgm:pt>
    <dgm:pt modelId="{6368B5AC-3115-4BAB-861F-564390050649}" type="parTrans" cxnId="{ED06F4BD-1303-4B86-8E95-B5ECDCB3DDBB}">
      <dgm:prSet/>
      <dgm:spPr/>
      <dgm:t>
        <a:bodyPr/>
        <a:lstStyle/>
        <a:p>
          <a:endParaRPr lang="en-US"/>
        </a:p>
      </dgm:t>
    </dgm:pt>
    <dgm:pt modelId="{B25D3ABD-27C8-4C38-9DCC-02C23237A053}" type="sibTrans" cxnId="{ED06F4BD-1303-4B86-8E95-B5ECDCB3DDBB}">
      <dgm:prSet/>
      <dgm:spPr/>
      <dgm:t>
        <a:bodyPr/>
        <a:lstStyle/>
        <a:p>
          <a:endParaRPr lang="en-US"/>
        </a:p>
      </dgm:t>
    </dgm:pt>
    <dgm:pt modelId="{795D7B6D-32AE-48F9-860A-7DAD7EDA338F}">
      <dgm:prSet/>
      <dgm:spPr/>
      <dgm:t>
        <a:bodyPr/>
        <a:lstStyle/>
        <a:p>
          <a:r>
            <a:rPr lang="en-US"/>
            <a:t>Using M# convention for all metal layers instead of BM#, GM#</a:t>
          </a:r>
        </a:p>
      </dgm:t>
    </dgm:pt>
    <dgm:pt modelId="{9EB94B5B-8433-42B1-ADC1-F2AEA7AE7A0B}" type="parTrans" cxnId="{859FFAA4-2606-4DC6-A86B-5D1DE5EB946F}">
      <dgm:prSet/>
      <dgm:spPr/>
      <dgm:t>
        <a:bodyPr/>
        <a:lstStyle/>
        <a:p>
          <a:endParaRPr lang="en-US"/>
        </a:p>
      </dgm:t>
    </dgm:pt>
    <dgm:pt modelId="{2BE9DC5D-0A9A-4932-A045-1345D56F5EC6}" type="sibTrans" cxnId="{859FFAA4-2606-4DC6-A86B-5D1DE5EB946F}">
      <dgm:prSet/>
      <dgm:spPr/>
      <dgm:t>
        <a:bodyPr/>
        <a:lstStyle/>
        <a:p>
          <a:endParaRPr lang="en-US"/>
        </a:p>
      </dgm:t>
    </dgm:pt>
    <dgm:pt modelId="{3F8E50A5-0184-4DF0-9FA7-97C56F0FEE14}" type="pres">
      <dgm:prSet presAssocID="{393F3FA9-C0E8-432F-AECA-88E371A8BDAF}" presName="linear" presStyleCnt="0">
        <dgm:presLayoutVars>
          <dgm:animLvl val="lvl"/>
          <dgm:resizeHandles val="exact"/>
        </dgm:presLayoutVars>
      </dgm:prSet>
      <dgm:spPr/>
    </dgm:pt>
    <dgm:pt modelId="{45E595C7-7271-456D-BED3-C8CF2B671BA2}" type="pres">
      <dgm:prSet presAssocID="{3B78FDF5-2F27-4BA3-A8D0-732AEFE276BD}" presName="parentText" presStyleLbl="node1" presStyleIdx="0" presStyleCnt="1">
        <dgm:presLayoutVars>
          <dgm:chMax val="0"/>
          <dgm:bulletEnabled val="1"/>
        </dgm:presLayoutVars>
      </dgm:prSet>
      <dgm:spPr/>
    </dgm:pt>
    <dgm:pt modelId="{B9870AD4-2046-4C6D-811D-CE826E5FA291}" type="pres">
      <dgm:prSet presAssocID="{3B78FDF5-2F27-4BA3-A8D0-732AEFE276BD}" presName="childText" presStyleLbl="revTx" presStyleIdx="0" presStyleCnt="1">
        <dgm:presLayoutVars>
          <dgm:bulletEnabled val="1"/>
        </dgm:presLayoutVars>
      </dgm:prSet>
      <dgm:spPr/>
    </dgm:pt>
  </dgm:ptLst>
  <dgm:cxnLst>
    <dgm:cxn modelId="{984D5D21-4E9F-4753-913C-C6B0D722F390}" type="presOf" srcId="{3B78FDF5-2F27-4BA3-A8D0-732AEFE276BD}" destId="{45E595C7-7271-456D-BED3-C8CF2B671BA2}" srcOrd="0" destOrd="0" presId="urn:microsoft.com/office/officeart/2005/8/layout/vList2"/>
    <dgm:cxn modelId="{BA26D44B-7C81-4415-B94D-A2B4BDBAFC93}" type="presOf" srcId="{795D7B6D-32AE-48F9-860A-7DAD7EDA338F}" destId="{B9870AD4-2046-4C6D-811D-CE826E5FA291}" srcOrd="0" destOrd="0" presId="urn:microsoft.com/office/officeart/2005/8/layout/vList2"/>
    <dgm:cxn modelId="{859FFAA4-2606-4DC6-A86B-5D1DE5EB946F}" srcId="{3B78FDF5-2F27-4BA3-A8D0-732AEFE276BD}" destId="{795D7B6D-32AE-48F9-860A-7DAD7EDA338F}" srcOrd="0" destOrd="0" parTransId="{9EB94B5B-8433-42B1-ADC1-F2AEA7AE7A0B}" sibTransId="{2BE9DC5D-0A9A-4932-A045-1345D56F5EC6}"/>
    <dgm:cxn modelId="{ED06F4BD-1303-4B86-8E95-B5ECDCB3DDBB}" srcId="{393F3FA9-C0E8-432F-AECA-88E371A8BDAF}" destId="{3B78FDF5-2F27-4BA3-A8D0-732AEFE276BD}" srcOrd="0" destOrd="0" parTransId="{6368B5AC-3115-4BAB-861F-564390050649}" sibTransId="{B25D3ABD-27C8-4C38-9DCC-02C23237A053}"/>
    <dgm:cxn modelId="{99FBECC5-7396-49DA-86A9-381AA9D9A564}" type="presOf" srcId="{393F3FA9-C0E8-432F-AECA-88E371A8BDAF}" destId="{3F8E50A5-0184-4DF0-9FA7-97C56F0FEE14}" srcOrd="0" destOrd="0" presId="urn:microsoft.com/office/officeart/2005/8/layout/vList2"/>
    <dgm:cxn modelId="{5C990A3B-4189-45FC-A61F-71BB1FFE821E}" type="presParOf" srcId="{3F8E50A5-0184-4DF0-9FA7-97C56F0FEE14}" destId="{45E595C7-7271-456D-BED3-C8CF2B671BA2}" srcOrd="0" destOrd="0" presId="urn:microsoft.com/office/officeart/2005/8/layout/vList2"/>
    <dgm:cxn modelId="{88271B76-B15D-4941-A593-BAC3B0C25E5D}" type="presParOf" srcId="{3F8E50A5-0184-4DF0-9FA7-97C56F0FEE14}" destId="{B9870AD4-2046-4C6D-811D-CE826E5FA29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595C7-7271-456D-BED3-C8CF2B671BA2}">
      <dsp:nvSpPr>
        <dsp:cNvPr id="0" name=""/>
        <dsp:cNvSpPr/>
      </dsp:nvSpPr>
      <dsp:spPr>
        <a:xfrm>
          <a:off x="0" y="30713"/>
          <a:ext cx="5996540" cy="58967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u="sng" kern="1200"/>
            <a:t>List:</a:t>
          </a:r>
          <a:endParaRPr lang="en-US" sz="2400" kern="1200"/>
        </a:p>
      </dsp:txBody>
      <dsp:txXfrm>
        <a:off x="28786" y="59499"/>
        <a:ext cx="5938968" cy="532107"/>
      </dsp:txXfrm>
    </dsp:sp>
    <dsp:sp modelId="{E6286200-A2CC-4176-A4AD-AD034171D445}">
      <dsp:nvSpPr>
        <dsp:cNvPr id="0" name=""/>
        <dsp:cNvSpPr/>
      </dsp:nvSpPr>
      <dsp:spPr>
        <a:xfrm>
          <a:off x="0" y="620393"/>
          <a:ext cx="5996540" cy="3278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390" tIns="30480" rIns="170688" bIns="30480" numCol="1" spcCol="1270" anchor="t" anchorCtr="0">
          <a:noAutofit/>
        </a:bodyPr>
        <a:lstStyle/>
        <a:p>
          <a:pPr marL="171450" lvl="1" indent="-171450" algn="l" defTabSz="844550">
            <a:lnSpc>
              <a:spcPct val="90000"/>
            </a:lnSpc>
            <a:spcBef>
              <a:spcPct val="0"/>
            </a:spcBef>
            <a:spcAft>
              <a:spcPct val="20000"/>
            </a:spcAft>
            <a:buFont typeface="+mj-lt"/>
            <a:buAutoNum type="arabicPeriod"/>
          </a:pPr>
          <a:r>
            <a:rPr lang="en-US" sz="1900" kern="1200"/>
            <a:t>Via size offerings are reduced</a:t>
          </a:r>
        </a:p>
        <a:p>
          <a:pPr marL="171450" lvl="1" indent="-171450" algn="l" defTabSz="844550">
            <a:lnSpc>
              <a:spcPct val="90000"/>
            </a:lnSpc>
            <a:spcBef>
              <a:spcPct val="0"/>
            </a:spcBef>
            <a:spcAft>
              <a:spcPct val="20000"/>
            </a:spcAft>
            <a:buFont typeface="+mj-lt"/>
            <a:buAutoNum type="arabicPeriod"/>
          </a:pPr>
          <a:r>
            <a:rPr lang="en-US" sz="1900" kern="1200"/>
            <a:t>Large VT is offered with edge-alignment for performance</a:t>
          </a:r>
        </a:p>
        <a:p>
          <a:pPr marL="171450" lvl="1" indent="-171450" algn="l" defTabSz="844550">
            <a:lnSpc>
              <a:spcPct val="90000"/>
            </a:lnSpc>
            <a:spcBef>
              <a:spcPct val="0"/>
            </a:spcBef>
            <a:spcAft>
              <a:spcPct val="20000"/>
            </a:spcAft>
            <a:buFont typeface="+mj-lt"/>
            <a:buAutoNum type="arabicPeriod"/>
          </a:pPr>
          <a:r>
            <a:rPr lang="en-US" sz="1900" kern="1200"/>
            <a:t>Long vt, vg array is removed (must be &lt;=4)</a:t>
          </a:r>
        </a:p>
        <a:p>
          <a:pPr marL="171450" lvl="1" indent="-171450" algn="l" defTabSz="844550">
            <a:lnSpc>
              <a:spcPct val="90000"/>
            </a:lnSpc>
            <a:spcBef>
              <a:spcPct val="0"/>
            </a:spcBef>
            <a:spcAft>
              <a:spcPct val="20000"/>
            </a:spcAft>
            <a:buFont typeface="+mj-lt"/>
            <a:buAutoNum type="arabicPeriod"/>
          </a:pPr>
          <a:r>
            <a:rPr lang="en-US" sz="1900" kern="1200"/>
            <a:t>Bridge V0 is not allowed</a:t>
          </a:r>
        </a:p>
        <a:p>
          <a:pPr marL="171450" lvl="1" indent="-171450" algn="l" defTabSz="844550">
            <a:lnSpc>
              <a:spcPct val="90000"/>
            </a:lnSpc>
            <a:spcBef>
              <a:spcPct val="0"/>
            </a:spcBef>
            <a:spcAft>
              <a:spcPct val="20000"/>
            </a:spcAft>
            <a:buFont typeface="+mj-lt"/>
            <a:buAutoNum type="arabicPeriod"/>
          </a:pPr>
          <a:r>
            <a:rPr lang="en-US" sz="1900" kern="1200"/>
            <a:t>M0, M2 allows flexible rules (depop)</a:t>
          </a:r>
        </a:p>
        <a:p>
          <a:pPr marL="171450" lvl="1" indent="-171450" algn="l" defTabSz="844550">
            <a:lnSpc>
              <a:spcPct val="90000"/>
            </a:lnSpc>
            <a:spcBef>
              <a:spcPct val="0"/>
            </a:spcBef>
            <a:spcAft>
              <a:spcPct val="20000"/>
            </a:spcAft>
            <a:buFont typeface="+mj-lt"/>
            <a:buAutoNum type="arabicPeriod"/>
          </a:pPr>
          <a:r>
            <a:rPr lang="en-US" sz="1900" kern="1200"/>
            <a:t>Bigger feedthrough (Length + ETE ) for M2+</a:t>
          </a:r>
        </a:p>
        <a:p>
          <a:pPr marL="171450" lvl="1" indent="-171450" algn="l" defTabSz="844550">
            <a:lnSpc>
              <a:spcPct val="90000"/>
            </a:lnSpc>
            <a:spcBef>
              <a:spcPct val="0"/>
            </a:spcBef>
            <a:spcAft>
              <a:spcPct val="20000"/>
            </a:spcAft>
            <a:buFont typeface="+mj-lt"/>
            <a:buAutoNum type="arabicPeriod"/>
          </a:pPr>
          <a:r>
            <a:rPr lang="en-US" sz="1900" kern="1200"/>
            <a:t>Tight Corner-to-Corner is allowed for PPA for V2+</a:t>
          </a:r>
        </a:p>
        <a:p>
          <a:pPr marL="171450" lvl="1" indent="-171450" algn="l" defTabSz="844550">
            <a:lnSpc>
              <a:spcPct val="90000"/>
            </a:lnSpc>
            <a:spcBef>
              <a:spcPct val="0"/>
            </a:spcBef>
            <a:spcAft>
              <a:spcPct val="20000"/>
            </a:spcAft>
            <a:buFont typeface="+mj-lt"/>
            <a:buAutoNum type="arabicPeriod"/>
          </a:pPr>
          <a:r>
            <a:rPr lang="en-US" sz="1900" kern="1200"/>
            <a:t>TFR is between M7-M8 (P1280 is between M1-M2)</a:t>
          </a:r>
        </a:p>
        <a:p>
          <a:pPr marL="171450" lvl="1" indent="-171450" algn="l" defTabSz="844550">
            <a:lnSpc>
              <a:spcPct val="90000"/>
            </a:lnSpc>
            <a:spcBef>
              <a:spcPct val="0"/>
            </a:spcBef>
            <a:spcAft>
              <a:spcPct val="20000"/>
            </a:spcAft>
            <a:buFont typeface="+mj-lt"/>
            <a:buAutoNum type="arabicPeriod"/>
          </a:pPr>
          <a:r>
            <a:rPr lang="en-US" sz="1900" kern="1200"/>
            <a:t>Self-aligned vias are removed for V6+</a:t>
          </a:r>
        </a:p>
      </dsp:txBody>
      <dsp:txXfrm>
        <a:off x="0" y="620393"/>
        <a:ext cx="5996540" cy="3278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595C7-7271-456D-BED3-C8CF2B671BA2}">
      <dsp:nvSpPr>
        <dsp:cNvPr id="0" name=""/>
        <dsp:cNvSpPr/>
      </dsp:nvSpPr>
      <dsp:spPr>
        <a:xfrm>
          <a:off x="0" y="19424"/>
          <a:ext cx="3761232" cy="393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u="sng" kern="1200"/>
            <a:t>Note:</a:t>
          </a:r>
          <a:endParaRPr lang="en-US" sz="1600" kern="1200"/>
        </a:p>
      </dsp:txBody>
      <dsp:txXfrm>
        <a:off x="19191" y="38615"/>
        <a:ext cx="3722850" cy="354738"/>
      </dsp:txXfrm>
    </dsp:sp>
    <dsp:sp modelId="{B9870AD4-2046-4C6D-811D-CE826E5FA291}">
      <dsp:nvSpPr>
        <dsp:cNvPr id="0" name=""/>
        <dsp:cNvSpPr/>
      </dsp:nvSpPr>
      <dsp:spPr>
        <a:xfrm>
          <a:off x="0" y="412544"/>
          <a:ext cx="3761232"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419"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Using M# convention for all metal layers instead of BM#, GM#</a:t>
          </a:r>
        </a:p>
      </dsp:txBody>
      <dsp:txXfrm>
        <a:off x="0" y="412544"/>
        <a:ext cx="3761232" cy="3808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BF341D-2B05-4CE6-89EF-11DEFCC8E262}"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DBD94E-5FF7-4C87-B9C0-99ABCDC4B36B}" type="slidenum">
              <a:rPr lang="en-US" smtClean="0"/>
              <a:t>‹#›</a:t>
            </a:fld>
            <a:endParaRPr lang="en-US"/>
          </a:p>
        </p:txBody>
      </p:sp>
    </p:spTree>
    <p:extLst>
      <p:ext uri="{BB962C8B-B14F-4D97-AF65-F5344CB8AC3E}">
        <p14:creationId xmlns:p14="http://schemas.microsoft.com/office/powerpoint/2010/main" val="4244071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83635-7628-5786-E2E6-A2055151A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EFD77-7105-521A-3DE6-5757BBDDCAF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8BAC5B-A9E0-A3C0-22D9-265F9E71A967}"/>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27DD2C0-A19C-06E2-E9E0-9AE4014611B5}"/>
              </a:ext>
            </a:extLst>
          </p:cNvPr>
          <p:cNvSpPr>
            <a:spLocks noGrp="1"/>
          </p:cNvSpPr>
          <p:nvPr>
            <p:ph type="ftr" sz="quarter" idx="4"/>
          </p:nvPr>
        </p:nvSpPr>
        <p:spPr/>
        <p:txBody>
          <a:bodyPr/>
          <a:lstStyle/>
          <a:p>
            <a:r>
              <a:rPr lang="en-US"/>
              <a:t>Alon Danon</a:t>
            </a:r>
          </a:p>
        </p:txBody>
      </p:sp>
      <p:sp>
        <p:nvSpPr>
          <p:cNvPr id="5" name="Slide Number Placeholder 4">
            <a:extLst>
              <a:ext uri="{FF2B5EF4-FFF2-40B4-BE49-F238E27FC236}">
                <a16:creationId xmlns:a16="http://schemas.microsoft.com/office/drawing/2014/main" id="{52F4BF64-E753-2E04-2A9E-6DD0769F6F68}"/>
              </a:ext>
            </a:extLst>
          </p:cNvPr>
          <p:cNvSpPr>
            <a:spLocks noGrp="1"/>
          </p:cNvSpPr>
          <p:nvPr>
            <p:ph type="sldNum" sz="quarter" idx="5"/>
          </p:nvPr>
        </p:nvSpPr>
        <p:spPr/>
        <p:txBody>
          <a:bodyPr/>
          <a:lstStyle/>
          <a:p>
            <a:fld id="{43D92567-D7D7-4223-A842-9A06E6D4E1F9}" type="slidenum">
              <a:rPr lang="en-US" smtClean="0"/>
              <a:t>9</a:t>
            </a:fld>
            <a:endParaRPr lang="en-US"/>
          </a:p>
        </p:txBody>
      </p:sp>
    </p:spTree>
    <p:extLst>
      <p:ext uri="{BB962C8B-B14F-4D97-AF65-F5344CB8AC3E}">
        <p14:creationId xmlns:p14="http://schemas.microsoft.com/office/powerpoint/2010/main" val="1948823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FB28FF-45FD-4EB3-BDC9-F33C45C81C56}" type="slidenum">
              <a:rPr lang="en-US" smtClean="0"/>
              <a:t>21</a:t>
            </a:fld>
            <a:endParaRPr lang="en-US"/>
          </a:p>
        </p:txBody>
      </p:sp>
    </p:spTree>
    <p:extLst>
      <p:ext uri="{BB962C8B-B14F-4D97-AF65-F5344CB8AC3E}">
        <p14:creationId xmlns:p14="http://schemas.microsoft.com/office/powerpoint/2010/main" val="3177452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DBD94E-5FF7-4C87-B9C0-99ABCDC4B36B}" type="slidenum">
              <a:rPr lang="en-US" smtClean="0"/>
              <a:t>72</a:t>
            </a:fld>
            <a:endParaRPr lang="en-US"/>
          </a:p>
        </p:txBody>
      </p:sp>
    </p:spTree>
    <p:extLst>
      <p:ext uri="{BB962C8B-B14F-4D97-AF65-F5344CB8AC3E}">
        <p14:creationId xmlns:p14="http://schemas.microsoft.com/office/powerpoint/2010/main" val="169161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48B95-2E31-FDDF-C6D2-EADBCC682C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DB36B4-DA30-0913-0828-569D95322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C6B817-3805-33D6-F83F-04996AAA1920}"/>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56B70986-C640-379F-3FEE-07506F074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32FE8-4473-2B93-6707-1DA94C265CD8}"/>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644937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97D5F-6EA5-35F8-DFAC-301F47EC34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404B6-E416-72F1-07AE-69C148B2F8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DD09C8-F36A-E06F-5D1B-172FBA2751C1}"/>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1C3E8B98-0BDB-1437-339B-9E1FCA998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B15E7-D0E9-B962-81D8-04544AB190C4}"/>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200922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48C49-CAB2-9BDC-2686-F5204DBC5F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1CDC63-0B3B-6A4C-FF54-CCEEC53A1B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B88B90-AB87-073C-FC47-8686A3C346FD}"/>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35328535-B3CC-F51C-5E0F-F96C1BAB1A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D1C55A-D2E4-90A7-662C-7722E2BDD955}"/>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3221930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A1199-B9F9-1F57-3E63-7C4CF75C79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5C72C6-C13F-1DF7-5DD5-5AF4B3A52A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36F5A7-0DE3-01C8-550C-07E221A16C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B2DFDF-D3BD-5E31-6B68-33963E652F00}"/>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6" name="Footer Placeholder 5">
            <a:extLst>
              <a:ext uri="{FF2B5EF4-FFF2-40B4-BE49-F238E27FC236}">
                <a16:creationId xmlns:a16="http://schemas.microsoft.com/office/drawing/2014/main" id="{F76A16F3-7EF8-A9E0-EB74-9713E86205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6A7A2D-4410-B5CB-6932-98D67D70214E}"/>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2797548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8155-0E84-4AFC-78F1-F93D200245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0B3C0F-188B-8A8B-07B2-56F9D6636F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78429-E090-FB67-9921-B217D0BD0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37A552-25B9-CED0-0075-0CB990635B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0231C0-D85D-FD8E-3960-537AB61729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BD69BE-6B98-4CAB-58C9-DC94B8DAED0A}"/>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8" name="Footer Placeholder 7">
            <a:extLst>
              <a:ext uri="{FF2B5EF4-FFF2-40B4-BE49-F238E27FC236}">
                <a16:creationId xmlns:a16="http://schemas.microsoft.com/office/drawing/2014/main" id="{D3729952-A641-C37C-E97E-EC39E57AB1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02750A-2930-14D2-777B-F2358B397DC7}"/>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3766249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B374-CF66-7E3D-533B-25266BFC25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04032A-2D21-AE75-8775-E80E13C26EAE}"/>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4" name="Footer Placeholder 3">
            <a:extLst>
              <a:ext uri="{FF2B5EF4-FFF2-40B4-BE49-F238E27FC236}">
                <a16:creationId xmlns:a16="http://schemas.microsoft.com/office/drawing/2014/main" id="{230CC177-1493-6EB8-E80E-9F82EFC126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8E74D5-EAEF-8AC8-9210-C3A30CEC6067}"/>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202000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6DCFB-DD70-6655-0902-CDB2D6857ED2}"/>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3" name="Footer Placeholder 2">
            <a:extLst>
              <a:ext uri="{FF2B5EF4-FFF2-40B4-BE49-F238E27FC236}">
                <a16:creationId xmlns:a16="http://schemas.microsoft.com/office/drawing/2014/main" id="{BF65D09F-F84E-1F50-D807-2F29A48D8E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21C503-FE0A-0A1A-D209-BDD6FEA1C727}"/>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395321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6861-865A-381C-66AA-8123CFAEFA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A90391-765E-CA06-B404-FCB3C13FC8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C2737E-8ED7-9C1D-3F55-71CB98438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70C4D2-CC6F-0F36-74AD-715C8C167229}"/>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6" name="Footer Placeholder 5">
            <a:extLst>
              <a:ext uri="{FF2B5EF4-FFF2-40B4-BE49-F238E27FC236}">
                <a16:creationId xmlns:a16="http://schemas.microsoft.com/office/drawing/2014/main" id="{D7DB0540-EB4D-F8AD-23AF-1821F53AC8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3AD223-7419-DB7A-DAC2-F6A7D1F55D2F}"/>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186967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EE609-F5BC-40C4-783B-9CA9FEC42A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E684DA-8478-C71C-89F2-FD1F5AE4CF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5D2505-5266-7CF6-E697-8A941F60A9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A21C79-8C2A-B154-C939-6E344680BD8C}"/>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6" name="Footer Placeholder 5">
            <a:extLst>
              <a:ext uri="{FF2B5EF4-FFF2-40B4-BE49-F238E27FC236}">
                <a16:creationId xmlns:a16="http://schemas.microsoft.com/office/drawing/2014/main" id="{FB16072D-4BF7-7C2D-0610-06F7D53AF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A913E7-5B5E-FAE0-F92E-A537DB8CCE1A}"/>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3828249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43E6-72AE-8439-173D-80A4088BB6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1B441E-F3DE-69B0-4048-CA9BB97E48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BEABD2-8533-4927-ED71-0615C4D39C09}"/>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54AFE420-B7AB-F45A-8098-A120511E5D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2F87EA-EA69-3F2B-DEC8-9009AA0977CC}"/>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4157916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5941B1-893C-8E23-F87D-59A45482A7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84B9C2-3CF5-6643-FF44-642C41697C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BB5FB-A203-1DE2-718E-E7CF3134C1DB}"/>
              </a:ext>
            </a:extLst>
          </p:cNvPr>
          <p:cNvSpPr>
            <a:spLocks noGrp="1"/>
          </p:cNvSpPr>
          <p:nvPr>
            <p:ph type="dt" sz="half" idx="10"/>
          </p:nvPr>
        </p:nvSpPr>
        <p:spPr/>
        <p:txBody>
          <a:body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C172FB66-9954-10BB-B631-D23539405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1B3DB-65C8-BA57-9732-CF61BDEA5CCF}"/>
              </a:ext>
            </a:extLst>
          </p:cNvPr>
          <p:cNvSpPr>
            <a:spLocks noGrp="1"/>
          </p:cNvSpPr>
          <p:nvPr>
            <p:ph type="sldNum" sz="quarter" idx="12"/>
          </p:nvPr>
        </p:nvSpPr>
        <p:spPr/>
        <p:txBody>
          <a:bodyPr/>
          <a:lstStyle/>
          <a:p>
            <a:fld id="{5BDF78AC-E2F5-4920-B6D9-CB3AC7F16488}" type="slidenum">
              <a:rPr lang="en-US" smtClean="0"/>
              <a:t>‹#›</a:t>
            </a:fld>
            <a:endParaRPr lang="en-US"/>
          </a:p>
        </p:txBody>
      </p:sp>
    </p:spTree>
    <p:extLst>
      <p:ext uri="{BB962C8B-B14F-4D97-AF65-F5344CB8AC3E}">
        <p14:creationId xmlns:p14="http://schemas.microsoft.com/office/powerpoint/2010/main" val="1342988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90DAE0-9EEB-BB9C-1D08-8D66A363FF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BB32E7-A010-85E9-1432-E86A95718B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5B3313-4010-C4DC-593F-96F357FB4B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F7B25B-C51E-4DFE-8671-2010136A6245}" type="datetimeFigureOut">
              <a:rPr lang="en-US" smtClean="0"/>
              <a:t>10/12/2026</a:t>
            </a:fld>
            <a:endParaRPr lang="en-US"/>
          </a:p>
        </p:txBody>
      </p:sp>
      <p:sp>
        <p:nvSpPr>
          <p:cNvPr id="5" name="Footer Placeholder 4">
            <a:extLst>
              <a:ext uri="{FF2B5EF4-FFF2-40B4-BE49-F238E27FC236}">
                <a16:creationId xmlns:a16="http://schemas.microsoft.com/office/drawing/2014/main" id="{9220557D-6AB3-575D-C9F2-C0D5EB8CE4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72D1B3-CC2A-E226-F6DB-F4280E2C06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DF78AC-E2F5-4920-B6D9-CB3AC7F16488}" type="slidenum">
              <a:rPr lang="en-US" smtClean="0"/>
              <a:t>‹#›</a:t>
            </a:fld>
            <a:endParaRPr lang="en-US"/>
          </a:p>
        </p:txBody>
      </p:sp>
    </p:spTree>
    <p:extLst>
      <p:ext uri="{BB962C8B-B14F-4D97-AF65-F5344CB8AC3E}">
        <p14:creationId xmlns:p14="http://schemas.microsoft.com/office/powerpoint/2010/main" val="10505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CF1_2B5E2754.xm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slide" Target="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7FFFFCF5_FABE7D5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microsoft.com/office/2018/10/relationships/comments" Target="../comments/modernComment_7FFFFFF8_3BF43B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slide" Target="slide42.xml"/><Relationship Id="rId13" Type="http://schemas.openxmlformats.org/officeDocument/2006/relationships/image" Target="../media/image3.png"/><Relationship Id="rId18" Type="http://schemas.openxmlformats.org/officeDocument/2006/relationships/image" Target="../media/image40.png"/><Relationship Id="rId26" Type="http://schemas.openxmlformats.org/officeDocument/2006/relationships/slide" Target="slide43.xml"/><Relationship Id="rId3" Type="http://schemas.openxmlformats.org/officeDocument/2006/relationships/diagramLayout" Target="../diagrams/layout1.xml"/><Relationship Id="rId21" Type="http://schemas.openxmlformats.org/officeDocument/2006/relationships/image" Target="../media/image50.png"/><Relationship Id="rId7" Type="http://schemas.openxmlformats.org/officeDocument/2006/relationships/image" Target="../media/image1.png"/><Relationship Id="rId12" Type="http://schemas.openxmlformats.org/officeDocument/2006/relationships/image" Target="../media/image20.png"/><Relationship Id="rId17" Type="http://schemas.openxmlformats.org/officeDocument/2006/relationships/slide" Target="slide39.xml"/><Relationship Id="rId25" Type="http://schemas.openxmlformats.org/officeDocument/2006/relationships/image" Target="../media/image7.png"/><Relationship Id="rId2" Type="http://schemas.openxmlformats.org/officeDocument/2006/relationships/diagramData" Target="../diagrams/data1.xml"/><Relationship Id="rId16" Type="http://schemas.openxmlformats.org/officeDocument/2006/relationships/image" Target="../media/image4.png"/><Relationship Id="rId20" Type="http://schemas.openxmlformats.org/officeDocument/2006/relationships/slide" Target="slide40.xml"/><Relationship Id="rId29" Type="http://schemas.openxmlformats.org/officeDocument/2006/relationships/slide" Target="slide44.xml"/><Relationship Id="rId1" Type="http://schemas.openxmlformats.org/officeDocument/2006/relationships/slideLayout" Target="../slideLayouts/slideLayout7.xml"/><Relationship Id="rId6" Type="http://schemas.microsoft.com/office/2007/relationships/diagramDrawing" Target="../diagrams/drawing1.xml"/><Relationship Id="rId11" Type="http://schemas.openxmlformats.org/officeDocument/2006/relationships/slide" Target="slide37.xml"/><Relationship Id="rId24" Type="http://schemas.openxmlformats.org/officeDocument/2006/relationships/image" Target="../media/image60.png"/><Relationship Id="rId5" Type="http://schemas.openxmlformats.org/officeDocument/2006/relationships/diagramColors" Target="../diagrams/colors1.xml"/><Relationship Id="rId15" Type="http://schemas.openxmlformats.org/officeDocument/2006/relationships/image" Target="../media/image30.png"/><Relationship Id="rId23" Type="http://schemas.openxmlformats.org/officeDocument/2006/relationships/slide" Target="slide41.xml"/><Relationship Id="rId28" Type="http://schemas.openxmlformats.org/officeDocument/2006/relationships/image" Target="../media/image8.png"/><Relationship Id="rId10" Type="http://schemas.openxmlformats.org/officeDocument/2006/relationships/image" Target="../media/image2.png"/><Relationship Id="rId19" Type="http://schemas.openxmlformats.org/officeDocument/2006/relationships/image" Target="../media/image5.png"/><Relationship Id="rId4" Type="http://schemas.openxmlformats.org/officeDocument/2006/relationships/diagramQuickStyle" Target="../diagrams/quickStyle1.xml"/><Relationship Id="rId9" Type="http://schemas.openxmlformats.org/officeDocument/2006/relationships/image" Target="../media/image14.png"/><Relationship Id="rId14" Type="http://schemas.openxmlformats.org/officeDocument/2006/relationships/slide" Target="slide38.xml"/><Relationship Id="rId22" Type="http://schemas.openxmlformats.org/officeDocument/2006/relationships/image" Target="../media/image6.png"/><Relationship Id="rId27" Type="http://schemas.openxmlformats.org/officeDocument/2006/relationships/image" Target="../media/image70.png"/><Relationship Id="rId30" Type="http://schemas.openxmlformats.org/officeDocument/2006/relationships/image" Target="../media/image80.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microsoft.com/office/2018/10/relationships/comments" Target="../comments/modernComment_7FFFFD1A_2796272A.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microsoft.com/office/2018/10/relationships/comments" Target="../comments/modernComment_7FFFFCFE_C49400EA.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5B5-C672-6978-9729-C02634EB7EE9}"/>
              </a:ext>
            </a:extLst>
          </p:cNvPr>
          <p:cNvSpPr>
            <a:spLocks noGrp="1"/>
          </p:cNvSpPr>
          <p:nvPr>
            <p:ph type="ctrTitle"/>
          </p:nvPr>
        </p:nvSpPr>
        <p:spPr/>
        <p:txBody>
          <a:bodyPr/>
          <a:lstStyle/>
          <a:p>
            <a:r>
              <a:rPr lang="en-US"/>
              <a:t>1281 Design Rule Overview</a:t>
            </a:r>
          </a:p>
        </p:txBody>
      </p:sp>
      <p:sp>
        <p:nvSpPr>
          <p:cNvPr id="3" name="Subtitle 2">
            <a:extLst>
              <a:ext uri="{FF2B5EF4-FFF2-40B4-BE49-F238E27FC236}">
                <a16:creationId xmlns:a16="http://schemas.microsoft.com/office/drawing/2014/main" id="{F3960721-2ABB-7B15-AC71-6FB0C2D93FAD}"/>
              </a:ext>
            </a:extLst>
          </p:cNvPr>
          <p:cNvSpPr>
            <a:spLocks noGrp="1"/>
          </p:cNvSpPr>
          <p:nvPr>
            <p:ph type="subTitle" idx="1"/>
          </p:nvPr>
        </p:nvSpPr>
        <p:spPr/>
        <p:txBody>
          <a:bodyPr/>
          <a:lstStyle/>
          <a:p>
            <a:r>
              <a:rPr lang="en-US"/>
              <a:t>Monday, April 6, 2026</a:t>
            </a:r>
          </a:p>
        </p:txBody>
      </p:sp>
      <p:sp>
        <p:nvSpPr>
          <p:cNvPr id="4" name="TextBox 3">
            <a:extLst>
              <a:ext uri="{FF2B5EF4-FFF2-40B4-BE49-F238E27FC236}">
                <a16:creationId xmlns:a16="http://schemas.microsoft.com/office/drawing/2014/main" id="{BB759113-42F7-CA21-AFF0-51C338851B9F}"/>
              </a:ext>
            </a:extLst>
          </p:cNvPr>
          <p:cNvSpPr txBox="1"/>
          <p:nvPr/>
        </p:nvSpPr>
        <p:spPr>
          <a:xfrm>
            <a:off x="0" y="4809067"/>
            <a:ext cx="12192000" cy="369332"/>
          </a:xfrm>
          <a:prstGeom prst="rect">
            <a:avLst/>
          </a:prstGeom>
          <a:solidFill>
            <a:srgbClr val="FFC000"/>
          </a:solidFill>
        </p:spPr>
        <p:txBody>
          <a:bodyPr wrap="square" rtlCol="0">
            <a:spAutoFit/>
          </a:bodyPr>
          <a:lstStyle/>
          <a:p>
            <a:r>
              <a:rPr lang="en-US" b="1"/>
              <a:t>Disclaimer:</a:t>
            </a:r>
            <a:r>
              <a:rPr lang="en-US"/>
              <a:t> Rule definition for X81A is in progress. These rules are NOT FINAL.</a:t>
            </a:r>
          </a:p>
        </p:txBody>
      </p:sp>
    </p:spTree>
    <p:extLst>
      <p:ext uri="{BB962C8B-B14F-4D97-AF65-F5344CB8AC3E}">
        <p14:creationId xmlns:p14="http://schemas.microsoft.com/office/powerpoint/2010/main" val="2605132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A173E-0C15-6956-8B3A-580365AEF39F}"/>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A90FED1B-9F33-E05F-5015-D878CE9374C7}"/>
              </a:ext>
            </a:extLst>
          </p:cNvPr>
          <p:cNvSpPr/>
          <p:nvPr/>
        </p:nvSpPr>
        <p:spPr>
          <a:xfrm>
            <a:off x="6645105" y="4117127"/>
            <a:ext cx="1336599" cy="158109"/>
          </a:xfrm>
          <a:prstGeom prst="rect">
            <a:avLst/>
          </a:prstGeom>
          <a:solidFill>
            <a:srgbClr val="688235"/>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Intel Clear" panose="020B0604020203020204" pitchFamily="34" charset="0"/>
                <a:ea typeface="Intel Clear" panose="020B0604020203020204" pitchFamily="34" charset="0"/>
                <a:cs typeface="Intel Clear" panose="020B0604020203020204" pitchFamily="34" charset="0"/>
              </a:rPr>
              <a:t>VCR</a:t>
            </a:r>
          </a:p>
        </p:txBody>
      </p:sp>
      <p:sp>
        <p:nvSpPr>
          <p:cNvPr id="5" name="Rectangle 4">
            <a:extLst>
              <a:ext uri="{FF2B5EF4-FFF2-40B4-BE49-F238E27FC236}">
                <a16:creationId xmlns:a16="http://schemas.microsoft.com/office/drawing/2014/main" id="{F3B1BD5B-1BFA-2B1C-921B-9058D54C5BD8}"/>
              </a:ext>
            </a:extLst>
          </p:cNvPr>
          <p:cNvSpPr/>
          <p:nvPr/>
        </p:nvSpPr>
        <p:spPr>
          <a:xfrm>
            <a:off x="2563626" y="5695620"/>
            <a:ext cx="2251495" cy="550164"/>
          </a:xfrm>
          <a:prstGeom prst="rect">
            <a:avLst/>
          </a:prstGeom>
          <a:solidFill>
            <a:srgbClr val="5B9BD5">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bm0</a:t>
            </a:r>
          </a:p>
        </p:txBody>
      </p:sp>
      <p:sp>
        <p:nvSpPr>
          <p:cNvPr id="37" name="TextBox 36">
            <a:extLst>
              <a:ext uri="{FF2B5EF4-FFF2-40B4-BE49-F238E27FC236}">
                <a16:creationId xmlns:a16="http://schemas.microsoft.com/office/drawing/2014/main" id="{2DA63E3F-40BB-37D6-362E-A2B4E6851DFC}"/>
              </a:ext>
            </a:extLst>
          </p:cNvPr>
          <p:cNvSpPr txBox="1"/>
          <p:nvPr/>
        </p:nvSpPr>
        <p:spPr>
          <a:xfrm>
            <a:off x="271941" y="1065348"/>
            <a:ext cx="11897790" cy="1631216"/>
          </a:xfrm>
          <a:prstGeom prst="rect">
            <a:avLst/>
          </a:prstGeom>
          <a:noFill/>
        </p:spPr>
        <p:txBody>
          <a:bodyPr wrap="square" rtlCol="0">
            <a:spAutoFit/>
          </a:bodyPr>
          <a:lstStyle/>
          <a:p>
            <a:pPr marL="285750" lvl="0" indent="-285750">
              <a:buFont typeface="Wingdings" panose="05000000000000000000" pitchFamily="2" charset="2"/>
              <a:buChar char="q"/>
              <a:defRPr/>
            </a:pPr>
            <a:r>
              <a:rPr kumimoji="0" lang="en-US" sz="2000" b="0" i="0" u="none" strike="noStrike" kern="1200" cap="none" spc="0" normalizeH="0" baseline="0" noProof="0">
                <a:ln>
                  <a:noFill/>
                </a:ln>
                <a:solidFill>
                  <a:prstClr val="black"/>
                </a:solidFill>
                <a:effectLst/>
                <a:uLnTx/>
                <a:uFillTx/>
                <a:latin typeface="Calibri" panose="020F0502020204030204"/>
              </a:rPr>
              <a:t>P1280</a:t>
            </a:r>
            <a:r>
              <a:rPr lang="en-US" sz="2000">
                <a:solidFill>
                  <a:prstClr val="black"/>
                </a:solidFill>
                <a:latin typeface="Calibri" panose="020F0502020204030204"/>
              </a:rPr>
              <a:t> power delivery method is </a:t>
            </a:r>
            <a:r>
              <a:rPr lang="en-US" sz="2000" err="1">
                <a:solidFill>
                  <a:prstClr val="black"/>
                </a:solidFill>
                <a:latin typeface="Calibri" panose="020F0502020204030204"/>
              </a:rPr>
              <a:t>emr</a:t>
            </a:r>
            <a:r>
              <a:rPr lang="en-US" sz="2000">
                <a:solidFill>
                  <a:prstClr val="black"/>
                </a:solidFill>
                <a:latin typeface="Calibri" panose="020F0502020204030204"/>
              </a:rPr>
              <a:t>, where power is delivered from the backside bump through backside metal/via layers through </a:t>
            </a:r>
            <a:r>
              <a:rPr lang="en-US" sz="2000" err="1">
                <a:solidFill>
                  <a:prstClr val="black"/>
                </a:solidFill>
                <a:latin typeface="Calibri" panose="020F0502020204030204"/>
              </a:rPr>
              <a:t>emr</a:t>
            </a:r>
            <a:r>
              <a:rPr lang="en-US" sz="2000">
                <a:solidFill>
                  <a:prstClr val="black"/>
                </a:solidFill>
                <a:latin typeface="Calibri" panose="020F0502020204030204"/>
              </a:rPr>
              <a:t> to the transistor.</a:t>
            </a:r>
            <a:endParaRPr kumimoji="0" lang="en-US" sz="2000" b="0" i="0" u="none" strike="noStrike" kern="1200" cap="none" spc="0" normalizeH="0" baseline="0" noProof="0">
              <a:ln>
                <a:noFill/>
              </a:ln>
              <a:solidFill>
                <a:prstClr val="black"/>
              </a:solidFill>
              <a:effectLst/>
              <a:uLnTx/>
              <a:uFillTx/>
              <a:latin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a:ln>
                  <a:noFill/>
                </a:ln>
                <a:solidFill>
                  <a:prstClr val="black"/>
                </a:solidFill>
                <a:effectLst/>
                <a:uLnTx/>
                <a:uFillTx/>
                <a:latin typeface="Calibri" panose="020F0502020204030204"/>
              </a:rPr>
              <a:t> P1281 has no backside. Bumps are </a:t>
            </a:r>
            <a:r>
              <a:rPr lang="en-US" sz="2000">
                <a:solidFill>
                  <a:prstClr val="black"/>
                </a:solidFill>
                <a:latin typeface="Calibri" panose="020F0502020204030204"/>
              </a:rPr>
              <a:t>on the frontside</a:t>
            </a:r>
            <a:r>
              <a:rPr kumimoji="0" lang="en-US" sz="2000" b="0" i="0" u="none" strike="noStrike" kern="1200" cap="none" spc="0" normalizeH="0" baseline="0" noProof="0">
                <a:ln>
                  <a:noFill/>
                </a:ln>
                <a:solidFill>
                  <a:prstClr val="black"/>
                </a:solidFill>
                <a:effectLst/>
                <a:uLnTx/>
                <a:uFillTx/>
                <a:latin typeface="Calibri" panose="020F0502020204030204"/>
              </a:rPr>
              <a:t>. P1281 power is delivered from the frontside bump through </a:t>
            </a:r>
            <a:r>
              <a:rPr lang="en-US" sz="2000">
                <a:solidFill>
                  <a:prstClr val="black"/>
                </a:solidFill>
                <a:latin typeface="Calibri" panose="020F0502020204030204"/>
              </a:rPr>
              <a:t>frontside metal/via layers to M0 to VCR to </a:t>
            </a:r>
            <a:r>
              <a:rPr lang="en-US" sz="2000" err="1">
                <a:solidFill>
                  <a:prstClr val="black"/>
                </a:solidFill>
                <a:latin typeface="Calibri" panose="020F0502020204030204"/>
              </a:rPr>
              <a:t>VCRnub</a:t>
            </a:r>
            <a:r>
              <a:rPr lang="en-US" sz="2000">
                <a:solidFill>
                  <a:prstClr val="black"/>
                </a:solidFill>
                <a:latin typeface="Calibri" panose="020F0502020204030204"/>
              </a:rPr>
              <a:t> to the transistor</a:t>
            </a:r>
            <a:endParaRPr kumimoji="0" lang="en-US" sz="2000" b="0" i="0" u="none" strike="noStrike" kern="1200" cap="none" spc="0" normalizeH="0" baseline="0" noProof="0">
              <a:ln>
                <a:noFill/>
              </a:ln>
              <a:solidFill>
                <a:prstClr val="black"/>
              </a:solidFill>
              <a:effectLst/>
              <a:uLnTx/>
              <a:uFillTx/>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endParaRPr kumimoji="0" lang="en-US" sz="2000" b="0" i="0" u="none" strike="noStrike" kern="1200" cap="none" spc="0" normalizeH="0" baseline="0" noProof="0">
              <a:ln>
                <a:noFill/>
              </a:ln>
              <a:solidFill>
                <a:prstClr val="black"/>
              </a:solidFill>
              <a:effectLst/>
              <a:uLnTx/>
              <a:uFillTx/>
              <a:latin typeface="Calibri" panose="020F0502020204030204"/>
            </a:endParaRPr>
          </a:p>
        </p:txBody>
      </p:sp>
      <p:sp>
        <p:nvSpPr>
          <p:cNvPr id="70" name="TextBox 69">
            <a:extLst>
              <a:ext uri="{FF2B5EF4-FFF2-40B4-BE49-F238E27FC236}">
                <a16:creationId xmlns:a16="http://schemas.microsoft.com/office/drawing/2014/main" id="{994D871B-C212-563E-6321-3FD89EB4CE12}"/>
              </a:ext>
            </a:extLst>
          </p:cNvPr>
          <p:cNvSpPr txBox="1"/>
          <p:nvPr/>
        </p:nvSpPr>
        <p:spPr>
          <a:xfrm>
            <a:off x="271941" y="111760"/>
            <a:ext cx="7347268" cy="590931"/>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rPr>
              <a:t>1281 vs 1280: Frontside Power Delivery</a:t>
            </a:r>
            <a:endParaRPr kumimoji="0" lang="en-US" sz="3600" b="1"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4C47DB75-1A8B-A77D-C7F7-BAB2A92BA0A5}"/>
              </a:ext>
            </a:extLst>
          </p:cNvPr>
          <p:cNvSpPr txBox="1"/>
          <p:nvPr/>
        </p:nvSpPr>
        <p:spPr>
          <a:xfrm>
            <a:off x="2569326" y="2857475"/>
            <a:ext cx="608877" cy="3448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1280</a:t>
            </a:r>
          </a:p>
        </p:txBody>
      </p:sp>
      <p:sp>
        <p:nvSpPr>
          <p:cNvPr id="12" name="Rectangle 11">
            <a:extLst>
              <a:ext uri="{FF2B5EF4-FFF2-40B4-BE49-F238E27FC236}">
                <a16:creationId xmlns:a16="http://schemas.microsoft.com/office/drawing/2014/main" id="{E5BD2E9C-533E-4A43-37FA-F9299748E17D}"/>
              </a:ext>
            </a:extLst>
          </p:cNvPr>
          <p:cNvSpPr/>
          <p:nvPr/>
        </p:nvSpPr>
        <p:spPr>
          <a:xfrm flipH="1">
            <a:off x="169017" y="4473556"/>
            <a:ext cx="2086603" cy="739029"/>
          </a:xfrm>
          <a:prstGeom prst="rect">
            <a:avLst/>
          </a:prstGeom>
          <a:solidFill>
            <a:srgbClr val="5B9BD5">
              <a:lumMod val="75000"/>
            </a:srgbClr>
          </a:solidFill>
          <a:ln w="12700" cap="flat" cmpd="sng" algn="ctr">
            <a:solidFill>
              <a:srgbClr val="4472C4">
                <a:shade val="50000"/>
              </a:srgbClr>
            </a:solid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bm0</a:t>
            </a:r>
          </a:p>
        </p:txBody>
      </p:sp>
      <p:sp>
        <p:nvSpPr>
          <p:cNvPr id="13" name="Rectangle 12">
            <a:extLst>
              <a:ext uri="{FF2B5EF4-FFF2-40B4-BE49-F238E27FC236}">
                <a16:creationId xmlns:a16="http://schemas.microsoft.com/office/drawing/2014/main" id="{2BFE699D-CD3E-C7B1-84D5-A548788446B3}"/>
              </a:ext>
            </a:extLst>
          </p:cNvPr>
          <p:cNvSpPr/>
          <p:nvPr/>
        </p:nvSpPr>
        <p:spPr>
          <a:xfrm>
            <a:off x="442529" y="4201189"/>
            <a:ext cx="1238439" cy="430773"/>
          </a:xfrm>
          <a:prstGeom prst="rect">
            <a:avLst/>
          </a:prstGeom>
          <a:solidFill>
            <a:srgbClr val="FFE699">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14" name="Rectangle 13">
            <a:extLst>
              <a:ext uri="{FF2B5EF4-FFF2-40B4-BE49-F238E27FC236}">
                <a16:creationId xmlns:a16="http://schemas.microsoft.com/office/drawing/2014/main" id="{7D74597F-344A-4B76-8B3D-DD6564D8BDEA}"/>
              </a:ext>
            </a:extLst>
          </p:cNvPr>
          <p:cNvSpPr/>
          <p:nvPr/>
        </p:nvSpPr>
        <p:spPr>
          <a:xfrm>
            <a:off x="941060" y="4130953"/>
            <a:ext cx="234350" cy="571245"/>
          </a:xfrm>
          <a:prstGeom prst="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poly</a:t>
            </a:r>
          </a:p>
        </p:txBody>
      </p:sp>
      <p:sp>
        <p:nvSpPr>
          <p:cNvPr id="15" name="Rectangle 14">
            <a:extLst>
              <a:ext uri="{FF2B5EF4-FFF2-40B4-BE49-F238E27FC236}">
                <a16:creationId xmlns:a16="http://schemas.microsoft.com/office/drawing/2014/main" id="{A3289860-10E7-73BE-3968-D632CA06C8D1}"/>
              </a:ext>
            </a:extLst>
          </p:cNvPr>
          <p:cNvSpPr/>
          <p:nvPr/>
        </p:nvSpPr>
        <p:spPr>
          <a:xfrm>
            <a:off x="591710" y="4130953"/>
            <a:ext cx="206228" cy="571245"/>
          </a:xfrm>
          <a:prstGeom prst="rect">
            <a:avLst/>
          </a:prstGeom>
          <a:solidFill>
            <a:sysClr val="window" lastClr="FFFFFF">
              <a:lumMod val="50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Intel Clear"/>
                <a:ea typeface="+mn-ea"/>
                <a:cs typeface="+mn-cs"/>
              </a:rPr>
              <a:t>tcn</a:t>
            </a:r>
          </a:p>
        </p:txBody>
      </p:sp>
      <p:sp>
        <p:nvSpPr>
          <p:cNvPr id="16" name="TextBox 15">
            <a:extLst>
              <a:ext uri="{FF2B5EF4-FFF2-40B4-BE49-F238E27FC236}">
                <a16:creationId xmlns:a16="http://schemas.microsoft.com/office/drawing/2014/main" id="{8FE0E194-8D48-9F51-E798-E568F46F37AA}"/>
              </a:ext>
            </a:extLst>
          </p:cNvPr>
          <p:cNvSpPr txBox="1"/>
          <p:nvPr/>
        </p:nvSpPr>
        <p:spPr>
          <a:xfrm>
            <a:off x="587027" y="3389263"/>
            <a:ext cx="11202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Top-down</a:t>
            </a:r>
          </a:p>
        </p:txBody>
      </p:sp>
      <p:cxnSp>
        <p:nvCxnSpPr>
          <p:cNvPr id="17" name="Straight Arrow Connector 16">
            <a:extLst>
              <a:ext uri="{FF2B5EF4-FFF2-40B4-BE49-F238E27FC236}">
                <a16:creationId xmlns:a16="http://schemas.microsoft.com/office/drawing/2014/main" id="{FBB97292-8247-A146-05B8-76E1B110A887}"/>
              </a:ext>
            </a:extLst>
          </p:cNvPr>
          <p:cNvCxnSpPr>
            <a:cxnSpLocks/>
          </p:cNvCxnSpPr>
          <p:nvPr/>
        </p:nvCxnSpPr>
        <p:spPr>
          <a:xfrm>
            <a:off x="1422938" y="3941242"/>
            <a:ext cx="0" cy="1631314"/>
          </a:xfrm>
          <a:prstGeom prst="straightConnector1">
            <a:avLst/>
          </a:prstGeom>
          <a:noFill/>
          <a:ln w="28575" cap="flat" cmpd="sng" algn="ctr">
            <a:solidFill>
              <a:sysClr val="windowText" lastClr="000000"/>
            </a:solidFill>
            <a:prstDash val="sysDash"/>
            <a:miter lim="800000"/>
            <a:headEnd type="none" w="med" len="med"/>
            <a:tailEnd type="none" w="med" len="med"/>
          </a:ln>
          <a:effectLst/>
        </p:spPr>
      </p:cxnSp>
      <p:sp>
        <p:nvSpPr>
          <p:cNvPr id="18" name="Rectangle 17">
            <a:extLst>
              <a:ext uri="{FF2B5EF4-FFF2-40B4-BE49-F238E27FC236}">
                <a16:creationId xmlns:a16="http://schemas.microsoft.com/office/drawing/2014/main" id="{EB85FAD3-4519-444E-92E7-2061C5B6B43D}"/>
              </a:ext>
            </a:extLst>
          </p:cNvPr>
          <p:cNvSpPr/>
          <p:nvPr/>
        </p:nvSpPr>
        <p:spPr>
          <a:xfrm>
            <a:off x="1318532" y="4130953"/>
            <a:ext cx="208813" cy="565171"/>
          </a:xfrm>
          <a:prstGeom prst="rect">
            <a:avLst/>
          </a:prstGeom>
          <a:solidFill>
            <a:schemeClr val="accent6">
              <a:lumMod val="75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Intel Clear"/>
                <a:ea typeface="+mn-ea"/>
                <a:cs typeface="+mn-cs"/>
              </a:rPr>
              <a:t>emr</a:t>
            </a:r>
            <a:endParaRPr kumimoji="0" lang="en-US" sz="4000" b="0" i="0" u="none" strike="noStrike" kern="0" cap="none" spc="0" normalizeH="0" baseline="0" noProof="0">
              <a:ln>
                <a:noFill/>
              </a:ln>
              <a:solidFill>
                <a:prstClr val="white"/>
              </a:solidFill>
              <a:effectLst/>
              <a:uLnTx/>
              <a:uFillTx/>
              <a:latin typeface="Intel Clear"/>
              <a:ea typeface="+mn-ea"/>
              <a:cs typeface="+mn-cs"/>
            </a:endParaRPr>
          </a:p>
        </p:txBody>
      </p:sp>
      <p:sp>
        <p:nvSpPr>
          <p:cNvPr id="20" name="Rectangle 19">
            <a:extLst>
              <a:ext uri="{FF2B5EF4-FFF2-40B4-BE49-F238E27FC236}">
                <a16:creationId xmlns:a16="http://schemas.microsoft.com/office/drawing/2014/main" id="{49CE2631-BC7A-ACC8-0A27-0746782ECA85}"/>
              </a:ext>
            </a:extLst>
          </p:cNvPr>
          <p:cNvSpPr/>
          <p:nvPr/>
        </p:nvSpPr>
        <p:spPr>
          <a:xfrm>
            <a:off x="22269" y="3188168"/>
            <a:ext cx="5828813" cy="34483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Text Light"/>
            </a:endParaRPr>
          </a:p>
        </p:txBody>
      </p:sp>
      <p:cxnSp>
        <p:nvCxnSpPr>
          <p:cNvPr id="21" name="Straight Arrow Connector 20">
            <a:extLst>
              <a:ext uri="{FF2B5EF4-FFF2-40B4-BE49-F238E27FC236}">
                <a16:creationId xmlns:a16="http://schemas.microsoft.com/office/drawing/2014/main" id="{DFD4B2D7-3EF8-2890-48C3-638033F38907}"/>
              </a:ext>
            </a:extLst>
          </p:cNvPr>
          <p:cNvCxnSpPr>
            <a:cxnSpLocks/>
            <a:endCxn id="22" idx="0"/>
          </p:cNvCxnSpPr>
          <p:nvPr/>
        </p:nvCxnSpPr>
        <p:spPr>
          <a:xfrm flipH="1">
            <a:off x="741350" y="4679275"/>
            <a:ext cx="584952" cy="9623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7F6DD5E-0576-BEDD-7852-CD188CA8CA26}"/>
              </a:ext>
            </a:extLst>
          </p:cNvPr>
          <p:cNvSpPr txBox="1"/>
          <p:nvPr/>
        </p:nvSpPr>
        <p:spPr>
          <a:xfrm>
            <a:off x="111965" y="5641579"/>
            <a:ext cx="1258770"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25252"/>
                </a:solidFill>
                <a:effectLst/>
                <a:uLnTx/>
                <a:uFillTx/>
                <a:latin typeface="Intel Clear" panose="020B0604020203020204" pitchFamily="34" charset="0"/>
                <a:ea typeface="Intel Clear" panose="020B0604020203020204" pitchFamily="34" charset="0"/>
                <a:cs typeface="Intel Clear" panose="020B0604020203020204" pitchFamily="34" charset="0"/>
              </a:rPr>
              <a:t>TCN not shown for clarity</a:t>
            </a:r>
          </a:p>
        </p:txBody>
      </p:sp>
      <p:sp>
        <p:nvSpPr>
          <p:cNvPr id="7" name="TextBox 6">
            <a:extLst>
              <a:ext uri="{FF2B5EF4-FFF2-40B4-BE49-F238E27FC236}">
                <a16:creationId xmlns:a16="http://schemas.microsoft.com/office/drawing/2014/main" id="{3D4DD16A-23F9-30E5-32F2-0730485506A8}"/>
              </a:ext>
            </a:extLst>
          </p:cNvPr>
          <p:cNvSpPr txBox="1"/>
          <p:nvPr/>
        </p:nvSpPr>
        <p:spPr>
          <a:xfrm>
            <a:off x="3314086" y="3389263"/>
            <a:ext cx="1336599" cy="3448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Cross-section</a:t>
            </a:r>
          </a:p>
        </p:txBody>
      </p:sp>
      <p:sp>
        <p:nvSpPr>
          <p:cNvPr id="9" name="Rectangle 8">
            <a:extLst>
              <a:ext uri="{FF2B5EF4-FFF2-40B4-BE49-F238E27FC236}">
                <a16:creationId xmlns:a16="http://schemas.microsoft.com/office/drawing/2014/main" id="{EBC4CD48-AC72-3FF1-4C63-297CC94CE2B2}"/>
              </a:ext>
            </a:extLst>
          </p:cNvPr>
          <p:cNvSpPr/>
          <p:nvPr/>
        </p:nvSpPr>
        <p:spPr>
          <a:xfrm>
            <a:off x="3549353" y="4288494"/>
            <a:ext cx="2055624" cy="463773"/>
          </a:xfrm>
          <a:prstGeom prst="rect">
            <a:avLst/>
          </a:prstGeom>
          <a:solidFill>
            <a:schemeClr val="tx1">
              <a:lumMod val="40000"/>
              <a:lumOff val="6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tcn</a:t>
            </a:r>
          </a:p>
        </p:txBody>
      </p:sp>
      <p:sp>
        <p:nvSpPr>
          <p:cNvPr id="11" name="Rectangle 10">
            <a:extLst>
              <a:ext uri="{FF2B5EF4-FFF2-40B4-BE49-F238E27FC236}">
                <a16:creationId xmlns:a16="http://schemas.microsoft.com/office/drawing/2014/main" id="{07C86CB7-C6A0-8552-A754-E6EECE2082E6}"/>
              </a:ext>
            </a:extLst>
          </p:cNvPr>
          <p:cNvSpPr/>
          <p:nvPr/>
        </p:nvSpPr>
        <p:spPr>
          <a:xfrm>
            <a:off x="3823057" y="4753491"/>
            <a:ext cx="1546323" cy="459094"/>
          </a:xfrm>
          <a:prstGeom prst="rect">
            <a:avLst/>
          </a:prstGeom>
          <a:solidFill>
            <a:srgbClr val="FFE699">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525252"/>
                </a:solidFill>
                <a:effectLst/>
                <a:uLnTx/>
                <a:uFillTx/>
                <a:latin typeface="Intel Clear" panose="020B0604020203020204" pitchFamily="34" charset="0"/>
                <a:ea typeface="Intel Clear" panose="020B0604020203020204" pitchFamily="34" charset="0"/>
                <a:cs typeface="Intel Clear" panose="020B0604020203020204" pitchFamily="34" charset="0"/>
              </a:rPr>
              <a:t>diffusion</a:t>
            </a:r>
          </a:p>
        </p:txBody>
      </p:sp>
      <p:sp>
        <p:nvSpPr>
          <p:cNvPr id="19" name="Rectangle 18">
            <a:extLst>
              <a:ext uri="{FF2B5EF4-FFF2-40B4-BE49-F238E27FC236}">
                <a16:creationId xmlns:a16="http://schemas.microsoft.com/office/drawing/2014/main" id="{A335F08C-B5F6-A0EB-AB4F-2FF8A133C6D4}"/>
              </a:ext>
            </a:extLst>
          </p:cNvPr>
          <p:cNvSpPr/>
          <p:nvPr/>
        </p:nvSpPr>
        <p:spPr>
          <a:xfrm>
            <a:off x="3549352" y="5212585"/>
            <a:ext cx="2055619" cy="483035"/>
          </a:xfrm>
          <a:prstGeom prst="rect">
            <a:avLst/>
          </a:prstGeom>
          <a:solidFill>
            <a:srgbClr val="688235"/>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Intel Clear" panose="020B0604020203020204" pitchFamily="34" charset="0"/>
                <a:ea typeface="Intel Clear" panose="020B0604020203020204" pitchFamily="34" charset="0"/>
                <a:cs typeface="Intel Clear" panose="020B0604020203020204" pitchFamily="34" charset="0"/>
              </a:rPr>
              <a:t>emr</a:t>
            </a:r>
          </a:p>
        </p:txBody>
      </p:sp>
      <p:sp>
        <p:nvSpPr>
          <p:cNvPr id="25" name="TextBox 24">
            <a:extLst>
              <a:ext uri="{FF2B5EF4-FFF2-40B4-BE49-F238E27FC236}">
                <a16:creationId xmlns:a16="http://schemas.microsoft.com/office/drawing/2014/main" id="{56C80BCC-370D-A038-CDAD-2596B7E8AFCC}"/>
              </a:ext>
            </a:extLst>
          </p:cNvPr>
          <p:cNvSpPr txBox="1"/>
          <p:nvPr/>
        </p:nvSpPr>
        <p:spPr>
          <a:xfrm>
            <a:off x="8679595" y="2854479"/>
            <a:ext cx="6527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1281</a:t>
            </a:r>
          </a:p>
        </p:txBody>
      </p:sp>
      <p:sp>
        <p:nvSpPr>
          <p:cNvPr id="27" name="Rectangle 26">
            <a:extLst>
              <a:ext uri="{FF2B5EF4-FFF2-40B4-BE49-F238E27FC236}">
                <a16:creationId xmlns:a16="http://schemas.microsoft.com/office/drawing/2014/main" id="{90FB9002-796C-65B6-1A77-CF3B6B0C283F}"/>
              </a:ext>
            </a:extLst>
          </p:cNvPr>
          <p:cNvSpPr/>
          <p:nvPr/>
        </p:nvSpPr>
        <p:spPr>
          <a:xfrm>
            <a:off x="6697699" y="4473556"/>
            <a:ext cx="1238439" cy="430773"/>
          </a:xfrm>
          <a:prstGeom prst="rect">
            <a:avLst/>
          </a:prstGeom>
          <a:solidFill>
            <a:srgbClr val="FFE699">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28" name="Rectangle 27">
            <a:extLst>
              <a:ext uri="{FF2B5EF4-FFF2-40B4-BE49-F238E27FC236}">
                <a16:creationId xmlns:a16="http://schemas.microsoft.com/office/drawing/2014/main" id="{B0228A24-7FE0-CF92-F870-112A3896C94E}"/>
              </a:ext>
            </a:extLst>
          </p:cNvPr>
          <p:cNvSpPr/>
          <p:nvPr/>
        </p:nvSpPr>
        <p:spPr>
          <a:xfrm>
            <a:off x="7196230" y="4403320"/>
            <a:ext cx="234350" cy="571245"/>
          </a:xfrm>
          <a:prstGeom prst="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poly</a:t>
            </a:r>
          </a:p>
        </p:txBody>
      </p:sp>
      <p:sp>
        <p:nvSpPr>
          <p:cNvPr id="29" name="Rectangle 28">
            <a:extLst>
              <a:ext uri="{FF2B5EF4-FFF2-40B4-BE49-F238E27FC236}">
                <a16:creationId xmlns:a16="http://schemas.microsoft.com/office/drawing/2014/main" id="{0C2C5203-6AD8-2D57-33D3-34E2E21F69D7}"/>
              </a:ext>
            </a:extLst>
          </p:cNvPr>
          <p:cNvSpPr/>
          <p:nvPr/>
        </p:nvSpPr>
        <p:spPr>
          <a:xfrm>
            <a:off x="6846880" y="4403320"/>
            <a:ext cx="206228" cy="571245"/>
          </a:xfrm>
          <a:prstGeom prst="rect">
            <a:avLst/>
          </a:prstGeom>
          <a:solidFill>
            <a:sysClr val="window" lastClr="FFFFFF">
              <a:lumMod val="50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Intel Clear"/>
                <a:ea typeface="+mn-ea"/>
                <a:cs typeface="+mn-cs"/>
              </a:rPr>
              <a:t>tcn</a:t>
            </a:r>
          </a:p>
        </p:txBody>
      </p:sp>
      <p:sp>
        <p:nvSpPr>
          <p:cNvPr id="30" name="TextBox 29">
            <a:extLst>
              <a:ext uri="{FF2B5EF4-FFF2-40B4-BE49-F238E27FC236}">
                <a16:creationId xmlns:a16="http://schemas.microsoft.com/office/drawing/2014/main" id="{EC3F4774-145F-111F-94B5-6038B8157191}"/>
              </a:ext>
            </a:extLst>
          </p:cNvPr>
          <p:cNvSpPr txBox="1"/>
          <p:nvPr/>
        </p:nvSpPr>
        <p:spPr>
          <a:xfrm>
            <a:off x="6697296" y="3389263"/>
            <a:ext cx="11202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Top-down</a:t>
            </a:r>
          </a:p>
        </p:txBody>
      </p:sp>
      <p:sp>
        <p:nvSpPr>
          <p:cNvPr id="33" name="Rectangle 32">
            <a:extLst>
              <a:ext uri="{FF2B5EF4-FFF2-40B4-BE49-F238E27FC236}">
                <a16:creationId xmlns:a16="http://schemas.microsoft.com/office/drawing/2014/main" id="{F899645F-F2D7-B73F-23C1-C3FA3D504C67}"/>
              </a:ext>
            </a:extLst>
          </p:cNvPr>
          <p:cNvSpPr/>
          <p:nvPr/>
        </p:nvSpPr>
        <p:spPr>
          <a:xfrm>
            <a:off x="6132538" y="3185172"/>
            <a:ext cx="5828813" cy="344830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IntelOne Text Light"/>
            </a:endParaRPr>
          </a:p>
        </p:txBody>
      </p:sp>
      <p:sp>
        <p:nvSpPr>
          <p:cNvPr id="53" name="TextBox 52">
            <a:extLst>
              <a:ext uri="{FF2B5EF4-FFF2-40B4-BE49-F238E27FC236}">
                <a16:creationId xmlns:a16="http://schemas.microsoft.com/office/drawing/2014/main" id="{0D2A0DB9-286C-86B0-24F7-BF5EB3DECC92}"/>
              </a:ext>
            </a:extLst>
          </p:cNvPr>
          <p:cNvSpPr txBox="1"/>
          <p:nvPr/>
        </p:nvSpPr>
        <p:spPr>
          <a:xfrm>
            <a:off x="9424355" y="3389263"/>
            <a:ext cx="1336599" cy="3448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Cross-section</a:t>
            </a:r>
          </a:p>
        </p:txBody>
      </p:sp>
      <p:sp>
        <p:nvSpPr>
          <p:cNvPr id="55" name="Rectangle 54">
            <a:extLst>
              <a:ext uri="{FF2B5EF4-FFF2-40B4-BE49-F238E27FC236}">
                <a16:creationId xmlns:a16="http://schemas.microsoft.com/office/drawing/2014/main" id="{00C71A22-0EC1-C226-FA81-C066E6B4A1A7}"/>
              </a:ext>
            </a:extLst>
          </p:cNvPr>
          <p:cNvSpPr/>
          <p:nvPr/>
        </p:nvSpPr>
        <p:spPr>
          <a:xfrm>
            <a:off x="9544666" y="5000455"/>
            <a:ext cx="2055624" cy="463773"/>
          </a:xfrm>
          <a:prstGeom prst="rect">
            <a:avLst/>
          </a:prstGeom>
          <a:solidFill>
            <a:schemeClr val="tx1">
              <a:lumMod val="40000"/>
              <a:lumOff val="60000"/>
            </a:scheme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Intel Clear" panose="020B0604020203020204" pitchFamily="34" charset="0"/>
                <a:ea typeface="Intel Clear" panose="020B0604020203020204" pitchFamily="34" charset="0"/>
                <a:cs typeface="Intel Clear" panose="020B0604020203020204" pitchFamily="34" charset="0"/>
              </a:rPr>
              <a:t>tcn</a:t>
            </a:r>
          </a:p>
        </p:txBody>
      </p:sp>
      <p:sp>
        <p:nvSpPr>
          <p:cNvPr id="57" name="Rectangle 56">
            <a:extLst>
              <a:ext uri="{FF2B5EF4-FFF2-40B4-BE49-F238E27FC236}">
                <a16:creationId xmlns:a16="http://schemas.microsoft.com/office/drawing/2014/main" id="{2879CEC4-E136-AB39-A00A-128F4AA1F8FC}"/>
              </a:ext>
            </a:extLst>
          </p:cNvPr>
          <p:cNvSpPr/>
          <p:nvPr/>
        </p:nvSpPr>
        <p:spPr>
          <a:xfrm>
            <a:off x="9818370" y="5465450"/>
            <a:ext cx="1546323" cy="459094"/>
          </a:xfrm>
          <a:prstGeom prst="rect">
            <a:avLst/>
          </a:prstGeom>
          <a:solidFill>
            <a:srgbClr val="FFE699">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525252"/>
                </a:solidFill>
                <a:effectLst/>
                <a:uLnTx/>
                <a:uFillTx/>
                <a:latin typeface="Intel Clear" panose="020B0604020203020204" pitchFamily="34" charset="0"/>
                <a:ea typeface="Intel Clear" panose="020B0604020203020204" pitchFamily="34" charset="0"/>
                <a:cs typeface="Intel Clear" panose="020B0604020203020204" pitchFamily="34" charset="0"/>
              </a:rPr>
              <a:t>diffusion</a:t>
            </a:r>
          </a:p>
        </p:txBody>
      </p:sp>
      <p:sp>
        <p:nvSpPr>
          <p:cNvPr id="8" name="Rectangle 7">
            <a:extLst>
              <a:ext uri="{FF2B5EF4-FFF2-40B4-BE49-F238E27FC236}">
                <a16:creationId xmlns:a16="http://schemas.microsoft.com/office/drawing/2014/main" id="{AAD87DB8-B0C2-54DD-F670-37A32DD2FD26}"/>
              </a:ext>
            </a:extLst>
          </p:cNvPr>
          <p:cNvSpPr/>
          <p:nvPr/>
        </p:nvSpPr>
        <p:spPr>
          <a:xfrm>
            <a:off x="8840169" y="4510749"/>
            <a:ext cx="1336599" cy="483035"/>
          </a:xfrm>
          <a:prstGeom prst="rect">
            <a:avLst/>
          </a:prstGeom>
          <a:solidFill>
            <a:srgbClr val="688235"/>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FFFFFF"/>
                </a:solidFill>
                <a:effectLst/>
                <a:uLnTx/>
                <a:uFillTx/>
                <a:latin typeface="Intel Clear" panose="020B0604020203020204" pitchFamily="34" charset="0"/>
                <a:ea typeface="Intel Clear" panose="020B0604020203020204" pitchFamily="34" charset="0"/>
                <a:cs typeface="Intel Clear" panose="020B0604020203020204" pitchFamily="34" charset="0"/>
              </a:rPr>
              <a:t>VCR</a:t>
            </a:r>
          </a:p>
        </p:txBody>
      </p:sp>
      <p:cxnSp>
        <p:nvCxnSpPr>
          <p:cNvPr id="4" name="Straight Arrow Connector 3">
            <a:extLst>
              <a:ext uri="{FF2B5EF4-FFF2-40B4-BE49-F238E27FC236}">
                <a16:creationId xmlns:a16="http://schemas.microsoft.com/office/drawing/2014/main" id="{7F66984E-800C-72A1-9838-97B66AF1B6F0}"/>
              </a:ext>
            </a:extLst>
          </p:cNvPr>
          <p:cNvCxnSpPr>
            <a:cxnSpLocks/>
          </p:cNvCxnSpPr>
          <p:nvPr/>
        </p:nvCxnSpPr>
        <p:spPr>
          <a:xfrm>
            <a:off x="7683244" y="4010265"/>
            <a:ext cx="0" cy="1631314"/>
          </a:xfrm>
          <a:prstGeom prst="straightConnector1">
            <a:avLst/>
          </a:prstGeom>
          <a:noFill/>
          <a:ln w="28575" cap="flat" cmpd="sng" algn="ctr">
            <a:solidFill>
              <a:sysClr val="windowText" lastClr="000000"/>
            </a:solidFill>
            <a:prstDash val="sysDash"/>
            <a:miter lim="800000"/>
            <a:headEnd type="none" w="med" len="med"/>
            <a:tailEnd type="none" w="med" len="med"/>
          </a:ln>
          <a:effectLst/>
        </p:spPr>
      </p:cxnSp>
      <p:sp>
        <p:nvSpPr>
          <p:cNvPr id="10" name="Rectangle 9">
            <a:extLst>
              <a:ext uri="{FF2B5EF4-FFF2-40B4-BE49-F238E27FC236}">
                <a16:creationId xmlns:a16="http://schemas.microsoft.com/office/drawing/2014/main" id="{6F719E5A-CD8A-5090-D8BF-DA0A9BC2BE00}"/>
              </a:ext>
            </a:extLst>
          </p:cNvPr>
          <p:cNvSpPr/>
          <p:nvPr/>
        </p:nvSpPr>
        <p:spPr>
          <a:xfrm>
            <a:off x="7564253" y="4201190"/>
            <a:ext cx="214306" cy="776345"/>
          </a:xfrm>
          <a:prstGeom prst="rect">
            <a:avLst/>
          </a:prstGeom>
          <a:solidFill>
            <a:sysClr val="window" lastClr="FFFFFF">
              <a:lumMod val="50000"/>
            </a:sysClr>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Intel Clear"/>
                <a:ea typeface="+mn-ea"/>
                <a:cs typeface="+mn-cs"/>
              </a:rPr>
              <a:t>tcn</a:t>
            </a:r>
          </a:p>
        </p:txBody>
      </p:sp>
      <p:sp>
        <p:nvSpPr>
          <p:cNvPr id="2" name="Rectangle 1">
            <a:extLst>
              <a:ext uri="{FF2B5EF4-FFF2-40B4-BE49-F238E27FC236}">
                <a16:creationId xmlns:a16="http://schemas.microsoft.com/office/drawing/2014/main" id="{862E661F-6C43-DA0E-9224-64FF3156B719}"/>
              </a:ext>
            </a:extLst>
          </p:cNvPr>
          <p:cNvSpPr/>
          <p:nvPr/>
        </p:nvSpPr>
        <p:spPr>
          <a:xfrm>
            <a:off x="7313477" y="4193833"/>
            <a:ext cx="664038" cy="1405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0000"/>
                </a:solidFill>
              </a:rPr>
              <a:t>nub</a:t>
            </a:r>
          </a:p>
        </p:txBody>
      </p:sp>
    </p:spTree>
    <p:extLst>
      <p:ext uri="{BB962C8B-B14F-4D97-AF65-F5344CB8AC3E}">
        <p14:creationId xmlns:p14="http://schemas.microsoft.com/office/powerpoint/2010/main" val="189609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FD222-F090-8962-1B8F-859AAA78D9D8}"/>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0DA0911A-7881-56FF-F236-69ABDC12543A}"/>
              </a:ext>
            </a:extLst>
          </p:cNvPr>
          <p:cNvSpPr txBox="1">
            <a:spLocks/>
          </p:cNvSpPr>
          <p:nvPr/>
        </p:nvSpPr>
        <p:spPr>
          <a:xfrm>
            <a:off x="269701"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3600" b="1">
                <a:solidFill>
                  <a:prstClr val="black"/>
                </a:solidFill>
                <a:latin typeface="Calibri Light" panose="020F0302020204030204"/>
              </a:rPr>
              <a:t>Deltas with respect to 1280</a:t>
            </a:r>
            <a:endParaRPr kumimoji="0" lang="en-US" sz="3600" b="1" i="0" u="none" strike="noStrike" kern="1200" cap="none" spc="0" normalizeH="0" baseline="0" noProof="0">
              <a:ln>
                <a:noFill/>
              </a:ln>
              <a:solidFill>
                <a:prstClr val="black"/>
              </a:solidFill>
              <a:effectLst/>
              <a:highlight>
                <a:srgbClr val="FFFF00"/>
              </a:highlight>
              <a:uLnTx/>
              <a:uFillTx/>
              <a:latin typeface="Calibri Light" panose="020F0302020204030204"/>
              <a:ea typeface="+mj-ea"/>
              <a:cs typeface="+mj-cs"/>
            </a:endParaRPr>
          </a:p>
        </p:txBody>
      </p:sp>
      <p:graphicFrame>
        <p:nvGraphicFramePr>
          <p:cNvPr id="2" name="Content Placeholder 3">
            <a:extLst>
              <a:ext uri="{FF2B5EF4-FFF2-40B4-BE49-F238E27FC236}">
                <a16:creationId xmlns:a16="http://schemas.microsoft.com/office/drawing/2014/main" id="{4173A300-D3FD-CEA3-9BCC-98B654F21DC8}"/>
              </a:ext>
            </a:extLst>
          </p:cNvPr>
          <p:cNvGraphicFramePr>
            <a:graphicFrameLocks/>
          </p:cNvGraphicFramePr>
          <p:nvPr>
            <p:extLst>
              <p:ext uri="{D42A27DB-BD31-4B8C-83A1-F6EECF244321}">
                <p14:modId xmlns:p14="http://schemas.microsoft.com/office/powerpoint/2010/main" val="1069944480"/>
              </p:ext>
            </p:extLst>
          </p:nvPr>
        </p:nvGraphicFramePr>
        <p:xfrm>
          <a:off x="1757239" y="1386904"/>
          <a:ext cx="8062623" cy="3620234"/>
        </p:xfrm>
        <a:graphic>
          <a:graphicData uri="http://schemas.openxmlformats.org/drawingml/2006/table">
            <a:tbl>
              <a:tblPr firstRow="1" bandRow="1">
                <a:tableStyleId>{5C22544A-7EE6-4342-B048-85BDC9FD1C3A}</a:tableStyleId>
              </a:tblPr>
              <a:tblGrid>
                <a:gridCol w="2186111">
                  <a:extLst>
                    <a:ext uri="{9D8B030D-6E8A-4147-A177-3AD203B41FA5}">
                      <a16:colId xmlns:a16="http://schemas.microsoft.com/office/drawing/2014/main" val="2550714831"/>
                    </a:ext>
                  </a:extLst>
                </a:gridCol>
                <a:gridCol w="2686050">
                  <a:extLst>
                    <a:ext uri="{9D8B030D-6E8A-4147-A177-3AD203B41FA5}">
                      <a16:colId xmlns:a16="http://schemas.microsoft.com/office/drawing/2014/main" val="2252649980"/>
                    </a:ext>
                  </a:extLst>
                </a:gridCol>
                <a:gridCol w="3190462">
                  <a:extLst>
                    <a:ext uri="{9D8B030D-6E8A-4147-A177-3AD203B41FA5}">
                      <a16:colId xmlns:a16="http://schemas.microsoft.com/office/drawing/2014/main" val="3372255073"/>
                    </a:ext>
                  </a:extLst>
                </a:gridCol>
              </a:tblGrid>
              <a:tr h="30999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l" rtl="0" fontAlgn="b"/>
                      <a:r>
                        <a:rPr lang="en-US" sz="1400" b="1" u="none" strike="noStrike">
                          <a:effectLst/>
                          <a:latin typeface="Intel Clear" panose="020B0604020203020204" pitchFamily="34" charset="0"/>
                          <a:ea typeface="Intel Clear" panose="020B0604020203020204" pitchFamily="34" charset="0"/>
                          <a:cs typeface="Intel Clear" panose="020B0604020203020204" pitchFamily="34" charset="0"/>
                        </a:rPr>
                        <a:t>Drawn dimension</a:t>
                      </a:r>
                      <a:endParaRPr lang="en-US" sz="1400" b="1" i="0" u="none" strike="noStrike">
                        <a:solidFill>
                          <a:srgbClr val="FFFFFF"/>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rtl="0" fontAlgn="b"/>
                      <a:r>
                        <a:rPr lang="en-US" sz="1400" b="1" u="none" strike="noStrike">
                          <a:effectLst/>
                          <a:latin typeface="Intel Clear" panose="020B0604020203020204" pitchFamily="34" charset="0"/>
                          <a:ea typeface="Intel Clear" panose="020B0604020203020204" pitchFamily="34" charset="0"/>
                          <a:cs typeface="Intel Clear" panose="020B0604020203020204" pitchFamily="34" charset="0"/>
                        </a:rPr>
                        <a:t>1280 (nm)</a:t>
                      </a:r>
                      <a:endParaRPr lang="en-US" sz="1400" b="1" i="0" u="none" strike="noStrike">
                        <a:solidFill>
                          <a:srgbClr val="FFFFFF"/>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i="0" u="none" strike="noStrike">
                          <a:solidFill>
                            <a:srgbClr val="FFFFFF"/>
                          </a:solidFill>
                          <a:effectLst/>
                          <a:latin typeface="Intel Clear" panose="020B0604020203020204" pitchFamily="34" charset="0"/>
                          <a:ea typeface="Intel Clear" panose="020B0604020203020204" pitchFamily="34" charset="0"/>
                          <a:cs typeface="Intel Clear" panose="020B0604020203020204" pitchFamily="34" charset="0"/>
                        </a:rPr>
                        <a:t>1281 (nm)</a:t>
                      </a:r>
                    </a:p>
                  </a:txBody>
                  <a:tcPr marL="45720" marR="5715" marT="5715" marB="0" anchor="ctr"/>
                </a:tc>
                <a:extLst>
                  <a:ext uri="{0D108BD9-81ED-4DB2-BD59-A6C34878D82A}">
                    <a16:rowId xmlns:a16="http://schemas.microsoft.com/office/drawing/2014/main" val="2339861099"/>
                  </a:ext>
                </a:extLst>
              </a:tr>
              <a:tr h="300024">
                <a:tc>
                  <a:txBody>
                    <a:bodyPr/>
                    <a:lstStyle/>
                    <a:p>
                      <a:pPr lvl="0" algn="l">
                        <a:buNone/>
                      </a:pPr>
                      <a:r>
                        <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Poly Pitch</a:t>
                      </a:r>
                    </a:p>
                  </a:txBody>
                  <a:tcPr marL="45720" marR="5715" marT="5715" marB="0" anchor="ctr"/>
                </a:tc>
                <a:tc>
                  <a:txBody>
                    <a:bodyPr/>
                    <a:lstStyle/>
                    <a:p>
                      <a:pPr marL="0" lvl="0" indent="0" algn="ctr" defTabSz="914400">
                        <a:lnSpc>
                          <a:spcPct val="100000"/>
                        </a:lnSpc>
                        <a:spcBef>
                          <a:spcPts val="0"/>
                        </a:spcBef>
                        <a:spcAft>
                          <a:spcPts val="0"/>
                        </a:spcAft>
                        <a:buNone/>
                        <a:tabLst/>
                        <a:defRPr/>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48</a:t>
                      </a:r>
                    </a:p>
                  </a:txBody>
                  <a:tcPr marL="5715" marR="5715" marT="5715" marB="0" anchor="ctr"/>
                </a:tc>
                <a:tc>
                  <a:txBody>
                    <a:bodyPr/>
                    <a:lstStyle/>
                    <a:p>
                      <a:pPr marL="0" lvl="0" indent="0" algn="ctr">
                        <a:lnSpc>
                          <a:spcPct val="100000"/>
                        </a:lnSpc>
                        <a:spcBef>
                          <a:spcPts val="0"/>
                        </a:spcBef>
                        <a:spcAft>
                          <a:spcPts val="0"/>
                        </a:spcAft>
                        <a:buNone/>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44</a:t>
                      </a:r>
                    </a:p>
                  </a:txBody>
                  <a:tcPr marL="5715" marR="5715" marT="5715" marB="0" anchor="ctr"/>
                </a:tc>
                <a:extLst>
                  <a:ext uri="{0D108BD9-81ED-4DB2-BD59-A6C34878D82A}">
                    <a16:rowId xmlns:a16="http://schemas.microsoft.com/office/drawing/2014/main" val="2704840329"/>
                  </a:ext>
                </a:extLst>
              </a:tr>
              <a:tr h="300024">
                <a:tc>
                  <a:txBody>
                    <a:bodyPr/>
                    <a:lstStyle/>
                    <a:p>
                      <a:pPr algn="l" rtl="0" fontAlgn="b"/>
                      <a:r>
                        <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Cell Height (PGD)</a:t>
                      </a:r>
                    </a:p>
                  </a:txBody>
                  <a:tcPr marL="45720" marR="5715" marT="571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288, 144, 126, 108</a:t>
                      </a:r>
                    </a:p>
                  </a:txBody>
                  <a:tcPr marL="5715" marR="5715" marT="571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165, 132, 110</a:t>
                      </a:r>
                    </a:p>
                  </a:txBody>
                  <a:tcPr marL="5715" marR="5715" marT="5715" marB="0" anchor="ctr"/>
                </a:tc>
                <a:extLst>
                  <a:ext uri="{0D108BD9-81ED-4DB2-BD59-A6C34878D82A}">
                    <a16:rowId xmlns:a16="http://schemas.microsoft.com/office/drawing/2014/main" val="3982420354"/>
                  </a:ext>
                </a:extLst>
              </a:tr>
              <a:tr h="300024">
                <a:tc>
                  <a:txBody>
                    <a:bodyPr/>
                    <a:lstStyle/>
                    <a:p>
                      <a:pPr algn="l" rtl="0" fontAlgn="b"/>
                      <a:r>
                        <a:rPr lang="en-US" sz="1200" b="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Poly width</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14</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12</a:t>
                      </a:r>
                    </a:p>
                  </a:txBody>
                  <a:tcPr marL="5715" marR="5715" marT="5715" marB="0" anchor="ctr"/>
                </a:tc>
                <a:extLst>
                  <a:ext uri="{0D108BD9-81ED-4DB2-BD59-A6C34878D82A}">
                    <a16:rowId xmlns:a16="http://schemas.microsoft.com/office/drawing/2014/main" val="2337878891"/>
                  </a:ext>
                </a:extLst>
              </a:tr>
              <a:tr h="300024">
                <a:tc>
                  <a:txBody>
                    <a:bodyPr/>
                    <a:lstStyle/>
                    <a:p>
                      <a:pPr algn="l" rtl="0" fontAlgn="b"/>
                      <a:r>
                        <a:rPr lang="en-US" sz="1200" b="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rPr>
                        <a:t>tcn width</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14</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12</a:t>
                      </a:r>
                    </a:p>
                  </a:txBody>
                  <a:tcPr marL="5715" marR="5715" marT="5715" marB="0" anchor="ctr"/>
                </a:tc>
                <a:extLst>
                  <a:ext uri="{0D108BD9-81ED-4DB2-BD59-A6C34878D82A}">
                    <a16:rowId xmlns:a16="http://schemas.microsoft.com/office/drawing/2014/main" val="1755213191"/>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Poly length, max</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562</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up to 4CH for some use cases in digital</a:t>
                      </a:r>
                    </a:p>
                  </a:txBody>
                  <a:tcPr marL="5715" marR="5715" marT="5715" marB="0" anchor="ctr"/>
                </a:tc>
                <a:extLst>
                  <a:ext uri="{0D108BD9-81ED-4DB2-BD59-A6C34878D82A}">
                    <a16:rowId xmlns:a16="http://schemas.microsoft.com/office/drawing/2014/main" val="839736181"/>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poly ETE , fixed</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18</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14</a:t>
                      </a:r>
                    </a:p>
                  </a:txBody>
                  <a:tcPr marL="5715" marR="5715" marT="5715" marB="0" anchor="ctr"/>
                </a:tc>
                <a:extLst>
                  <a:ext uri="{0D108BD9-81ED-4DB2-BD59-A6C34878D82A}">
                    <a16:rowId xmlns:a16="http://schemas.microsoft.com/office/drawing/2014/main" val="1705873244"/>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tcn length, max</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2CH</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up to 2CH for some use cases</a:t>
                      </a:r>
                    </a:p>
                  </a:txBody>
                  <a:tcPr marL="5715" marR="5715" marT="5715" marB="0" anchor="ctr"/>
                </a:tc>
                <a:extLst>
                  <a:ext uri="{0D108BD9-81ED-4DB2-BD59-A6C34878D82A}">
                    <a16:rowId xmlns:a16="http://schemas.microsoft.com/office/drawing/2014/main" val="1471941903"/>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tcn ETE, fixed [CRL, DKA]</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18 except for </a:t>
                      </a:r>
                      <a:r>
                        <a:rPr lang="en-US" sz="1200" b="0" u="none" strike="noStrike"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depop</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16, 32 (DKA,CRL) except for depop</a:t>
                      </a:r>
                    </a:p>
                  </a:txBody>
                  <a:tcPr marL="5715" marR="5715" marT="5715" marB="0" anchor="ctr"/>
                </a:tc>
                <a:extLst>
                  <a:ext uri="{0D108BD9-81ED-4DB2-BD59-A6C34878D82A}">
                    <a16:rowId xmlns:a16="http://schemas.microsoft.com/office/drawing/2014/main" val="285131982"/>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Power supply to transistor</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Backside power grid - </a:t>
                      </a:r>
                      <a:r>
                        <a:rPr lang="en-US" sz="1200" b="0" u="none" strike="noStrike"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emr</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marL="0" marR="0" lvl="0" indent="0" algn="ctr" rtl="0" eaLnBrk="1" fontAlgn="b" latinLnBrk="0" hangingPunct="1">
                        <a:lnSpc>
                          <a:spcPct val="100000"/>
                        </a:lnSpc>
                        <a:spcBef>
                          <a:spcPts val="0"/>
                        </a:spcBef>
                        <a:spcAft>
                          <a:spcPts val="0"/>
                        </a:spcAft>
                        <a:buClrTx/>
                        <a:buSzTx/>
                        <a:buFontTx/>
                        <a:buNone/>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Frontside power grid - </a:t>
                      </a:r>
                      <a:r>
                        <a:rPr lang="en-US" sz="1200" b="0" i="0" u="none" strike="noStrike"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vcr</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extLst>
                  <a:ext uri="{0D108BD9-81ED-4DB2-BD59-A6C34878D82A}">
                    <a16:rowId xmlns:a16="http://schemas.microsoft.com/office/drawing/2014/main" val="3852022786"/>
                  </a:ext>
                </a:extLst>
              </a:tr>
              <a:tr h="30002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rtl="0" fontAlgn="b"/>
                      <a:r>
                        <a:rPr lang="en-US" sz="1200" u="none" strike="noStrike">
                          <a:effectLst/>
                          <a:latin typeface="Intel Clear" panose="020B0604020203020204" pitchFamily="34" charset="0"/>
                          <a:ea typeface="Intel Clear" panose="020B0604020203020204" pitchFamily="34" charset="0"/>
                          <a:cs typeface="Intel Clear" panose="020B0604020203020204" pitchFamily="34" charset="0"/>
                        </a:rPr>
                        <a:t>NN/PP space, min (drawn)</a:t>
                      </a:r>
                      <a:endParaRPr lang="en-US" sz="1200" b="0" i="0" u="none" strike="noStrike">
                        <a:solidFill>
                          <a:srgbClr val="000000"/>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45720" marR="5715" marT="5715" marB="0" anchor="ct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200" b="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22</a:t>
                      </a:r>
                      <a:endPar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5715" marR="5715" marT="5715" marB="0" anchor="ctr"/>
                </a:tc>
                <a:tc>
                  <a:txBody>
                    <a:bodyPr/>
                    <a:lstStyle/>
                    <a:p>
                      <a:pPr algn="ctr" rtl="0" fontAlgn="b"/>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20</a:t>
                      </a:r>
                    </a:p>
                  </a:txBody>
                  <a:tcPr marL="5715" marR="5715" marT="5715" marB="0" anchor="ctr"/>
                </a:tc>
                <a:extLst>
                  <a:ext uri="{0D108BD9-81ED-4DB2-BD59-A6C34878D82A}">
                    <a16:rowId xmlns:a16="http://schemas.microsoft.com/office/drawing/2014/main" val="489067139"/>
                  </a:ext>
                </a:extLst>
              </a:tr>
              <a:tr h="309997">
                <a:tc>
                  <a:txBody>
                    <a:bodyPr/>
                    <a:lstStyle/>
                    <a:p>
                      <a:pPr marL="0" lvl="0" indent="0" algn="l">
                        <a:lnSpc>
                          <a:spcPct val="100000"/>
                        </a:lnSpc>
                        <a:spcBef>
                          <a:spcPts val="0"/>
                        </a:spcBef>
                        <a:spcAft>
                          <a:spcPts val="0"/>
                        </a:spcAft>
                        <a:buNone/>
                      </a:pPr>
                      <a:r>
                        <a:rPr lang="en-US" sz="120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Diffusion Alignment</a:t>
                      </a:r>
                    </a:p>
                  </a:txBody>
                  <a:tcPr marL="45720" marR="5715" marT="5715" marB="0" anchor="ctr"/>
                </a:tc>
                <a:tc>
                  <a:txBody>
                    <a:bodyPr/>
                    <a:lstStyle/>
                    <a:p>
                      <a:pPr lvl="0" algn="ctr">
                        <a:buNone/>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center aligned</a:t>
                      </a:r>
                    </a:p>
                  </a:txBody>
                  <a:tcPr marL="5715" marR="5715" marT="5715" marB="0" anchor="ctr"/>
                </a:tc>
                <a:tc>
                  <a:txBody>
                    <a:bodyPr/>
                    <a:lstStyle/>
                    <a:p>
                      <a:pPr lvl="0" algn="ctr">
                        <a:buNone/>
                      </a:pPr>
                      <a:r>
                        <a:rPr lang="en-US" sz="1200" b="0" i="0" u="none" strike="noStrike">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center aligned</a:t>
                      </a:r>
                    </a:p>
                  </a:txBody>
                  <a:tcPr marL="5715" marR="5715" marT="5715" marB="0" anchor="ctr"/>
                </a:tc>
                <a:extLst>
                  <a:ext uri="{0D108BD9-81ED-4DB2-BD59-A6C34878D82A}">
                    <a16:rowId xmlns:a16="http://schemas.microsoft.com/office/drawing/2014/main" val="862974005"/>
                  </a:ext>
                </a:extLst>
              </a:tr>
            </a:tbl>
          </a:graphicData>
        </a:graphic>
      </p:graphicFrame>
      <p:sp>
        <p:nvSpPr>
          <p:cNvPr id="3" name="TextBox 2">
            <a:extLst>
              <a:ext uri="{FF2B5EF4-FFF2-40B4-BE49-F238E27FC236}">
                <a16:creationId xmlns:a16="http://schemas.microsoft.com/office/drawing/2014/main" id="{3769B5AF-33EF-734E-D37F-619ACCE608B9}"/>
              </a:ext>
            </a:extLst>
          </p:cNvPr>
          <p:cNvSpPr txBox="1"/>
          <p:nvPr/>
        </p:nvSpPr>
        <p:spPr>
          <a:xfrm>
            <a:off x="8446603" y="5580668"/>
            <a:ext cx="1646605" cy="369332"/>
          </a:xfrm>
          <a:prstGeom prst="rect">
            <a:avLst/>
          </a:prstGeom>
          <a:noFill/>
        </p:spPr>
        <p:txBody>
          <a:bodyPr wrap="none" rtlCol="0">
            <a:spAutoFit/>
          </a:bodyPr>
          <a:lstStyle/>
          <a:p>
            <a:r>
              <a:rPr lang="en-US"/>
              <a:t>CH: cell height</a:t>
            </a:r>
          </a:p>
        </p:txBody>
      </p:sp>
      <p:sp>
        <p:nvSpPr>
          <p:cNvPr id="5" name="Filename comment">
            <a:extLst>
              <a:ext uri="{FF2B5EF4-FFF2-40B4-BE49-F238E27FC236}">
                <a16:creationId xmlns:a16="http://schemas.microsoft.com/office/drawing/2014/main" id="{BCD32343-23E3-EE83-42A3-C334459E3C10}"/>
              </a:ext>
            </a:extLst>
          </p:cNvPr>
          <p:cNvSpPr txBox="1"/>
          <p:nvPr/>
        </p:nvSpPr>
        <p:spPr bwMode="hidden">
          <a:xfrm>
            <a:off x="7787640" y="6581596"/>
            <a:ext cx="4343400" cy="215444"/>
          </a:xfrm>
          <a:prstGeom prst="rect">
            <a:avLst/>
          </a:prstGeom>
          <a:solidFill>
            <a:srgbClr val="FEEC00"/>
          </a:solidFill>
        </p:spPr>
        <p:txBody>
          <a:bodyPr vert="horz" lIns="90000" tIns="45000" rIns="90000" bIns="45000" rtlCol="0" anchor="b">
            <a:spAutoFit/>
          </a:bodyPr>
          <a:lstStyle/>
          <a:p>
            <a:r>
              <a:rPr lang="en-US" sz="800"/>
              <a:t>1281 Design Rule Overview_01202026.pptx (page 3)</a:t>
            </a:r>
          </a:p>
        </p:txBody>
      </p:sp>
    </p:spTree>
    <p:extLst>
      <p:ext uri="{BB962C8B-B14F-4D97-AF65-F5344CB8AC3E}">
        <p14:creationId xmlns:p14="http://schemas.microsoft.com/office/powerpoint/2010/main" val="213472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7AA89-3E37-6B11-421D-8CD3DB3AA232}"/>
              </a:ext>
            </a:extLst>
          </p:cNvPr>
          <p:cNvSpPr>
            <a:spLocks noGrp="1"/>
          </p:cNvSpPr>
          <p:nvPr>
            <p:ph type="title"/>
          </p:nvPr>
        </p:nvSpPr>
        <p:spPr>
          <a:xfrm>
            <a:off x="957469" y="118635"/>
            <a:ext cx="10515600" cy="1325563"/>
          </a:xfrm>
        </p:spPr>
        <p:txBody>
          <a:bodyPr/>
          <a:lstStyle/>
          <a:p>
            <a:r>
              <a:rPr lang="en-US" err="1"/>
              <a:t>Basetransition</a:t>
            </a:r>
            <a:r>
              <a:rPr lang="en-US"/>
              <a:t> and region construction</a:t>
            </a:r>
          </a:p>
        </p:txBody>
      </p:sp>
      <p:sp>
        <p:nvSpPr>
          <p:cNvPr id="4" name="TextBox 3">
            <a:extLst>
              <a:ext uri="{FF2B5EF4-FFF2-40B4-BE49-F238E27FC236}">
                <a16:creationId xmlns:a16="http://schemas.microsoft.com/office/drawing/2014/main" id="{34FBDA0B-279B-4579-F8DB-5481F01F4428}"/>
              </a:ext>
            </a:extLst>
          </p:cNvPr>
          <p:cNvSpPr txBox="1"/>
          <p:nvPr/>
        </p:nvSpPr>
        <p:spPr>
          <a:xfrm>
            <a:off x="79787" y="2469287"/>
            <a:ext cx="5255640" cy="378565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1281 removes whitespace between regions and uses a new layer called </a:t>
            </a:r>
            <a:r>
              <a:rPr kumimoji="0" lang="en-US" sz="2400" b="0" i="0" u="none" strike="noStrike" kern="1200" cap="none" spc="0" normalizeH="0" baseline="0" noProof="0" err="1">
                <a:ln>
                  <a:noFill/>
                </a:ln>
                <a:solidFill>
                  <a:prstClr val="black"/>
                </a:solidFill>
                <a:effectLst/>
                <a:uLnTx/>
                <a:uFillTx/>
                <a:latin typeface="Calibri" panose="020F0502020204030204"/>
              </a:rPr>
              <a:t>basetranition;id</a:t>
            </a:r>
            <a:r>
              <a:rPr kumimoji="0" lang="en-US" sz="2400" b="0" i="0" u="none" strike="noStrike" kern="1200" cap="none" spc="0" normalizeH="0" baseline="0" noProof="0">
                <a:ln>
                  <a:noFill/>
                </a:ln>
                <a:solidFill>
                  <a:prstClr val="black"/>
                </a:solidFill>
                <a:effectLst/>
                <a:uLnTx/>
                <a:uFillTx/>
                <a:latin typeface="Calibri" panose="020F0502020204030204"/>
              </a:rPr>
              <a:t> (BT)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rPr>
              <a:t>Region PGD edges must abut BT to transition in OGD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BT has strict const</a:t>
            </a:r>
            <a:r>
              <a:rPr lang="en-US" sz="2400">
                <a:solidFill>
                  <a:prstClr val="black"/>
                </a:solidFill>
                <a:latin typeface="Calibri" panose="020F0502020204030204"/>
              </a:rPr>
              <a:t>ruction rules on where the BT OGD edges can be placed, and BT spacing rules.</a:t>
            </a:r>
            <a:endParaRPr kumimoji="0" lang="en-US" sz="2400" b="0" i="0" u="none" strike="noStrike" kern="1200" cap="none" spc="0" normalizeH="0" baseline="0" noProof="0">
              <a:ln>
                <a:noFill/>
              </a:ln>
              <a:solidFill>
                <a:prstClr val="black"/>
              </a:solidFill>
              <a:effectLst/>
              <a:uLnTx/>
              <a:uFillTx/>
              <a:latin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endParaRPr>
          </a:p>
          <a:p>
            <a:pPr marR="0" lvl="0" algn="l" defTabSz="914400" rtl="0" eaLnBrk="1" fontAlgn="auto" latinLnBrk="0" hangingPunct="1">
              <a:lnSpc>
                <a:spcPct val="100000"/>
              </a:lnSpc>
              <a:spcBef>
                <a:spcPts val="0"/>
              </a:spcBef>
              <a:spcAft>
                <a:spcPts val="0"/>
              </a:spcAft>
              <a:buClrTx/>
              <a:buSzTx/>
              <a:tabLst/>
              <a:defRPr/>
            </a:pP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5" name="Rectangle 4">
            <a:extLst>
              <a:ext uri="{FF2B5EF4-FFF2-40B4-BE49-F238E27FC236}">
                <a16:creationId xmlns:a16="http://schemas.microsoft.com/office/drawing/2014/main" id="{76DC029E-74FB-BC18-FB4C-0EFFB2F80AA1}"/>
              </a:ext>
            </a:extLst>
          </p:cNvPr>
          <p:cNvSpPr/>
          <p:nvPr/>
        </p:nvSpPr>
        <p:spPr>
          <a:xfrm>
            <a:off x="5347423" y="1209951"/>
            <a:ext cx="6759542" cy="536660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Arial"/>
            </a:endParaRPr>
          </a:p>
        </p:txBody>
      </p:sp>
      <p:sp>
        <p:nvSpPr>
          <p:cNvPr id="6" name="Rectangle 5">
            <a:extLst>
              <a:ext uri="{FF2B5EF4-FFF2-40B4-BE49-F238E27FC236}">
                <a16:creationId xmlns:a16="http://schemas.microsoft.com/office/drawing/2014/main" id="{E1E39D9F-4104-1F1A-F9FF-4A5DECCA6115}"/>
              </a:ext>
            </a:extLst>
          </p:cNvPr>
          <p:cNvSpPr/>
          <p:nvPr/>
        </p:nvSpPr>
        <p:spPr>
          <a:xfrm>
            <a:off x="5560667" y="1444198"/>
            <a:ext cx="6330409" cy="4898114"/>
          </a:xfrm>
          <a:prstGeom prst="rect">
            <a:avLst/>
          </a:prstGeom>
          <a:solidFill>
            <a:srgbClr val="9FBF97"/>
          </a:solidFill>
          <a:ln>
            <a:solidFill>
              <a:schemeClr val="accent4">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Arial"/>
            </a:endParaRPr>
          </a:p>
        </p:txBody>
      </p:sp>
      <p:sp>
        <p:nvSpPr>
          <p:cNvPr id="7" name="Rectangle 6">
            <a:extLst>
              <a:ext uri="{FF2B5EF4-FFF2-40B4-BE49-F238E27FC236}">
                <a16:creationId xmlns:a16="http://schemas.microsoft.com/office/drawing/2014/main" id="{244B5B71-1A5A-DCE3-8CD0-5436D4C13BBA}"/>
              </a:ext>
            </a:extLst>
          </p:cNvPr>
          <p:cNvSpPr/>
          <p:nvPr/>
        </p:nvSpPr>
        <p:spPr>
          <a:xfrm>
            <a:off x="5718413" y="1575280"/>
            <a:ext cx="6028492" cy="45927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Arial"/>
            </a:endParaRPr>
          </a:p>
        </p:txBody>
      </p:sp>
      <p:sp>
        <p:nvSpPr>
          <p:cNvPr id="8" name="TextBox 7">
            <a:extLst>
              <a:ext uri="{FF2B5EF4-FFF2-40B4-BE49-F238E27FC236}">
                <a16:creationId xmlns:a16="http://schemas.microsoft.com/office/drawing/2014/main" id="{E56D36AE-8612-D0FC-3F89-C4F0528B34D6}"/>
              </a:ext>
            </a:extLst>
          </p:cNvPr>
          <p:cNvSpPr txBox="1"/>
          <p:nvPr/>
        </p:nvSpPr>
        <p:spPr>
          <a:xfrm>
            <a:off x="5547362" y="1173179"/>
            <a:ext cx="210190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2F2F2"/>
                </a:solidFill>
                <a:effectLst/>
                <a:uLnTx/>
                <a:uFillTx/>
                <a:latin typeface="Arial"/>
                <a:cs typeface="Arial"/>
              </a:rPr>
              <a:t>Etch Ring (ER)</a:t>
            </a:r>
          </a:p>
        </p:txBody>
      </p:sp>
      <p:sp>
        <p:nvSpPr>
          <p:cNvPr id="9" name="TextBox 8">
            <a:extLst>
              <a:ext uri="{FF2B5EF4-FFF2-40B4-BE49-F238E27FC236}">
                <a16:creationId xmlns:a16="http://schemas.microsoft.com/office/drawing/2014/main" id="{699F978B-25A5-73CF-02AB-911583D3C1C6}"/>
              </a:ext>
            </a:extLst>
          </p:cNvPr>
          <p:cNvSpPr txBox="1"/>
          <p:nvPr/>
        </p:nvSpPr>
        <p:spPr>
          <a:xfrm>
            <a:off x="5747301" y="1367764"/>
            <a:ext cx="210190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2F2F2"/>
                </a:solidFill>
                <a:effectLst/>
                <a:uLnTx/>
                <a:uFillTx/>
                <a:latin typeface="Arial"/>
                <a:cs typeface="Arial"/>
              </a:rPr>
              <a:t>Edge of die Monitor (EDM)</a:t>
            </a:r>
          </a:p>
        </p:txBody>
      </p:sp>
      <p:sp>
        <p:nvSpPr>
          <p:cNvPr id="10" name="TextBox 9">
            <a:extLst>
              <a:ext uri="{FF2B5EF4-FFF2-40B4-BE49-F238E27FC236}">
                <a16:creationId xmlns:a16="http://schemas.microsoft.com/office/drawing/2014/main" id="{A759644C-E20D-24EC-13C4-25F7B1F6F50A}"/>
              </a:ext>
            </a:extLst>
          </p:cNvPr>
          <p:cNvSpPr txBox="1"/>
          <p:nvPr/>
        </p:nvSpPr>
        <p:spPr>
          <a:xfrm>
            <a:off x="11378893" y="1302677"/>
            <a:ext cx="5930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68B5">
                    <a:lumMod val="20000"/>
                    <a:lumOff val="80000"/>
                  </a:srgbClr>
                </a:solidFill>
                <a:effectLst/>
                <a:uLnTx/>
                <a:uFillTx/>
                <a:latin typeface="Arial"/>
                <a:cs typeface="Arial"/>
              </a:rPr>
              <a:t>EOA</a:t>
            </a:r>
          </a:p>
        </p:txBody>
      </p:sp>
      <p:sp>
        <p:nvSpPr>
          <p:cNvPr id="11" name="TextBox 10">
            <a:extLst>
              <a:ext uri="{FF2B5EF4-FFF2-40B4-BE49-F238E27FC236}">
                <a16:creationId xmlns:a16="http://schemas.microsoft.com/office/drawing/2014/main" id="{2231D431-306E-EF4C-A42F-46AA755A415D}"/>
              </a:ext>
            </a:extLst>
          </p:cNvPr>
          <p:cNvSpPr txBox="1"/>
          <p:nvPr/>
        </p:nvSpPr>
        <p:spPr>
          <a:xfrm>
            <a:off x="5782977" y="1597648"/>
            <a:ext cx="210190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68B5">
                    <a:lumMod val="50000"/>
                  </a:srgbClr>
                </a:solidFill>
                <a:effectLst/>
                <a:uLnTx/>
                <a:uFillTx/>
                <a:latin typeface="Arial"/>
                <a:cs typeface="Arial"/>
              </a:rPr>
              <a:t>Active Design Area</a:t>
            </a:r>
          </a:p>
        </p:txBody>
      </p:sp>
      <p:sp>
        <p:nvSpPr>
          <p:cNvPr id="12" name="Rectangle 11">
            <a:extLst>
              <a:ext uri="{FF2B5EF4-FFF2-40B4-BE49-F238E27FC236}">
                <a16:creationId xmlns:a16="http://schemas.microsoft.com/office/drawing/2014/main" id="{D2B1F015-E3C5-1690-A885-4AA4FAF3DE1F}"/>
              </a:ext>
            </a:extLst>
          </p:cNvPr>
          <p:cNvSpPr/>
          <p:nvPr/>
        </p:nvSpPr>
        <p:spPr>
          <a:xfrm>
            <a:off x="5760023" y="2961466"/>
            <a:ext cx="1921607" cy="1707443"/>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endParaRPr lang="en-US" sz="900"/>
          </a:p>
        </p:txBody>
      </p:sp>
      <p:sp>
        <p:nvSpPr>
          <p:cNvPr id="13" name="Rectangle 12">
            <a:extLst>
              <a:ext uri="{FF2B5EF4-FFF2-40B4-BE49-F238E27FC236}">
                <a16:creationId xmlns:a16="http://schemas.microsoft.com/office/drawing/2014/main" id="{95832D74-85F1-62CF-92CF-8AD2C85D2A53}"/>
              </a:ext>
            </a:extLst>
          </p:cNvPr>
          <p:cNvSpPr/>
          <p:nvPr/>
        </p:nvSpPr>
        <p:spPr>
          <a:xfrm>
            <a:off x="7727349" y="3754695"/>
            <a:ext cx="1120846" cy="108671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endParaRPr lang="en-US" sz="900"/>
          </a:p>
        </p:txBody>
      </p:sp>
      <p:sp>
        <p:nvSpPr>
          <p:cNvPr id="14" name="Rectangle 13">
            <a:extLst>
              <a:ext uri="{FF2B5EF4-FFF2-40B4-BE49-F238E27FC236}">
                <a16:creationId xmlns:a16="http://schemas.microsoft.com/office/drawing/2014/main" id="{4DF92B42-77C4-23DC-18EC-9AC96FE176B8}"/>
              </a:ext>
            </a:extLst>
          </p:cNvPr>
          <p:cNvSpPr/>
          <p:nvPr/>
        </p:nvSpPr>
        <p:spPr>
          <a:xfrm>
            <a:off x="7730028" y="1575279"/>
            <a:ext cx="3949214" cy="21794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r>
              <a:rPr lang="en-US" sz="900"/>
              <a:t> (2*132nm) </a:t>
            </a:r>
          </a:p>
        </p:txBody>
      </p:sp>
      <p:sp>
        <p:nvSpPr>
          <p:cNvPr id="15" name="Rectangle 14">
            <a:extLst>
              <a:ext uri="{FF2B5EF4-FFF2-40B4-BE49-F238E27FC236}">
                <a16:creationId xmlns:a16="http://schemas.microsoft.com/office/drawing/2014/main" id="{065CB83F-E758-C8AE-B1C4-5E9FE88D8B44}"/>
              </a:ext>
            </a:extLst>
          </p:cNvPr>
          <p:cNvSpPr/>
          <p:nvPr/>
        </p:nvSpPr>
        <p:spPr>
          <a:xfrm>
            <a:off x="5704837" y="1575280"/>
            <a:ext cx="55186" cy="459273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16" name="Rectangle 15">
            <a:extLst>
              <a:ext uri="{FF2B5EF4-FFF2-40B4-BE49-F238E27FC236}">
                <a16:creationId xmlns:a16="http://schemas.microsoft.com/office/drawing/2014/main" id="{F78F5434-A5BD-DE3A-7899-DADBAB4B9C4A}"/>
              </a:ext>
            </a:extLst>
          </p:cNvPr>
          <p:cNvSpPr/>
          <p:nvPr/>
        </p:nvSpPr>
        <p:spPr>
          <a:xfrm>
            <a:off x="7681630" y="1575279"/>
            <a:ext cx="45719" cy="32601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17" name="Rectangle 16">
            <a:extLst>
              <a:ext uri="{FF2B5EF4-FFF2-40B4-BE49-F238E27FC236}">
                <a16:creationId xmlns:a16="http://schemas.microsoft.com/office/drawing/2014/main" id="{D11BEEC5-694E-5366-45E1-9B96891EF681}"/>
              </a:ext>
            </a:extLst>
          </p:cNvPr>
          <p:cNvSpPr/>
          <p:nvPr/>
        </p:nvSpPr>
        <p:spPr>
          <a:xfrm>
            <a:off x="8365152" y="4835438"/>
            <a:ext cx="1120846" cy="108671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p>
          <a:p>
            <a:pPr algn="ctr"/>
            <a:r>
              <a:rPr lang="en-US" sz="900"/>
              <a:t>(2*165)</a:t>
            </a:r>
          </a:p>
        </p:txBody>
      </p:sp>
      <p:sp>
        <p:nvSpPr>
          <p:cNvPr id="18" name="Rectangle 17">
            <a:extLst>
              <a:ext uri="{FF2B5EF4-FFF2-40B4-BE49-F238E27FC236}">
                <a16:creationId xmlns:a16="http://schemas.microsoft.com/office/drawing/2014/main" id="{E7E95570-59FF-BD3D-8E54-65E2F44A4596}"/>
              </a:ext>
            </a:extLst>
          </p:cNvPr>
          <p:cNvSpPr/>
          <p:nvPr/>
        </p:nvSpPr>
        <p:spPr>
          <a:xfrm>
            <a:off x="11689868" y="1575280"/>
            <a:ext cx="55186" cy="459273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19" name="Rectangle 18">
            <a:extLst>
              <a:ext uri="{FF2B5EF4-FFF2-40B4-BE49-F238E27FC236}">
                <a16:creationId xmlns:a16="http://schemas.microsoft.com/office/drawing/2014/main" id="{C6AACACC-E112-4110-8F1E-275BD3D1EFB5}"/>
              </a:ext>
            </a:extLst>
          </p:cNvPr>
          <p:cNvSpPr/>
          <p:nvPr/>
        </p:nvSpPr>
        <p:spPr>
          <a:xfrm>
            <a:off x="8900703" y="3754695"/>
            <a:ext cx="1065660" cy="879561"/>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r>
              <a:rPr lang="en-US" sz="900"/>
              <a:t> (2*110nm)</a:t>
            </a:r>
          </a:p>
        </p:txBody>
      </p:sp>
      <p:sp>
        <p:nvSpPr>
          <p:cNvPr id="20" name="Rectangle 19">
            <a:extLst>
              <a:ext uri="{FF2B5EF4-FFF2-40B4-BE49-F238E27FC236}">
                <a16:creationId xmlns:a16="http://schemas.microsoft.com/office/drawing/2014/main" id="{17AA754D-FD85-049D-4FB6-7F2909685359}"/>
              </a:ext>
            </a:extLst>
          </p:cNvPr>
          <p:cNvSpPr/>
          <p:nvPr/>
        </p:nvSpPr>
        <p:spPr>
          <a:xfrm>
            <a:off x="8319709" y="4821150"/>
            <a:ext cx="45719" cy="11745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21" name="Rectangle 20">
            <a:extLst>
              <a:ext uri="{FF2B5EF4-FFF2-40B4-BE49-F238E27FC236}">
                <a16:creationId xmlns:a16="http://schemas.microsoft.com/office/drawing/2014/main" id="{3164DF54-E351-5353-7338-4BBB1FE303BF}"/>
              </a:ext>
            </a:extLst>
          </p:cNvPr>
          <p:cNvSpPr/>
          <p:nvPr/>
        </p:nvSpPr>
        <p:spPr>
          <a:xfrm>
            <a:off x="10374277" y="4029683"/>
            <a:ext cx="1065660" cy="791467"/>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endParaRPr lang="en-US" sz="900"/>
          </a:p>
        </p:txBody>
      </p:sp>
      <p:sp>
        <p:nvSpPr>
          <p:cNvPr id="22" name="Rectangle 21">
            <a:extLst>
              <a:ext uri="{FF2B5EF4-FFF2-40B4-BE49-F238E27FC236}">
                <a16:creationId xmlns:a16="http://schemas.microsoft.com/office/drawing/2014/main" id="{86297FDA-0BC3-FEE9-9EB0-0761E757FC1B}"/>
              </a:ext>
            </a:extLst>
          </p:cNvPr>
          <p:cNvSpPr/>
          <p:nvPr/>
        </p:nvSpPr>
        <p:spPr>
          <a:xfrm>
            <a:off x="11439343" y="3845013"/>
            <a:ext cx="48453" cy="9761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23" name="Rectangle 22">
            <a:extLst>
              <a:ext uri="{FF2B5EF4-FFF2-40B4-BE49-F238E27FC236}">
                <a16:creationId xmlns:a16="http://schemas.microsoft.com/office/drawing/2014/main" id="{22B4482E-32B0-767C-2586-8E0E84E83884}"/>
              </a:ext>
            </a:extLst>
          </p:cNvPr>
          <p:cNvSpPr/>
          <p:nvPr/>
        </p:nvSpPr>
        <p:spPr>
          <a:xfrm>
            <a:off x="10328558" y="3845013"/>
            <a:ext cx="45719" cy="9761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24" name="TextBox 23">
            <a:extLst>
              <a:ext uri="{FF2B5EF4-FFF2-40B4-BE49-F238E27FC236}">
                <a16:creationId xmlns:a16="http://schemas.microsoft.com/office/drawing/2014/main" id="{F2A698E3-0140-0596-E295-310C29BC4E0C}"/>
              </a:ext>
            </a:extLst>
          </p:cNvPr>
          <p:cNvSpPr txBox="1"/>
          <p:nvPr/>
        </p:nvSpPr>
        <p:spPr>
          <a:xfrm>
            <a:off x="6657015" y="5434617"/>
            <a:ext cx="1719169" cy="507831"/>
          </a:xfrm>
          <a:prstGeom prst="rect">
            <a:avLst/>
          </a:prstGeom>
          <a:noFill/>
        </p:spPr>
        <p:txBody>
          <a:bodyPr wrap="square" rtlCol="0">
            <a:spAutoFit/>
          </a:bodyPr>
          <a:lstStyle/>
          <a:p>
            <a:r>
              <a:rPr lang="en-US" sz="900"/>
              <a:t>Region2Region (OGD)</a:t>
            </a:r>
          </a:p>
          <a:p>
            <a:endParaRPr lang="en-US" sz="900"/>
          </a:p>
          <a:p>
            <a:r>
              <a:rPr lang="en-US" sz="900"/>
              <a:t>=3pp Or &gt;=27pp+88*N (N&gt;=0)</a:t>
            </a:r>
          </a:p>
        </p:txBody>
      </p:sp>
      <p:cxnSp>
        <p:nvCxnSpPr>
          <p:cNvPr id="25" name="Straight Arrow Connector 24">
            <a:extLst>
              <a:ext uri="{FF2B5EF4-FFF2-40B4-BE49-F238E27FC236}">
                <a16:creationId xmlns:a16="http://schemas.microsoft.com/office/drawing/2014/main" id="{4A33FB73-4ACD-68AB-1DA0-177D916E18FE}"/>
              </a:ext>
            </a:extLst>
          </p:cNvPr>
          <p:cNvCxnSpPr>
            <a:cxnSpLocks/>
          </p:cNvCxnSpPr>
          <p:nvPr/>
        </p:nvCxnSpPr>
        <p:spPr>
          <a:xfrm flipV="1">
            <a:off x="6393801" y="4676011"/>
            <a:ext cx="0" cy="324581"/>
          </a:xfrm>
          <a:prstGeom prst="straightConnector1">
            <a:avLst/>
          </a:prstGeom>
          <a:ln>
            <a:solidFill>
              <a:schemeClr val="accent1">
                <a:lumMod val="50000"/>
              </a:schemeClr>
            </a:solidFill>
            <a:headEnd type="triangle"/>
            <a:tailEnd type="triangle"/>
          </a:ln>
        </p:spPr>
        <p:style>
          <a:lnRef idx="2">
            <a:schemeClr val="dk1"/>
          </a:lnRef>
          <a:fillRef idx="0">
            <a:schemeClr val="dk1"/>
          </a:fillRef>
          <a:effectRef idx="1">
            <a:schemeClr val="dk1"/>
          </a:effectRef>
          <a:fontRef idx="minor">
            <a:schemeClr val="tx1"/>
          </a:fontRef>
        </p:style>
      </p:cxnSp>
      <p:sp>
        <p:nvSpPr>
          <p:cNvPr id="26" name="Rectangle 25">
            <a:extLst>
              <a:ext uri="{FF2B5EF4-FFF2-40B4-BE49-F238E27FC236}">
                <a16:creationId xmlns:a16="http://schemas.microsoft.com/office/drawing/2014/main" id="{F6B05200-A4D2-5297-C2E5-03F5AEAB8818}"/>
              </a:ext>
            </a:extLst>
          </p:cNvPr>
          <p:cNvSpPr/>
          <p:nvPr/>
        </p:nvSpPr>
        <p:spPr>
          <a:xfrm>
            <a:off x="5760023" y="4993490"/>
            <a:ext cx="811358" cy="118872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err="1"/>
              <a:t>BaseRegion</a:t>
            </a:r>
            <a:endParaRPr lang="en-US" sz="900"/>
          </a:p>
        </p:txBody>
      </p:sp>
      <p:sp>
        <p:nvSpPr>
          <p:cNvPr id="27" name="Rectangle 26">
            <a:extLst>
              <a:ext uri="{FF2B5EF4-FFF2-40B4-BE49-F238E27FC236}">
                <a16:creationId xmlns:a16="http://schemas.microsoft.com/office/drawing/2014/main" id="{C04B7AD8-592C-47A3-3DCF-34A883D9656D}"/>
              </a:ext>
            </a:extLst>
          </p:cNvPr>
          <p:cNvSpPr/>
          <p:nvPr/>
        </p:nvSpPr>
        <p:spPr>
          <a:xfrm>
            <a:off x="6571381" y="4989972"/>
            <a:ext cx="55186" cy="11745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28" name="TextBox 27">
            <a:extLst>
              <a:ext uri="{FF2B5EF4-FFF2-40B4-BE49-F238E27FC236}">
                <a16:creationId xmlns:a16="http://schemas.microsoft.com/office/drawing/2014/main" id="{4D72F031-C2C5-4C63-92D1-5A228288A063}"/>
              </a:ext>
            </a:extLst>
          </p:cNvPr>
          <p:cNvSpPr txBox="1"/>
          <p:nvPr/>
        </p:nvSpPr>
        <p:spPr>
          <a:xfrm>
            <a:off x="5816935" y="4040084"/>
            <a:ext cx="1719169" cy="553998"/>
          </a:xfrm>
          <a:prstGeom prst="rect">
            <a:avLst/>
          </a:prstGeom>
          <a:noFill/>
        </p:spPr>
        <p:txBody>
          <a:bodyPr wrap="square" rtlCol="0">
            <a:spAutoFit/>
          </a:bodyPr>
          <a:lstStyle/>
          <a:p>
            <a:r>
              <a:rPr lang="en-US" sz="1000"/>
              <a:t>Region 2 Region (PGD)</a:t>
            </a:r>
          </a:p>
          <a:p>
            <a:endParaRPr lang="en-US" sz="1000"/>
          </a:p>
          <a:p>
            <a:r>
              <a:rPr lang="en-US" sz="1000"/>
              <a:t>=0 Or &gt;=55nm+11*N (N&gt;=0)</a:t>
            </a:r>
          </a:p>
        </p:txBody>
      </p:sp>
      <p:sp>
        <p:nvSpPr>
          <p:cNvPr id="29" name="Rectangle 28">
            <a:extLst>
              <a:ext uri="{FF2B5EF4-FFF2-40B4-BE49-F238E27FC236}">
                <a16:creationId xmlns:a16="http://schemas.microsoft.com/office/drawing/2014/main" id="{88212E90-7BCA-150F-EE98-24696145C049}"/>
              </a:ext>
            </a:extLst>
          </p:cNvPr>
          <p:cNvSpPr/>
          <p:nvPr/>
        </p:nvSpPr>
        <p:spPr>
          <a:xfrm>
            <a:off x="6934071" y="4934504"/>
            <a:ext cx="606142" cy="489638"/>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t>BaseRegion</a:t>
            </a:r>
            <a:endParaRPr lang="en-US" sz="600"/>
          </a:p>
        </p:txBody>
      </p:sp>
      <p:sp>
        <p:nvSpPr>
          <p:cNvPr id="30" name="Rectangle 29">
            <a:extLst>
              <a:ext uri="{FF2B5EF4-FFF2-40B4-BE49-F238E27FC236}">
                <a16:creationId xmlns:a16="http://schemas.microsoft.com/office/drawing/2014/main" id="{40C39A6C-BAD8-8937-07B4-3FA4CB5D4384}"/>
              </a:ext>
            </a:extLst>
          </p:cNvPr>
          <p:cNvSpPr/>
          <p:nvPr/>
        </p:nvSpPr>
        <p:spPr>
          <a:xfrm>
            <a:off x="6888352" y="4933902"/>
            <a:ext cx="45719" cy="489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31" name="Rectangle 30">
            <a:extLst>
              <a:ext uri="{FF2B5EF4-FFF2-40B4-BE49-F238E27FC236}">
                <a16:creationId xmlns:a16="http://schemas.microsoft.com/office/drawing/2014/main" id="{DA343B6A-3D0F-D979-3257-C1B0932D79FD}"/>
              </a:ext>
            </a:extLst>
          </p:cNvPr>
          <p:cNvSpPr/>
          <p:nvPr/>
        </p:nvSpPr>
        <p:spPr>
          <a:xfrm>
            <a:off x="7541524" y="4933902"/>
            <a:ext cx="45719" cy="489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cxnSp>
        <p:nvCxnSpPr>
          <p:cNvPr id="32" name="Straight Arrow Connector 31">
            <a:extLst>
              <a:ext uri="{FF2B5EF4-FFF2-40B4-BE49-F238E27FC236}">
                <a16:creationId xmlns:a16="http://schemas.microsoft.com/office/drawing/2014/main" id="{E146DA04-3BF1-8351-C43E-81ACF361B9BA}"/>
              </a:ext>
            </a:extLst>
          </p:cNvPr>
          <p:cNvCxnSpPr>
            <a:cxnSpLocks/>
            <a:stCxn id="16" idx="2"/>
          </p:cNvCxnSpPr>
          <p:nvPr/>
        </p:nvCxnSpPr>
        <p:spPr>
          <a:xfrm flipH="1">
            <a:off x="7569345" y="4835438"/>
            <a:ext cx="135145" cy="125065"/>
          </a:xfrm>
          <a:prstGeom prst="straightConnector1">
            <a:avLst/>
          </a:prstGeom>
          <a:ln>
            <a:solidFill>
              <a:schemeClr val="accent1">
                <a:lumMod val="50000"/>
              </a:schemeClr>
            </a:solidFill>
            <a:headEnd type="triangle"/>
            <a:tailEnd type="triangle"/>
          </a:ln>
        </p:spPr>
        <p:style>
          <a:lnRef idx="2">
            <a:schemeClr val="dk1"/>
          </a:lnRef>
          <a:fillRef idx="0">
            <a:schemeClr val="dk1"/>
          </a:fillRef>
          <a:effectRef idx="1">
            <a:schemeClr val="dk1"/>
          </a:effectRef>
          <a:fontRef idx="minor">
            <a:schemeClr val="tx1"/>
          </a:fontRef>
        </p:style>
      </p:cxnSp>
      <p:sp>
        <p:nvSpPr>
          <p:cNvPr id="33" name="TextBox 32">
            <a:extLst>
              <a:ext uri="{FF2B5EF4-FFF2-40B4-BE49-F238E27FC236}">
                <a16:creationId xmlns:a16="http://schemas.microsoft.com/office/drawing/2014/main" id="{7B047046-952B-365E-5867-C6DC64CACF0E}"/>
              </a:ext>
            </a:extLst>
          </p:cNvPr>
          <p:cNvSpPr txBox="1"/>
          <p:nvPr/>
        </p:nvSpPr>
        <p:spPr>
          <a:xfrm>
            <a:off x="7620560" y="4810430"/>
            <a:ext cx="1719169" cy="276999"/>
          </a:xfrm>
          <a:prstGeom prst="rect">
            <a:avLst/>
          </a:prstGeom>
          <a:noFill/>
        </p:spPr>
        <p:txBody>
          <a:bodyPr wrap="square" rtlCol="0">
            <a:spAutoFit/>
          </a:bodyPr>
          <a:lstStyle/>
          <a:p>
            <a:r>
              <a:rPr lang="en-US" sz="1200"/>
              <a:t>?</a:t>
            </a:r>
          </a:p>
        </p:txBody>
      </p:sp>
      <p:sp>
        <p:nvSpPr>
          <p:cNvPr id="34" name="Rectangle 33">
            <a:extLst>
              <a:ext uri="{FF2B5EF4-FFF2-40B4-BE49-F238E27FC236}">
                <a16:creationId xmlns:a16="http://schemas.microsoft.com/office/drawing/2014/main" id="{F95E1320-7207-5642-6972-387EDAED6338}"/>
              </a:ext>
            </a:extLst>
          </p:cNvPr>
          <p:cNvSpPr/>
          <p:nvPr/>
        </p:nvSpPr>
        <p:spPr>
          <a:xfrm>
            <a:off x="5754665" y="2882455"/>
            <a:ext cx="1924286" cy="7901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der</a:t>
            </a:r>
          </a:p>
        </p:txBody>
      </p:sp>
      <p:sp>
        <p:nvSpPr>
          <p:cNvPr id="35" name="Rectangle 34">
            <a:extLst>
              <a:ext uri="{FF2B5EF4-FFF2-40B4-BE49-F238E27FC236}">
                <a16:creationId xmlns:a16="http://schemas.microsoft.com/office/drawing/2014/main" id="{94BDCF82-1339-8EE1-469D-29E868D44060}"/>
              </a:ext>
            </a:extLst>
          </p:cNvPr>
          <p:cNvSpPr/>
          <p:nvPr/>
        </p:nvSpPr>
        <p:spPr>
          <a:xfrm>
            <a:off x="8893638" y="4756720"/>
            <a:ext cx="592360" cy="7901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endParaRPr lang="en-US" sz="1000"/>
          </a:p>
        </p:txBody>
      </p:sp>
      <p:sp>
        <p:nvSpPr>
          <p:cNvPr id="36" name="Rectangle 35">
            <a:extLst>
              <a:ext uri="{FF2B5EF4-FFF2-40B4-BE49-F238E27FC236}">
                <a16:creationId xmlns:a16="http://schemas.microsoft.com/office/drawing/2014/main" id="{78BD1866-C320-683F-A674-1E9BC32B24CC}"/>
              </a:ext>
            </a:extLst>
          </p:cNvPr>
          <p:cNvSpPr/>
          <p:nvPr/>
        </p:nvSpPr>
        <p:spPr>
          <a:xfrm>
            <a:off x="7740733" y="1585505"/>
            <a:ext cx="3938509" cy="112968"/>
          </a:xfrm>
          <a:prstGeom prst="rect">
            <a:avLst/>
          </a:prstGeom>
          <a:solidFill>
            <a:schemeClr val="accent4">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err="1">
                <a:solidFill>
                  <a:schemeClr val="tx1"/>
                </a:solidFill>
              </a:rPr>
              <a:t>OGD_halo</a:t>
            </a:r>
            <a:endParaRPr lang="en-US" sz="800">
              <a:solidFill>
                <a:schemeClr val="tx1"/>
              </a:solidFill>
            </a:endParaRPr>
          </a:p>
        </p:txBody>
      </p:sp>
      <p:sp>
        <p:nvSpPr>
          <p:cNvPr id="37" name="Rectangle 36">
            <a:extLst>
              <a:ext uri="{FF2B5EF4-FFF2-40B4-BE49-F238E27FC236}">
                <a16:creationId xmlns:a16="http://schemas.microsoft.com/office/drawing/2014/main" id="{6652FCD5-28E2-2211-093E-8A9FF6F3F379}"/>
              </a:ext>
            </a:extLst>
          </p:cNvPr>
          <p:cNvSpPr/>
          <p:nvPr/>
        </p:nvSpPr>
        <p:spPr>
          <a:xfrm>
            <a:off x="7730028" y="3648824"/>
            <a:ext cx="3968615" cy="111281"/>
          </a:xfrm>
          <a:prstGeom prst="rect">
            <a:avLst/>
          </a:prstGeom>
          <a:solidFill>
            <a:schemeClr val="accent4">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38" name="Rectangle 37">
            <a:extLst>
              <a:ext uri="{FF2B5EF4-FFF2-40B4-BE49-F238E27FC236}">
                <a16:creationId xmlns:a16="http://schemas.microsoft.com/office/drawing/2014/main" id="{2DDCF6BD-0BB0-9EA4-CB24-30E195A31F09}"/>
              </a:ext>
            </a:extLst>
          </p:cNvPr>
          <p:cNvSpPr/>
          <p:nvPr/>
        </p:nvSpPr>
        <p:spPr>
          <a:xfrm>
            <a:off x="7730028" y="3755620"/>
            <a:ext cx="1118167" cy="115143"/>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39" name="Rectangle 38">
            <a:extLst>
              <a:ext uri="{FF2B5EF4-FFF2-40B4-BE49-F238E27FC236}">
                <a16:creationId xmlns:a16="http://schemas.microsoft.com/office/drawing/2014/main" id="{0147355E-A72C-33F7-0595-F5A6611AD910}"/>
              </a:ext>
            </a:extLst>
          </p:cNvPr>
          <p:cNvSpPr/>
          <p:nvPr/>
        </p:nvSpPr>
        <p:spPr>
          <a:xfrm>
            <a:off x="8891338" y="3755620"/>
            <a:ext cx="1111624" cy="115143"/>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0" name="Rectangle 39">
            <a:extLst>
              <a:ext uri="{FF2B5EF4-FFF2-40B4-BE49-F238E27FC236}">
                <a16:creationId xmlns:a16="http://schemas.microsoft.com/office/drawing/2014/main" id="{048F0CC1-238C-E9AF-C38B-BD83C0BED2C8}"/>
              </a:ext>
            </a:extLst>
          </p:cNvPr>
          <p:cNvSpPr/>
          <p:nvPr/>
        </p:nvSpPr>
        <p:spPr>
          <a:xfrm>
            <a:off x="8891338" y="4509213"/>
            <a:ext cx="1111624" cy="115143"/>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00" err="1">
                <a:solidFill>
                  <a:schemeClr val="tx1"/>
                </a:solidFill>
              </a:rPr>
              <a:t>OGD_halo</a:t>
            </a:r>
            <a:endParaRPr lang="en-US" sz="500">
              <a:solidFill>
                <a:schemeClr val="tx1"/>
              </a:solidFill>
            </a:endParaRPr>
          </a:p>
        </p:txBody>
      </p:sp>
      <p:sp>
        <p:nvSpPr>
          <p:cNvPr id="41" name="Rectangle 40">
            <a:extLst>
              <a:ext uri="{FF2B5EF4-FFF2-40B4-BE49-F238E27FC236}">
                <a16:creationId xmlns:a16="http://schemas.microsoft.com/office/drawing/2014/main" id="{6861E404-48DE-438B-EC40-D3D7B62040EA}"/>
              </a:ext>
            </a:extLst>
          </p:cNvPr>
          <p:cNvSpPr/>
          <p:nvPr/>
        </p:nvSpPr>
        <p:spPr>
          <a:xfrm>
            <a:off x="7729200" y="4719004"/>
            <a:ext cx="1118167" cy="115143"/>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2" name="Rectangle 41">
            <a:extLst>
              <a:ext uri="{FF2B5EF4-FFF2-40B4-BE49-F238E27FC236}">
                <a16:creationId xmlns:a16="http://schemas.microsoft.com/office/drawing/2014/main" id="{9E0F4297-CBFF-F6A3-4C49-855004D5194B}"/>
              </a:ext>
            </a:extLst>
          </p:cNvPr>
          <p:cNvSpPr/>
          <p:nvPr/>
        </p:nvSpPr>
        <p:spPr>
          <a:xfrm>
            <a:off x="8357490" y="4834829"/>
            <a:ext cx="1102740" cy="115143"/>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3" name="Rectangle 42">
            <a:extLst>
              <a:ext uri="{FF2B5EF4-FFF2-40B4-BE49-F238E27FC236}">
                <a16:creationId xmlns:a16="http://schemas.microsoft.com/office/drawing/2014/main" id="{B2799227-9668-923C-1643-B116F2BC5AD4}"/>
              </a:ext>
            </a:extLst>
          </p:cNvPr>
          <p:cNvSpPr/>
          <p:nvPr/>
        </p:nvSpPr>
        <p:spPr>
          <a:xfrm>
            <a:off x="8364706" y="5799372"/>
            <a:ext cx="1085011" cy="115143"/>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4" name="Rectangle 43">
            <a:extLst>
              <a:ext uri="{FF2B5EF4-FFF2-40B4-BE49-F238E27FC236}">
                <a16:creationId xmlns:a16="http://schemas.microsoft.com/office/drawing/2014/main" id="{E968E9FD-BBCB-172F-42FE-4741D46B1824}"/>
              </a:ext>
            </a:extLst>
          </p:cNvPr>
          <p:cNvSpPr/>
          <p:nvPr/>
        </p:nvSpPr>
        <p:spPr>
          <a:xfrm>
            <a:off x="10368885" y="4032385"/>
            <a:ext cx="1065660" cy="121978"/>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5" name="Rectangle 44">
            <a:extLst>
              <a:ext uri="{FF2B5EF4-FFF2-40B4-BE49-F238E27FC236}">
                <a16:creationId xmlns:a16="http://schemas.microsoft.com/office/drawing/2014/main" id="{731B9D42-280F-4044-BEEE-C8B00522F191}"/>
              </a:ext>
            </a:extLst>
          </p:cNvPr>
          <p:cNvSpPr/>
          <p:nvPr/>
        </p:nvSpPr>
        <p:spPr>
          <a:xfrm>
            <a:off x="10378824" y="4691199"/>
            <a:ext cx="1055721" cy="121978"/>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6" name="Rectangle 45">
            <a:extLst>
              <a:ext uri="{FF2B5EF4-FFF2-40B4-BE49-F238E27FC236}">
                <a16:creationId xmlns:a16="http://schemas.microsoft.com/office/drawing/2014/main" id="{90A16F51-F80D-CCA1-C1E6-B1DA3040A747}"/>
              </a:ext>
            </a:extLst>
          </p:cNvPr>
          <p:cNvSpPr/>
          <p:nvPr/>
        </p:nvSpPr>
        <p:spPr>
          <a:xfrm>
            <a:off x="6926666" y="4937284"/>
            <a:ext cx="612390" cy="125065"/>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7" name="Rectangle 46">
            <a:extLst>
              <a:ext uri="{FF2B5EF4-FFF2-40B4-BE49-F238E27FC236}">
                <a16:creationId xmlns:a16="http://schemas.microsoft.com/office/drawing/2014/main" id="{1F6936A8-F0F7-C1A5-FAF5-106F44A67502}"/>
              </a:ext>
            </a:extLst>
          </p:cNvPr>
          <p:cNvSpPr/>
          <p:nvPr/>
        </p:nvSpPr>
        <p:spPr>
          <a:xfrm>
            <a:off x="6926876" y="5295348"/>
            <a:ext cx="619019" cy="125065"/>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8" name="Rectangle 47">
            <a:extLst>
              <a:ext uri="{FF2B5EF4-FFF2-40B4-BE49-F238E27FC236}">
                <a16:creationId xmlns:a16="http://schemas.microsoft.com/office/drawing/2014/main" id="{EA137E48-6F5A-8694-5F20-0FC3248EB8BE}"/>
              </a:ext>
            </a:extLst>
          </p:cNvPr>
          <p:cNvSpPr/>
          <p:nvPr/>
        </p:nvSpPr>
        <p:spPr>
          <a:xfrm>
            <a:off x="5760865" y="4993490"/>
            <a:ext cx="819877" cy="121584"/>
          </a:xfrm>
          <a:prstGeom prst="rect">
            <a:avLst/>
          </a:prstGeom>
          <a:solidFill>
            <a:schemeClr val="accent4">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49" name="Rectangle 48">
            <a:extLst>
              <a:ext uri="{FF2B5EF4-FFF2-40B4-BE49-F238E27FC236}">
                <a16:creationId xmlns:a16="http://schemas.microsoft.com/office/drawing/2014/main" id="{D7CC4A90-D7BF-3698-34AA-5CA18C9CDF7B}"/>
              </a:ext>
            </a:extLst>
          </p:cNvPr>
          <p:cNvSpPr/>
          <p:nvPr/>
        </p:nvSpPr>
        <p:spPr>
          <a:xfrm>
            <a:off x="5762080" y="6051631"/>
            <a:ext cx="807449" cy="121584"/>
          </a:xfrm>
          <a:prstGeom prst="rect">
            <a:avLst/>
          </a:prstGeom>
          <a:solidFill>
            <a:schemeClr val="accent4">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50" name="Rectangle 49">
            <a:extLst>
              <a:ext uri="{FF2B5EF4-FFF2-40B4-BE49-F238E27FC236}">
                <a16:creationId xmlns:a16="http://schemas.microsoft.com/office/drawing/2014/main" id="{F3B83D73-5565-6C27-B9D2-9D55DC7288A5}"/>
              </a:ext>
            </a:extLst>
          </p:cNvPr>
          <p:cNvSpPr/>
          <p:nvPr/>
        </p:nvSpPr>
        <p:spPr>
          <a:xfrm>
            <a:off x="5760457" y="4547325"/>
            <a:ext cx="1921173" cy="121584"/>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51" name="Rectangle 50">
            <a:extLst>
              <a:ext uri="{FF2B5EF4-FFF2-40B4-BE49-F238E27FC236}">
                <a16:creationId xmlns:a16="http://schemas.microsoft.com/office/drawing/2014/main" id="{94D0DE2B-14FA-11F5-41D1-6AAC044F60D7}"/>
              </a:ext>
            </a:extLst>
          </p:cNvPr>
          <p:cNvSpPr/>
          <p:nvPr/>
        </p:nvSpPr>
        <p:spPr>
          <a:xfrm>
            <a:off x="5757344" y="2962906"/>
            <a:ext cx="1921607" cy="121584"/>
          </a:xfrm>
          <a:prstGeom prst="rect">
            <a:avLst/>
          </a:prstGeom>
          <a:solidFill>
            <a:schemeClr val="accent6">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52" name="Rectangle 51">
            <a:extLst>
              <a:ext uri="{FF2B5EF4-FFF2-40B4-BE49-F238E27FC236}">
                <a16:creationId xmlns:a16="http://schemas.microsoft.com/office/drawing/2014/main" id="{1E260CD1-AB1A-63D2-5334-FA16638E5B0C}"/>
              </a:ext>
            </a:extLst>
          </p:cNvPr>
          <p:cNvSpPr/>
          <p:nvPr/>
        </p:nvSpPr>
        <p:spPr>
          <a:xfrm>
            <a:off x="10368885" y="3940403"/>
            <a:ext cx="1071052" cy="8892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p>
        </p:txBody>
      </p:sp>
      <p:sp>
        <p:nvSpPr>
          <p:cNvPr id="53" name="Rectangle 52">
            <a:extLst>
              <a:ext uri="{FF2B5EF4-FFF2-40B4-BE49-F238E27FC236}">
                <a16:creationId xmlns:a16="http://schemas.microsoft.com/office/drawing/2014/main" id="{CC56F5DE-6C10-4273-0EFD-C825B4C19CBD}"/>
              </a:ext>
            </a:extLst>
          </p:cNvPr>
          <p:cNvSpPr/>
          <p:nvPr/>
        </p:nvSpPr>
        <p:spPr>
          <a:xfrm>
            <a:off x="10368885" y="3851592"/>
            <a:ext cx="1071052" cy="88929"/>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p>
        </p:txBody>
      </p:sp>
      <p:sp>
        <p:nvSpPr>
          <p:cNvPr id="54" name="L-Shape 53">
            <a:extLst>
              <a:ext uri="{FF2B5EF4-FFF2-40B4-BE49-F238E27FC236}">
                <a16:creationId xmlns:a16="http://schemas.microsoft.com/office/drawing/2014/main" id="{6040250C-4319-DF13-99E1-B4270A0628FE}"/>
              </a:ext>
            </a:extLst>
          </p:cNvPr>
          <p:cNvSpPr/>
          <p:nvPr/>
        </p:nvSpPr>
        <p:spPr>
          <a:xfrm rot="16200000">
            <a:off x="10328558" y="5019195"/>
            <a:ext cx="919888" cy="891316"/>
          </a:xfrm>
          <a:prstGeom prst="corner">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87B94854-F0C0-2F06-3A40-151BBDC2DA59}"/>
              </a:ext>
            </a:extLst>
          </p:cNvPr>
          <p:cNvSpPr/>
          <p:nvPr/>
        </p:nvSpPr>
        <p:spPr>
          <a:xfrm>
            <a:off x="10305255" y="5474693"/>
            <a:ext cx="69022" cy="4569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56" name="Rectangle 55">
            <a:extLst>
              <a:ext uri="{FF2B5EF4-FFF2-40B4-BE49-F238E27FC236}">
                <a16:creationId xmlns:a16="http://schemas.microsoft.com/office/drawing/2014/main" id="{0D786F29-C0DA-F526-AFB3-83BA269CB7A0}"/>
              </a:ext>
            </a:extLst>
          </p:cNvPr>
          <p:cNvSpPr/>
          <p:nvPr/>
        </p:nvSpPr>
        <p:spPr>
          <a:xfrm>
            <a:off x="10753991" y="4808007"/>
            <a:ext cx="67171" cy="70473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57" name="Rectangle 56">
            <a:extLst>
              <a:ext uri="{FF2B5EF4-FFF2-40B4-BE49-F238E27FC236}">
                <a16:creationId xmlns:a16="http://schemas.microsoft.com/office/drawing/2014/main" id="{C5C3691B-A290-DDFB-4AF2-AD018BB007DD}"/>
              </a:ext>
            </a:extLst>
          </p:cNvPr>
          <p:cNvSpPr/>
          <p:nvPr/>
        </p:nvSpPr>
        <p:spPr>
          <a:xfrm>
            <a:off x="11238571" y="4808007"/>
            <a:ext cx="71399" cy="11564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58" name="Rectangle 57">
            <a:extLst>
              <a:ext uri="{FF2B5EF4-FFF2-40B4-BE49-F238E27FC236}">
                <a16:creationId xmlns:a16="http://schemas.microsoft.com/office/drawing/2014/main" id="{F80A6C57-219D-5FF2-7CBC-7755B221B6AA}"/>
              </a:ext>
            </a:extLst>
          </p:cNvPr>
          <p:cNvSpPr/>
          <p:nvPr/>
        </p:nvSpPr>
        <p:spPr>
          <a:xfrm>
            <a:off x="10823938" y="5004908"/>
            <a:ext cx="411147" cy="117437"/>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err="1">
                <a:solidFill>
                  <a:schemeClr val="tx1"/>
                </a:solidFill>
              </a:rPr>
              <a:t>OGD_halo</a:t>
            </a:r>
            <a:endParaRPr lang="en-US" sz="400">
              <a:solidFill>
                <a:schemeClr val="tx1"/>
              </a:solidFill>
            </a:endParaRPr>
          </a:p>
        </p:txBody>
      </p:sp>
      <p:sp>
        <p:nvSpPr>
          <p:cNvPr id="59" name="Rectangle 58">
            <a:extLst>
              <a:ext uri="{FF2B5EF4-FFF2-40B4-BE49-F238E27FC236}">
                <a16:creationId xmlns:a16="http://schemas.microsoft.com/office/drawing/2014/main" id="{AF0704E5-500C-974C-431E-1DB179046FFA}"/>
              </a:ext>
            </a:extLst>
          </p:cNvPr>
          <p:cNvSpPr/>
          <p:nvPr/>
        </p:nvSpPr>
        <p:spPr>
          <a:xfrm>
            <a:off x="10373292" y="5485819"/>
            <a:ext cx="447870" cy="95712"/>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err="1">
                <a:solidFill>
                  <a:schemeClr val="tx1"/>
                </a:solidFill>
              </a:rPr>
              <a:t>OGD_halo</a:t>
            </a:r>
            <a:endParaRPr lang="en-US" sz="400">
              <a:solidFill>
                <a:schemeClr val="tx1"/>
              </a:solidFill>
            </a:endParaRPr>
          </a:p>
        </p:txBody>
      </p:sp>
      <p:sp>
        <p:nvSpPr>
          <p:cNvPr id="60" name="Rectangle 59">
            <a:extLst>
              <a:ext uri="{FF2B5EF4-FFF2-40B4-BE49-F238E27FC236}">
                <a16:creationId xmlns:a16="http://schemas.microsoft.com/office/drawing/2014/main" id="{3995372C-B2B4-90D3-5F25-399FF10F26D8}"/>
              </a:ext>
            </a:extLst>
          </p:cNvPr>
          <p:cNvSpPr/>
          <p:nvPr/>
        </p:nvSpPr>
        <p:spPr>
          <a:xfrm>
            <a:off x="10368884" y="5835952"/>
            <a:ext cx="867835" cy="95711"/>
          </a:xfrm>
          <a:prstGeom prst="rect">
            <a:avLst/>
          </a:prstGeom>
          <a:solidFill>
            <a:schemeClr val="accent2">
              <a:lumMod val="40000"/>
              <a:lumOff val="60000"/>
              <a:alpha val="84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err="1">
                <a:solidFill>
                  <a:schemeClr val="tx1"/>
                </a:solidFill>
              </a:rPr>
              <a:t>OGD_halo</a:t>
            </a:r>
            <a:endParaRPr lang="en-US" sz="600">
              <a:solidFill>
                <a:schemeClr val="tx1"/>
              </a:solidFill>
            </a:endParaRPr>
          </a:p>
        </p:txBody>
      </p:sp>
      <p:sp>
        <p:nvSpPr>
          <p:cNvPr id="61" name="Rectangle 60">
            <a:extLst>
              <a:ext uri="{FF2B5EF4-FFF2-40B4-BE49-F238E27FC236}">
                <a16:creationId xmlns:a16="http://schemas.microsoft.com/office/drawing/2014/main" id="{84FF7FEE-209F-D80D-3D94-DCAA5644A4D9}"/>
              </a:ext>
            </a:extLst>
          </p:cNvPr>
          <p:cNvSpPr/>
          <p:nvPr/>
        </p:nvSpPr>
        <p:spPr>
          <a:xfrm>
            <a:off x="10823013" y="4903205"/>
            <a:ext cx="436044" cy="933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a:t>der</a:t>
            </a:r>
          </a:p>
        </p:txBody>
      </p:sp>
      <p:sp>
        <p:nvSpPr>
          <p:cNvPr id="62" name="Rectangle 61">
            <a:extLst>
              <a:ext uri="{FF2B5EF4-FFF2-40B4-BE49-F238E27FC236}">
                <a16:creationId xmlns:a16="http://schemas.microsoft.com/office/drawing/2014/main" id="{E9916FE6-08D0-AF73-2EEC-B0F2097E7F8A}"/>
              </a:ext>
            </a:extLst>
          </p:cNvPr>
          <p:cNvSpPr/>
          <p:nvPr/>
        </p:nvSpPr>
        <p:spPr>
          <a:xfrm>
            <a:off x="10821341" y="4808007"/>
            <a:ext cx="436044" cy="933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
              <a:t>der</a:t>
            </a:r>
          </a:p>
        </p:txBody>
      </p:sp>
      <p:sp>
        <p:nvSpPr>
          <p:cNvPr id="63" name="Rectangle 62">
            <a:extLst>
              <a:ext uri="{FF2B5EF4-FFF2-40B4-BE49-F238E27FC236}">
                <a16:creationId xmlns:a16="http://schemas.microsoft.com/office/drawing/2014/main" id="{8577E41B-E8AD-0641-9C96-89AB4A8C3816}"/>
              </a:ext>
            </a:extLst>
          </p:cNvPr>
          <p:cNvSpPr/>
          <p:nvPr/>
        </p:nvSpPr>
        <p:spPr>
          <a:xfrm>
            <a:off x="8873424" y="4681420"/>
            <a:ext cx="592360" cy="7901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endParaRPr lang="en-US" sz="1000"/>
          </a:p>
        </p:txBody>
      </p:sp>
      <p:sp>
        <p:nvSpPr>
          <p:cNvPr id="64" name="Rectangle 63">
            <a:extLst>
              <a:ext uri="{FF2B5EF4-FFF2-40B4-BE49-F238E27FC236}">
                <a16:creationId xmlns:a16="http://schemas.microsoft.com/office/drawing/2014/main" id="{74BB1466-BA7A-F90F-8512-CD1E5B8F58BE}"/>
              </a:ext>
            </a:extLst>
          </p:cNvPr>
          <p:cNvSpPr/>
          <p:nvPr/>
        </p:nvSpPr>
        <p:spPr>
          <a:xfrm>
            <a:off x="8891338" y="4613384"/>
            <a:ext cx="1109021" cy="743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endParaRPr lang="en-US" sz="1000"/>
          </a:p>
        </p:txBody>
      </p:sp>
      <p:sp>
        <p:nvSpPr>
          <p:cNvPr id="65" name="Rectangle 64">
            <a:extLst>
              <a:ext uri="{FF2B5EF4-FFF2-40B4-BE49-F238E27FC236}">
                <a16:creationId xmlns:a16="http://schemas.microsoft.com/office/drawing/2014/main" id="{9093DAC8-383C-1D9F-9D42-207EB947BCF5}"/>
              </a:ext>
            </a:extLst>
          </p:cNvPr>
          <p:cNvSpPr/>
          <p:nvPr/>
        </p:nvSpPr>
        <p:spPr>
          <a:xfrm>
            <a:off x="9973151" y="3754695"/>
            <a:ext cx="55186" cy="9557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66" name="Rectangle 65">
            <a:extLst>
              <a:ext uri="{FF2B5EF4-FFF2-40B4-BE49-F238E27FC236}">
                <a16:creationId xmlns:a16="http://schemas.microsoft.com/office/drawing/2014/main" id="{EE8F14D8-F8AA-2706-B420-4ED9DFAA4859}"/>
              </a:ext>
            </a:extLst>
          </p:cNvPr>
          <p:cNvSpPr/>
          <p:nvPr/>
        </p:nvSpPr>
        <p:spPr>
          <a:xfrm>
            <a:off x="8848195" y="3754695"/>
            <a:ext cx="45719" cy="110100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sp>
        <p:nvSpPr>
          <p:cNvPr id="67" name="Rectangle 66">
            <a:extLst>
              <a:ext uri="{FF2B5EF4-FFF2-40B4-BE49-F238E27FC236}">
                <a16:creationId xmlns:a16="http://schemas.microsoft.com/office/drawing/2014/main" id="{84EB9893-D022-88B9-1F4B-197E951C099E}"/>
              </a:ext>
            </a:extLst>
          </p:cNvPr>
          <p:cNvSpPr/>
          <p:nvPr/>
        </p:nvSpPr>
        <p:spPr>
          <a:xfrm>
            <a:off x="9452276" y="4676010"/>
            <a:ext cx="45719" cy="13205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BT</a:t>
            </a:r>
          </a:p>
        </p:txBody>
      </p:sp>
      <p:cxnSp>
        <p:nvCxnSpPr>
          <p:cNvPr id="68" name="Straight Arrow Connector 67">
            <a:extLst>
              <a:ext uri="{FF2B5EF4-FFF2-40B4-BE49-F238E27FC236}">
                <a16:creationId xmlns:a16="http://schemas.microsoft.com/office/drawing/2014/main" id="{DB6200F5-A823-A79D-6CF9-96329BAEE8B9}"/>
              </a:ext>
            </a:extLst>
          </p:cNvPr>
          <p:cNvCxnSpPr>
            <a:cxnSpLocks/>
            <a:stCxn id="30" idx="1"/>
          </p:cNvCxnSpPr>
          <p:nvPr/>
        </p:nvCxnSpPr>
        <p:spPr>
          <a:xfrm flipH="1">
            <a:off x="6616150" y="5178721"/>
            <a:ext cx="272202" cy="1864"/>
          </a:xfrm>
          <a:prstGeom prst="straightConnector1">
            <a:avLst/>
          </a:prstGeom>
          <a:ln>
            <a:solidFill>
              <a:schemeClr val="accent1">
                <a:lumMod val="50000"/>
              </a:schemeClr>
            </a:solidFill>
            <a:headEnd type="triangle"/>
            <a:tailEnd type="triangle"/>
          </a:ln>
        </p:spPr>
        <p:style>
          <a:lnRef idx="2">
            <a:schemeClr val="dk1"/>
          </a:lnRef>
          <a:fillRef idx="0">
            <a:schemeClr val="dk1"/>
          </a:fillRef>
          <a:effectRef idx="1">
            <a:schemeClr val="dk1"/>
          </a:effectRef>
          <a:fontRef idx="minor">
            <a:schemeClr val="tx1"/>
          </a:fontRef>
        </p:style>
      </p:cxnSp>
      <p:sp>
        <p:nvSpPr>
          <p:cNvPr id="69" name="Rectangle 68">
            <a:extLst>
              <a:ext uri="{FF2B5EF4-FFF2-40B4-BE49-F238E27FC236}">
                <a16:creationId xmlns:a16="http://schemas.microsoft.com/office/drawing/2014/main" id="{202CCF55-C453-780B-817C-A61BC9EFBC1E}"/>
              </a:ext>
            </a:extLst>
          </p:cNvPr>
          <p:cNvSpPr/>
          <p:nvPr/>
        </p:nvSpPr>
        <p:spPr>
          <a:xfrm>
            <a:off x="8374716" y="5925314"/>
            <a:ext cx="1085513" cy="6489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a:t>der</a:t>
            </a:r>
            <a:endParaRPr lang="en-US" sz="1000"/>
          </a:p>
        </p:txBody>
      </p:sp>
    </p:spTree>
    <p:extLst>
      <p:ext uri="{BB962C8B-B14F-4D97-AF65-F5344CB8AC3E}">
        <p14:creationId xmlns:p14="http://schemas.microsoft.com/office/powerpoint/2010/main" val="710363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A37BD-4806-BA6F-B63F-AB187AD37A00}"/>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89C499F5-0DA7-9993-6E34-EFAB3A646BD7}"/>
              </a:ext>
            </a:extLst>
          </p:cNvPr>
          <p:cNvSpPr txBox="1">
            <a:spLocks/>
          </p:cNvSpPr>
          <p:nvPr/>
        </p:nvSpPr>
        <p:spPr>
          <a:xfrm>
            <a:off x="3483951" y="-295393"/>
            <a:ext cx="624639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Base &amp; Context ID names</a:t>
            </a:r>
          </a:p>
        </p:txBody>
      </p:sp>
      <p:graphicFrame>
        <p:nvGraphicFramePr>
          <p:cNvPr id="22" name="Table 21">
            <a:extLst>
              <a:ext uri="{FF2B5EF4-FFF2-40B4-BE49-F238E27FC236}">
                <a16:creationId xmlns:a16="http://schemas.microsoft.com/office/drawing/2014/main" id="{2A3C42AC-CB0D-56C0-6DE5-E7E24539CDC5}"/>
              </a:ext>
            </a:extLst>
          </p:cNvPr>
          <p:cNvGraphicFramePr>
            <a:graphicFrameLocks noGrp="1"/>
          </p:cNvGraphicFramePr>
          <p:nvPr>
            <p:extLst>
              <p:ext uri="{D42A27DB-BD31-4B8C-83A1-F6EECF244321}">
                <p14:modId xmlns:p14="http://schemas.microsoft.com/office/powerpoint/2010/main" val="2445443253"/>
              </p:ext>
            </p:extLst>
          </p:nvPr>
        </p:nvGraphicFramePr>
        <p:xfrm>
          <a:off x="420494" y="2094268"/>
          <a:ext cx="3046775" cy="1368542"/>
        </p:xfrm>
        <a:graphic>
          <a:graphicData uri="http://schemas.openxmlformats.org/drawingml/2006/table">
            <a:tbl>
              <a:tblPr firstRow="1" bandRow="1"/>
              <a:tblGrid>
                <a:gridCol w="809854">
                  <a:extLst>
                    <a:ext uri="{9D8B030D-6E8A-4147-A177-3AD203B41FA5}">
                      <a16:colId xmlns:a16="http://schemas.microsoft.com/office/drawing/2014/main" val="447452799"/>
                    </a:ext>
                  </a:extLst>
                </a:gridCol>
                <a:gridCol w="2236921">
                  <a:extLst>
                    <a:ext uri="{9D8B030D-6E8A-4147-A177-3AD203B41FA5}">
                      <a16:colId xmlns:a16="http://schemas.microsoft.com/office/drawing/2014/main" val="1267457740"/>
                    </a:ext>
                  </a:extLst>
                </a:gridCol>
              </a:tblGrid>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b="1">
                        <a:latin typeface="Intel Clear" panose="020B0604020203020204" pitchFamily="34" charset="0"/>
                        <a:ea typeface="Intel Clear" panose="020B0604020203020204" pitchFamily="34" charset="0"/>
                        <a:cs typeface="Intel Clear" panose="020B0604020203020204" pitchFamily="34" charset="0"/>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b="1">
                          <a:latin typeface="Intel Clear" panose="020B0604020203020204" pitchFamily="34" charset="0"/>
                          <a:ea typeface="Intel Clear" panose="020B0604020203020204" pitchFamily="34" charset="0"/>
                          <a:cs typeface="Intel Clear" panose="020B0604020203020204" pitchFamily="34" charset="0"/>
                        </a:rPr>
                        <a:t>Base Region ID layers</a:t>
                      </a: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711598818"/>
                  </a:ext>
                </a:extLst>
              </a:tr>
              <a:tr h="37084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a:latin typeface="Intel Clear" panose="020B0604020203020204" pitchFamily="34" charset="0"/>
                          <a:ea typeface="Intel Clear" panose="020B0604020203020204" pitchFamily="34" charset="0"/>
                          <a:cs typeface="Intel Clear" panose="020B0604020203020204" pitchFamily="34" charset="0"/>
                        </a:rPr>
                        <a:t>110CH</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Intel Clear" panose="020B0604020203020204" pitchFamily="34" charset="0"/>
                          <a:ea typeface="Intel Clear" panose="020B0604020203020204" pitchFamily="34" charset="0"/>
                          <a:cs typeface="Intel Clear" panose="020B0604020203020204" pitchFamily="34" charset="0"/>
                        </a:rPr>
                        <a:t>b110h_44ppBaseRegion;id</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89905187"/>
                  </a:ext>
                </a:extLst>
              </a:tr>
              <a:tr h="313431">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a:latin typeface="Intel Clear" panose="020B0604020203020204" pitchFamily="34" charset="0"/>
                          <a:ea typeface="Intel Clear" panose="020B0604020203020204" pitchFamily="34" charset="0"/>
                          <a:cs typeface="Intel Clear" panose="020B0604020203020204" pitchFamily="34" charset="0"/>
                        </a:rPr>
                        <a:t>132CH</a:t>
                      </a: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Intel Clear" panose="020B0604020203020204" pitchFamily="34" charset="0"/>
                          <a:ea typeface="Intel Clear" panose="020B0604020203020204" pitchFamily="34" charset="0"/>
                          <a:cs typeface="Intel Clear" panose="020B0604020203020204" pitchFamily="34" charset="0"/>
                        </a:rPr>
                        <a:t>b132h_44ppBaseRegion;id</a:t>
                      </a: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8629201"/>
                  </a:ext>
                </a:extLst>
              </a:tr>
              <a:tr h="313431">
                <a:tc>
                  <a:txBody>
                    <a:bodyPr/>
                    <a:lstStyle/>
                    <a:p>
                      <a:r>
                        <a:rPr lang="en-US" sz="1200">
                          <a:latin typeface="Intel Clear" panose="020B0604020203020204" pitchFamily="34" charset="0"/>
                          <a:ea typeface="Intel Clear" panose="020B0604020203020204" pitchFamily="34" charset="0"/>
                          <a:cs typeface="Intel Clear" panose="020B0604020203020204" pitchFamily="34" charset="0"/>
                        </a:rPr>
                        <a:t>165CH</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Intel Clear" panose="020B0604020203020204" pitchFamily="34" charset="0"/>
                          <a:ea typeface="Intel Clear" panose="020B0604020203020204" pitchFamily="34" charset="0"/>
                          <a:cs typeface="Intel Clear" panose="020B0604020203020204" pitchFamily="34" charset="0"/>
                        </a:rPr>
                        <a:t>b165h_44ppBaseRegion;id</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248445514"/>
                  </a:ext>
                </a:extLst>
              </a:tr>
            </a:tbl>
          </a:graphicData>
        </a:graphic>
      </p:graphicFrame>
      <p:graphicFrame>
        <p:nvGraphicFramePr>
          <p:cNvPr id="23" name="Table 22">
            <a:extLst>
              <a:ext uri="{FF2B5EF4-FFF2-40B4-BE49-F238E27FC236}">
                <a16:creationId xmlns:a16="http://schemas.microsoft.com/office/drawing/2014/main" id="{BD71AF1D-58EC-CE07-CFC3-ADDD83454028}"/>
              </a:ext>
            </a:extLst>
          </p:cNvPr>
          <p:cNvGraphicFramePr>
            <a:graphicFrameLocks noGrp="1"/>
          </p:cNvGraphicFramePr>
          <p:nvPr>
            <p:extLst>
              <p:ext uri="{D42A27DB-BD31-4B8C-83A1-F6EECF244321}">
                <p14:modId xmlns:p14="http://schemas.microsoft.com/office/powerpoint/2010/main" val="363606771"/>
              </p:ext>
            </p:extLst>
          </p:nvPr>
        </p:nvGraphicFramePr>
        <p:xfrm>
          <a:off x="4646041" y="1896766"/>
          <a:ext cx="7289940" cy="1920240"/>
        </p:xfrm>
        <a:graphic>
          <a:graphicData uri="http://schemas.openxmlformats.org/drawingml/2006/table">
            <a:tbl>
              <a:tblPr firstRow="1" bandRow="1"/>
              <a:tblGrid>
                <a:gridCol w="1399159">
                  <a:extLst>
                    <a:ext uri="{9D8B030D-6E8A-4147-A177-3AD203B41FA5}">
                      <a16:colId xmlns:a16="http://schemas.microsoft.com/office/drawing/2014/main" val="447452799"/>
                    </a:ext>
                  </a:extLst>
                </a:gridCol>
                <a:gridCol w="1139371">
                  <a:extLst>
                    <a:ext uri="{9D8B030D-6E8A-4147-A177-3AD203B41FA5}">
                      <a16:colId xmlns:a16="http://schemas.microsoft.com/office/drawing/2014/main" val="2115158599"/>
                    </a:ext>
                  </a:extLst>
                </a:gridCol>
                <a:gridCol w="1373435">
                  <a:extLst>
                    <a:ext uri="{9D8B030D-6E8A-4147-A177-3AD203B41FA5}">
                      <a16:colId xmlns:a16="http://schemas.microsoft.com/office/drawing/2014/main" val="2605500713"/>
                    </a:ext>
                  </a:extLst>
                </a:gridCol>
                <a:gridCol w="1871209">
                  <a:extLst>
                    <a:ext uri="{9D8B030D-6E8A-4147-A177-3AD203B41FA5}">
                      <a16:colId xmlns:a16="http://schemas.microsoft.com/office/drawing/2014/main" val="3114255077"/>
                    </a:ext>
                  </a:extLst>
                </a:gridCol>
                <a:gridCol w="1506766">
                  <a:extLst>
                    <a:ext uri="{9D8B030D-6E8A-4147-A177-3AD203B41FA5}">
                      <a16:colId xmlns:a16="http://schemas.microsoft.com/office/drawing/2014/main" val="3180145491"/>
                    </a:ext>
                  </a:extLst>
                </a:gridCol>
              </a:tblGrid>
              <a:tr h="72009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endParaRPr lang="en-US" sz="1200" b="1">
                        <a:latin typeface="Intel Clear" panose="020B0604020203020204" pitchFamily="34" charset="0"/>
                        <a:ea typeface="Intel Clear" panose="020B0604020203020204" pitchFamily="34" charset="0"/>
                        <a:cs typeface="Intel Clear" panose="020B0604020203020204" pitchFamily="34" charset="0"/>
                      </a:endParaRP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1">
                          <a:effectLst>
                            <a:outerShdw blurRad="38100" dist="38100" dir="2700000" algn="tl">
                              <a:srgbClr val="000000">
                                <a:alpha val="43137"/>
                              </a:srgbClr>
                            </a:outerShdw>
                          </a:effectLst>
                          <a:latin typeface="Intel Clear" panose="020B0604020203020204" pitchFamily="34" charset="0"/>
                          <a:ea typeface="Intel Clear" panose="020B0604020203020204" pitchFamily="34" charset="0"/>
                          <a:cs typeface="Intel Clear" panose="020B0604020203020204" pitchFamily="34" charset="0"/>
                        </a:rPr>
                        <a:t>Digital context</a:t>
                      </a:r>
                      <a:r>
                        <a:rPr lang="en-US" sz="1200" b="0">
                          <a:effectLst>
                            <a:outerShdw blurRad="38100" dist="38100" dir="2700000" algn="tl">
                              <a:srgbClr val="000000">
                                <a:alpha val="43137"/>
                              </a:srgbClr>
                            </a:outerShdw>
                          </a:effectLst>
                          <a:latin typeface="Intel Clear" panose="020B0604020203020204" pitchFamily="34" charset="0"/>
                          <a:ea typeface="Intel Clear" panose="020B0604020203020204" pitchFamily="34" charset="0"/>
                          <a:cs typeface="Intel Clear" panose="020B0604020203020204" pitchFamily="34" charset="0"/>
                        </a:rPr>
                        <a:t> </a:t>
                      </a:r>
                      <a:r>
                        <a:rPr lang="en-US" sz="1200" b="0">
                          <a:latin typeface="Intel Clear" panose="020B0604020203020204" pitchFamily="34" charset="0"/>
                          <a:ea typeface="Intel Clear" panose="020B0604020203020204" pitchFamily="34" charset="0"/>
                          <a:cs typeface="Intel Clear" panose="020B0604020203020204" pitchFamily="34" charset="0"/>
                        </a:rPr>
                        <a:t>for APR construction</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1">
                          <a:effectLst>
                            <a:outerShdw blurRad="38100" dist="38100" dir="2700000" algn="tl">
                              <a:srgbClr val="000000">
                                <a:alpha val="43137"/>
                              </a:srgbClr>
                            </a:outerShdw>
                          </a:effectLst>
                          <a:latin typeface="Intel Clear" panose="020B0604020203020204" pitchFamily="34" charset="0"/>
                          <a:ea typeface="Intel Clear" panose="020B0604020203020204" pitchFamily="34" charset="0"/>
                          <a:cs typeface="Intel Clear" panose="020B0604020203020204" pitchFamily="34" charset="0"/>
                        </a:rPr>
                        <a:t>Custom context </a:t>
                      </a:r>
                      <a:r>
                        <a:rPr lang="en-US" sz="1200" b="0">
                          <a:latin typeface="Intel Clear" panose="020B0604020203020204" pitchFamily="34" charset="0"/>
                          <a:ea typeface="Intel Clear" panose="020B0604020203020204" pitchFamily="34" charset="0"/>
                          <a:cs typeface="Intel Clear" panose="020B0604020203020204" pitchFamily="34" charset="0"/>
                        </a:rPr>
                        <a:t>for custom digital and custom analog</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1">
                          <a:effectLst>
                            <a:outerShdw blurRad="38100" dist="38100" dir="2700000" algn="tl">
                              <a:srgbClr val="000000">
                                <a:alpha val="43137"/>
                              </a:srgbClr>
                            </a:outerShdw>
                          </a:effectLst>
                          <a:latin typeface="Intel Clear" panose="020B0604020203020204" pitchFamily="34" charset="0"/>
                          <a:ea typeface="Intel Clear" panose="020B0604020203020204" pitchFamily="34" charset="0"/>
                          <a:cs typeface="Intel Clear" panose="020B0604020203020204" pitchFamily="34" charset="0"/>
                        </a:rPr>
                        <a:t>Memory context </a:t>
                      </a:r>
                      <a:r>
                        <a:rPr lang="en-US" sz="1200" b="0">
                          <a:latin typeface="Intel Clear" panose="020B0604020203020204" pitchFamily="34" charset="0"/>
                          <a:ea typeface="Intel Clear" panose="020B0604020203020204" pitchFamily="34" charset="0"/>
                          <a:cs typeface="Intel Clear" panose="020B0604020203020204" pitchFamily="34" charset="0"/>
                        </a:rPr>
                        <a:t>for memory periphery are derived using memory block construction</a:t>
                      </a:r>
                    </a:p>
                  </a:txBody>
                  <a:tcPr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sz="1200" b="1">
                          <a:effectLst>
                            <a:outerShdw blurRad="38100" dist="38100" dir="2700000" algn="tl">
                              <a:srgbClr val="000000">
                                <a:alpha val="43137"/>
                              </a:srgbClr>
                            </a:outerShdw>
                          </a:effectLst>
                          <a:latin typeface="Intel Clear" panose="020B0604020203020204" pitchFamily="34" charset="0"/>
                          <a:ea typeface="Intel Clear" panose="020B0604020203020204" pitchFamily="34" charset="0"/>
                          <a:cs typeface="Intel Clear" panose="020B0604020203020204" pitchFamily="34" charset="0"/>
                        </a:rPr>
                        <a:t>Memory SDR bitcell context </a:t>
                      </a:r>
                      <a:r>
                        <a:rPr lang="en-US" sz="1200" b="0">
                          <a:latin typeface="Intel Clear" panose="020B0604020203020204" pitchFamily="34" charset="0"/>
                          <a:ea typeface="Intel Clear" panose="020B0604020203020204" pitchFamily="34" charset="0"/>
                          <a:cs typeface="Intel Clear" panose="020B0604020203020204" pitchFamily="34" charset="0"/>
                        </a:rPr>
                        <a:t>is not planned for X81A</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75000"/>
                      </a:sysClr>
                    </a:solidFill>
                  </a:tcPr>
                </a:tc>
                <a:extLst>
                  <a:ext uri="{0D108BD9-81ED-4DB2-BD59-A6C34878D82A}">
                    <a16:rowId xmlns:a16="http://schemas.microsoft.com/office/drawing/2014/main" val="1711598818"/>
                  </a:ext>
                </a:extLst>
              </a:tr>
              <a:tr h="24003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a:latin typeface="Intel Clear" panose="020B0604020203020204" pitchFamily="34" charset="0"/>
                          <a:ea typeface="Intel Clear" panose="020B0604020203020204" pitchFamily="34" charset="0"/>
                          <a:cs typeface="Intel Clear" panose="020B0604020203020204" pitchFamily="34" charset="0"/>
                        </a:rPr>
                        <a:t>110CH</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latin typeface="Intel Clear" panose="020B0604020203020204" pitchFamily="34" charset="0"/>
                          <a:ea typeface="Intel Clear" panose="020B0604020203020204" pitchFamily="34" charset="0"/>
                          <a:cs typeface="Intel Clear" panose="020B0604020203020204" pitchFamily="34" charset="0"/>
                        </a:rPr>
                        <a:t>digital;id</a:t>
                      </a:r>
                      <a:endParaRPr lang="en-US" sz="1100">
                        <a:latin typeface="Intel Clear" panose="020B0604020203020204" pitchFamily="34" charset="0"/>
                        <a:ea typeface="Intel Clear" panose="020B0604020203020204" pitchFamily="34" charset="0"/>
                        <a:cs typeface="Intel Clear" panose="020B0604020203020204"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89905187"/>
                  </a:ext>
                </a:extLst>
              </a:tr>
              <a:tr h="24003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a:latin typeface="Intel Clear" panose="020B0604020203020204" pitchFamily="34" charset="0"/>
                          <a:ea typeface="Intel Clear" panose="020B0604020203020204" pitchFamily="34" charset="0"/>
                          <a:cs typeface="Intel Clear" panose="020B0604020203020204" pitchFamily="34" charset="0"/>
                        </a:rPr>
                        <a:t>132CH</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digital;id</a:t>
                      </a:r>
                      <a:endPar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endParaRP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latin typeface="Intel Clear" panose="020B0604020203020204" pitchFamily="34" charset="0"/>
                          <a:ea typeface="Intel Clear" panose="020B0604020203020204" pitchFamily="34" charset="0"/>
                          <a:cs typeface="Intel Clear" panose="020B0604020203020204" pitchFamily="34" charset="0"/>
                        </a:rPr>
                        <a:t>custom;id</a:t>
                      </a:r>
                      <a:endParaRPr lang="en-US" sz="1100" strike="noStrike">
                        <a:latin typeface="Intel Clear" panose="020B0604020203020204" pitchFamily="34" charset="0"/>
                        <a:ea typeface="Intel Clear" panose="020B0604020203020204" pitchFamily="34" charset="0"/>
                        <a:cs typeface="Intel Clear" panose="020B0604020203020204"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latin typeface="Intel Clear" panose="020B0604020203020204" pitchFamily="34" charset="0"/>
                          <a:ea typeface="Intel Clear" panose="020B0604020203020204" pitchFamily="34" charset="0"/>
                          <a:cs typeface="Intel Clear" panose="020B0604020203020204" pitchFamily="34" charset="0"/>
                        </a:rPr>
                        <a:t>MemoryRegionID</a:t>
                      </a:r>
                      <a:endParaRPr lang="en-US" sz="1100">
                        <a:latin typeface="Intel Clear" panose="020B0604020203020204" pitchFamily="34" charset="0"/>
                        <a:ea typeface="Intel Clear" panose="020B0604020203020204" pitchFamily="34" charset="0"/>
                        <a:cs typeface="Intel Clear" panose="020B0604020203020204"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629201"/>
                  </a:ext>
                </a:extLst>
              </a:tr>
              <a:tr h="24003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rPr lang="en-US" sz="1200">
                          <a:latin typeface="Intel Clear" panose="020B0604020203020204" pitchFamily="34" charset="0"/>
                          <a:ea typeface="Intel Clear" panose="020B0604020203020204" pitchFamily="34" charset="0"/>
                          <a:cs typeface="Intel Clear" panose="020B0604020203020204" pitchFamily="34" charset="0"/>
                        </a:rPr>
                        <a:t>165CH</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digital;id</a:t>
                      </a:r>
                      <a:endPar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endParaRP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latin typeface="Intel Clear" panose="020B0604020203020204" pitchFamily="34" charset="0"/>
                          <a:ea typeface="Intel Clear" panose="020B0604020203020204" pitchFamily="34" charset="0"/>
                          <a:cs typeface="Intel Clear" panose="020B0604020203020204" pitchFamily="34" charset="0"/>
                        </a:rPr>
                        <a:t>custom;id</a:t>
                      </a:r>
                      <a:endParaRPr lang="en-US" sz="1100" strike="noStrike">
                        <a:latin typeface="Intel Clear" panose="020B0604020203020204" pitchFamily="34" charset="0"/>
                        <a:ea typeface="Intel Clear" panose="020B0604020203020204" pitchFamily="34" charset="0"/>
                        <a:cs typeface="Intel Clear" panose="020B0604020203020204"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77875582"/>
                  </a:ext>
                </a:extLst>
              </a:tr>
              <a:tr h="240030">
                <a:tc>
                  <a:txBody>
                    <a:bodyPr/>
                    <a:lstStyle/>
                    <a:p>
                      <a:r>
                        <a:rPr lang="en-US" sz="1200">
                          <a:latin typeface="Intel Clear" panose="020B0604020203020204" pitchFamily="34" charset="0"/>
                          <a:ea typeface="Intel Clear" panose="020B0604020203020204" pitchFamily="34" charset="0"/>
                          <a:cs typeface="Intel Clear" panose="020B0604020203020204" pitchFamily="34" charset="0"/>
                        </a:rPr>
                        <a:t>Memory columns</a:t>
                      </a:r>
                    </a:p>
                  </a:txBody>
                  <a:tcPr anchor="ctr">
                    <a:lnL w="12700" cmpd="sng">
                      <a:solidFill>
                        <a:sysClr val="windowText" lastClr="000000"/>
                      </a:solidFill>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MemoryColumnContextID</a:t>
                      </a:r>
                      <a:endPar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endParaRP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33877772"/>
                  </a:ext>
                </a:extLst>
              </a:tr>
            </a:tbl>
          </a:graphicData>
        </a:graphic>
      </p:graphicFrame>
      <p:sp>
        <p:nvSpPr>
          <p:cNvPr id="6" name="TextBox 5">
            <a:extLst>
              <a:ext uri="{FF2B5EF4-FFF2-40B4-BE49-F238E27FC236}">
                <a16:creationId xmlns:a16="http://schemas.microsoft.com/office/drawing/2014/main" id="{0AD55568-84C0-6D80-26FC-9FE7D2EF97F2}"/>
              </a:ext>
            </a:extLst>
          </p:cNvPr>
          <p:cNvSpPr txBox="1"/>
          <p:nvPr/>
        </p:nvSpPr>
        <p:spPr>
          <a:xfrm>
            <a:off x="4523281" y="4884288"/>
            <a:ext cx="7289939" cy="1015663"/>
          </a:xfrm>
          <a:prstGeom prst="rect">
            <a:avLst/>
          </a:prstGeom>
          <a:noFill/>
        </p:spPr>
        <p:txBody>
          <a:bodyPr wrap="square" rtlCol="0">
            <a:spAutoFit/>
          </a:bodyPr>
          <a:lstStyle/>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Active content must exist inside a “context” which the user declares with an ID</a:t>
            </a: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The context IDs must be enclosed in a base region</a:t>
            </a:r>
          </a:p>
          <a:p>
            <a:pPr marL="171450" indent="-171450">
              <a:buFont typeface="Arial" panose="020B0604020202020204" pitchFamily="34" charset="0"/>
              <a:buChar char="•"/>
            </a:pPr>
            <a:r>
              <a:rPr lang="en-US" sz="1200">
                <a:latin typeface="Calibri" panose="020F0502020204030204" pitchFamily="34" charset="0"/>
                <a:cs typeface="Calibri" panose="020F0502020204030204" pitchFamily="34" charset="0"/>
              </a:rPr>
              <a:t>Digital context and custom context are explicitly drawn by designer; while memory context is derived by runset</a:t>
            </a:r>
          </a:p>
          <a:p>
            <a:pPr marL="171450" indent="-171450">
              <a:buFont typeface="Arial" panose="020B0604020202020204" pitchFamily="34" charset="0"/>
              <a:buChar char="•"/>
            </a:pPr>
            <a:r>
              <a:rPr lang="en-US" sz="1200">
                <a:solidFill>
                  <a:prstClr val="black"/>
                </a:solidFill>
                <a:latin typeface="Calibri" panose="020F0502020204030204" pitchFamily="34" charset="0"/>
                <a:cs typeface="Calibri" panose="020F0502020204030204" pitchFamily="34" charset="0"/>
              </a:rPr>
              <a:t>Example shows 3 contexts (1digital, 2 custom)  inside base region</a:t>
            </a:r>
            <a:endParaRPr lang="en-US" sz="1200"/>
          </a:p>
          <a:p>
            <a:pPr marL="171450" indent="-171450">
              <a:buFont typeface="Arial" panose="020B0604020202020204" pitchFamily="34" charset="0"/>
              <a:buChar char="•"/>
            </a:pPr>
            <a:endParaRPr lang="en-US" sz="1200"/>
          </a:p>
        </p:txBody>
      </p:sp>
      <p:sp>
        <p:nvSpPr>
          <p:cNvPr id="3" name="Speech Bubble: Rectangle 2">
            <a:extLst>
              <a:ext uri="{FF2B5EF4-FFF2-40B4-BE49-F238E27FC236}">
                <a16:creationId xmlns:a16="http://schemas.microsoft.com/office/drawing/2014/main" id="{162B649E-4C48-F9EA-3BEF-071A1C47A8A7}"/>
              </a:ext>
            </a:extLst>
          </p:cNvPr>
          <p:cNvSpPr/>
          <p:nvPr/>
        </p:nvSpPr>
        <p:spPr>
          <a:xfrm>
            <a:off x="420494" y="1033019"/>
            <a:ext cx="3046775" cy="814052"/>
          </a:xfrm>
          <a:prstGeom prst="wedgeRectCallout">
            <a:avLst>
              <a:gd name="adj1" fmla="val -21236"/>
              <a:gd name="adj2" fmla="val 7787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Base Region layers designate cell height regions with associated allowances based on design need </a:t>
            </a:r>
          </a:p>
        </p:txBody>
      </p:sp>
      <p:sp>
        <p:nvSpPr>
          <p:cNvPr id="9" name="Speech Bubble: Rectangle 8">
            <a:extLst>
              <a:ext uri="{FF2B5EF4-FFF2-40B4-BE49-F238E27FC236}">
                <a16:creationId xmlns:a16="http://schemas.microsoft.com/office/drawing/2014/main" id="{9AE552E5-C939-5861-94DD-9F3FC1415CAE}"/>
              </a:ext>
            </a:extLst>
          </p:cNvPr>
          <p:cNvSpPr/>
          <p:nvPr/>
        </p:nvSpPr>
        <p:spPr>
          <a:xfrm>
            <a:off x="4736140" y="1030170"/>
            <a:ext cx="6789218" cy="691323"/>
          </a:xfrm>
          <a:prstGeom prst="wedgeRectCallout">
            <a:avLst>
              <a:gd name="adj1" fmla="val -21236"/>
              <a:gd name="adj2" fmla="val 7787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Context layers and derived layers with base region allowance</a:t>
            </a:r>
          </a:p>
        </p:txBody>
      </p:sp>
      <p:sp>
        <p:nvSpPr>
          <p:cNvPr id="10" name="Rectangle 9">
            <a:extLst>
              <a:ext uri="{FF2B5EF4-FFF2-40B4-BE49-F238E27FC236}">
                <a16:creationId xmlns:a16="http://schemas.microsoft.com/office/drawing/2014/main" id="{30D86DAF-41B2-A47B-77E7-630274EB6632}"/>
              </a:ext>
            </a:extLst>
          </p:cNvPr>
          <p:cNvSpPr/>
          <p:nvPr/>
        </p:nvSpPr>
        <p:spPr>
          <a:xfrm>
            <a:off x="277790" y="4326677"/>
            <a:ext cx="3727506" cy="22644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820CE7-011B-5FB4-8631-ACCDCCEFFA50}"/>
              </a:ext>
            </a:extLst>
          </p:cNvPr>
          <p:cNvSpPr/>
          <p:nvPr/>
        </p:nvSpPr>
        <p:spPr>
          <a:xfrm>
            <a:off x="435585" y="4468380"/>
            <a:ext cx="1099168" cy="16012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digital;id</a:t>
            </a:r>
            <a:endParaRPr lang="en-US"/>
          </a:p>
        </p:txBody>
      </p:sp>
      <p:sp>
        <p:nvSpPr>
          <p:cNvPr id="12" name="Rectangle 11">
            <a:extLst>
              <a:ext uri="{FF2B5EF4-FFF2-40B4-BE49-F238E27FC236}">
                <a16:creationId xmlns:a16="http://schemas.microsoft.com/office/drawing/2014/main" id="{87F54957-1888-FB03-DA68-50F366F2AC16}"/>
              </a:ext>
            </a:extLst>
          </p:cNvPr>
          <p:cNvSpPr/>
          <p:nvPr/>
        </p:nvSpPr>
        <p:spPr>
          <a:xfrm>
            <a:off x="1943882" y="4515880"/>
            <a:ext cx="1875522" cy="71480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custom;id</a:t>
            </a:r>
            <a:endParaRPr lang="en-US"/>
          </a:p>
        </p:txBody>
      </p:sp>
      <p:sp>
        <p:nvSpPr>
          <p:cNvPr id="13" name="Rectangle 12">
            <a:extLst>
              <a:ext uri="{FF2B5EF4-FFF2-40B4-BE49-F238E27FC236}">
                <a16:creationId xmlns:a16="http://schemas.microsoft.com/office/drawing/2014/main" id="{19CAD4BC-F722-70D0-929D-D4A3FD5142F3}"/>
              </a:ext>
            </a:extLst>
          </p:cNvPr>
          <p:cNvSpPr/>
          <p:nvPr/>
        </p:nvSpPr>
        <p:spPr>
          <a:xfrm>
            <a:off x="2325748" y="5392120"/>
            <a:ext cx="1493655" cy="89163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custom;id</a:t>
            </a:r>
            <a:endParaRPr lang="en-US"/>
          </a:p>
        </p:txBody>
      </p:sp>
      <p:sp>
        <p:nvSpPr>
          <p:cNvPr id="18" name="TextBox 17">
            <a:extLst>
              <a:ext uri="{FF2B5EF4-FFF2-40B4-BE49-F238E27FC236}">
                <a16:creationId xmlns:a16="http://schemas.microsoft.com/office/drawing/2014/main" id="{0BD81F85-41E6-E7C0-0AB9-3881FEC99BD9}"/>
              </a:ext>
            </a:extLst>
          </p:cNvPr>
          <p:cNvSpPr txBox="1"/>
          <p:nvPr/>
        </p:nvSpPr>
        <p:spPr>
          <a:xfrm>
            <a:off x="277790" y="6283755"/>
            <a:ext cx="2047959" cy="276999"/>
          </a:xfrm>
          <a:prstGeom prst="rect">
            <a:avLst/>
          </a:prstGeom>
          <a:noFill/>
        </p:spPr>
        <p:txBody>
          <a:bodyPr wrap="square">
            <a:spAutoFit/>
          </a:bodyPr>
          <a:lstStyle/>
          <a:p>
            <a:r>
              <a:rPr lang="en-US" sz="1200">
                <a:solidFill>
                  <a:prstClr val="black"/>
                </a:solidFill>
                <a:latin typeface="Calibri" panose="020F0502020204030204" pitchFamily="34" charset="0"/>
                <a:cs typeface="Calibri" panose="020F0502020204030204" pitchFamily="34" charset="0"/>
              </a:rPr>
              <a:t>B132h_44ppBaseRegion;id</a:t>
            </a:r>
            <a:endParaRPr lang="en-US"/>
          </a:p>
        </p:txBody>
      </p:sp>
    </p:spTree>
    <p:extLst>
      <p:ext uri="{BB962C8B-B14F-4D97-AF65-F5344CB8AC3E}">
        <p14:creationId xmlns:p14="http://schemas.microsoft.com/office/powerpoint/2010/main" val="3856698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a:extLst>
              <a:ext uri="{FF2B5EF4-FFF2-40B4-BE49-F238E27FC236}">
                <a16:creationId xmlns:a16="http://schemas.microsoft.com/office/drawing/2014/main" id="{54DFB7C0-E379-4E56-AAEE-F89C57FE19F8}"/>
              </a:ext>
            </a:extLst>
          </p:cNvPr>
          <p:cNvSpPr txBox="1"/>
          <p:nvPr/>
        </p:nvSpPr>
        <p:spPr>
          <a:xfrm>
            <a:off x="3669886" y="3040673"/>
            <a:ext cx="4135106" cy="590931"/>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ea typeface="+mn-ea"/>
                <a:cs typeface="+mn-cs"/>
              </a:rPr>
              <a:t>Front-End Layer Rules</a:t>
            </a:r>
          </a:p>
        </p:txBody>
      </p:sp>
    </p:spTree>
    <p:extLst>
      <p:ext uri="{BB962C8B-B14F-4D97-AF65-F5344CB8AC3E}">
        <p14:creationId xmlns:p14="http://schemas.microsoft.com/office/powerpoint/2010/main" val="2163471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4114-0261-7601-B3FB-46C7F134F6FA}"/>
              </a:ext>
            </a:extLst>
          </p:cNvPr>
          <p:cNvSpPr>
            <a:spLocks noGrp="1"/>
          </p:cNvSpPr>
          <p:nvPr>
            <p:ph type="title"/>
          </p:nvPr>
        </p:nvSpPr>
        <p:spPr>
          <a:xfrm>
            <a:off x="309508" y="-161434"/>
            <a:ext cx="3235076" cy="1325563"/>
          </a:xfrm>
        </p:spPr>
        <p:txBody>
          <a:bodyPr/>
          <a:lstStyle/>
          <a:p>
            <a:r>
              <a:rPr lang="en-US"/>
              <a:t>Key Layers</a:t>
            </a:r>
          </a:p>
        </p:txBody>
      </p:sp>
      <p:graphicFrame>
        <p:nvGraphicFramePr>
          <p:cNvPr id="4" name="Content Placeholder 3">
            <a:extLst>
              <a:ext uri="{FF2B5EF4-FFF2-40B4-BE49-F238E27FC236}">
                <a16:creationId xmlns:a16="http://schemas.microsoft.com/office/drawing/2014/main" id="{CBE58158-E3D2-E0CE-7106-9BE2798F873D}"/>
              </a:ext>
            </a:extLst>
          </p:cNvPr>
          <p:cNvGraphicFramePr>
            <a:graphicFrameLocks noGrp="1"/>
          </p:cNvGraphicFramePr>
          <p:nvPr>
            <p:ph idx="1"/>
            <p:extLst>
              <p:ext uri="{D42A27DB-BD31-4B8C-83A1-F6EECF244321}">
                <p14:modId xmlns:p14="http://schemas.microsoft.com/office/powerpoint/2010/main" val="518678057"/>
              </p:ext>
            </p:extLst>
          </p:nvPr>
        </p:nvGraphicFramePr>
        <p:xfrm>
          <a:off x="202351" y="949263"/>
          <a:ext cx="11777717" cy="5110931"/>
        </p:xfrm>
        <a:graphic>
          <a:graphicData uri="http://schemas.openxmlformats.org/drawingml/2006/table">
            <a:tbl>
              <a:tblPr firstRow="1" bandRow="1">
                <a:tableStyleId>{5C22544A-7EE6-4342-B048-85BDC9FD1C3A}</a:tableStyleId>
              </a:tblPr>
              <a:tblGrid>
                <a:gridCol w="1157322">
                  <a:extLst>
                    <a:ext uri="{9D8B030D-6E8A-4147-A177-3AD203B41FA5}">
                      <a16:colId xmlns:a16="http://schemas.microsoft.com/office/drawing/2014/main" val="2183018247"/>
                    </a:ext>
                  </a:extLst>
                </a:gridCol>
                <a:gridCol w="1073426">
                  <a:extLst>
                    <a:ext uri="{9D8B030D-6E8A-4147-A177-3AD203B41FA5}">
                      <a16:colId xmlns:a16="http://schemas.microsoft.com/office/drawing/2014/main" val="355689968"/>
                    </a:ext>
                  </a:extLst>
                </a:gridCol>
                <a:gridCol w="1409558">
                  <a:extLst>
                    <a:ext uri="{9D8B030D-6E8A-4147-A177-3AD203B41FA5}">
                      <a16:colId xmlns:a16="http://schemas.microsoft.com/office/drawing/2014/main" val="155933246"/>
                    </a:ext>
                  </a:extLst>
                </a:gridCol>
                <a:gridCol w="8137411">
                  <a:extLst>
                    <a:ext uri="{9D8B030D-6E8A-4147-A177-3AD203B41FA5}">
                      <a16:colId xmlns:a16="http://schemas.microsoft.com/office/drawing/2014/main" val="2489023095"/>
                    </a:ext>
                  </a:extLst>
                </a:gridCol>
              </a:tblGrid>
              <a:tr h="681755">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Layer</a:t>
                      </a:r>
                    </a:p>
                  </a:txBody>
                  <a:tcPr anchor="ct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New to P1281?</a:t>
                      </a:r>
                    </a:p>
                  </a:txBody>
                  <a:tcPr anchor="ctr"/>
                </a:tc>
                <a:tc>
                  <a:txBody>
                    <a:bodyPr/>
                    <a:lstStyle/>
                    <a:p>
                      <a:pPr algn="ctr"/>
                      <a:r>
                        <a:rPr lang="en-US" sz="1400" err="1">
                          <a:latin typeface="Intel Clear" panose="020B0604020203020204" pitchFamily="34" charset="0"/>
                          <a:ea typeface="Intel Clear" panose="020B0604020203020204" pitchFamily="34" charset="0"/>
                          <a:cs typeface="Intel Clear" panose="020B0604020203020204" pitchFamily="34" charset="0"/>
                        </a:rPr>
                        <a:t>Layer;purpose</a:t>
                      </a: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nchor="ct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Description</a:t>
                      </a:r>
                    </a:p>
                  </a:txBody>
                  <a:tcPr anchor="ctr"/>
                </a:tc>
                <a:extLst>
                  <a:ext uri="{0D108BD9-81ED-4DB2-BD59-A6C34878D82A}">
                    <a16:rowId xmlns:a16="http://schemas.microsoft.com/office/drawing/2014/main" val="2552370250"/>
                  </a:ext>
                </a:extLst>
              </a:tr>
              <a:tr h="477228">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ndiff</a:t>
                      </a:r>
                    </a:p>
                    <a:p>
                      <a:pPr algn="ctr"/>
                      <a:r>
                        <a:rPr lang="en-US" sz="1400">
                          <a:latin typeface="Intel Clear" panose="020B0604020203020204" pitchFamily="34" charset="0"/>
                          <a:ea typeface="Intel Clear" panose="020B0604020203020204" pitchFamily="34" charset="0"/>
                          <a:cs typeface="Intel Clear" panose="020B0604020203020204" pitchFamily="34" charset="0"/>
                        </a:rPr>
                        <a:t>pdiff</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1;0</a:t>
                      </a:r>
                    </a:p>
                    <a:p>
                      <a:pPr algn="ctr"/>
                      <a:r>
                        <a:rPr lang="en-US" sz="1400">
                          <a:latin typeface="Intel Clear" panose="020B0604020203020204" pitchFamily="34" charset="0"/>
                          <a:ea typeface="Intel Clear" panose="020B0604020203020204" pitchFamily="34" charset="0"/>
                          <a:cs typeface="Intel Clear" panose="020B0604020203020204" pitchFamily="34" charset="0"/>
                        </a:rPr>
                        <a:t>8;0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Diffusion electrical connections. Two layers one for </a:t>
                      </a:r>
                      <a:r>
                        <a:rPr lang="en-US" sz="1400" err="1">
                          <a:latin typeface="Intel Clear" panose="020B0604020203020204" pitchFamily="34" charset="0"/>
                          <a:ea typeface="Intel Clear" panose="020B0604020203020204" pitchFamily="34" charset="0"/>
                          <a:cs typeface="Intel Clear" panose="020B0604020203020204" pitchFamily="34" charset="0"/>
                        </a:rPr>
                        <a:t>ntype</a:t>
                      </a:r>
                      <a:r>
                        <a:rPr lang="en-US" sz="1400">
                          <a:latin typeface="Intel Clear" panose="020B0604020203020204" pitchFamily="34" charset="0"/>
                          <a:ea typeface="Intel Clear" panose="020B0604020203020204" pitchFamily="34" charset="0"/>
                          <a:cs typeface="Intel Clear" panose="020B0604020203020204" pitchFamily="34" charset="0"/>
                        </a:rPr>
                        <a:t> devices and another for </a:t>
                      </a:r>
                      <a:r>
                        <a:rPr lang="en-US" sz="1400" err="1">
                          <a:latin typeface="Intel Clear" panose="020B0604020203020204" pitchFamily="34" charset="0"/>
                          <a:ea typeface="Intel Clear" panose="020B0604020203020204" pitchFamily="34" charset="0"/>
                          <a:cs typeface="Intel Clear" panose="020B0604020203020204" pitchFamily="34" charset="0"/>
                        </a:rPr>
                        <a:t>ptype</a:t>
                      </a:r>
                      <a:r>
                        <a:rPr lang="en-US" sz="1400">
                          <a:latin typeface="Intel Clear" panose="020B0604020203020204" pitchFamily="34" charset="0"/>
                          <a:ea typeface="Intel Clear" panose="020B0604020203020204" pitchFamily="34" charset="0"/>
                          <a:cs typeface="Intel Clear" panose="020B0604020203020204" pitchFamily="34" charset="0"/>
                        </a:rPr>
                        <a:t> devices. Supports both drawing (;0) and fill type (;250). </a:t>
                      </a:r>
                    </a:p>
                  </a:txBody>
                  <a:tcPr/>
                </a:tc>
                <a:extLst>
                  <a:ext uri="{0D108BD9-81ED-4DB2-BD59-A6C34878D82A}">
                    <a16:rowId xmlns:a16="http://schemas.microsoft.com/office/drawing/2014/main" val="835753502"/>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fin</a:t>
                      </a: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12;0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Fin layer representing nanoribbons. Supports only drawing type.</a:t>
                      </a:r>
                    </a:p>
                  </a:txBody>
                  <a:tcPr/>
                </a:tc>
                <a:extLst>
                  <a:ext uri="{0D108BD9-81ED-4DB2-BD59-A6C34878D82A}">
                    <a16:rowId xmlns:a16="http://schemas.microsoft.com/office/drawing/2014/main" val="1252840834"/>
                  </a:ext>
                </a:extLst>
              </a:tr>
              <a:tr h="477228">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poly</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2;0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polysilicon layer forming gate with diffusion. Supports both drawing (;0) and fill type (;250). </a:t>
                      </a:r>
                    </a:p>
                  </a:txBody>
                  <a:tcPr/>
                </a:tc>
                <a:extLst>
                  <a:ext uri="{0D108BD9-81ED-4DB2-BD59-A6C34878D82A}">
                    <a16:rowId xmlns:a16="http://schemas.microsoft.com/office/drawing/2014/main" val="2081780387"/>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tcn</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15;0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trench contact with epi. Supports both drawing (;0) and fill type (;250). </a:t>
                      </a:r>
                    </a:p>
                  </a:txBody>
                  <a:tcPr/>
                </a:tc>
                <a:extLst>
                  <a:ext uri="{0D108BD9-81ED-4DB2-BD59-A6C34878D82A}">
                    <a16:rowId xmlns:a16="http://schemas.microsoft.com/office/drawing/2014/main" val="229645455"/>
                  </a:ext>
                </a:extLst>
              </a:tr>
              <a:tr h="477228">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vcr</a:t>
                      </a: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36;0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via power rail. Wide rail to connect tcn to m0. Supports both drawing (;0) and fill type (;250). </a:t>
                      </a:r>
                    </a:p>
                  </a:txBody>
                  <a:tcPr/>
                </a:tc>
                <a:extLst>
                  <a:ext uri="{0D108BD9-81ED-4DB2-BD59-A6C34878D82A}">
                    <a16:rowId xmlns:a16="http://schemas.microsoft.com/office/drawing/2014/main" val="1427839678"/>
                  </a:ext>
                </a:extLst>
              </a:tr>
              <a:tr h="292270">
                <a:tc>
                  <a:txBody>
                    <a:bodyPr/>
                    <a:lstStyle/>
                    <a:p>
                      <a:pPr algn="ctr"/>
                      <a:r>
                        <a:rPr lang="en-US" sz="1400" err="1">
                          <a:latin typeface="Intel Clear" panose="020B0604020203020204" pitchFamily="34" charset="0"/>
                          <a:ea typeface="Intel Clear" panose="020B0604020203020204" pitchFamily="34" charset="0"/>
                          <a:cs typeface="Intel Clear" panose="020B0604020203020204" pitchFamily="34" charset="0"/>
                        </a:rPr>
                        <a:t>vcrnub</a:t>
                      </a: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510;0</a:t>
                      </a:r>
                    </a:p>
                  </a:txBody>
                  <a:tcPr/>
                </a:tc>
                <a:tc>
                  <a:txBody>
                    <a:bodyPr/>
                    <a:lstStyle/>
                    <a:p>
                      <a:r>
                        <a:rPr lang="en-US" sz="1400" err="1">
                          <a:latin typeface="Intel Clear" panose="020B0604020203020204" pitchFamily="34" charset="0"/>
                          <a:ea typeface="Intel Clear" panose="020B0604020203020204" pitchFamily="34" charset="0"/>
                          <a:cs typeface="Intel Clear" panose="020B0604020203020204" pitchFamily="34" charset="0"/>
                        </a:rPr>
                        <a:t>vcr</a:t>
                      </a:r>
                      <a:r>
                        <a:rPr lang="en-US" sz="1400">
                          <a:latin typeface="Intel Clear" panose="020B0604020203020204" pitchFamily="34" charset="0"/>
                          <a:ea typeface="Intel Clear" panose="020B0604020203020204" pitchFamily="34" charset="0"/>
                          <a:cs typeface="Intel Clear" panose="020B0604020203020204" pitchFamily="34" charset="0"/>
                        </a:rPr>
                        <a:t> connection to tcn. Supports both drawing (;0) and fill type (;250). </a:t>
                      </a:r>
                    </a:p>
                  </a:txBody>
                  <a:tcPr/>
                </a:tc>
                <a:extLst>
                  <a:ext uri="{0D108BD9-81ED-4DB2-BD59-A6C34878D82A}">
                    <a16:rowId xmlns:a16="http://schemas.microsoft.com/office/drawing/2014/main" val="484851709"/>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fti</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184;0</a:t>
                      </a:r>
                    </a:p>
                  </a:txBody>
                  <a:tcPr/>
                </a:tc>
                <a:tc>
                  <a:txBody>
                    <a:bodyPr/>
                    <a:lstStyle/>
                    <a:p>
                      <a:r>
                        <a:rPr lang="en-US" sz="1400" err="1">
                          <a:latin typeface="Intel Clear" panose="020B0604020203020204" pitchFamily="34" charset="0"/>
                          <a:ea typeface="Intel Clear" panose="020B0604020203020204" pitchFamily="34" charset="0"/>
                          <a:cs typeface="Intel Clear" panose="020B0604020203020204" pitchFamily="34" charset="0"/>
                        </a:rPr>
                        <a:t>lnr</a:t>
                      </a:r>
                      <a:r>
                        <a:rPr lang="en-US" sz="1400">
                          <a:latin typeface="Intel Clear" panose="020B0604020203020204" pitchFamily="34" charset="0"/>
                          <a:ea typeface="Intel Clear" panose="020B0604020203020204" pitchFamily="34" charset="0"/>
                          <a:cs typeface="Intel Clear" panose="020B0604020203020204" pitchFamily="34" charset="0"/>
                        </a:rPr>
                        <a:t> trim isolation layer. Supports both drawing (;0) and fill type (;250). </a:t>
                      </a:r>
                    </a:p>
                  </a:txBody>
                  <a:tcPr/>
                </a:tc>
                <a:extLst>
                  <a:ext uri="{0D108BD9-81ED-4DB2-BD59-A6C34878D82A}">
                    <a16:rowId xmlns:a16="http://schemas.microsoft.com/office/drawing/2014/main" val="4192955470"/>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sdGen</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11;0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Key layer for blocking masks. Supports only drawing type.</a:t>
                      </a:r>
                    </a:p>
                  </a:txBody>
                  <a:tcPr/>
                </a:tc>
                <a:extLst>
                  <a:ext uri="{0D108BD9-81ED-4DB2-BD59-A6C34878D82A}">
                    <a16:rowId xmlns:a16="http://schemas.microsoft.com/office/drawing/2014/main" val="181381809"/>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ctcn</a:t>
                      </a: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66;0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tcn plug layer. Supports only drawing type.</a:t>
                      </a:r>
                    </a:p>
                  </a:txBody>
                  <a:tcPr/>
                </a:tc>
                <a:extLst>
                  <a:ext uri="{0D108BD9-81ED-4DB2-BD59-A6C34878D82A}">
                    <a16:rowId xmlns:a16="http://schemas.microsoft.com/office/drawing/2014/main" val="2487284039"/>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glk</a:t>
                      </a: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65;0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poly link layer. Supports only drawing type.</a:t>
                      </a:r>
                    </a:p>
                  </a:txBody>
                  <a:tcPr/>
                </a:tc>
                <a:extLst>
                  <a:ext uri="{0D108BD9-81ED-4DB2-BD59-A6C34878D82A}">
                    <a16:rowId xmlns:a16="http://schemas.microsoft.com/office/drawing/2014/main" val="1739940903"/>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trm</a:t>
                      </a:r>
                    </a:p>
                  </a:txBody>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Y</a:t>
                      </a:r>
                    </a:p>
                  </a:txBody>
                  <a:tcPr>
                    <a:solidFill>
                      <a:schemeClr val="accent3">
                        <a:lumMod val="60000"/>
                        <a:lumOff val="40000"/>
                      </a:schemeClr>
                    </a:solidFill>
                  </a:tcPr>
                </a:tc>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509;0</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poly cut layer. Supports only drawing type.</a:t>
                      </a:r>
                    </a:p>
                  </a:txBody>
                  <a:tcPr/>
                </a:tc>
                <a:extLst>
                  <a:ext uri="{0D108BD9-81ED-4DB2-BD59-A6C34878D82A}">
                    <a16:rowId xmlns:a16="http://schemas.microsoft.com/office/drawing/2014/main" val="629598319"/>
                  </a:ext>
                </a:extLst>
              </a:tr>
              <a:tr h="292270">
                <a:tc>
                  <a:txBody>
                    <a:bodyPr/>
                    <a:lstStyle/>
                    <a:p>
                      <a:pPr algn="ctr"/>
                      <a:r>
                        <a:rPr lang="en-US" sz="1400">
                          <a:latin typeface="Intel Clear" panose="020B0604020203020204" pitchFamily="34" charset="0"/>
                          <a:ea typeface="Intel Clear" panose="020B0604020203020204" pitchFamily="34" charset="0"/>
                          <a:cs typeface="Intel Clear" panose="020B0604020203020204" pitchFamily="34" charset="0"/>
                        </a:rPr>
                        <a:t>*vt</a:t>
                      </a:r>
                    </a:p>
                  </a:txBody>
                  <a:tcPr/>
                </a:tc>
                <a:tc>
                  <a:txBody>
                    <a:bodyPr/>
                    <a:lstStyle/>
                    <a:p>
                      <a:pPr algn="ctr"/>
                      <a:endParaRPr lang="en-US" sz="1400">
                        <a:latin typeface="Intel Clear" panose="020B0604020203020204" pitchFamily="34" charset="0"/>
                        <a:ea typeface="Intel Clear" panose="020B0604020203020204" pitchFamily="34" charset="0"/>
                        <a:cs typeface="Intel Clear" panose="020B0604020203020204" pitchFamily="34" charset="0"/>
                      </a:endParaRPr>
                    </a:p>
                  </a:txBody>
                  <a:tcPr/>
                </a:tc>
                <a:tc>
                  <a:txBody>
                    <a:bodyPr/>
                    <a:lstStyle/>
                    <a:p>
                      <a:pPr algn="ctr"/>
                      <a:r>
                        <a:rPr lang="en-US" sz="1400">
                          <a:solidFill>
                            <a:srgbClr val="FF0000"/>
                          </a:solidFill>
                          <a:latin typeface="Intel Clear" panose="020B0604020203020204" pitchFamily="34" charset="0"/>
                          <a:ea typeface="Intel Clear" panose="020B0604020203020204" pitchFamily="34" charset="0"/>
                          <a:cs typeface="Intel Clear" panose="020B0604020203020204" pitchFamily="34" charset="0"/>
                        </a:rPr>
                        <a:t>Enumerate or add link</a:t>
                      </a:r>
                    </a:p>
                  </a:txBody>
                  <a:tcPr/>
                </a:tc>
                <a:tc>
                  <a:txBody>
                    <a:bodyPr/>
                    <a:lstStyle/>
                    <a:p>
                      <a:r>
                        <a:rPr lang="en-US" sz="1400">
                          <a:latin typeface="Intel Clear" panose="020B0604020203020204" pitchFamily="34" charset="0"/>
                          <a:ea typeface="Intel Clear" panose="020B0604020203020204" pitchFamily="34" charset="0"/>
                          <a:cs typeface="Intel Clear" panose="020B0604020203020204" pitchFamily="34" charset="0"/>
                        </a:rPr>
                        <a:t>See device layer list for offering. In total 12 different </a:t>
                      </a:r>
                      <a:r>
                        <a:rPr lang="en-US" sz="1400" err="1">
                          <a:latin typeface="Intel Clear" panose="020B0604020203020204" pitchFamily="34" charset="0"/>
                          <a:ea typeface="Intel Clear" panose="020B0604020203020204" pitchFamily="34" charset="0"/>
                          <a:cs typeface="Intel Clear" panose="020B0604020203020204" pitchFamily="34" charset="0"/>
                        </a:rPr>
                        <a:t>vt’s</a:t>
                      </a:r>
                      <a:r>
                        <a:rPr lang="en-US" sz="1400">
                          <a:latin typeface="Intel Clear" panose="020B0604020203020204" pitchFamily="34" charset="0"/>
                          <a:ea typeface="Intel Clear" panose="020B0604020203020204" pitchFamily="34" charset="0"/>
                          <a:cs typeface="Intel Clear" panose="020B0604020203020204" pitchFamily="34" charset="0"/>
                        </a:rPr>
                        <a:t> are offered (6N + 6P)</a:t>
                      </a:r>
                    </a:p>
                  </a:txBody>
                  <a:tcPr/>
                </a:tc>
                <a:extLst>
                  <a:ext uri="{0D108BD9-81ED-4DB2-BD59-A6C34878D82A}">
                    <a16:rowId xmlns:a16="http://schemas.microsoft.com/office/drawing/2014/main" val="1627540315"/>
                  </a:ext>
                </a:extLst>
              </a:tr>
            </a:tbl>
          </a:graphicData>
        </a:graphic>
      </p:graphicFrame>
    </p:spTree>
    <p:extLst>
      <p:ext uri="{BB962C8B-B14F-4D97-AF65-F5344CB8AC3E}">
        <p14:creationId xmlns:p14="http://schemas.microsoft.com/office/powerpoint/2010/main" val="3141746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0A123E80-8EC8-4537-B997-3655FA8E3C4F}"/>
              </a:ext>
            </a:extLst>
          </p:cNvPr>
          <p:cNvSpPr txBox="1"/>
          <p:nvPr/>
        </p:nvSpPr>
        <p:spPr>
          <a:xfrm>
            <a:off x="271941" y="111760"/>
            <a:ext cx="5454955" cy="590931"/>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rPr>
              <a:t>Cell Height Region – a Primer</a:t>
            </a:r>
          </a:p>
        </p:txBody>
      </p:sp>
      <p:sp>
        <p:nvSpPr>
          <p:cNvPr id="51" name="TextBox 50">
            <a:extLst>
              <a:ext uri="{FF2B5EF4-FFF2-40B4-BE49-F238E27FC236}">
                <a16:creationId xmlns:a16="http://schemas.microsoft.com/office/drawing/2014/main" id="{79F04A01-5866-4F3E-99BD-A934E3E1D2A3}"/>
              </a:ext>
            </a:extLst>
          </p:cNvPr>
          <p:cNvSpPr txBox="1"/>
          <p:nvPr/>
        </p:nvSpPr>
        <p:spPr>
          <a:xfrm>
            <a:off x="377063" y="1783931"/>
            <a:ext cx="6666891" cy="3693319"/>
          </a:xfrm>
          <a:prstGeom prst="rect">
            <a:avLst/>
          </a:prstGeom>
          <a:noFill/>
        </p:spPr>
        <p:txBody>
          <a:bodyPr vert="horz"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A cell height region generates two imaginary reference lines used in many of the DRs</a:t>
            </a:r>
          </a:p>
          <a:p>
            <a:pPr marL="800100" lvl="1" indent="-342900">
              <a:buFont typeface="Wingdings"/>
              <a:buChar char="§"/>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Cell Reference Line (CRL)</a:t>
            </a:r>
            <a:endParaRPr kumimoji="0" lang="en-US" sz="2400" b="0" i="0" u="none" strike="noStrike" kern="1200" cap="none" spc="0" normalizeH="0" baseline="0" noProof="0">
              <a:ln>
                <a:noFill/>
              </a:ln>
              <a:solidFill>
                <a:prstClr val="black"/>
              </a:solidFill>
              <a:effectLst/>
              <a:uLnTx/>
              <a:uFillTx/>
              <a:latin typeface="Calibri" panose="020F0502020204030204"/>
            </a:endParaRPr>
          </a:p>
          <a:p>
            <a:pPr marL="800100" marR="0" lvl="1" indent="-342900" algn="l" defTabSz="914400" rtl="0" eaLnBrk="1" fontAlgn="auto" latinLnBrk="0" hangingPunct="1">
              <a:lnSpc>
                <a:spcPct val="100000"/>
              </a:lnSpc>
              <a:spcBef>
                <a:spcPts val="0"/>
              </a:spcBef>
              <a:spcAft>
                <a:spcPts val="0"/>
              </a:spcAft>
              <a:buClrTx/>
              <a:buSzTx/>
              <a:buFont typeface="Wingdings"/>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Diffusion Keep-away Line (DKA)</a:t>
            </a:r>
            <a:endParaRPr kumimoji="0" lang="en-US" sz="2400" b="0" i="0" u="none" strike="noStrike" kern="1200" cap="none" spc="0" normalizeH="0" baseline="0" noProof="0">
              <a:ln>
                <a:noFill/>
              </a:ln>
              <a:solidFill>
                <a:prstClr val="black"/>
              </a:solidFill>
              <a:effectLst/>
              <a:uLnTx/>
              <a:uFillTx/>
              <a:latin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CRL is located at every N*cell height</a:t>
            </a:r>
            <a:endParaRPr lang="en-US" sz="24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DKA is half-way between each pair of CRL</a:t>
            </a:r>
            <a:endParaRPr lang="en-US" sz="24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sym typeface="Wingdings" panose="05000000000000000000" pitchFamily="2" charset="2"/>
              </a:rPr>
              <a:t> There are 3 cell heights used for Base Regions (110, 132, 165) and 3 more cell heights specific to memory columns (114, 126, 128)</a:t>
            </a:r>
            <a:endParaRPr lang="en-US" sz="24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sym typeface="Wingdings" panose="05000000000000000000" pitchFamily="2" charset="2"/>
              </a:rPr>
              <a:t> Diffusion sizes for each cell height are </a:t>
            </a:r>
            <a:r>
              <a:rPr lang="en-US" sz="2400">
                <a:solidFill>
                  <a:prstClr val="black"/>
                </a:solidFill>
                <a:latin typeface="Calibri" panose="020F0502020204030204"/>
                <a:sym typeface="Wingdings" panose="05000000000000000000" pitchFamily="2" charset="2"/>
                <a:hlinkClick r:id="rId2" action="ppaction://hlinksldjump">
                  <a:extLst>
                    <a:ext uri="{A12FA001-AC4F-418D-AE19-62706E023703}">
                      <ahyp:hlinkClr xmlns:ahyp="http://schemas.microsoft.com/office/drawing/2018/hyperlinkcolor" val="tx"/>
                    </a:ext>
                  </a:extLst>
                </a:hlinkClick>
              </a:rPr>
              <a:t>here</a:t>
            </a: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60" name="TextBox 59">
            <a:extLst>
              <a:ext uri="{FF2B5EF4-FFF2-40B4-BE49-F238E27FC236}">
                <a16:creationId xmlns:a16="http://schemas.microsoft.com/office/drawing/2014/main" id="{F155D0B9-CB13-4238-83AC-C8527D51204C}"/>
              </a:ext>
            </a:extLst>
          </p:cNvPr>
          <p:cNvSpPr txBox="1"/>
          <p:nvPr/>
        </p:nvSpPr>
        <p:spPr>
          <a:xfrm>
            <a:off x="7629794" y="1671869"/>
            <a:ext cx="59663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DKA</a:t>
            </a:r>
          </a:p>
        </p:txBody>
      </p:sp>
      <p:sp>
        <p:nvSpPr>
          <p:cNvPr id="61" name="TextBox 60">
            <a:extLst>
              <a:ext uri="{FF2B5EF4-FFF2-40B4-BE49-F238E27FC236}">
                <a16:creationId xmlns:a16="http://schemas.microsoft.com/office/drawing/2014/main" id="{F62F341B-1F49-43D1-9124-5F61D97B3BBA}"/>
              </a:ext>
            </a:extLst>
          </p:cNvPr>
          <p:cNvSpPr txBox="1"/>
          <p:nvPr/>
        </p:nvSpPr>
        <p:spPr>
          <a:xfrm>
            <a:off x="7324518" y="1109322"/>
            <a:ext cx="53412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CRL</a:t>
            </a:r>
          </a:p>
        </p:txBody>
      </p:sp>
      <p:sp>
        <p:nvSpPr>
          <p:cNvPr id="64" name="TextBox 63">
            <a:extLst>
              <a:ext uri="{FF2B5EF4-FFF2-40B4-BE49-F238E27FC236}">
                <a16:creationId xmlns:a16="http://schemas.microsoft.com/office/drawing/2014/main" id="{A9CE03A1-508B-4CAC-877B-F28E15BE0D5D}"/>
              </a:ext>
            </a:extLst>
          </p:cNvPr>
          <p:cNvSpPr txBox="1"/>
          <p:nvPr/>
        </p:nvSpPr>
        <p:spPr>
          <a:xfrm>
            <a:off x="7324518" y="3359510"/>
            <a:ext cx="53412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CRL</a:t>
            </a:r>
          </a:p>
        </p:txBody>
      </p:sp>
      <p:sp>
        <p:nvSpPr>
          <p:cNvPr id="18" name="TextBox 17">
            <a:extLst>
              <a:ext uri="{FF2B5EF4-FFF2-40B4-BE49-F238E27FC236}">
                <a16:creationId xmlns:a16="http://schemas.microsoft.com/office/drawing/2014/main" id="{F9570810-94DD-4C1E-A217-B14F3A44319C}"/>
              </a:ext>
            </a:extLst>
          </p:cNvPr>
          <p:cNvSpPr txBox="1"/>
          <p:nvPr/>
        </p:nvSpPr>
        <p:spPr>
          <a:xfrm>
            <a:off x="7324518" y="2234416"/>
            <a:ext cx="53412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CRL</a:t>
            </a:r>
          </a:p>
        </p:txBody>
      </p:sp>
      <p:sp>
        <p:nvSpPr>
          <p:cNvPr id="19" name="TextBox 18">
            <a:extLst>
              <a:ext uri="{FF2B5EF4-FFF2-40B4-BE49-F238E27FC236}">
                <a16:creationId xmlns:a16="http://schemas.microsoft.com/office/drawing/2014/main" id="{4453EA1C-F346-422F-A778-18BEA7047530}"/>
              </a:ext>
            </a:extLst>
          </p:cNvPr>
          <p:cNvSpPr txBox="1"/>
          <p:nvPr/>
        </p:nvSpPr>
        <p:spPr>
          <a:xfrm>
            <a:off x="7629794" y="2796963"/>
            <a:ext cx="59663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DKA</a:t>
            </a:r>
          </a:p>
        </p:txBody>
      </p:sp>
      <p:sp>
        <p:nvSpPr>
          <p:cNvPr id="24" name="TextBox 23">
            <a:extLst>
              <a:ext uri="{FF2B5EF4-FFF2-40B4-BE49-F238E27FC236}">
                <a16:creationId xmlns:a16="http://schemas.microsoft.com/office/drawing/2014/main" id="{83D713C6-5FC3-4AC5-A69C-C67367011604}"/>
              </a:ext>
            </a:extLst>
          </p:cNvPr>
          <p:cNvSpPr txBox="1"/>
          <p:nvPr/>
        </p:nvSpPr>
        <p:spPr>
          <a:xfrm>
            <a:off x="7324518" y="4484606"/>
            <a:ext cx="53412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CRL</a:t>
            </a:r>
          </a:p>
        </p:txBody>
      </p:sp>
      <p:sp>
        <p:nvSpPr>
          <p:cNvPr id="25" name="TextBox 24">
            <a:extLst>
              <a:ext uri="{FF2B5EF4-FFF2-40B4-BE49-F238E27FC236}">
                <a16:creationId xmlns:a16="http://schemas.microsoft.com/office/drawing/2014/main" id="{9C0CC772-DBD5-4D87-B3C6-99F59C9BF017}"/>
              </a:ext>
            </a:extLst>
          </p:cNvPr>
          <p:cNvSpPr txBox="1"/>
          <p:nvPr/>
        </p:nvSpPr>
        <p:spPr>
          <a:xfrm>
            <a:off x="7629794" y="3922057"/>
            <a:ext cx="59663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a:rPr>
              <a:t>DKA</a:t>
            </a:r>
          </a:p>
        </p:txBody>
      </p:sp>
      <p:sp>
        <p:nvSpPr>
          <p:cNvPr id="26" name="Rectangle 25">
            <a:extLst>
              <a:ext uri="{FF2B5EF4-FFF2-40B4-BE49-F238E27FC236}">
                <a16:creationId xmlns:a16="http://schemas.microsoft.com/office/drawing/2014/main" id="{0736FEA9-5E55-4AA9-9B8D-14280615AABA}"/>
              </a:ext>
            </a:extLst>
          </p:cNvPr>
          <p:cNvSpPr/>
          <p:nvPr/>
        </p:nvSpPr>
        <p:spPr>
          <a:xfrm>
            <a:off x="8915401" y="1293989"/>
            <a:ext cx="2151571" cy="3412692"/>
          </a:xfrm>
          <a:prstGeom prst="rect">
            <a:avLst/>
          </a:prstGeom>
          <a:noFill/>
          <a:ln w="38100" cap="flat" cmpd="sng" algn="ctr">
            <a:solidFill>
              <a:srgbClr val="FF0000"/>
            </a:solid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0" cap="none" spc="0" normalizeH="0" baseline="0" noProof="0">
              <a:ln>
                <a:noFill/>
              </a:ln>
              <a:solidFill>
                <a:prstClr val="white"/>
              </a:solidFill>
              <a:effectLst/>
              <a:uLnTx/>
              <a:uFillTx/>
              <a:latin typeface="Intel Clear" panose="020B0604020203020204" pitchFamily="34" charset="0"/>
            </a:endParaRPr>
          </a:p>
        </p:txBody>
      </p:sp>
      <p:cxnSp>
        <p:nvCxnSpPr>
          <p:cNvPr id="57" name="Straight Connector 56">
            <a:extLst>
              <a:ext uri="{FF2B5EF4-FFF2-40B4-BE49-F238E27FC236}">
                <a16:creationId xmlns:a16="http://schemas.microsoft.com/office/drawing/2014/main" id="{1BA4C8F9-216E-4DB6-BD4D-F4DE57A795AE}"/>
              </a:ext>
            </a:extLst>
          </p:cNvPr>
          <p:cNvCxnSpPr>
            <a:cxnSpLocks/>
          </p:cNvCxnSpPr>
          <p:nvPr/>
        </p:nvCxnSpPr>
        <p:spPr>
          <a:xfrm>
            <a:off x="8419767" y="2431557"/>
            <a:ext cx="3032549" cy="0"/>
          </a:xfrm>
          <a:prstGeom prst="line">
            <a:avLst/>
          </a:prstGeom>
          <a:noFill/>
          <a:ln w="12700" cap="flat" cmpd="sng" algn="ctr">
            <a:solidFill>
              <a:srgbClr val="ED7D31">
                <a:lumMod val="75000"/>
              </a:srgbClr>
            </a:solidFill>
            <a:prstDash val="dash"/>
            <a:miter lim="800000"/>
          </a:ln>
          <a:effectLst/>
        </p:spPr>
      </p:cxnSp>
      <p:cxnSp>
        <p:nvCxnSpPr>
          <p:cNvPr id="58" name="Straight Connector 57">
            <a:extLst>
              <a:ext uri="{FF2B5EF4-FFF2-40B4-BE49-F238E27FC236}">
                <a16:creationId xmlns:a16="http://schemas.microsoft.com/office/drawing/2014/main" id="{17162C8B-F078-443F-9932-E70B867225B5}"/>
              </a:ext>
            </a:extLst>
          </p:cNvPr>
          <p:cNvCxnSpPr>
            <a:cxnSpLocks/>
          </p:cNvCxnSpPr>
          <p:nvPr/>
        </p:nvCxnSpPr>
        <p:spPr>
          <a:xfrm>
            <a:off x="8419767" y="1293989"/>
            <a:ext cx="3032549" cy="0"/>
          </a:xfrm>
          <a:prstGeom prst="line">
            <a:avLst/>
          </a:prstGeom>
          <a:noFill/>
          <a:ln w="12700" cap="flat" cmpd="sng" algn="ctr">
            <a:solidFill>
              <a:srgbClr val="ED7D31">
                <a:lumMod val="75000"/>
              </a:srgbClr>
            </a:solidFill>
            <a:prstDash val="dash"/>
            <a:miter lim="800000"/>
          </a:ln>
          <a:effectLst/>
        </p:spPr>
      </p:cxnSp>
      <p:cxnSp>
        <p:nvCxnSpPr>
          <p:cNvPr id="59" name="Straight Connector 58">
            <a:extLst>
              <a:ext uri="{FF2B5EF4-FFF2-40B4-BE49-F238E27FC236}">
                <a16:creationId xmlns:a16="http://schemas.microsoft.com/office/drawing/2014/main" id="{84ADFEC5-380F-49E7-88D8-77CD32F34483}"/>
              </a:ext>
            </a:extLst>
          </p:cNvPr>
          <p:cNvCxnSpPr>
            <a:cxnSpLocks/>
          </p:cNvCxnSpPr>
          <p:nvPr/>
        </p:nvCxnSpPr>
        <p:spPr>
          <a:xfrm>
            <a:off x="8419767" y="3569125"/>
            <a:ext cx="3032549" cy="0"/>
          </a:xfrm>
          <a:prstGeom prst="line">
            <a:avLst/>
          </a:prstGeom>
          <a:noFill/>
          <a:ln w="12700" cap="flat" cmpd="sng" algn="ctr">
            <a:solidFill>
              <a:srgbClr val="ED7D31">
                <a:lumMod val="75000"/>
              </a:srgbClr>
            </a:solidFill>
            <a:prstDash val="dash"/>
            <a:miter lim="800000"/>
          </a:ln>
          <a:effectLst/>
        </p:spPr>
      </p:cxnSp>
      <p:cxnSp>
        <p:nvCxnSpPr>
          <p:cNvPr id="20" name="Straight Connector 19">
            <a:extLst>
              <a:ext uri="{FF2B5EF4-FFF2-40B4-BE49-F238E27FC236}">
                <a16:creationId xmlns:a16="http://schemas.microsoft.com/office/drawing/2014/main" id="{D9D51771-ABD3-4B2E-800F-8DE5580B00D3}"/>
              </a:ext>
            </a:extLst>
          </p:cNvPr>
          <p:cNvCxnSpPr>
            <a:cxnSpLocks/>
          </p:cNvCxnSpPr>
          <p:nvPr/>
        </p:nvCxnSpPr>
        <p:spPr>
          <a:xfrm>
            <a:off x="8419767" y="1862773"/>
            <a:ext cx="3032549" cy="0"/>
          </a:xfrm>
          <a:prstGeom prst="line">
            <a:avLst/>
          </a:prstGeom>
          <a:noFill/>
          <a:ln w="6350" cap="flat" cmpd="sng" algn="ctr">
            <a:solidFill>
              <a:srgbClr val="00A3F6"/>
            </a:solidFill>
            <a:prstDash val="dash"/>
            <a:miter lim="800000"/>
          </a:ln>
          <a:effectLst/>
        </p:spPr>
      </p:cxnSp>
      <p:cxnSp>
        <p:nvCxnSpPr>
          <p:cNvPr id="21" name="Straight Connector 20">
            <a:extLst>
              <a:ext uri="{FF2B5EF4-FFF2-40B4-BE49-F238E27FC236}">
                <a16:creationId xmlns:a16="http://schemas.microsoft.com/office/drawing/2014/main" id="{4A9D8443-EEE3-433F-8EF8-66264E0FC46A}"/>
              </a:ext>
            </a:extLst>
          </p:cNvPr>
          <p:cNvCxnSpPr>
            <a:cxnSpLocks/>
          </p:cNvCxnSpPr>
          <p:nvPr/>
        </p:nvCxnSpPr>
        <p:spPr>
          <a:xfrm>
            <a:off x="8419767" y="3000341"/>
            <a:ext cx="3032549" cy="0"/>
          </a:xfrm>
          <a:prstGeom prst="line">
            <a:avLst/>
          </a:prstGeom>
          <a:noFill/>
          <a:ln w="6350" cap="flat" cmpd="sng" algn="ctr">
            <a:solidFill>
              <a:srgbClr val="00A3F6"/>
            </a:solidFill>
            <a:prstDash val="dash"/>
            <a:miter lim="800000"/>
          </a:ln>
          <a:effectLst/>
        </p:spPr>
      </p:cxnSp>
      <p:cxnSp>
        <p:nvCxnSpPr>
          <p:cNvPr id="22" name="Straight Connector 21">
            <a:extLst>
              <a:ext uri="{FF2B5EF4-FFF2-40B4-BE49-F238E27FC236}">
                <a16:creationId xmlns:a16="http://schemas.microsoft.com/office/drawing/2014/main" id="{92B46D88-88C1-441A-8284-6914589A3C0A}"/>
              </a:ext>
            </a:extLst>
          </p:cNvPr>
          <p:cNvCxnSpPr>
            <a:cxnSpLocks/>
          </p:cNvCxnSpPr>
          <p:nvPr/>
        </p:nvCxnSpPr>
        <p:spPr>
          <a:xfrm>
            <a:off x="8419766" y="4706694"/>
            <a:ext cx="3032549" cy="0"/>
          </a:xfrm>
          <a:prstGeom prst="line">
            <a:avLst/>
          </a:prstGeom>
          <a:noFill/>
          <a:ln w="12700" cap="flat" cmpd="sng" algn="ctr">
            <a:solidFill>
              <a:srgbClr val="ED7D31">
                <a:lumMod val="75000"/>
              </a:srgbClr>
            </a:solidFill>
            <a:prstDash val="dash"/>
            <a:miter lim="800000"/>
          </a:ln>
          <a:effectLst/>
        </p:spPr>
      </p:cxnSp>
      <p:cxnSp>
        <p:nvCxnSpPr>
          <p:cNvPr id="23" name="Straight Connector 22">
            <a:extLst>
              <a:ext uri="{FF2B5EF4-FFF2-40B4-BE49-F238E27FC236}">
                <a16:creationId xmlns:a16="http://schemas.microsoft.com/office/drawing/2014/main" id="{371235D7-BE28-493B-BBF9-AFA7E58A97EB}"/>
              </a:ext>
            </a:extLst>
          </p:cNvPr>
          <p:cNvCxnSpPr>
            <a:cxnSpLocks/>
          </p:cNvCxnSpPr>
          <p:nvPr/>
        </p:nvCxnSpPr>
        <p:spPr>
          <a:xfrm>
            <a:off x="8419766" y="4137909"/>
            <a:ext cx="3032549" cy="0"/>
          </a:xfrm>
          <a:prstGeom prst="line">
            <a:avLst/>
          </a:prstGeom>
          <a:noFill/>
          <a:ln w="6350" cap="flat" cmpd="sng" algn="ctr">
            <a:solidFill>
              <a:srgbClr val="00A3F6"/>
            </a:solidFill>
            <a:prstDash val="dash"/>
            <a:miter lim="800000"/>
          </a:ln>
          <a:effectLst/>
        </p:spPr>
      </p:cxnSp>
      <p:cxnSp>
        <p:nvCxnSpPr>
          <p:cNvPr id="3" name="Straight Arrow Connector 2">
            <a:extLst>
              <a:ext uri="{FF2B5EF4-FFF2-40B4-BE49-F238E27FC236}">
                <a16:creationId xmlns:a16="http://schemas.microsoft.com/office/drawing/2014/main" id="{11C988A2-0523-4707-85D7-D3EB00AEA691}"/>
              </a:ext>
            </a:extLst>
          </p:cNvPr>
          <p:cNvCxnSpPr/>
          <p:nvPr/>
        </p:nvCxnSpPr>
        <p:spPr>
          <a:xfrm>
            <a:off x="9307183" y="1293989"/>
            <a:ext cx="0" cy="11375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CEC0A90-6E72-416D-AA83-1E0B17985724}"/>
              </a:ext>
            </a:extLst>
          </p:cNvPr>
          <p:cNvSpPr txBox="1"/>
          <p:nvPr/>
        </p:nvSpPr>
        <p:spPr>
          <a:xfrm>
            <a:off x="9307183" y="1393709"/>
            <a:ext cx="14697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92929"/>
                </a:solidFill>
                <a:effectLst/>
                <a:uLnTx/>
                <a:uFillTx/>
                <a:latin typeface="IntelOne Text Light"/>
              </a:rPr>
              <a:t>1x Cell Height</a:t>
            </a:r>
          </a:p>
        </p:txBody>
      </p:sp>
      <p:sp>
        <p:nvSpPr>
          <p:cNvPr id="30" name="Rectangle 29">
            <a:extLst>
              <a:ext uri="{FF2B5EF4-FFF2-40B4-BE49-F238E27FC236}">
                <a16:creationId xmlns:a16="http://schemas.microsoft.com/office/drawing/2014/main" id="{8AEA70E0-1DD2-4003-83C3-479E4FB71FF8}"/>
              </a:ext>
            </a:extLst>
          </p:cNvPr>
          <p:cNvSpPr/>
          <p:nvPr/>
        </p:nvSpPr>
        <p:spPr>
          <a:xfrm>
            <a:off x="9466318" y="5636263"/>
            <a:ext cx="558799" cy="250558"/>
          </a:xfrm>
          <a:prstGeom prst="rect">
            <a:avLst/>
          </a:prstGeom>
          <a:noFill/>
          <a:ln w="38100" cap="flat" cmpd="sng" algn="ctr">
            <a:solidFill>
              <a:srgbClr val="FF0000"/>
            </a:solid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0" cap="none" spc="0" normalizeH="0" baseline="0" noProof="0">
              <a:ln>
                <a:noFill/>
              </a:ln>
              <a:solidFill>
                <a:prstClr val="white"/>
              </a:solidFill>
              <a:effectLst/>
              <a:uLnTx/>
              <a:uFillTx/>
              <a:latin typeface="Intel Clear" panose="020B0604020203020204" pitchFamily="34" charset="0"/>
            </a:endParaRPr>
          </a:p>
        </p:txBody>
      </p:sp>
      <p:sp>
        <p:nvSpPr>
          <p:cNvPr id="31" name="TextBox 30">
            <a:extLst>
              <a:ext uri="{FF2B5EF4-FFF2-40B4-BE49-F238E27FC236}">
                <a16:creationId xmlns:a16="http://schemas.microsoft.com/office/drawing/2014/main" id="{13B139C6-3620-47B4-A9C5-FE73E2834591}"/>
              </a:ext>
            </a:extLst>
          </p:cNvPr>
          <p:cNvSpPr txBox="1"/>
          <p:nvPr/>
        </p:nvSpPr>
        <p:spPr>
          <a:xfrm>
            <a:off x="10109254" y="5606123"/>
            <a:ext cx="1533561" cy="30777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rPr>
              <a:t>=cell height region</a:t>
            </a:r>
          </a:p>
        </p:txBody>
      </p:sp>
    </p:spTree>
    <p:extLst>
      <p:ext uri="{BB962C8B-B14F-4D97-AF65-F5344CB8AC3E}">
        <p14:creationId xmlns:p14="http://schemas.microsoft.com/office/powerpoint/2010/main" val="367075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41B4-4294-2C20-E81A-00D9BA2BA77A}"/>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D5E2716B-A0AD-5EF0-FBDC-E0547053943E}"/>
              </a:ext>
            </a:extLst>
          </p:cNvPr>
          <p:cNvSpPr/>
          <p:nvPr/>
        </p:nvSpPr>
        <p:spPr>
          <a:xfrm>
            <a:off x="721849" y="4937319"/>
            <a:ext cx="4368713" cy="56258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7" name="Rectangle 6">
            <a:extLst>
              <a:ext uri="{FF2B5EF4-FFF2-40B4-BE49-F238E27FC236}">
                <a16:creationId xmlns:a16="http://schemas.microsoft.com/office/drawing/2014/main" id="{5AC7A3F8-B4ED-FDB5-A9D1-75209A165DD9}"/>
              </a:ext>
            </a:extLst>
          </p:cNvPr>
          <p:cNvSpPr/>
          <p:nvPr/>
        </p:nvSpPr>
        <p:spPr>
          <a:xfrm>
            <a:off x="719934" y="5005028"/>
            <a:ext cx="4367597" cy="435807"/>
          </a:xfrm>
          <a:prstGeom prst="rect">
            <a:avLst/>
          </a:prstGeom>
          <a:solidFill>
            <a:srgbClr val="8F5DA2"/>
          </a:solidFill>
          <a:ln w="12700" cap="flat" cmpd="sng" algn="ctr">
            <a:solidFill>
              <a:srgbClr val="4472C4">
                <a:shade val="50000"/>
              </a:srgbClr>
            </a:solidFill>
            <a:prstDash val="solid"/>
            <a:miter lim="800000"/>
          </a:ln>
          <a:effectLst/>
        </p:spPr>
        <p:txBody>
          <a:bodyPr rtlCol="0" anchor="ctr"/>
          <a:lstStyle/>
          <a:p>
            <a:pPr algn="ctr"/>
            <a:endParaRPr lang="en-US" sz="4000" kern="0">
              <a:solidFill>
                <a:prstClr val="white"/>
              </a:solidFill>
              <a:latin typeface="Calibri" panose="020F0502020204030204"/>
            </a:endParaRPr>
          </a:p>
        </p:txBody>
      </p:sp>
      <p:sp>
        <p:nvSpPr>
          <p:cNvPr id="12" name="Rectangle 11">
            <a:extLst>
              <a:ext uri="{FF2B5EF4-FFF2-40B4-BE49-F238E27FC236}">
                <a16:creationId xmlns:a16="http://schemas.microsoft.com/office/drawing/2014/main" id="{A21D5193-CDD2-DA4D-1868-72C9AF2F8543}"/>
              </a:ext>
            </a:extLst>
          </p:cNvPr>
          <p:cNvSpPr/>
          <p:nvPr/>
        </p:nvSpPr>
        <p:spPr>
          <a:xfrm>
            <a:off x="721849" y="1789954"/>
            <a:ext cx="4368713" cy="56258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0" name="Rectangle 9">
            <a:extLst>
              <a:ext uri="{FF2B5EF4-FFF2-40B4-BE49-F238E27FC236}">
                <a16:creationId xmlns:a16="http://schemas.microsoft.com/office/drawing/2014/main" id="{50159D7E-120A-EBB2-A5EE-39C894081022}"/>
              </a:ext>
            </a:extLst>
          </p:cNvPr>
          <p:cNvSpPr/>
          <p:nvPr/>
        </p:nvSpPr>
        <p:spPr>
          <a:xfrm>
            <a:off x="718820" y="1857967"/>
            <a:ext cx="4373723" cy="435807"/>
          </a:xfrm>
          <a:prstGeom prst="rect">
            <a:avLst/>
          </a:prstGeom>
          <a:solidFill>
            <a:srgbClr val="8F5DA2"/>
          </a:solidFill>
          <a:ln w="12700" cap="flat" cmpd="sng" algn="ctr">
            <a:solidFill>
              <a:srgbClr val="4472C4">
                <a:shade val="50000"/>
              </a:srgbClr>
            </a:solidFill>
            <a:prstDash val="solid"/>
            <a:miter lim="800000"/>
          </a:ln>
          <a:effectLst/>
        </p:spPr>
        <p:txBody>
          <a:bodyPr rtlCol="0" anchor="ctr"/>
          <a:lstStyle/>
          <a:p>
            <a:pPr algn="ctr"/>
            <a:endParaRPr lang="en-US" sz="4000" kern="0">
              <a:solidFill>
                <a:prstClr val="white"/>
              </a:solidFill>
              <a:latin typeface="Calibri" panose="020F0502020204030204"/>
            </a:endParaRPr>
          </a:p>
        </p:txBody>
      </p:sp>
      <p:sp>
        <p:nvSpPr>
          <p:cNvPr id="11" name="Rectangle 10">
            <a:extLst>
              <a:ext uri="{FF2B5EF4-FFF2-40B4-BE49-F238E27FC236}">
                <a16:creationId xmlns:a16="http://schemas.microsoft.com/office/drawing/2014/main" id="{7A7643E2-E60F-2D6E-4BE1-6FC375D242F0}"/>
              </a:ext>
            </a:extLst>
          </p:cNvPr>
          <p:cNvSpPr/>
          <p:nvPr/>
        </p:nvSpPr>
        <p:spPr>
          <a:xfrm>
            <a:off x="718821" y="3384298"/>
            <a:ext cx="4368713" cy="56258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3" name="Straight Connector 2">
            <a:extLst>
              <a:ext uri="{FF2B5EF4-FFF2-40B4-BE49-F238E27FC236}">
                <a16:creationId xmlns:a16="http://schemas.microsoft.com/office/drawing/2014/main" id="{FB551FF3-47BB-F309-3A2C-8B3AA39F5642}"/>
              </a:ext>
            </a:extLst>
          </p:cNvPr>
          <p:cNvCxnSpPr>
            <a:cxnSpLocks/>
          </p:cNvCxnSpPr>
          <p:nvPr/>
        </p:nvCxnSpPr>
        <p:spPr>
          <a:xfrm>
            <a:off x="605113" y="4436834"/>
            <a:ext cx="4672584" cy="0"/>
          </a:xfrm>
          <a:prstGeom prst="line">
            <a:avLst/>
          </a:prstGeom>
          <a:ln w="22225">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5D0B8C2D-D3B7-D7E2-630E-C18E49DB0871}"/>
              </a:ext>
            </a:extLst>
          </p:cNvPr>
          <p:cNvCxnSpPr>
            <a:cxnSpLocks/>
          </p:cNvCxnSpPr>
          <p:nvPr/>
        </p:nvCxnSpPr>
        <p:spPr>
          <a:xfrm>
            <a:off x="642252" y="2878148"/>
            <a:ext cx="4672584" cy="0"/>
          </a:xfrm>
          <a:prstGeom prst="line">
            <a:avLst/>
          </a:prstGeom>
          <a:ln w="2222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5AA8845-54D9-4223-AE08-194A11763D4A}"/>
              </a:ext>
            </a:extLst>
          </p:cNvPr>
          <p:cNvSpPr/>
          <p:nvPr/>
        </p:nvSpPr>
        <p:spPr>
          <a:xfrm>
            <a:off x="1421722" y="2479845"/>
            <a:ext cx="3380653" cy="806450"/>
          </a:xfrm>
          <a:prstGeom prst="rect">
            <a:avLst/>
          </a:prstGeom>
          <a:solidFill>
            <a:srgbClr val="F3F7B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FD92D62-11F0-F500-9813-940CF3A3BE48}"/>
              </a:ext>
            </a:extLst>
          </p:cNvPr>
          <p:cNvSpPr/>
          <p:nvPr/>
        </p:nvSpPr>
        <p:spPr>
          <a:xfrm>
            <a:off x="1421723" y="4035536"/>
            <a:ext cx="3346162" cy="821690"/>
          </a:xfrm>
          <a:prstGeom prst="rect">
            <a:avLst/>
          </a:prstGeom>
          <a:solidFill>
            <a:srgbClr val="F3F7B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1DD65E26-55BC-2578-722C-18BE2A3DCCE9}"/>
              </a:ext>
            </a:extLst>
          </p:cNvPr>
          <p:cNvCxnSpPr>
            <a:cxnSpLocks/>
          </p:cNvCxnSpPr>
          <p:nvPr/>
        </p:nvCxnSpPr>
        <p:spPr>
          <a:xfrm>
            <a:off x="635674" y="3665590"/>
            <a:ext cx="4675228" cy="0"/>
          </a:xfrm>
          <a:prstGeom prst="line">
            <a:avLst/>
          </a:prstGeom>
          <a:ln w="222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DEDD85B-448D-B146-A5AC-C6106B18DE27}"/>
              </a:ext>
            </a:extLst>
          </p:cNvPr>
          <p:cNvSpPr txBox="1"/>
          <p:nvPr/>
        </p:nvSpPr>
        <p:spPr>
          <a:xfrm>
            <a:off x="5802563" y="1915136"/>
            <a:ext cx="842038" cy="369332"/>
          </a:xfrm>
          <a:prstGeom prst="rect">
            <a:avLst/>
          </a:prstGeom>
          <a:noFill/>
        </p:spPr>
        <p:txBody>
          <a:bodyPr wrap="square" rtlCol="0">
            <a:spAutoFit/>
          </a:bodyPr>
          <a:lstStyle/>
          <a:p>
            <a:r>
              <a:rPr lang="en-US">
                <a:solidFill>
                  <a:srgbClr val="0070C0"/>
                </a:solidFill>
              </a:rPr>
              <a:t>CRL</a:t>
            </a:r>
          </a:p>
        </p:txBody>
      </p:sp>
      <p:sp>
        <p:nvSpPr>
          <p:cNvPr id="57" name="TextBox 56">
            <a:extLst>
              <a:ext uri="{FF2B5EF4-FFF2-40B4-BE49-F238E27FC236}">
                <a16:creationId xmlns:a16="http://schemas.microsoft.com/office/drawing/2014/main" id="{74519860-0FCA-CFEC-8593-5B0B904CE934}"/>
              </a:ext>
            </a:extLst>
          </p:cNvPr>
          <p:cNvSpPr txBox="1"/>
          <p:nvPr/>
        </p:nvSpPr>
        <p:spPr>
          <a:xfrm>
            <a:off x="5802563" y="5011624"/>
            <a:ext cx="842038" cy="369332"/>
          </a:xfrm>
          <a:prstGeom prst="rect">
            <a:avLst/>
          </a:prstGeom>
          <a:noFill/>
        </p:spPr>
        <p:txBody>
          <a:bodyPr wrap="square" rtlCol="0">
            <a:spAutoFit/>
          </a:bodyPr>
          <a:lstStyle/>
          <a:p>
            <a:r>
              <a:rPr lang="en-US">
                <a:solidFill>
                  <a:srgbClr val="0070C0"/>
                </a:solidFill>
              </a:rPr>
              <a:t>CRL</a:t>
            </a:r>
          </a:p>
        </p:txBody>
      </p:sp>
      <p:sp>
        <p:nvSpPr>
          <p:cNvPr id="59" name="TextBox 58">
            <a:extLst>
              <a:ext uri="{FF2B5EF4-FFF2-40B4-BE49-F238E27FC236}">
                <a16:creationId xmlns:a16="http://schemas.microsoft.com/office/drawing/2014/main" id="{8D152E64-C35C-C624-D780-C56CCA98A1DD}"/>
              </a:ext>
            </a:extLst>
          </p:cNvPr>
          <p:cNvSpPr txBox="1"/>
          <p:nvPr/>
        </p:nvSpPr>
        <p:spPr>
          <a:xfrm>
            <a:off x="5802563" y="3497663"/>
            <a:ext cx="842038" cy="369332"/>
          </a:xfrm>
          <a:prstGeom prst="rect">
            <a:avLst/>
          </a:prstGeom>
          <a:noFill/>
        </p:spPr>
        <p:txBody>
          <a:bodyPr wrap="square" rtlCol="0">
            <a:spAutoFit/>
          </a:bodyPr>
          <a:lstStyle/>
          <a:p>
            <a:r>
              <a:rPr lang="en-US"/>
              <a:t>DKA</a:t>
            </a:r>
          </a:p>
        </p:txBody>
      </p:sp>
      <p:sp>
        <p:nvSpPr>
          <p:cNvPr id="69" name="Rectangle 68">
            <a:extLst>
              <a:ext uri="{FF2B5EF4-FFF2-40B4-BE49-F238E27FC236}">
                <a16:creationId xmlns:a16="http://schemas.microsoft.com/office/drawing/2014/main" id="{3BE0054E-0E13-AA37-1508-83AE58B600DA}"/>
              </a:ext>
            </a:extLst>
          </p:cNvPr>
          <p:cNvSpPr/>
          <p:nvPr/>
        </p:nvSpPr>
        <p:spPr>
          <a:xfrm>
            <a:off x="928207" y="5911307"/>
            <a:ext cx="425450" cy="473907"/>
          </a:xfrm>
          <a:prstGeom prst="rect">
            <a:avLst/>
          </a:prstGeom>
          <a:solidFill>
            <a:srgbClr val="8F5DA2"/>
          </a:solidFill>
          <a:ln w="12700" cap="flat" cmpd="sng" algn="ctr">
            <a:solidFill>
              <a:srgbClr val="4472C4">
                <a:shade val="50000"/>
              </a:srgbClr>
            </a:solidFill>
            <a:prstDash val="solid"/>
            <a:miter lim="800000"/>
          </a:ln>
          <a:effectLst/>
        </p:spPr>
        <p:txBody>
          <a:bodyPr rtlCol="0" anchor="ctr"/>
          <a:lstStyle/>
          <a:p>
            <a:pPr algn="ctr"/>
            <a:endParaRPr lang="en-US" sz="4000" kern="0">
              <a:solidFill>
                <a:prstClr val="white"/>
              </a:solidFill>
              <a:latin typeface="Calibri" panose="020F0502020204030204"/>
            </a:endParaRPr>
          </a:p>
        </p:txBody>
      </p:sp>
      <p:sp>
        <p:nvSpPr>
          <p:cNvPr id="70" name="Rectangle 69">
            <a:extLst>
              <a:ext uri="{FF2B5EF4-FFF2-40B4-BE49-F238E27FC236}">
                <a16:creationId xmlns:a16="http://schemas.microsoft.com/office/drawing/2014/main" id="{FF6A4E18-6E4F-126D-306F-929FC8A10E93}"/>
              </a:ext>
            </a:extLst>
          </p:cNvPr>
          <p:cNvSpPr/>
          <p:nvPr/>
        </p:nvSpPr>
        <p:spPr>
          <a:xfrm>
            <a:off x="211873" y="5911307"/>
            <a:ext cx="425450" cy="49771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2D92B3A-CECE-D201-4F7C-128F2CB77CDC}"/>
              </a:ext>
            </a:extLst>
          </p:cNvPr>
          <p:cNvSpPr/>
          <p:nvPr/>
        </p:nvSpPr>
        <p:spPr>
          <a:xfrm>
            <a:off x="2391016" y="5911307"/>
            <a:ext cx="425450" cy="473907"/>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FFDA11F-C42C-EF2E-D74E-D9B765E945C0}"/>
              </a:ext>
            </a:extLst>
          </p:cNvPr>
          <p:cNvSpPr txBox="1"/>
          <p:nvPr/>
        </p:nvSpPr>
        <p:spPr>
          <a:xfrm>
            <a:off x="831676" y="6414236"/>
            <a:ext cx="842038" cy="369332"/>
          </a:xfrm>
          <a:prstGeom prst="rect">
            <a:avLst/>
          </a:prstGeom>
          <a:noFill/>
        </p:spPr>
        <p:txBody>
          <a:bodyPr wrap="square" lIns="91440" tIns="45720" rIns="91440" bIns="45720" rtlCol="0" anchor="t">
            <a:spAutoFit/>
          </a:bodyPr>
          <a:lstStyle/>
          <a:p>
            <a:r>
              <a:rPr lang="en-US">
                <a:solidFill>
                  <a:srgbClr val="0070C0"/>
                </a:solidFill>
              </a:rPr>
              <a:t>VCR</a:t>
            </a:r>
          </a:p>
        </p:txBody>
      </p:sp>
      <p:sp>
        <p:nvSpPr>
          <p:cNvPr id="73" name="TextBox 72">
            <a:extLst>
              <a:ext uri="{FF2B5EF4-FFF2-40B4-BE49-F238E27FC236}">
                <a16:creationId xmlns:a16="http://schemas.microsoft.com/office/drawing/2014/main" id="{0C0CB838-3858-B4FA-2337-F1A2C801BA00}"/>
              </a:ext>
            </a:extLst>
          </p:cNvPr>
          <p:cNvSpPr txBox="1"/>
          <p:nvPr/>
        </p:nvSpPr>
        <p:spPr>
          <a:xfrm>
            <a:off x="135652" y="6414236"/>
            <a:ext cx="842038" cy="369332"/>
          </a:xfrm>
          <a:prstGeom prst="rect">
            <a:avLst/>
          </a:prstGeom>
          <a:noFill/>
        </p:spPr>
        <p:txBody>
          <a:bodyPr wrap="square" rtlCol="0">
            <a:spAutoFit/>
          </a:bodyPr>
          <a:lstStyle/>
          <a:p>
            <a:r>
              <a:rPr lang="en-US">
                <a:solidFill>
                  <a:srgbClr val="0070C0"/>
                </a:solidFill>
              </a:rPr>
              <a:t>poly</a:t>
            </a:r>
          </a:p>
        </p:txBody>
      </p:sp>
      <p:sp>
        <p:nvSpPr>
          <p:cNvPr id="74" name="TextBox 73">
            <a:extLst>
              <a:ext uri="{FF2B5EF4-FFF2-40B4-BE49-F238E27FC236}">
                <a16:creationId xmlns:a16="http://schemas.microsoft.com/office/drawing/2014/main" id="{BCA92F63-393B-49F6-F540-5F322F041EBA}"/>
              </a:ext>
            </a:extLst>
          </p:cNvPr>
          <p:cNvSpPr txBox="1"/>
          <p:nvPr/>
        </p:nvSpPr>
        <p:spPr>
          <a:xfrm>
            <a:off x="2406343" y="6414236"/>
            <a:ext cx="513459" cy="369332"/>
          </a:xfrm>
          <a:prstGeom prst="rect">
            <a:avLst/>
          </a:prstGeom>
          <a:noFill/>
        </p:spPr>
        <p:txBody>
          <a:bodyPr wrap="square" rtlCol="0">
            <a:spAutoFit/>
          </a:bodyPr>
          <a:lstStyle/>
          <a:p>
            <a:r>
              <a:rPr lang="en-US">
                <a:solidFill>
                  <a:srgbClr val="0070C0"/>
                </a:solidFill>
              </a:rPr>
              <a:t>tcn</a:t>
            </a:r>
          </a:p>
        </p:txBody>
      </p:sp>
      <p:cxnSp>
        <p:nvCxnSpPr>
          <p:cNvPr id="77" name="Straight Arrow Connector 76">
            <a:extLst>
              <a:ext uri="{FF2B5EF4-FFF2-40B4-BE49-F238E27FC236}">
                <a16:creationId xmlns:a16="http://schemas.microsoft.com/office/drawing/2014/main" id="{E329CA98-5C8B-37EC-4CD3-2243C74BA649}"/>
              </a:ext>
            </a:extLst>
          </p:cNvPr>
          <p:cNvCxnSpPr>
            <a:cxnSpLocks/>
          </p:cNvCxnSpPr>
          <p:nvPr/>
        </p:nvCxnSpPr>
        <p:spPr>
          <a:xfrm>
            <a:off x="640107" y="2089718"/>
            <a:ext cx="0" cy="311484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20DBF284-B865-62C7-1D9B-6B057F01D0FA}"/>
              </a:ext>
            </a:extLst>
          </p:cNvPr>
          <p:cNvSpPr txBox="1"/>
          <p:nvPr/>
        </p:nvSpPr>
        <p:spPr>
          <a:xfrm>
            <a:off x="-102462" y="2192749"/>
            <a:ext cx="842038" cy="646331"/>
          </a:xfrm>
          <a:prstGeom prst="rect">
            <a:avLst/>
          </a:prstGeom>
          <a:noFill/>
        </p:spPr>
        <p:txBody>
          <a:bodyPr wrap="square" rtlCol="0">
            <a:spAutoFit/>
          </a:bodyPr>
          <a:lstStyle/>
          <a:p>
            <a:r>
              <a:rPr lang="en-US">
                <a:solidFill>
                  <a:srgbClr val="0070C0"/>
                </a:solidFill>
              </a:rPr>
              <a:t>Cell</a:t>
            </a:r>
          </a:p>
          <a:p>
            <a:r>
              <a:rPr lang="en-US">
                <a:solidFill>
                  <a:srgbClr val="0070C0"/>
                </a:solidFill>
              </a:rPr>
              <a:t>Height</a:t>
            </a:r>
          </a:p>
        </p:txBody>
      </p:sp>
      <p:sp>
        <p:nvSpPr>
          <p:cNvPr id="30" name="TextBox 29">
            <a:extLst>
              <a:ext uri="{FF2B5EF4-FFF2-40B4-BE49-F238E27FC236}">
                <a16:creationId xmlns:a16="http://schemas.microsoft.com/office/drawing/2014/main" id="{BA229385-87F1-37AC-DC26-4759366DA6F8}"/>
              </a:ext>
            </a:extLst>
          </p:cNvPr>
          <p:cNvSpPr txBox="1"/>
          <p:nvPr/>
        </p:nvSpPr>
        <p:spPr>
          <a:xfrm>
            <a:off x="3647377" y="6414236"/>
            <a:ext cx="1221726" cy="369332"/>
          </a:xfrm>
          <a:prstGeom prst="rect">
            <a:avLst/>
          </a:prstGeom>
          <a:noFill/>
        </p:spPr>
        <p:txBody>
          <a:bodyPr wrap="square" rtlCol="0">
            <a:spAutoFit/>
          </a:bodyPr>
          <a:lstStyle/>
          <a:p>
            <a:r>
              <a:rPr lang="en-US">
                <a:solidFill>
                  <a:srgbClr val="0070C0"/>
                </a:solidFill>
              </a:rPr>
              <a:t>diffusion</a:t>
            </a:r>
          </a:p>
        </p:txBody>
      </p:sp>
      <p:graphicFrame>
        <p:nvGraphicFramePr>
          <p:cNvPr id="90" name="Table 89">
            <a:extLst>
              <a:ext uri="{FF2B5EF4-FFF2-40B4-BE49-F238E27FC236}">
                <a16:creationId xmlns:a16="http://schemas.microsoft.com/office/drawing/2014/main" id="{5A575154-BA2A-E578-10C3-21B5EF2BBBCD}"/>
              </a:ext>
            </a:extLst>
          </p:cNvPr>
          <p:cNvGraphicFramePr>
            <a:graphicFrameLocks noGrp="1"/>
          </p:cNvGraphicFramePr>
          <p:nvPr>
            <p:extLst>
              <p:ext uri="{D42A27DB-BD31-4B8C-83A1-F6EECF244321}">
                <p14:modId xmlns:p14="http://schemas.microsoft.com/office/powerpoint/2010/main" val="1538826688"/>
              </p:ext>
            </p:extLst>
          </p:nvPr>
        </p:nvGraphicFramePr>
        <p:xfrm>
          <a:off x="7679279" y="1190948"/>
          <a:ext cx="4135350" cy="3804018"/>
        </p:xfrm>
        <a:graphic>
          <a:graphicData uri="http://schemas.openxmlformats.org/drawingml/2006/table">
            <a:tbl>
              <a:tblPr firstRow="1" bandRow="1">
                <a:tableStyleId>{5940675A-B579-460E-94D1-54222C63F5DA}</a:tableStyleId>
              </a:tblPr>
              <a:tblGrid>
                <a:gridCol w="2727464">
                  <a:extLst>
                    <a:ext uri="{9D8B030D-6E8A-4147-A177-3AD203B41FA5}">
                      <a16:colId xmlns:a16="http://schemas.microsoft.com/office/drawing/2014/main" val="2822985002"/>
                    </a:ext>
                  </a:extLst>
                </a:gridCol>
                <a:gridCol w="1407886">
                  <a:extLst>
                    <a:ext uri="{9D8B030D-6E8A-4147-A177-3AD203B41FA5}">
                      <a16:colId xmlns:a16="http://schemas.microsoft.com/office/drawing/2014/main" val="1805881641"/>
                    </a:ext>
                  </a:extLst>
                </a:gridCol>
              </a:tblGrid>
              <a:tr h="30180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rtl="0" fontAlgn="b"/>
                      <a:r>
                        <a:rPr lang="en-US" sz="1800" b="1" u="none" strike="noStrike">
                          <a:effectLst/>
                          <a:latin typeface="+mn-lt"/>
                        </a:rPr>
                        <a:t>Layer</a:t>
                      </a:r>
                      <a:endParaRPr lang="en-US" sz="1800" b="1" i="0" u="none" strike="noStrike">
                        <a:solidFill>
                          <a:srgbClr val="FFFFFF"/>
                        </a:solidFill>
                        <a:effectLst/>
                        <a:latin typeface="+mn-lt"/>
                      </a:endParaRPr>
                    </a:p>
                  </a:txBody>
                  <a:tcPr marL="7620" marR="7620" marT="7620" marB="0" anchor="b">
                    <a:solidFill>
                      <a:schemeClr val="bg2">
                        <a:lumMod val="75000"/>
                      </a:scheme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rtl="0" fontAlgn="b"/>
                      <a:r>
                        <a:rPr lang="en-US" sz="1800" b="1" u="none" strike="noStrike">
                          <a:effectLst/>
                          <a:latin typeface="+mn-lt"/>
                        </a:rPr>
                        <a:t>Dimension (nm)</a:t>
                      </a:r>
                      <a:endParaRPr lang="en-US" sz="1800" b="1" i="0" u="none" strike="noStrike">
                        <a:solidFill>
                          <a:srgbClr val="FFFFFF"/>
                        </a:solidFill>
                        <a:effectLst/>
                        <a:latin typeface="+mn-lt"/>
                      </a:endParaRPr>
                    </a:p>
                  </a:txBody>
                  <a:tcPr marL="7620" marR="7620" marT="7620" marB="0" anchor="b">
                    <a:solidFill>
                      <a:schemeClr val="bg2">
                        <a:lumMod val="75000"/>
                      </a:schemeClr>
                    </a:solidFill>
                  </a:tcPr>
                </a:tc>
                <a:extLst>
                  <a:ext uri="{0D108BD9-81ED-4DB2-BD59-A6C34878D82A}">
                    <a16:rowId xmlns:a16="http://schemas.microsoft.com/office/drawing/2014/main" val="3030221227"/>
                  </a:ext>
                </a:extLst>
              </a:tr>
              <a:tr h="2021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poly length [PGD], min</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41</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4248552210"/>
                  </a:ext>
                </a:extLst>
              </a:tr>
              <a:tr h="2021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poly ETE [PGD], fixed</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14</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896950785"/>
                  </a:ext>
                </a:extLst>
              </a:tr>
              <a:tr h="202129">
                <a:tc>
                  <a:txBody>
                    <a:bodyPr/>
                    <a:lstStyle/>
                    <a:p>
                      <a:pPr algn="ctr" rtl="0" fontAlgn="b"/>
                      <a:r>
                        <a:rPr lang="en-US" sz="1400" b="0" u="none" strike="noStrike">
                          <a:solidFill>
                            <a:schemeClr val="tx1"/>
                          </a:solidFill>
                          <a:effectLst/>
                          <a:latin typeface="+mn-lt"/>
                        </a:rPr>
                        <a:t>poly width [O</a:t>
                      </a:r>
                      <a:r>
                        <a:rPr lang="en-US" sz="1400" u="none" strike="noStrike">
                          <a:solidFill>
                            <a:schemeClr val="tx1"/>
                          </a:solidFill>
                          <a:effectLst/>
                          <a:latin typeface="+mn-lt"/>
                        </a:rPr>
                        <a:t>GD], fixed</a:t>
                      </a:r>
                      <a:endParaRPr lang="en-US" sz="1400" b="0" i="0" u="none" strike="noStrike">
                        <a:solidFill>
                          <a:schemeClr val="tx1"/>
                        </a:solidFill>
                        <a:effectLst/>
                        <a:latin typeface="+mn-lt"/>
                      </a:endParaRPr>
                    </a:p>
                  </a:txBody>
                  <a:tcPr marL="7620" marR="7620" marT="7620" marB="0" anchor="b"/>
                </a:tc>
                <a:tc>
                  <a:txBody>
                    <a:bodyPr/>
                    <a:lstStyle/>
                    <a:p>
                      <a:pPr algn="ctr" rtl="0" fontAlgn="b"/>
                      <a:r>
                        <a:rPr lang="en-US" sz="1400" b="0" u="none" strike="noStrike">
                          <a:solidFill>
                            <a:schemeClr val="tx1"/>
                          </a:solidFill>
                          <a:effectLst/>
                          <a:latin typeface="+mn-lt"/>
                        </a:rPr>
                        <a:t>12</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3881068461"/>
                  </a:ext>
                </a:extLst>
              </a:tr>
              <a:tr h="202129">
                <a:tc>
                  <a:txBody>
                    <a:bodyPr/>
                    <a:lstStyle/>
                    <a:p>
                      <a:pPr algn="ctr" rtl="0" fontAlgn="b"/>
                      <a:r>
                        <a:rPr lang="en-US" sz="1400" b="0" u="none" strike="noStrike">
                          <a:solidFill>
                            <a:schemeClr val="tx1"/>
                          </a:solidFill>
                          <a:effectLst/>
                          <a:latin typeface="+mn-lt"/>
                        </a:rPr>
                        <a:t>poly pitch [O</a:t>
                      </a:r>
                      <a:r>
                        <a:rPr lang="en-US" sz="1400" u="none" strike="noStrike">
                          <a:solidFill>
                            <a:schemeClr val="tx1"/>
                          </a:solidFill>
                          <a:effectLst/>
                          <a:latin typeface="+mn-lt"/>
                        </a:rPr>
                        <a:t>GD], fixed</a:t>
                      </a:r>
                      <a:endParaRPr lang="en-US" sz="1400" b="0" i="0" u="none" strike="noStrike">
                        <a:solidFill>
                          <a:schemeClr val="tx1"/>
                        </a:solidFill>
                        <a:effectLst/>
                        <a:latin typeface="+mn-lt"/>
                      </a:endParaRPr>
                    </a:p>
                  </a:txBody>
                  <a:tcPr marL="7620" marR="7620" marT="7620" marB="0" anchor="b"/>
                </a:tc>
                <a:tc>
                  <a:txBody>
                    <a:bodyPr/>
                    <a:lstStyle/>
                    <a:p>
                      <a:pPr algn="ctr" rtl="0" fontAlgn="b"/>
                      <a:r>
                        <a:rPr lang="en-US" sz="1400" b="0" u="none" strike="noStrike">
                          <a:solidFill>
                            <a:schemeClr val="tx1"/>
                          </a:solidFill>
                          <a:effectLst/>
                          <a:latin typeface="+mn-lt"/>
                        </a:rPr>
                        <a:t>44</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002142964"/>
                  </a:ext>
                </a:extLst>
              </a:tr>
              <a:tr h="2021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tcn length [PGD], min</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27</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529393554"/>
                  </a:ext>
                </a:extLst>
              </a:tr>
              <a:tr h="202129">
                <a:tc>
                  <a:txBody>
                    <a:bodyPr/>
                    <a:lstStyle/>
                    <a:p>
                      <a:pPr algn="ctr" rtl="0" fontAlgn="b"/>
                      <a:r>
                        <a:rPr lang="en-US" sz="1400" b="0" u="none" strike="noStrike">
                          <a:solidFill>
                            <a:schemeClr val="tx1"/>
                          </a:solidFill>
                          <a:effectLst/>
                          <a:latin typeface="+mn-lt"/>
                        </a:rPr>
                        <a:t>tcn width [O</a:t>
                      </a:r>
                      <a:r>
                        <a:rPr lang="en-US" sz="1400" u="none" strike="noStrike">
                          <a:solidFill>
                            <a:schemeClr val="tx1"/>
                          </a:solidFill>
                          <a:effectLst/>
                          <a:latin typeface="+mn-lt"/>
                        </a:rPr>
                        <a:t>GD], fixed</a:t>
                      </a:r>
                      <a:endParaRPr lang="en-US" sz="1400" b="0" i="0" u="none" strike="noStrike">
                        <a:solidFill>
                          <a:schemeClr val="tx1"/>
                        </a:solidFill>
                        <a:effectLst/>
                        <a:latin typeface="+mn-lt"/>
                      </a:endParaRPr>
                    </a:p>
                  </a:txBody>
                  <a:tcPr marL="7620" marR="7620" marT="7620" marB="0" anchor="b"/>
                </a:tc>
                <a:tc>
                  <a:txBody>
                    <a:bodyPr/>
                    <a:lstStyle/>
                    <a:p>
                      <a:pPr algn="ctr" rtl="0" fontAlgn="b"/>
                      <a:r>
                        <a:rPr lang="en-US" sz="1400" b="0" i="0" u="none" strike="noStrike">
                          <a:solidFill>
                            <a:schemeClr val="tx1"/>
                          </a:solidFill>
                          <a:effectLst/>
                          <a:latin typeface="+mn-lt"/>
                        </a:rPr>
                        <a:t>12</a:t>
                      </a:r>
                    </a:p>
                  </a:txBody>
                  <a:tcPr marL="7620" marR="7620" marT="7620" marB="0" anchor="b"/>
                </a:tc>
                <a:extLst>
                  <a:ext uri="{0D108BD9-81ED-4DB2-BD59-A6C34878D82A}">
                    <a16:rowId xmlns:a16="http://schemas.microsoft.com/office/drawing/2014/main" val="3644432409"/>
                  </a:ext>
                </a:extLst>
              </a:tr>
              <a:tr h="14097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tcn ETE [PGD], fixed</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16, 32</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458528086"/>
                  </a:ext>
                </a:extLst>
              </a:tr>
              <a:tr h="14097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err="1">
                          <a:solidFill>
                            <a:schemeClr val="tx1"/>
                          </a:solidFill>
                          <a:effectLst/>
                          <a:latin typeface="+mn-lt"/>
                        </a:rPr>
                        <a:t>vcr</a:t>
                      </a:r>
                      <a:r>
                        <a:rPr lang="en-US" sz="1400" b="0" u="none" strike="noStrike">
                          <a:solidFill>
                            <a:schemeClr val="tx1"/>
                          </a:solidFill>
                          <a:effectLst/>
                          <a:latin typeface="+mn-lt"/>
                        </a:rPr>
                        <a:t> width </a:t>
                      </a:r>
                      <a:r>
                        <a:rPr lang="en-US" sz="1400" u="none" strike="noStrike">
                          <a:solidFill>
                            <a:schemeClr val="tx1"/>
                          </a:solidFill>
                          <a:effectLst/>
                          <a:latin typeface="+mn-lt"/>
                        </a:rPr>
                        <a:t>[PGD], </a:t>
                      </a:r>
                      <a:r>
                        <a:rPr lang="en-US" sz="1400" b="0" u="none" strike="noStrike">
                          <a:solidFill>
                            <a:schemeClr val="tx1"/>
                          </a:solidFill>
                          <a:effectLst/>
                          <a:latin typeface="+mn-lt"/>
                        </a:rPr>
                        <a:t> fixed</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12</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3632636439"/>
                  </a:ext>
                </a:extLst>
              </a:tr>
              <a:tr h="2021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err="1">
                          <a:solidFill>
                            <a:schemeClr val="tx1"/>
                          </a:solidFill>
                          <a:effectLst/>
                          <a:latin typeface="+mn-lt"/>
                        </a:rPr>
                        <a:t>vcrnub</a:t>
                      </a:r>
                      <a:r>
                        <a:rPr lang="en-US" sz="1400" u="none" strike="noStrike">
                          <a:solidFill>
                            <a:schemeClr val="tx1"/>
                          </a:solidFill>
                          <a:effectLst/>
                          <a:latin typeface="+mn-lt"/>
                        </a:rPr>
                        <a:t> [PGD],  fixed</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8.4, 16.8 or 2x8.4, 2x16.8</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3668656845"/>
                  </a:ext>
                </a:extLst>
              </a:tr>
              <a:tr h="202129">
                <a:tc>
                  <a:txBody>
                    <a:bodyPr/>
                    <a:lstStyle/>
                    <a:p>
                      <a:pPr algn="ctr" rtl="0" fontAlgn="b"/>
                      <a:r>
                        <a:rPr lang="en-US" sz="1400" b="0" i="0" u="none" strike="noStrike" err="1">
                          <a:solidFill>
                            <a:schemeClr val="tx1"/>
                          </a:solidFill>
                          <a:effectLst/>
                          <a:latin typeface="+mn-lt"/>
                        </a:rPr>
                        <a:t>trm</a:t>
                      </a:r>
                      <a:r>
                        <a:rPr lang="en-US" sz="1400" b="0" i="0" u="none" strike="noStrike">
                          <a:solidFill>
                            <a:schemeClr val="tx1"/>
                          </a:solidFill>
                          <a:effectLst/>
                          <a:latin typeface="+mn-lt"/>
                        </a:rPr>
                        <a:t> </a:t>
                      </a:r>
                      <a:r>
                        <a:rPr lang="en-US" sz="1400" b="0" u="none" strike="noStrike">
                          <a:solidFill>
                            <a:schemeClr val="tx1"/>
                          </a:solidFill>
                          <a:effectLst/>
                          <a:latin typeface="+mn-lt"/>
                        </a:rPr>
                        <a:t>[P</a:t>
                      </a:r>
                      <a:r>
                        <a:rPr lang="en-US" sz="1400" u="none" strike="noStrike">
                          <a:solidFill>
                            <a:schemeClr val="tx1"/>
                          </a:solidFill>
                          <a:effectLst/>
                          <a:latin typeface="+mn-lt"/>
                        </a:rPr>
                        <a:t>GD], fixed</a:t>
                      </a:r>
                      <a:endParaRPr lang="en-US" sz="1400" b="0" i="0" u="none" strike="noStrike">
                        <a:solidFill>
                          <a:schemeClr val="tx1"/>
                        </a:solidFill>
                        <a:effectLst/>
                        <a:latin typeface="+mn-lt"/>
                      </a:endParaRPr>
                    </a:p>
                  </a:txBody>
                  <a:tcPr marL="7620" marR="7620" marT="7620" marB="0" anchor="b"/>
                </a:tc>
                <a:tc>
                  <a:txBody>
                    <a:bodyPr/>
                    <a:lstStyle/>
                    <a:p>
                      <a:pPr algn="ctr" rtl="0" fontAlgn="b"/>
                      <a:r>
                        <a:rPr lang="en-US" sz="1400" b="0" i="0" u="none" strike="noStrike">
                          <a:solidFill>
                            <a:schemeClr val="tx1"/>
                          </a:solidFill>
                          <a:effectLst/>
                          <a:latin typeface="+mn-lt"/>
                        </a:rPr>
                        <a:t>14</a:t>
                      </a:r>
                    </a:p>
                  </a:txBody>
                  <a:tcPr marL="7620" marR="7620" marT="7620" marB="0" anchor="b"/>
                </a:tc>
                <a:extLst>
                  <a:ext uri="{0D108BD9-81ED-4DB2-BD59-A6C34878D82A}">
                    <a16:rowId xmlns:a16="http://schemas.microsoft.com/office/drawing/2014/main" val="2251248072"/>
                  </a:ext>
                </a:extLst>
              </a:tr>
              <a:tr h="20212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Diffusion space [PGD], min</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20</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043182862"/>
                  </a:ext>
                </a:extLst>
              </a:tr>
              <a:tr h="30180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u="none" strike="noStrike">
                          <a:solidFill>
                            <a:schemeClr val="tx1"/>
                          </a:solidFill>
                          <a:effectLst/>
                          <a:latin typeface="+mn-lt"/>
                        </a:rPr>
                        <a:t>CRL to diff OGD edge [PGD], min</a:t>
                      </a:r>
                      <a:endParaRPr lang="en-US" sz="1400" b="0" i="0" u="none" strike="noStrike">
                        <a:solidFill>
                          <a:schemeClr val="tx1"/>
                        </a:solidFill>
                        <a:effectLst/>
                        <a:latin typeface="+mn-lt"/>
                      </a:endParaRPr>
                    </a:p>
                  </a:txBody>
                  <a:tcPr marL="7620" marR="7620" marT="7620" marB="0" anchor="b"/>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rtl="0" fontAlgn="b"/>
                      <a:r>
                        <a:rPr lang="en-US" sz="1400" b="0" u="none" strike="noStrike">
                          <a:solidFill>
                            <a:schemeClr val="tx1"/>
                          </a:solidFill>
                          <a:effectLst/>
                          <a:latin typeface="+mn-lt"/>
                        </a:rPr>
                        <a:t>10</a:t>
                      </a:r>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1031498873"/>
                  </a:ext>
                </a:extLst>
              </a:tr>
              <a:tr h="301809">
                <a:tc>
                  <a:txBody>
                    <a:bodyPr/>
                    <a:lstStyle/>
                    <a:p>
                      <a:pPr algn="ctr" rtl="0" fontAlgn="b"/>
                      <a:endParaRPr lang="en-US" sz="1400" b="0" i="0" u="none" strike="noStrike">
                        <a:solidFill>
                          <a:schemeClr val="tx1"/>
                        </a:solidFill>
                        <a:effectLst/>
                        <a:latin typeface="+mn-lt"/>
                      </a:endParaRPr>
                    </a:p>
                  </a:txBody>
                  <a:tcPr marL="7620" marR="7620" marT="7620" marB="0" anchor="b"/>
                </a:tc>
                <a:tc>
                  <a:txBody>
                    <a:bodyPr/>
                    <a:lstStyle/>
                    <a:p>
                      <a:pPr algn="ctr" rtl="0" fontAlgn="b"/>
                      <a:endParaRPr lang="en-US" sz="1400" b="0" i="0" u="none" strike="noStrike">
                        <a:solidFill>
                          <a:schemeClr val="tx1"/>
                        </a:solidFill>
                        <a:effectLst/>
                        <a:latin typeface="+mn-lt"/>
                      </a:endParaRPr>
                    </a:p>
                  </a:txBody>
                  <a:tcPr marL="7620" marR="7620" marT="7620" marB="0" anchor="b"/>
                </a:tc>
                <a:extLst>
                  <a:ext uri="{0D108BD9-81ED-4DB2-BD59-A6C34878D82A}">
                    <a16:rowId xmlns:a16="http://schemas.microsoft.com/office/drawing/2014/main" val="2397273131"/>
                  </a:ext>
                </a:extLst>
              </a:tr>
            </a:tbl>
          </a:graphicData>
        </a:graphic>
      </p:graphicFrame>
      <p:sp>
        <p:nvSpPr>
          <p:cNvPr id="93" name="Title 2">
            <a:extLst>
              <a:ext uri="{FF2B5EF4-FFF2-40B4-BE49-F238E27FC236}">
                <a16:creationId xmlns:a16="http://schemas.microsoft.com/office/drawing/2014/main" id="{84701B7A-C9FE-C172-B3C2-129593529545}"/>
              </a:ext>
            </a:extLst>
          </p:cNvPr>
          <p:cNvSpPr txBox="1">
            <a:spLocks/>
          </p:cNvSpPr>
          <p:nvPr/>
        </p:nvSpPr>
        <p:spPr>
          <a:xfrm>
            <a:off x="135652"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rPr>
              <a:t>Cell Constructions - Ground Rules for Cells</a:t>
            </a:r>
            <a:endParaRPr kumimoji="0" lang="en-US" sz="3600" b="1" i="0" u="none" strike="noStrike" kern="1200" cap="none" spc="0" normalizeH="0" baseline="0" noProof="0">
              <a:ln>
                <a:noFill/>
              </a:ln>
              <a:solidFill>
                <a:sysClr val="windowText" lastClr="000000"/>
              </a:solidFill>
              <a:effectLst/>
              <a:highlight>
                <a:srgbClr val="FFFF00"/>
              </a:highlight>
              <a:uLnTx/>
              <a:uFillTx/>
              <a:latin typeface="Calibri Light" panose="020F0302020204030204"/>
              <a:ea typeface="+mj-ea"/>
              <a:cs typeface="+mj-cs"/>
            </a:endParaRPr>
          </a:p>
        </p:txBody>
      </p:sp>
      <p:sp>
        <p:nvSpPr>
          <p:cNvPr id="94" name="TextBox 93">
            <a:extLst>
              <a:ext uri="{FF2B5EF4-FFF2-40B4-BE49-F238E27FC236}">
                <a16:creationId xmlns:a16="http://schemas.microsoft.com/office/drawing/2014/main" id="{E5C96402-EAE2-356B-94F1-1B1716F9C68C}"/>
              </a:ext>
            </a:extLst>
          </p:cNvPr>
          <p:cNvSpPr txBox="1"/>
          <p:nvPr/>
        </p:nvSpPr>
        <p:spPr>
          <a:xfrm>
            <a:off x="330054" y="794125"/>
            <a:ext cx="6477146" cy="738664"/>
          </a:xfrm>
          <a:prstGeom prst="rect">
            <a:avLst/>
          </a:prstGeom>
          <a:noFill/>
        </p:spPr>
        <p:txBody>
          <a:bodyPr vert="horz" wrap="square" lIns="0" tIns="0" rIns="0" bIns="0"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Highly gridded fixed poly, tcn ETE constructions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P-P, N-N spaces is symmetric</a:t>
            </a: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4" name="TextBox 3">
            <a:extLst>
              <a:ext uri="{FF2B5EF4-FFF2-40B4-BE49-F238E27FC236}">
                <a16:creationId xmlns:a16="http://schemas.microsoft.com/office/drawing/2014/main" id="{89209EB8-4092-A7E6-232B-35EE84D0FF60}"/>
              </a:ext>
            </a:extLst>
          </p:cNvPr>
          <p:cNvSpPr txBox="1"/>
          <p:nvPr/>
        </p:nvSpPr>
        <p:spPr>
          <a:xfrm>
            <a:off x="5427743" y="4238432"/>
            <a:ext cx="1591679" cy="369332"/>
          </a:xfrm>
          <a:prstGeom prst="rect">
            <a:avLst/>
          </a:prstGeom>
          <a:noFill/>
        </p:spPr>
        <p:txBody>
          <a:bodyPr wrap="square" lIns="91440" tIns="45720" rIns="91440" bIns="45720" rtlCol="0" anchor="t">
            <a:spAutoFit/>
          </a:bodyPr>
          <a:lstStyle/>
          <a:p>
            <a:r>
              <a:rPr lang="en-US">
                <a:solidFill>
                  <a:srgbClr val="FF0000"/>
                </a:solidFill>
              </a:rPr>
              <a:t>diff center line</a:t>
            </a:r>
          </a:p>
        </p:txBody>
      </p:sp>
      <p:sp>
        <p:nvSpPr>
          <p:cNvPr id="5" name="TextBox 4">
            <a:extLst>
              <a:ext uri="{FF2B5EF4-FFF2-40B4-BE49-F238E27FC236}">
                <a16:creationId xmlns:a16="http://schemas.microsoft.com/office/drawing/2014/main" id="{AA26C3AB-B0C7-059D-D156-3BDDD8598845}"/>
              </a:ext>
            </a:extLst>
          </p:cNvPr>
          <p:cNvSpPr txBox="1"/>
          <p:nvPr/>
        </p:nvSpPr>
        <p:spPr>
          <a:xfrm>
            <a:off x="5427743" y="2674817"/>
            <a:ext cx="1591679" cy="369332"/>
          </a:xfrm>
          <a:prstGeom prst="rect">
            <a:avLst/>
          </a:prstGeom>
          <a:noFill/>
        </p:spPr>
        <p:txBody>
          <a:bodyPr wrap="square" lIns="91440" tIns="45720" rIns="91440" bIns="45720" rtlCol="0" anchor="t">
            <a:spAutoFit/>
          </a:bodyPr>
          <a:lstStyle/>
          <a:p>
            <a:r>
              <a:rPr lang="en-US">
                <a:solidFill>
                  <a:srgbClr val="FF0000"/>
                </a:solidFill>
              </a:rPr>
              <a:t>diff center line</a:t>
            </a:r>
          </a:p>
        </p:txBody>
      </p:sp>
      <p:sp>
        <p:nvSpPr>
          <p:cNvPr id="6" name="TextBox 5">
            <a:extLst>
              <a:ext uri="{FF2B5EF4-FFF2-40B4-BE49-F238E27FC236}">
                <a16:creationId xmlns:a16="http://schemas.microsoft.com/office/drawing/2014/main" id="{DED1082C-E703-7FE5-777E-7E792322B4DF}"/>
              </a:ext>
            </a:extLst>
          </p:cNvPr>
          <p:cNvSpPr txBox="1"/>
          <p:nvPr/>
        </p:nvSpPr>
        <p:spPr>
          <a:xfrm>
            <a:off x="7790628" y="5770070"/>
            <a:ext cx="6487728" cy="276999"/>
          </a:xfrm>
          <a:prstGeom prst="rect">
            <a:avLst/>
          </a:prstGeom>
          <a:noFill/>
        </p:spPr>
        <p:txBody>
          <a:bodyPr wrap="square" rtlCol="0">
            <a:spAutoFit/>
          </a:bodyPr>
          <a:lstStyle/>
          <a:p>
            <a:r>
              <a:rPr lang="en-US" sz="1200">
                <a:solidFill>
                  <a:srgbClr val="0070C0"/>
                </a:solidFill>
              </a:rPr>
              <a:t>TRM is a new drawn layer that cuts poly and tcn. More info </a:t>
            </a:r>
            <a:r>
              <a:rPr lang="en-US" sz="1200">
                <a:solidFill>
                  <a:srgbClr val="0070C0"/>
                </a:solidFill>
                <a:hlinkClick r:id="rId4" action="ppaction://hlinksldjump"/>
              </a:rPr>
              <a:t>here</a:t>
            </a:r>
            <a:r>
              <a:rPr lang="en-US" sz="1200">
                <a:solidFill>
                  <a:srgbClr val="0070C0"/>
                </a:solidFill>
              </a:rPr>
              <a:t>:</a:t>
            </a:r>
          </a:p>
        </p:txBody>
      </p:sp>
      <p:sp>
        <p:nvSpPr>
          <p:cNvPr id="8" name="Rectangle 7">
            <a:extLst>
              <a:ext uri="{FF2B5EF4-FFF2-40B4-BE49-F238E27FC236}">
                <a16:creationId xmlns:a16="http://schemas.microsoft.com/office/drawing/2014/main" id="{5ABCB84B-1B69-3B3C-A9AC-8654C4EEB078}"/>
              </a:ext>
            </a:extLst>
          </p:cNvPr>
          <p:cNvSpPr/>
          <p:nvPr/>
        </p:nvSpPr>
        <p:spPr>
          <a:xfrm>
            <a:off x="5410823" y="5911307"/>
            <a:ext cx="43896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9" name="TextBox 8">
            <a:extLst>
              <a:ext uri="{FF2B5EF4-FFF2-40B4-BE49-F238E27FC236}">
                <a16:creationId xmlns:a16="http://schemas.microsoft.com/office/drawing/2014/main" id="{64E52430-FEA1-49CF-A158-CA561E0685E9}"/>
              </a:ext>
            </a:extLst>
          </p:cNvPr>
          <p:cNvSpPr txBox="1"/>
          <p:nvPr/>
        </p:nvSpPr>
        <p:spPr>
          <a:xfrm>
            <a:off x="5329035" y="6414236"/>
            <a:ext cx="749370" cy="369332"/>
          </a:xfrm>
          <a:prstGeom prst="rect">
            <a:avLst/>
          </a:prstGeom>
          <a:noFill/>
        </p:spPr>
        <p:txBody>
          <a:bodyPr wrap="square" rtlCol="0">
            <a:spAutoFit/>
          </a:bodyPr>
          <a:lstStyle/>
          <a:p>
            <a:r>
              <a:rPr lang="en-US">
                <a:solidFill>
                  <a:srgbClr val="0070C0"/>
                </a:solidFill>
              </a:rPr>
              <a:t>TRM</a:t>
            </a:r>
          </a:p>
        </p:txBody>
      </p:sp>
      <p:sp>
        <p:nvSpPr>
          <p:cNvPr id="19" name="Rectangle 18">
            <a:extLst>
              <a:ext uri="{FF2B5EF4-FFF2-40B4-BE49-F238E27FC236}">
                <a16:creationId xmlns:a16="http://schemas.microsoft.com/office/drawing/2014/main" id="{75BCCAC8-66D0-F301-A615-D7FD21BC0991}"/>
              </a:ext>
            </a:extLst>
          </p:cNvPr>
          <p:cNvSpPr/>
          <p:nvPr/>
        </p:nvSpPr>
        <p:spPr>
          <a:xfrm>
            <a:off x="3810797" y="5911307"/>
            <a:ext cx="438960" cy="448468"/>
          </a:xfrm>
          <a:prstGeom prst="rect">
            <a:avLst/>
          </a:prstGeom>
          <a:solidFill>
            <a:srgbClr val="F3F7B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45" name="Straight Arrow Connector 44">
            <a:extLst>
              <a:ext uri="{FF2B5EF4-FFF2-40B4-BE49-F238E27FC236}">
                <a16:creationId xmlns:a16="http://schemas.microsoft.com/office/drawing/2014/main" id="{6A6C9435-9AAF-CBEF-9C0E-DF35B40F861B}"/>
              </a:ext>
            </a:extLst>
          </p:cNvPr>
          <p:cNvCxnSpPr>
            <a:cxnSpLocks/>
            <a:stCxn id="61" idx="2"/>
            <a:endCxn id="62" idx="0"/>
          </p:cNvCxnSpPr>
          <p:nvPr/>
        </p:nvCxnSpPr>
        <p:spPr>
          <a:xfrm>
            <a:off x="2947536" y="3384298"/>
            <a:ext cx="0" cy="555677"/>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BB6A426-1132-B26F-DE39-234B5FA71C48}"/>
              </a:ext>
            </a:extLst>
          </p:cNvPr>
          <p:cNvCxnSpPr>
            <a:cxnSpLocks/>
          </p:cNvCxnSpPr>
          <p:nvPr/>
        </p:nvCxnSpPr>
        <p:spPr>
          <a:xfrm>
            <a:off x="1438914" y="3286295"/>
            <a:ext cx="0" cy="73624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1D4EEEDE-CA83-13B1-DC43-795A3FD52E0A}"/>
              </a:ext>
            </a:extLst>
          </p:cNvPr>
          <p:cNvSpPr txBox="1"/>
          <p:nvPr/>
        </p:nvSpPr>
        <p:spPr>
          <a:xfrm>
            <a:off x="911060" y="3435824"/>
            <a:ext cx="700950" cy="276999"/>
          </a:xfrm>
          <a:prstGeom prst="rect">
            <a:avLst/>
          </a:prstGeom>
          <a:noFill/>
        </p:spPr>
        <p:txBody>
          <a:bodyPr wrap="square" rtlCol="0">
            <a:spAutoFit/>
          </a:bodyPr>
          <a:lstStyle/>
          <a:p>
            <a:r>
              <a:rPr lang="en-US" sz="1200">
                <a:solidFill>
                  <a:srgbClr val="0070C0"/>
                </a:solidFill>
              </a:rPr>
              <a:t>&gt;= 20</a:t>
            </a:r>
          </a:p>
        </p:txBody>
      </p:sp>
      <p:cxnSp>
        <p:nvCxnSpPr>
          <p:cNvPr id="44" name="Straight Connector 43">
            <a:extLst>
              <a:ext uri="{FF2B5EF4-FFF2-40B4-BE49-F238E27FC236}">
                <a16:creationId xmlns:a16="http://schemas.microsoft.com/office/drawing/2014/main" id="{BD0CEC42-A729-BFAD-F97E-25EEEE26DBAA}"/>
              </a:ext>
            </a:extLst>
          </p:cNvPr>
          <p:cNvCxnSpPr>
            <a:cxnSpLocks/>
          </p:cNvCxnSpPr>
          <p:nvPr/>
        </p:nvCxnSpPr>
        <p:spPr>
          <a:xfrm>
            <a:off x="589873" y="5223030"/>
            <a:ext cx="4672584"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74AA838-F7B1-D5A6-CE32-FFF4A2D74257}"/>
              </a:ext>
            </a:extLst>
          </p:cNvPr>
          <p:cNvCxnSpPr>
            <a:cxnSpLocks/>
          </p:cNvCxnSpPr>
          <p:nvPr/>
        </p:nvCxnSpPr>
        <p:spPr>
          <a:xfrm>
            <a:off x="642252" y="2078125"/>
            <a:ext cx="4672584"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ECF3A880-E39E-8BEA-B960-F29A5BEB6338}"/>
              </a:ext>
            </a:extLst>
          </p:cNvPr>
          <p:cNvSpPr/>
          <p:nvPr/>
        </p:nvSpPr>
        <p:spPr>
          <a:xfrm>
            <a:off x="1664238" y="5911307"/>
            <a:ext cx="438960" cy="448468"/>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6" name="TextBox 15">
            <a:extLst>
              <a:ext uri="{FF2B5EF4-FFF2-40B4-BE49-F238E27FC236}">
                <a16:creationId xmlns:a16="http://schemas.microsoft.com/office/drawing/2014/main" id="{92591A44-A96E-AA0A-49D1-59024F01086E}"/>
              </a:ext>
            </a:extLst>
          </p:cNvPr>
          <p:cNvSpPr txBox="1"/>
          <p:nvPr/>
        </p:nvSpPr>
        <p:spPr>
          <a:xfrm>
            <a:off x="1426994" y="6414236"/>
            <a:ext cx="920654" cy="369332"/>
          </a:xfrm>
          <a:prstGeom prst="rect">
            <a:avLst/>
          </a:prstGeom>
          <a:noFill/>
        </p:spPr>
        <p:txBody>
          <a:bodyPr wrap="square" rtlCol="0">
            <a:spAutoFit/>
          </a:bodyPr>
          <a:lstStyle/>
          <a:p>
            <a:r>
              <a:rPr lang="en-US" err="1">
                <a:solidFill>
                  <a:srgbClr val="0070C0"/>
                </a:solidFill>
              </a:rPr>
              <a:t>vcrnub</a:t>
            </a:r>
            <a:endParaRPr lang="en-US">
              <a:solidFill>
                <a:srgbClr val="0070C0"/>
              </a:solidFill>
            </a:endParaRPr>
          </a:p>
        </p:txBody>
      </p:sp>
      <p:sp>
        <p:nvSpPr>
          <p:cNvPr id="27" name="Rectangle 26">
            <a:extLst>
              <a:ext uri="{FF2B5EF4-FFF2-40B4-BE49-F238E27FC236}">
                <a16:creationId xmlns:a16="http://schemas.microsoft.com/office/drawing/2014/main" id="{2FCA103D-CF0A-ADBC-2686-D03E3F1F511F}"/>
              </a:ext>
            </a:extLst>
          </p:cNvPr>
          <p:cNvSpPr/>
          <p:nvPr/>
        </p:nvSpPr>
        <p:spPr>
          <a:xfrm>
            <a:off x="4628057" y="5911307"/>
            <a:ext cx="438960" cy="44846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8" name="TextBox 27">
            <a:extLst>
              <a:ext uri="{FF2B5EF4-FFF2-40B4-BE49-F238E27FC236}">
                <a16:creationId xmlns:a16="http://schemas.microsoft.com/office/drawing/2014/main" id="{A189E58B-9F67-4E10-9E28-30A362B2ADE1}"/>
              </a:ext>
            </a:extLst>
          </p:cNvPr>
          <p:cNvSpPr txBox="1"/>
          <p:nvPr/>
        </p:nvSpPr>
        <p:spPr>
          <a:xfrm>
            <a:off x="4695945" y="6414236"/>
            <a:ext cx="749370" cy="369332"/>
          </a:xfrm>
          <a:prstGeom prst="rect">
            <a:avLst/>
          </a:prstGeom>
          <a:noFill/>
        </p:spPr>
        <p:txBody>
          <a:bodyPr wrap="square" rtlCol="0">
            <a:spAutoFit/>
          </a:bodyPr>
          <a:lstStyle/>
          <a:p>
            <a:r>
              <a:rPr lang="en-US">
                <a:solidFill>
                  <a:srgbClr val="0070C0"/>
                </a:solidFill>
              </a:rPr>
              <a:t>fin</a:t>
            </a:r>
          </a:p>
        </p:txBody>
      </p:sp>
      <p:sp>
        <p:nvSpPr>
          <p:cNvPr id="29" name="Rectangle 28">
            <a:extLst>
              <a:ext uri="{FF2B5EF4-FFF2-40B4-BE49-F238E27FC236}">
                <a16:creationId xmlns:a16="http://schemas.microsoft.com/office/drawing/2014/main" id="{67F4F0A3-48EF-075C-AC0D-6781413DA094}"/>
              </a:ext>
            </a:extLst>
          </p:cNvPr>
          <p:cNvSpPr/>
          <p:nvPr/>
        </p:nvSpPr>
        <p:spPr>
          <a:xfrm>
            <a:off x="1357340" y="4239054"/>
            <a:ext cx="3543432" cy="44846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62" name="Rectangle 61">
            <a:extLst>
              <a:ext uri="{FF2B5EF4-FFF2-40B4-BE49-F238E27FC236}">
                <a16:creationId xmlns:a16="http://schemas.microsoft.com/office/drawing/2014/main" id="{22E07611-515A-A6B8-FF1F-3873E0109EE2}"/>
              </a:ext>
            </a:extLst>
          </p:cNvPr>
          <p:cNvSpPr/>
          <p:nvPr/>
        </p:nvSpPr>
        <p:spPr>
          <a:xfrm>
            <a:off x="2755512" y="3939975"/>
            <a:ext cx="384048" cy="99993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130D19A-39E9-C4B8-18F2-91E2639C9A3A}"/>
              </a:ext>
            </a:extLst>
          </p:cNvPr>
          <p:cNvSpPr/>
          <p:nvPr/>
        </p:nvSpPr>
        <p:spPr>
          <a:xfrm>
            <a:off x="3462578" y="3983845"/>
            <a:ext cx="384048" cy="853723"/>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162D54D-358B-4C20-6ABB-9B0EE7C49B8C}"/>
              </a:ext>
            </a:extLst>
          </p:cNvPr>
          <p:cNvSpPr/>
          <p:nvPr/>
        </p:nvSpPr>
        <p:spPr>
          <a:xfrm>
            <a:off x="1362420" y="2636404"/>
            <a:ext cx="3538352" cy="448468"/>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61" name="Rectangle 60">
            <a:extLst>
              <a:ext uri="{FF2B5EF4-FFF2-40B4-BE49-F238E27FC236}">
                <a16:creationId xmlns:a16="http://schemas.microsoft.com/office/drawing/2014/main" id="{86940929-75F0-6FE2-4D71-A39E45AF072A}"/>
              </a:ext>
            </a:extLst>
          </p:cNvPr>
          <p:cNvSpPr/>
          <p:nvPr/>
        </p:nvSpPr>
        <p:spPr>
          <a:xfrm>
            <a:off x="2755512" y="2352510"/>
            <a:ext cx="384048" cy="103178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7427CBC-D975-E63C-4C8F-F26868503378}"/>
              </a:ext>
            </a:extLst>
          </p:cNvPr>
          <p:cNvSpPr/>
          <p:nvPr/>
        </p:nvSpPr>
        <p:spPr>
          <a:xfrm>
            <a:off x="2936827" y="2075080"/>
            <a:ext cx="1459513" cy="251683"/>
          </a:xfrm>
          <a:prstGeom prst="rect">
            <a:avLst/>
          </a:prstGeom>
          <a:solidFill>
            <a:srgbClr val="FFCCFF">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35" name="Rectangle 34">
            <a:extLst>
              <a:ext uri="{FF2B5EF4-FFF2-40B4-BE49-F238E27FC236}">
                <a16:creationId xmlns:a16="http://schemas.microsoft.com/office/drawing/2014/main" id="{C33FD9CC-0577-22CA-B9F8-3D232AE7F598}"/>
              </a:ext>
            </a:extLst>
          </p:cNvPr>
          <p:cNvSpPr/>
          <p:nvPr/>
        </p:nvSpPr>
        <p:spPr>
          <a:xfrm>
            <a:off x="3462578" y="2062894"/>
            <a:ext cx="384048" cy="1274171"/>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F19BAE2-AF70-5372-3AF2-57D0D208DBFA}"/>
              </a:ext>
            </a:extLst>
          </p:cNvPr>
          <p:cNvSpPr/>
          <p:nvPr/>
        </p:nvSpPr>
        <p:spPr>
          <a:xfrm>
            <a:off x="1994679" y="2389502"/>
            <a:ext cx="384048" cy="2814610"/>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F276CAB3-74A0-0505-2307-F08D386A5DE6}"/>
              </a:ext>
            </a:extLst>
          </p:cNvPr>
          <p:cNvCxnSpPr>
            <a:cxnSpLocks/>
          </p:cNvCxnSpPr>
          <p:nvPr/>
        </p:nvCxnSpPr>
        <p:spPr>
          <a:xfrm>
            <a:off x="917024" y="1868153"/>
            <a:ext cx="0" cy="425621"/>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82B6397-39D1-B0C7-9369-07D6733FF7D6}"/>
              </a:ext>
            </a:extLst>
          </p:cNvPr>
          <p:cNvSpPr txBox="1"/>
          <p:nvPr/>
        </p:nvSpPr>
        <p:spPr>
          <a:xfrm>
            <a:off x="2729468" y="2785048"/>
            <a:ext cx="620587" cy="276999"/>
          </a:xfrm>
          <a:prstGeom prst="rect">
            <a:avLst/>
          </a:prstGeom>
          <a:noFill/>
        </p:spPr>
        <p:txBody>
          <a:bodyPr wrap="square" rtlCol="0">
            <a:spAutoFit/>
          </a:bodyPr>
          <a:lstStyle>
            <a:defPPr>
              <a:defRPr lang="en-US"/>
            </a:defPPr>
            <a:lvl1pPr>
              <a:defRPr sz="1200">
                <a:solidFill>
                  <a:srgbClr val="0070C0"/>
                </a:solidFill>
              </a:defRPr>
            </a:lvl1pPr>
          </a:lstStyle>
          <a:p>
            <a:r>
              <a:rPr lang="en-US"/>
              <a:t>=12</a:t>
            </a:r>
          </a:p>
        </p:txBody>
      </p:sp>
      <p:sp>
        <p:nvSpPr>
          <p:cNvPr id="49" name="TextBox 48">
            <a:extLst>
              <a:ext uri="{FF2B5EF4-FFF2-40B4-BE49-F238E27FC236}">
                <a16:creationId xmlns:a16="http://schemas.microsoft.com/office/drawing/2014/main" id="{D3AA6AF9-E55E-56BE-3BD8-41238AF3F5E7}"/>
              </a:ext>
            </a:extLst>
          </p:cNvPr>
          <p:cNvSpPr txBox="1"/>
          <p:nvPr/>
        </p:nvSpPr>
        <p:spPr>
          <a:xfrm>
            <a:off x="2425879" y="3446856"/>
            <a:ext cx="620587" cy="276999"/>
          </a:xfrm>
          <a:prstGeom prst="rect">
            <a:avLst/>
          </a:prstGeom>
          <a:noFill/>
        </p:spPr>
        <p:txBody>
          <a:bodyPr wrap="square" rtlCol="0">
            <a:spAutoFit/>
          </a:bodyPr>
          <a:lstStyle>
            <a:defPPr>
              <a:defRPr lang="en-US"/>
            </a:defPPr>
            <a:lvl1pPr>
              <a:defRPr sz="1200">
                <a:solidFill>
                  <a:srgbClr val="0070C0"/>
                </a:solidFill>
              </a:defRPr>
            </a:lvl1pPr>
          </a:lstStyle>
          <a:p>
            <a:r>
              <a:rPr lang="en-US"/>
              <a:t>=14</a:t>
            </a:r>
          </a:p>
        </p:txBody>
      </p:sp>
      <p:cxnSp>
        <p:nvCxnSpPr>
          <p:cNvPr id="52" name="Straight Arrow Connector 51">
            <a:extLst>
              <a:ext uri="{FF2B5EF4-FFF2-40B4-BE49-F238E27FC236}">
                <a16:creationId xmlns:a16="http://schemas.microsoft.com/office/drawing/2014/main" id="{934D832A-7482-6880-C49B-2D46A32E0E39}"/>
              </a:ext>
            </a:extLst>
          </p:cNvPr>
          <p:cNvCxnSpPr>
            <a:cxnSpLocks/>
            <a:stCxn id="35" idx="2"/>
            <a:endCxn id="25" idx="0"/>
          </p:cNvCxnSpPr>
          <p:nvPr/>
        </p:nvCxnSpPr>
        <p:spPr>
          <a:xfrm>
            <a:off x="3654602" y="3337065"/>
            <a:ext cx="0" cy="64678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C8CE997A-1FD5-1188-54D8-305DE3043975}"/>
              </a:ext>
            </a:extLst>
          </p:cNvPr>
          <p:cNvSpPr/>
          <p:nvPr/>
        </p:nvSpPr>
        <p:spPr>
          <a:xfrm>
            <a:off x="4208885" y="2352510"/>
            <a:ext cx="384048" cy="257899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F1C9D7E-E49C-A1C6-0CEF-E52E7D9114A8}"/>
              </a:ext>
            </a:extLst>
          </p:cNvPr>
          <p:cNvSpPr txBox="1"/>
          <p:nvPr/>
        </p:nvSpPr>
        <p:spPr>
          <a:xfrm>
            <a:off x="2416140" y="5222931"/>
            <a:ext cx="532521" cy="276999"/>
          </a:xfrm>
          <a:prstGeom prst="rect">
            <a:avLst/>
          </a:prstGeom>
          <a:noFill/>
        </p:spPr>
        <p:txBody>
          <a:bodyPr wrap="square" lIns="91440" tIns="45720" rIns="91440" bIns="45720" rtlCol="0" anchor="t">
            <a:spAutoFit/>
          </a:bodyPr>
          <a:lstStyle/>
          <a:p>
            <a:r>
              <a:rPr lang="en-US" sz="1200">
                <a:solidFill>
                  <a:schemeClr val="bg1">
                    <a:lumMod val="85000"/>
                  </a:schemeClr>
                </a:solidFill>
              </a:rPr>
              <a:t>=7</a:t>
            </a:r>
          </a:p>
        </p:txBody>
      </p:sp>
      <p:sp>
        <p:nvSpPr>
          <p:cNvPr id="20" name="Rectangle 19">
            <a:extLst>
              <a:ext uri="{FF2B5EF4-FFF2-40B4-BE49-F238E27FC236}">
                <a16:creationId xmlns:a16="http://schemas.microsoft.com/office/drawing/2014/main" id="{473C173E-0FBB-A8A9-6842-8F4F45782D81}"/>
              </a:ext>
            </a:extLst>
          </p:cNvPr>
          <p:cNvSpPr/>
          <p:nvPr/>
        </p:nvSpPr>
        <p:spPr>
          <a:xfrm>
            <a:off x="1597458" y="4968064"/>
            <a:ext cx="1360761" cy="251369"/>
          </a:xfrm>
          <a:prstGeom prst="rect">
            <a:avLst/>
          </a:prstGeom>
          <a:solidFill>
            <a:srgbClr val="FFCCFF">
              <a:alpha val="4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2" name="TextBox 21">
            <a:extLst>
              <a:ext uri="{FF2B5EF4-FFF2-40B4-BE49-F238E27FC236}">
                <a16:creationId xmlns:a16="http://schemas.microsoft.com/office/drawing/2014/main" id="{2DBF41BF-F1F5-8E6E-8F0A-EB7CD7CE1538}"/>
              </a:ext>
            </a:extLst>
          </p:cNvPr>
          <p:cNvSpPr txBox="1"/>
          <p:nvPr/>
        </p:nvSpPr>
        <p:spPr>
          <a:xfrm>
            <a:off x="2416140" y="4971968"/>
            <a:ext cx="532522" cy="276999"/>
          </a:xfrm>
          <a:prstGeom prst="rect">
            <a:avLst/>
          </a:prstGeom>
          <a:noFill/>
        </p:spPr>
        <p:txBody>
          <a:bodyPr wrap="square" rtlCol="0">
            <a:spAutoFit/>
          </a:bodyPr>
          <a:lstStyle/>
          <a:p>
            <a:r>
              <a:rPr lang="en-US" sz="1200">
                <a:solidFill>
                  <a:srgbClr val="0070C0"/>
                </a:solidFill>
              </a:rPr>
              <a:t>=8.4</a:t>
            </a:r>
          </a:p>
        </p:txBody>
      </p:sp>
      <p:cxnSp>
        <p:nvCxnSpPr>
          <p:cNvPr id="23" name="Straight Arrow Connector 22">
            <a:extLst>
              <a:ext uri="{FF2B5EF4-FFF2-40B4-BE49-F238E27FC236}">
                <a16:creationId xmlns:a16="http://schemas.microsoft.com/office/drawing/2014/main" id="{9ED0766F-4D50-F62C-D869-DE6F7C4BFD5E}"/>
              </a:ext>
            </a:extLst>
          </p:cNvPr>
          <p:cNvCxnSpPr>
            <a:cxnSpLocks/>
          </p:cNvCxnSpPr>
          <p:nvPr/>
        </p:nvCxnSpPr>
        <p:spPr>
          <a:xfrm>
            <a:off x="2435071" y="4968064"/>
            <a:ext cx="0" cy="251369"/>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335A95F4-8687-6224-98D8-5C7E97408D64}"/>
              </a:ext>
            </a:extLst>
          </p:cNvPr>
          <p:cNvCxnSpPr>
            <a:cxnSpLocks/>
          </p:cNvCxnSpPr>
          <p:nvPr/>
        </p:nvCxnSpPr>
        <p:spPr>
          <a:xfrm>
            <a:off x="2435071" y="5218611"/>
            <a:ext cx="0" cy="222224"/>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FFF2623-041A-E5F4-B7EB-A1306F34915B}"/>
              </a:ext>
            </a:extLst>
          </p:cNvPr>
          <p:cNvSpPr/>
          <p:nvPr/>
        </p:nvSpPr>
        <p:spPr>
          <a:xfrm>
            <a:off x="6172823" y="5911307"/>
            <a:ext cx="438960" cy="44846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4" name="TextBox 13">
            <a:extLst>
              <a:ext uri="{FF2B5EF4-FFF2-40B4-BE49-F238E27FC236}">
                <a16:creationId xmlns:a16="http://schemas.microsoft.com/office/drawing/2014/main" id="{D6D497AF-BA43-545C-FF9B-66138E7B8176}"/>
              </a:ext>
            </a:extLst>
          </p:cNvPr>
          <p:cNvSpPr txBox="1"/>
          <p:nvPr/>
        </p:nvSpPr>
        <p:spPr>
          <a:xfrm>
            <a:off x="6091035" y="6389965"/>
            <a:ext cx="749370" cy="369332"/>
          </a:xfrm>
          <a:prstGeom prst="rect">
            <a:avLst/>
          </a:prstGeom>
          <a:noFill/>
        </p:spPr>
        <p:txBody>
          <a:bodyPr wrap="square" lIns="91440" tIns="45720" rIns="91440" bIns="45720" rtlCol="0" anchor="t">
            <a:spAutoFit/>
          </a:bodyPr>
          <a:lstStyle/>
          <a:p>
            <a:r>
              <a:rPr lang="en-US">
                <a:solidFill>
                  <a:srgbClr val="0070C0"/>
                </a:solidFill>
              </a:rPr>
              <a:t>GLK</a:t>
            </a:r>
          </a:p>
        </p:txBody>
      </p:sp>
      <p:sp>
        <p:nvSpPr>
          <p:cNvPr id="17" name="Rectangle 16">
            <a:extLst>
              <a:ext uri="{FF2B5EF4-FFF2-40B4-BE49-F238E27FC236}">
                <a16:creationId xmlns:a16="http://schemas.microsoft.com/office/drawing/2014/main" id="{2F6A702D-3D9C-E479-8931-69BCB1D76B65}"/>
              </a:ext>
            </a:extLst>
          </p:cNvPr>
          <p:cNvSpPr/>
          <p:nvPr/>
        </p:nvSpPr>
        <p:spPr>
          <a:xfrm>
            <a:off x="4211610" y="3386808"/>
            <a:ext cx="384048" cy="56753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4" name="Rectangle 23">
            <a:extLst>
              <a:ext uri="{FF2B5EF4-FFF2-40B4-BE49-F238E27FC236}">
                <a16:creationId xmlns:a16="http://schemas.microsoft.com/office/drawing/2014/main" id="{BAFBBC8F-B302-1997-8359-68026F6BD2A4}"/>
              </a:ext>
            </a:extLst>
          </p:cNvPr>
          <p:cNvSpPr/>
          <p:nvPr/>
        </p:nvSpPr>
        <p:spPr>
          <a:xfrm>
            <a:off x="3081578" y="5911307"/>
            <a:ext cx="425450" cy="473907"/>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8DF6074-DB84-CC4F-4ED5-574AB2B8DDC5}"/>
              </a:ext>
            </a:extLst>
          </p:cNvPr>
          <p:cNvSpPr txBox="1"/>
          <p:nvPr/>
        </p:nvSpPr>
        <p:spPr>
          <a:xfrm>
            <a:off x="2978496" y="6414236"/>
            <a:ext cx="668881" cy="369332"/>
          </a:xfrm>
          <a:prstGeom prst="rect">
            <a:avLst/>
          </a:prstGeom>
          <a:noFill/>
        </p:spPr>
        <p:txBody>
          <a:bodyPr wrap="square" lIns="91440" tIns="45720" rIns="91440" bIns="45720" rtlCol="0" anchor="t">
            <a:spAutoFit/>
          </a:bodyPr>
          <a:lstStyle/>
          <a:p>
            <a:r>
              <a:rPr lang="en-US" err="1">
                <a:solidFill>
                  <a:srgbClr val="0070C0"/>
                </a:solidFill>
              </a:rPr>
              <a:t>ctcn</a:t>
            </a:r>
            <a:endParaRPr lang="en-US">
              <a:solidFill>
                <a:srgbClr val="0070C0"/>
              </a:solidFill>
            </a:endParaRPr>
          </a:p>
        </p:txBody>
      </p:sp>
      <p:sp>
        <p:nvSpPr>
          <p:cNvPr id="37" name="Rectangle 36">
            <a:extLst>
              <a:ext uri="{FF2B5EF4-FFF2-40B4-BE49-F238E27FC236}">
                <a16:creationId xmlns:a16="http://schemas.microsoft.com/office/drawing/2014/main" id="{BA4E329E-5EBE-CC54-47D9-DC34D127238C}"/>
              </a:ext>
            </a:extLst>
          </p:cNvPr>
          <p:cNvSpPr/>
          <p:nvPr/>
        </p:nvSpPr>
        <p:spPr>
          <a:xfrm>
            <a:off x="3462578" y="3339558"/>
            <a:ext cx="384048" cy="656469"/>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587A6EF-BED0-FCBA-367E-18BD7545B813}"/>
              </a:ext>
            </a:extLst>
          </p:cNvPr>
          <p:cNvSpPr/>
          <p:nvPr/>
        </p:nvSpPr>
        <p:spPr>
          <a:xfrm>
            <a:off x="1993218" y="1720308"/>
            <a:ext cx="384048" cy="656469"/>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37D9F43-8231-57C6-6E50-C86AC7892429}"/>
              </a:ext>
            </a:extLst>
          </p:cNvPr>
          <p:cNvSpPr/>
          <p:nvPr/>
        </p:nvSpPr>
        <p:spPr>
          <a:xfrm>
            <a:off x="3462578" y="1720308"/>
            <a:ext cx="384048" cy="33103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B73C794-3E14-47CA-9A17-D13CB2B04B02}"/>
              </a:ext>
            </a:extLst>
          </p:cNvPr>
          <p:cNvSpPr/>
          <p:nvPr/>
        </p:nvSpPr>
        <p:spPr>
          <a:xfrm>
            <a:off x="3462578" y="4847683"/>
            <a:ext cx="384048" cy="656469"/>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18C8422-130B-A46A-4AA4-246CDA4DEFBD}"/>
              </a:ext>
            </a:extLst>
          </p:cNvPr>
          <p:cNvSpPr/>
          <p:nvPr/>
        </p:nvSpPr>
        <p:spPr>
          <a:xfrm>
            <a:off x="1993218" y="5226628"/>
            <a:ext cx="384048" cy="348963"/>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20F889A4-7C43-D536-24BC-9535C944ED97}"/>
              </a:ext>
            </a:extLst>
          </p:cNvPr>
          <p:cNvSpPr txBox="1"/>
          <p:nvPr/>
        </p:nvSpPr>
        <p:spPr>
          <a:xfrm>
            <a:off x="3470735" y="3540583"/>
            <a:ext cx="473420" cy="276999"/>
          </a:xfrm>
          <a:prstGeom prst="rect">
            <a:avLst/>
          </a:prstGeom>
          <a:noFill/>
        </p:spPr>
        <p:txBody>
          <a:bodyPr wrap="square" rtlCol="0">
            <a:spAutoFit/>
          </a:bodyPr>
          <a:lstStyle>
            <a:defPPr>
              <a:defRPr lang="en-US"/>
            </a:defPPr>
            <a:lvl1pPr>
              <a:defRPr sz="1200">
                <a:solidFill>
                  <a:srgbClr val="0070C0"/>
                </a:solidFill>
              </a:defRPr>
            </a:lvl1pPr>
          </a:lstStyle>
          <a:p>
            <a:r>
              <a:rPr lang="en-US">
                <a:solidFill>
                  <a:schemeClr val="bg1">
                    <a:lumMod val="85000"/>
                  </a:schemeClr>
                </a:solidFill>
              </a:rPr>
              <a:t>=16 </a:t>
            </a:r>
          </a:p>
        </p:txBody>
      </p:sp>
      <p:cxnSp>
        <p:nvCxnSpPr>
          <p:cNvPr id="54" name="Straight Arrow Connector 53">
            <a:extLst>
              <a:ext uri="{FF2B5EF4-FFF2-40B4-BE49-F238E27FC236}">
                <a16:creationId xmlns:a16="http://schemas.microsoft.com/office/drawing/2014/main" id="{3943B9C8-A98C-006A-64EA-5B716797CAF6}"/>
              </a:ext>
            </a:extLst>
          </p:cNvPr>
          <p:cNvCxnSpPr>
            <a:cxnSpLocks/>
          </p:cNvCxnSpPr>
          <p:nvPr/>
        </p:nvCxnSpPr>
        <p:spPr>
          <a:xfrm>
            <a:off x="3526221" y="3337065"/>
            <a:ext cx="0" cy="658962"/>
          </a:xfrm>
          <a:prstGeom prst="straightConnector1">
            <a:avLst/>
          </a:prstGeom>
          <a:ln w="12700">
            <a:solidFill>
              <a:schemeClr val="bg1">
                <a:lumMod val="85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702106E-A6EC-FBD6-83CF-6B2798114881}"/>
              </a:ext>
            </a:extLst>
          </p:cNvPr>
          <p:cNvSpPr txBox="1"/>
          <p:nvPr/>
        </p:nvSpPr>
        <p:spPr>
          <a:xfrm>
            <a:off x="935582" y="1834770"/>
            <a:ext cx="456693" cy="276999"/>
          </a:xfrm>
          <a:prstGeom prst="rect">
            <a:avLst/>
          </a:prstGeom>
          <a:noFill/>
        </p:spPr>
        <p:txBody>
          <a:bodyPr wrap="square" rtlCol="0">
            <a:spAutoFit/>
          </a:bodyPr>
          <a:lstStyle>
            <a:defPPr>
              <a:defRPr lang="en-US"/>
            </a:defPPr>
            <a:lvl1pPr>
              <a:defRPr sz="1200">
                <a:solidFill>
                  <a:srgbClr val="0070C0"/>
                </a:solidFill>
              </a:defRPr>
            </a:lvl1pPr>
          </a:lstStyle>
          <a:p>
            <a:r>
              <a:rPr lang="en-US">
                <a:solidFill>
                  <a:schemeClr val="bg1">
                    <a:lumMod val="85000"/>
                  </a:schemeClr>
                </a:solidFill>
              </a:rPr>
              <a:t>=12</a:t>
            </a:r>
          </a:p>
        </p:txBody>
      </p:sp>
      <p:sp>
        <p:nvSpPr>
          <p:cNvPr id="64" name="TextBox 63">
            <a:extLst>
              <a:ext uri="{FF2B5EF4-FFF2-40B4-BE49-F238E27FC236}">
                <a16:creationId xmlns:a16="http://schemas.microsoft.com/office/drawing/2014/main" id="{18DF08B7-3B6E-A4A9-3CE8-EF90B2761F79}"/>
              </a:ext>
            </a:extLst>
          </p:cNvPr>
          <p:cNvSpPr txBox="1"/>
          <p:nvPr/>
        </p:nvSpPr>
        <p:spPr>
          <a:xfrm>
            <a:off x="3443218" y="2781779"/>
            <a:ext cx="620587" cy="276999"/>
          </a:xfrm>
          <a:prstGeom prst="rect">
            <a:avLst/>
          </a:prstGeom>
          <a:noFill/>
        </p:spPr>
        <p:txBody>
          <a:bodyPr wrap="square" rtlCol="0">
            <a:spAutoFit/>
          </a:bodyPr>
          <a:lstStyle>
            <a:defPPr>
              <a:defRPr lang="en-US"/>
            </a:defPPr>
            <a:lvl1pPr>
              <a:defRPr sz="1200">
                <a:solidFill>
                  <a:srgbClr val="0070C0"/>
                </a:solidFill>
              </a:defRPr>
            </a:lvl1pPr>
          </a:lstStyle>
          <a:p>
            <a:r>
              <a:rPr lang="en-US"/>
              <a:t>=12</a:t>
            </a:r>
          </a:p>
        </p:txBody>
      </p:sp>
      <p:cxnSp>
        <p:nvCxnSpPr>
          <p:cNvPr id="65" name="Straight Arrow Connector 64">
            <a:extLst>
              <a:ext uri="{FF2B5EF4-FFF2-40B4-BE49-F238E27FC236}">
                <a16:creationId xmlns:a16="http://schemas.microsoft.com/office/drawing/2014/main" id="{02C6C20A-1A07-8CB3-6C82-A1F13CD5A840}"/>
              </a:ext>
            </a:extLst>
          </p:cNvPr>
          <p:cNvCxnSpPr>
            <a:cxnSpLocks/>
          </p:cNvCxnSpPr>
          <p:nvPr/>
        </p:nvCxnSpPr>
        <p:spPr>
          <a:xfrm>
            <a:off x="2763134" y="2768403"/>
            <a:ext cx="390169" cy="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CD92B1B-6463-5927-D1D9-EE2A266E0719}"/>
              </a:ext>
            </a:extLst>
          </p:cNvPr>
          <p:cNvCxnSpPr>
            <a:cxnSpLocks/>
          </p:cNvCxnSpPr>
          <p:nvPr/>
        </p:nvCxnSpPr>
        <p:spPr>
          <a:xfrm>
            <a:off x="3452292" y="2768403"/>
            <a:ext cx="390169" cy="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C5B4BEC5-780A-6FB7-2203-D026F9CABBF0}"/>
              </a:ext>
            </a:extLst>
          </p:cNvPr>
          <p:cNvSpPr txBox="1"/>
          <p:nvPr/>
        </p:nvSpPr>
        <p:spPr>
          <a:xfrm>
            <a:off x="4127606" y="2049173"/>
            <a:ext cx="700950" cy="276999"/>
          </a:xfrm>
          <a:prstGeom prst="rect">
            <a:avLst/>
          </a:prstGeom>
          <a:noFill/>
        </p:spPr>
        <p:txBody>
          <a:bodyPr wrap="square" rtlCol="0">
            <a:spAutoFit/>
          </a:bodyPr>
          <a:lstStyle/>
          <a:p>
            <a:r>
              <a:rPr lang="en-US" sz="1200">
                <a:solidFill>
                  <a:schemeClr val="bg1">
                    <a:lumMod val="85000"/>
                  </a:schemeClr>
                </a:solidFill>
              </a:rPr>
              <a:t>&gt;= 10</a:t>
            </a:r>
          </a:p>
        </p:txBody>
      </p:sp>
      <p:cxnSp>
        <p:nvCxnSpPr>
          <p:cNvPr id="68" name="Straight Arrow Connector 67">
            <a:extLst>
              <a:ext uri="{FF2B5EF4-FFF2-40B4-BE49-F238E27FC236}">
                <a16:creationId xmlns:a16="http://schemas.microsoft.com/office/drawing/2014/main" id="{477DA3E0-16A2-B7C0-E0FE-647A4D30A9A4}"/>
              </a:ext>
            </a:extLst>
          </p:cNvPr>
          <p:cNvCxnSpPr>
            <a:cxnSpLocks/>
          </p:cNvCxnSpPr>
          <p:nvPr/>
        </p:nvCxnSpPr>
        <p:spPr>
          <a:xfrm>
            <a:off x="1512031" y="1802775"/>
            <a:ext cx="0" cy="574002"/>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FDB8EEAA-F022-708F-CFA9-3B02F1B7385E}"/>
              </a:ext>
            </a:extLst>
          </p:cNvPr>
          <p:cNvSpPr txBox="1"/>
          <p:nvPr/>
        </p:nvSpPr>
        <p:spPr>
          <a:xfrm>
            <a:off x="1454784" y="1834770"/>
            <a:ext cx="456693" cy="276999"/>
          </a:xfrm>
          <a:prstGeom prst="rect">
            <a:avLst/>
          </a:prstGeom>
          <a:noFill/>
        </p:spPr>
        <p:txBody>
          <a:bodyPr wrap="square" rtlCol="0">
            <a:spAutoFit/>
          </a:bodyPr>
          <a:lstStyle>
            <a:defPPr>
              <a:defRPr lang="en-US"/>
            </a:defPPr>
            <a:lvl1pPr>
              <a:defRPr sz="1200">
                <a:solidFill>
                  <a:srgbClr val="0070C0"/>
                </a:solidFill>
              </a:defRPr>
            </a:lvl1pPr>
          </a:lstStyle>
          <a:p>
            <a:r>
              <a:rPr lang="en-US">
                <a:solidFill>
                  <a:schemeClr val="bg1">
                    <a:lumMod val="85000"/>
                  </a:schemeClr>
                </a:solidFill>
              </a:rPr>
              <a:t>=14</a:t>
            </a:r>
          </a:p>
        </p:txBody>
      </p:sp>
      <p:cxnSp>
        <p:nvCxnSpPr>
          <p:cNvPr id="58" name="Straight Arrow Connector 57">
            <a:extLst>
              <a:ext uri="{FF2B5EF4-FFF2-40B4-BE49-F238E27FC236}">
                <a16:creationId xmlns:a16="http://schemas.microsoft.com/office/drawing/2014/main" id="{78C8D6AC-5479-737D-D30C-44757C3E9DA8}"/>
              </a:ext>
            </a:extLst>
          </p:cNvPr>
          <p:cNvCxnSpPr>
            <a:cxnSpLocks/>
          </p:cNvCxnSpPr>
          <p:nvPr/>
        </p:nvCxnSpPr>
        <p:spPr>
          <a:xfrm>
            <a:off x="4089585" y="2075080"/>
            <a:ext cx="0" cy="404765"/>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59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Box 61">
            <a:extLst>
              <a:ext uri="{FF2B5EF4-FFF2-40B4-BE49-F238E27FC236}">
                <a16:creationId xmlns:a16="http://schemas.microsoft.com/office/drawing/2014/main" id="{4A17E127-659F-4336-A39F-00D3B598A1D6}"/>
              </a:ext>
            </a:extLst>
          </p:cNvPr>
          <p:cNvSpPr txBox="1"/>
          <p:nvPr/>
        </p:nvSpPr>
        <p:spPr>
          <a:xfrm>
            <a:off x="338475" y="702415"/>
            <a:ext cx="11476468" cy="3323987"/>
          </a:xfrm>
          <a:prstGeom prst="rect">
            <a:avLst/>
          </a:prstGeom>
          <a:noFill/>
        </p:spPr>
        <p:txBody>
          <a:bodyPr vert="horz"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Up to 4 diffusion widths supported per given region</a:t>
            </a:r>
            <a:endParaRPr lang="en-US" sz="2400">
              <a:solidFill>
                <a:prstClr val="black"/>
              </a:solidFill>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sym typeface="Wingdings" panose="05000000000000000000" pitchFamily="2" charset="2"/>
              </a:rPr>
              <a:t> 3 Types of Turbo cells are provided </a:t>
            </a: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lang="en-US" sz="2400">
              <a:solidFill>
                <a:prstClr val="black"/>
              </a:solidFill>
              <a:latin typeface="Calibri" panose="020F050202020403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indent="-285750">
              <a:buFont typeface="Wingdings" panose="05000000000000000000" pitchFamily="2" charset="2"/>
              <a:buChar char="q"/>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Diffusions are center-</a:t>
            </a:r>
            <a:r>
              <a:rPr lang="en-US" sz="2400">
                <a:solidFill>
                  <a:prstClr val="black"/>
                </a:solidFill>
                <a:latin typeface="Calibri" panose="020F0502020204030204"/>
                <a:sym typeface="Wingdings" panose="05000000000000000000" pitchFamily="2" charset="2"/>
              </a:rPr>
              <a:t>a</a:t>
            </a:r>
            <a:r>
              <a:rPr kumimoji="0" lang="en-US" sz="2400" b="0" i="0" u="none" strike="noStrike" kern="1200" cap="none" spc="0" normalizeH="0" baseline="0" noProof="0" err="1">
                <a:ln>
                  <a:noFill/>
                </a:ln>
                <a:solidFill>
                  <a:prstClr val="black"/>
                </a:solidFill>
                <a:effectLst/>
                <a:uLnTx/>
                <a:uFillTx/>
                <a:latin typeface="Calibri" panose="020F0502020204030204"/>
                <a:sym typeface="Wingdings" panose="05000000000000000000" pitchFamily="2" charset="2"/>
              </a:rPr>
              <a:t>ligned</a:t>
            </a: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with </a:t>
            </a:r>
            <a:r>
              <a:rPr lang="en-US" sz="2400">
                <a:solidFill>
                  <a:prstClr val="black"/>
                </a:solidFill>
                <a:latin typeface="Calibri" panose="020F0502020204030204"/>
                <a:sym typeface="Wingdings" panose="05000000000000000000" pitchFamily="2" charset="2"/>
              </a:rPr>
              <a:t>respect to </a:t>
            </a: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Diff center line</a:t>
            </a:r>
            <a:endParaRPr lang="en-US" sz="2400" b="0" i="0" u="none" strike="noStrike" kern="1200" cap="none" spc="0" normalizeH="0" baseline="0" noProof="0">
              <a:ln>
                <a:noFill/>
              </a:ln>
              <a:solidFill>
                <a:prstClr val="black"/>
              </a:solidFill>
              <a:effectLst/>
              <a:uLnTx/>
              <a:uFillTx/>
              <a:latin typeface="Calibri" panose="020F0502020204030204"/>
              <a:ea typeface="Calibri"/>
              <a:cs typeface="Calibri"/>
            </a:endParaRPr>
          </a:p>
        </p:txBody>
      </p:sp>
      <p:sp>
        <p:nvSpPr>
          <p:cNvPr id="44" name="TextBox 43">
            <a:extLst>
              <a:ext uri="{FF2B5EF4-FFF2-40B4-BE49-F238E27FC236}">
                <a16:creationId xmlns:a16="http://schemas.microsoft.com/office/drawing/2014/main" id="{B057A327-6328-403F-A715-C18AC76C1140}"/>
              </a:ext>
            </a:extLst>
          </p:cNvPr>
          <p:cNvSpPr txBox="1"/>
          <p:nvPr/>
        </p:nvSpPr>
        <p:spPr>
          <a:xfrm>
            <a:off x="271941" y="111760"/>
            <a:ext cx="4207883" cy="590931"/>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rPr>
              <a:t>Diffusion Design Rules</a:t>
            </a:r>
          </a:p>
        </p:txBody>
      </p:sp>
      <p:sp>
        <p:nvSpPr>
          <p:cNvPr id="45" name="Rectangle 44">
            <a:extLst>
              <a:ext uri="{FF2B5EF4-FFF2-40B4-BE49-F238E27FC236}">
                <a16:creationId xmlns:a16="http://schemas.microsoft.com/office/drawing/2014/main" id="{A3DCBDCC-15F1-4E07-91B1-03D988933BFE}"/>
              </a:ext>
            </a:extLst>
          </p:cNvPr>
          <p:cNvSpPr/>
          <p:nvPr/>
        </p:nvSpPr>
        <p:spPr>
          <a:xfrm>
            <a:off x="2005768" y="4553973"/>
            <a:ext cx="1791281" cy="645445"/>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3612A3DE-6265-4FC6-905B-6CED15D1410F}"/>
              </a:ext>
            </a:extLst>
          </p:cNvPr>
          <p:cNvSpPr/>
          <p:nvPr/>
        </p:nvSpPr>
        <p:spPr>
          <a:xfrm>
            <a:off x="4717686" y="4664149"/>
            <a:ext cx="1691302" cy="417641"/>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49" name="Straight Arrow Connector 48">
            <a:extLst>
              <a:ext uri="{FF2B5EF4-FFF2-40B4-BE49-F238E27FC236}">
                <a16:creationId xmlns:a16="http://schemas.microsoft.com/office/drawing/2014/main" id="{C7452591-4DBF-4369-B69F-9CEF34527629}"/>
              </a:ext>
            </a:extLst>
          </p:cNvPr>
          <p:cNvCxnSpPr>
            <a:cxnSpLocks/>
          </p:cNvCxnSpPr>
          <p:nvPr/>
        </p:nvCxnSpPr>
        <p:spPr>
          <a:xfrm>
            <a:off x="2901409" y="4559236"/>
            <a:ext cx="0" cy="645445"/>
          </a:xfrm>
          <a:prstGeom prst="straightConnector1">
            <a:avLst/>
          </a:prstGeom>
          <a:noFill/>
          <a:ln w="6350" cap="flat" cmpd="sng" algn="ctr">
            <a:solidFill>
              <a:sysClr val="windowText" lastClr="000000"/>
            </a:solidFill>
            <a:prstDash val="solid"/>
            <a:miter lim="800000"/>
            <a:headEnd type="triangle" w="med" len="med"/>
            <a:tailEnd type="triangle" w="med" len="med"/>
          </a:ln>
          <a:effectLst/>
        </p:spPr>
      </p:cxnSp>
      <p:sp>
        <p:nvSpPr>
          <p:cNvPr id="50" name="TextBox 49">
            <a:extLst>
              <a:ext uri="{FF2B5EF4-FFF2-40B4-BE49-F238E27FC236}">
                <a16:creationId xmlns:a16="http://schemas.microsoft.com/office/drawing/2014/main" id="{2E615E48-7F95-45F1-A24C-B75E0A985F7B}"/>
              </a:ext>
            </a:extLst>
          </p:cNvPr>
          <p:cNvSpPr txBox="1"/>
          <p:nvPr/>
        </p:nvSpPr>
        <p:spPr>
          <a:xfrm>
            <a:off x="2885807" y="4756024"/>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40</a:t>
            </a:r>
          </a:p>
        </p:txBody>
      </p:sp>
      <p:sp>
        <p:nvSpPr>
          <p:cNvPr id="51" name="TextBox 50">
            <a:extLst>
              <a:ext uri="{FF2B5EF4-FFF2-40B4-BE49-F238E27FC236}">
                <a16:creationId xmlns:a16="http://schemas.microsoft.com/office/drawing/2014/main" id="{3A16AAC8-1E6C-4C71-BAFE-C7B5B5AC4DE3}"/>
              </a:ext>
            </a:extLst>
          </p:cNvPr>
          <p:cNvSpPr txBox="1"/>
          <p:nvPr/>
        </p:nvSpPr>
        <p:spPr>
          <a:xfrm>
            <a:off x="5608459" y="4775468"/>
            <a:ext cx="4187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rPr>
              <a:t>35</a:t>
            </a:r>
          </a:p>
        </p:txBody>
      </p:sp>
      <p:cxnSp>
        <p:nvCxnSpPr>
          <p:cNvPr id="52" name="Straight Arrow Connector 51">
            <a:extLst>
              <a:ext uri="{FF2B5EF4-FFF2-40B4-BE49-F238E27FC236}">
                <a16:creationId xmlns:a16="http://schemas.microsoft.com/office/drawing/2014/main" id="{89CA06E5-4633-4FE1-AB93-A762A885B2D2}"/>
              </a:ext>
            </a:extLst>
          </p:cNvPr>
          <p:cNvCxnSpPr>
            <a:cxnSpLocks/>
          </p:cNvCxnSpPr>
          <p:nvPr/>
        </p:nvCxnSpPr>
        <p:spPr>
          <a:xfrm>
            <a:off x="5563337" y="4657513"/>
            <a:ext cx="0" cy="417641"/>
          </a:xfrm>
          <a:prstGeom prst="straightConnector1">
            <a:avLst/>
          </a:prstGeom>
          <a:noFill/>
          <a:ln w="6350" cap="flat" cmpd="sng" algn="ctr">
            <a:solidFill>
              <a:sysClr val="windowText" lastClr="000000"/>
            </a:solidFill>
            <a:prstDash val="solid"/>
            <a:miter lim="800000"/>
            <a:headEnd type="triangle" w="med" len="med"/>
            <a:tailEnd type="triangle" w="med" len="med"/>
          </a:ln>
          <a:effectLst/>
        </p:spPr>
      </p:cxnSp>
      <p:cxnSp>
        <p:nvCxnSpPr>
          <p:cNvPr id="58" name="Straight Arrow Connector 57">
            <a:extLst>
              <a:ext uri="{FF2B5EF4-FFF2-40B4-BE49-F238E27FC236}">
                <a16:creationId xmlns:a16="http://schemas.microsoft.com/office/drawing/2014/main" id="{2181E8D0-8F56-4162-9F5B-D916F6C09C98}"/>
              </a:ext>
            </a:extLst>
          </p:cNvPr>
          <p:cNvCxnSpPr>
            <a:cxnSpLocks/>
          </p:cNvCxnSpPr>
          <p:nvPr/>
        </p:nvCxnSpPr>
        <p:spPr>
          <a:xfrm>
            <a:off x="1778458" y="5514132"/>
            <a:ext cx="4701588" cy="0"/>
          </a:xfrm>
          <a:prstGeom prst="straightConnector1">
            <a:avLst/>
          </a:prstGeom>
          <a:noFill/>
          <a:ln w="6350" cap="flat" cmpd="sng" algn="ctr">
            <a:solidFill>
              <a:srgbClr val="4472C4"/>
            </a:solidFill>
            <a:prstDash val="lgDash"/>
            <a:miter lim="800000"/>
            <a:headEnd type="none" w="med" len="med"/>
            <a:tailEnd type="none" w="med" len="med"/>
          </a:ln>
          <a:effectLst/>
        </p:spPr>
      </p:cxnSp>
      <p:sp>
        <p:nvSpPr>
          <p:cNvPr id="60" name="TextBox 59">
            <a:extLst>
              <a:ext uri="{FF2B5EF4-FFF2-40B4-BE49-F238E27FC236}">
                <a16:creationId xmlns:a16="http://schemas.microsoft.com/office/drawing/2014/main" id="{2CED64A6-55AC-4B0F-9705-31D10F9B5F5B}"/>
              </a:ext>
            </a:extLst>
          </p:cNvPr>
          <p:cNvSpPr txBox="1"/>
          <p:nvPr/>
        </p:nvSpPr>
        <p:spPr>
          <a:xfrm>
            <a:off x="5097399" y="4257518"/>
            <a:ext cx="203842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292929"/>
                </a:solidFill>
                <a:latin typeface="Calibri" panose="020F0502020204030204"/>
              </a:rPr>
              <a:t>132</a:t>
            </a:r>
            <a:r>
              <a:rPr kumimoji="0" lang="en-US" sz="1800" b="0" i="0" u="none" strike="noStrike" kern="1200" cap="none" spc="0" normalizeH="0" baseline="0" noProof="0">
                <a:ln>
                  <a:noFill/>
                </a:ln>
                <a:solidFill>
                  <a:srgbClr val="292929"/>
                </a:solidFill>
                <a:effectLst/>
                <a:uLnTx/>
                <a:uFillTx/>
                <a:latin typeface="Calibri" panose="020F0502020204030204"/>
              </a:rPr>
              <a:t>h (Z mid-low)</a:t>
            </a:r>
          </a:p>
        </p:txBody>
      </p:sp>
      <p:sp>
        <p:nvSpPr>
          <p:cNvPr id="61" name="TextBox 60">
            <a:extLst>
              <a:ext uri="{FF2B5EF4-FFF2-40B4-BE49-F238E27FC236}">
                <a16:creationId xmlns:a16="http://schemas.microsoft.com/office/drawing/2014/main" id="{9DAF8A90-0AEF-40DC-BEC0-57608783E7C2}"/>
              </a:ext>
            </a:extLst>
          </p:cNvPr>
          <p:cNvSpPr txBox="1"/>
          <p:nvPr/>
        </p:nvSpPr>
        <p:spPr>
          <a:xfrm>
            <a:off x="2352517" y="4257518"/>
            <a:ext cx="1982185"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92929"/>
                </a:solidFill>
                <a:effectLst/>
                <a:uLnTx/>
                <a:uFillTx/>
                <a:latin typeface="Calibri" panose="020F0502020204030204"/>
              </a:rPr>
              <a:t>132h (Z mid-high)</a:t>
            </a:r>
          </a:p>
        </p:txBody>
      </p:sp>
      <p:grpSp>
        <p:nvGrpSpPr>
          <p:cNvPr id="63" name="Group 62">
            <a:extLst>
              <a:ext uri="{FF2B5EF4-FFF2-40B4-BE49-F238E27FC236}">
                <a16:creationId xmlns:a16="http://schemas.microsoft.com/office/drawing/2014/main" id="{50AF6399-B69B-4185-84FF-00BBC671D24F}"/>
              </a:ext>
            </a:extLst>
          </p:cNvPr>
          <p:cNvGrpSpPr/>
          <p:nvPr/>
        </p:nvGrpSpPr>
        <p:grpSpPr>
          <a:xfrm>
            <a:off x="10178737" y="4898157"/>
            <a:ext cx="899953" cy="292220"/>
            <a:chOff x="-530298" y="6350044"/>
            <a:chExt cx="995273" cy="296785"/>
          </a:xfrm>
        </p:grpSpPr>
        <p:sp>
          <p:nvSpPr>
            <p:cNvPr id="65" name="Rectangle 64">
              <a:extLst>
                <a:ext uri="{FF2B5EF4-FFF2-40B4-BE49-F238E27FC236}">
                  <a16:creationId xmlns:a16="http://schemas.microsoft.com/office/drawing/2014/main" id="{506D5145-A782-420A-8072-F82C5B6A694B}"/>
                </a:ext>
              </a:extLst>
            </p:cNvPr>
            <p:cNvSpPr/>
            <p:nvPr/>
          </p:nvSpPr>
          <p:spPr>
            <a:xfrm>
              <a:off x="-530298" y="6389225"/>
              <a:ext cx="496814" cy="203280"/>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ndParaRPr>
            </a:p>
          </p:txBody>
        </p:sp>
        <p:sp>
          <p:nvSpPr>
            <p:cNvPr id="66" name="TextBox 65">
              <a:extLst>
                <a:ext uri="{FF2B5EF4-FFF2-40B4-BE49-F238E27FC236}">
                  <a16:creationId xmlns:a16="http://schemas.microsoft.com/office/drawing/2014/main" id="{97C192DE-F218-4A98-817A-2C88C0CAAF09}"/>
                </a:ext>
              </a:extLst>
            </p:cNvPr>
            <p:cNvSpPr txBox="1"/>
            <p:nvPr/>
          </p:nvSpPr>
          <p:spPr>
            <a:xfrm>
              <a:off x="-34488" y="6350044"/>
              <a:ext cx="499463" cy="29678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panose="020F0502020204030204"/>
                </a:rPr>
                <a:t>=diff</a:t>
              </a:r>
            </a:p>
          </p:txBody>
        </p:sp>
      </p:grpSp>
      <p:graphicFrame>
        <p:nvGraphicFramePr>
          <p:cNvPr id="68" name="Table 67">
            <a:extLst>
              <a:ext uri="{FF2B5EF4-FFF2-40B4-BE49-F238E27FC236}">
                <a16:creationId xmlns:a16="http://schemas.microsoft.com/office/drawing/2014/main" id="{CEDF23E4-9611-4421-88AC-950D38FD9F1C}"/>
              </a:ext>
            </a:extLst>
          </p:cNvPr>
          <p:cNvGraphicFramePr>
            <a:graphicFrameLocks noGrp="1"/>
          </p:cNvGraphicFramePr>
          <p:nvPr>
            <p:extLst>
              <p:ext uri="{D42A27DB-BD31-4B8C-83A1-F6EECF244321}">
                <p14:modId xmlns:p14="http://schemas.microsoft.com/office/powerpoint/2010/main" val="2631362004"/>
              </p:ext>
            </p:extLst>
          </p:nvPr>
        </p:nvGraphicFramePr>
        <p:xfrm>
          <a:off x="2186609" y="1874948"/>
          <a:ext cx="7657112" cy="914400"/>
        </p:xfrm>
        <a:graphic>
          <a:graphicData uri="http://schemas.openxmlformats.org/drawingml/2006/table">
            <a:tbl>
              <a:tblPr firstRow="1" firstCol="1" bandRow="1">
                <a:tableStyleId>{5940675A-B579-460E-94D1-54222C63F5DA}</a:tableStyleId>
              </a:tblPr>
              <a:tblGrid>
                <a:gridCol w="957139">
                  <a:extLst>
                    <a:ext uri="{9D8B030D-6E8A-4147-A177-3AD203B41FA5}">
                      <a16:colId xmlns:a16="http://schemas.microsoft.com/office/drawing/2014/main" val="146485068"/>
                    </a:ext>
                  </a:extLst>
                </a:gridCol>
                <a:gridCol w="776245">
                  <a:extLst>
                    <a:ext uri="{9D8B030D-6E8A-4147-A177-3AD203B41FA5}">
                      <a16:colId xmlns:a16="http://schemas.microsoft.com/office/drawing/2014/main" val="1482527037"/>
                    </a:ext>
                  </a:extLst>
                </a:gridCol>
                <a:gridCol w="978010">
                  <a:extLst>
                    <a:ext uri="{9D8B030D-6E8A-4147-A177-3AD203B41FA5}">
                      <a16:colId xmlns:a16="http://schemas.microsoft.com/office/drawing/2014/main" val="3769121934"/>
                    </a:ext>
                  </a:extLst>
                </a:gridCol>
                <a:gridCol w="1117162">
                  <a:extLst>
                    <a:ext uri="{9D8B030D-6E8A-4147-A177-3AD203B41FA5}">
                      <a16:colId xmlns:a16="http://schemas.microsoft.com/office/drawing/2014/main" val="92306419"/>
                    </a:ext>
                  </a:extLst>
                </a:gridCol>
                <a:gridCol w="957139">
                  <a:extLst>
                    <a:ext uri="{9D8B030D-6E8A-4147-A177-3AD203B41FA5}">
                      <a16:colId xmlns:a16="http://schemas.microsoft.com/office/drawing/2014/main" val="11037318"/>
                    </a:ext>
                  </a:extLst>
                </a:gridCol>
                <a:gridCol w="957139">
                  <a:extLst>
                    <a:ext uri="{9D8B030D-6E8A-4147-A177-3AD203B41FA5}">
                      <a16:colId xmlns:a16="http://schemas.microsoft.com/office/drawing/2014/main" val="3460678648"/>
                    </a:ext>
                  </a:extLst>
                </a:gridCol>
                <a:gridCol w="957139">
                  <a:extLst>
                    <a:ext uri="{9D8B030D-6E8A-4147-A177-3AD203B41FA5}">
                      <a16:colId xmlns:a16="http://schemas.microsoft.com/office/drawing/2014/main" val="2149643547"/>
                    </a:ext>
                  </a:extLst>
                </a:gridCol>
                <a:gridCol w="957139">
                  <a:extLst>
                    <a:ext uri="{9D8B030D-6E8A-4147-A177-3AD203B41FA5}">
                      <a16:colId xmlns:a16="http://schemas.microsoft.com/office/drawing/2014/main" val="756017618"/>
                    </a:ext>
                  </a:extLst>
                </a:gridCol>
              </a:tblGrid>
              <a:tr h="10037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US" sz="1200" b="1">
                          <a:latin typeface="Intel Clear" panose="020B0604020203020204" pitchFamily="34" charset="0"/>
                          <a:ea typeface="Intel Clear" panose="020B0604020203020204" pitchFamily="34" charset="0"/>
                          <a:cs typeface="Intel Clear" panose="020B0604020203020204" pitchFamily="34" charset="0"/>
                        </a:rPr>
                        <a:t>Diff width</a:t>
                      </a:r>
                    </a:p>
                  </a:txBody>
                  <a:tcPr marL="68580" marR="68580" marT="0" marB="0">
                    <a:solidFill>
                      <a:schemeClr val="bg2">
                        <a:lumMod val="50000"/>
                      </a:scheme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200" b="1">
                          <a:effectLst/>
                          <a:latin typeface="Intel Clear" panose="020B0604020203020204" pitchFamily="34" charset="0"/>
                          <a:ea typeface="Intel Clear" panose="020B0604020203020204" pitchFamily="34" charset="0"/>
                          <a:cs typeface="Intel Clear" panose="020B0604020203020204" pitchFamily="34" charset="0"/>
                        </a:rPr>
                        <a:t>Z low</a:t>
                      </a:r>
                    </a:p>
                  </a:txBody>
                  <a:tcPr marL="68580" marR="68580" marT="0" marB="0">
                    <a:solidFill>
                      <a:schemeClr val="bg2">
                        <a:lumMod val="50000"/>
                      </a:scheme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Z mid-low</a:t>
                      </a:r>
                    </a:p>
                  </a:txBody>
                  <a:tcPr marL="68580" marR="68580" marT="0" marB="0">
                    <a:solidFill>
                      <a:schemeClr val="bg2">
                        <a:lumMod val="50000"/>
                      </a:schemeClr>
                    </a:solidFill>
                  </a:tcPr>
                </a:tc>
                <a:tc>
                  <a:txBody>
                    <a:bodyPr/>
                    <a:lstStyle/>
                    <a:p>
                      <a:pPr marL="0" marR="0">
                        <a:spcBef>
                          <a:spcPts val="0"/>
                        </a:spcBef>
                        <a:spcAft>
                          <a:spcPts val="0"/>
                        </a:spcAft>
                      </a:pPr>
                      <a:r>
                        <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Z mid-high</a:t>
                      </a:r>
                    </a:p>
                  </a:txBody>
                  <a:tcPr marL="68580" marR="68580" marT="0" marB="0">
                    <a:solidFill>
                      <a:schemeClr val="bg2">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Z high</a:t>
                      </a:r>
                    </a:p>
                  </a:txBody>
                  <a:tcPr marL="68580" marR="68580" marT="0" marB="0">
                    <a:solidFill>
                      <a:schemeClr val="bg2">
                        <a:lumMod val="50000"/>
                      </a:schemeClr>
                    </a:solidFill>
                  </a:tcPr>
                </a:tc>
                <a:tc>
                  <a:txBody>
                    <a:bodyPr/>
                    <a:lstStyle/>
                    <a:p>
                      <a:pPr marL="0" marR="0">
                        <a:spcBef>
                          <a:spcPts val="0"/>
                        </a:spcBef>
                        <a:spcAft>
                          <a:spcPts val="0"/>
                        </a:spcAft>
                      </a:pPr>
                      <a:r>
                        <a:rPr lang="en-US" sz="1200" b="1" err="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MaxLNR</a:t>
                      </a:r>
                      <a:endPar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68580" marR="68580" marT="0" marB="0">
                    <a:solidFill>
                      <a:schemeClr val="bg2">
                        <a:lumMod val="50000"/>
                      </a:schemeClr>
                    </a:solidFill>
                  </a:tcPr>
                </a:tc>
                <a:tc>
                  <a:txBody>
                    <a:bodyPr/>
                    <a:lstStyle/>
                    <a:p>
                      <a:pPr marL="0" marR="0">
                        <a:spcBef>
                          <a:spcPts val="0"/>
                        </a:spcBef>
                        <a:spcAft>
                          <a:spcPts val="0"/>
                        </a:spcAft>
                      </a:pPr>
                      <a:r>
                        <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Balanced cell</a:t>
                      </a:r>
                    </a:p>
                  </a:txBody>
                  <a:tcPr marL="68580" marR="68580" marT="0" marB="0">
                    <a:solidFill>
                      <a:schemeClr val="bg2">
                        <a:lumMod val="50000"/>
                      </a:schemeClr>
                    </a:solidFill>
                  </a:tcPr>
                </a:tc>
                <a:tc>
                  <a:txBody>
                    <a:bodyPr/>
                    <a:lstStyle/>
                    <a:p>
                      <a:pPr marL="0" marR="0">
                        <a:spcBef>
                          <a:spcPts val="0"/>
                        </a:spcBef>
                        <a:spcAft>
                          <a:spcPts val="0"/>
                        </a:spcAft>
                      </a:pPr>
                      <a:r>
                        <a:rPr lang="en-US" sz="1200" b="1">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OPH</a:t>
                      </a:r>
                    </a:p>
                  </a:txBody>
                  <a:tcPr marL="68580" marR="68580" marT="0" marB="0">
                    <a:solidFill>
                      <a:schemeClr val="bg2">
                        <a:lumMod val="50000"/>
                      </a:schemeClr>
                    </a:solidFill>
                  </a:tcPr>
                </a:tc>
                <a:extLst>
                  <a:ext uri="{0D108BD9-81ED-4DB2-BD59-A6C34878D82A}">
                    <a16:rowId xmlns:a16="http://schemas.microsoft.com/office/drawing/2014/main" val="2142915386"/>
                  </a:ext>
                </a:extLst>
              </a:tr>
              <a:tr h="5437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200" b="0">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165 CH</a:t>
                      </a:r>
                    </a:p>
                  </a:txBody>
                  <a:tcPr marL="68580" marR="68580" marT="0" marB="0">
                    <a:solidFill>
                      <a:schemeClr val="bg2">
                        <a:lumMod val="5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31</a:t>
                      </a:r>
                    </a:p>
                  </a:txBody>
                  <a:tcPr marL="68580" marR="68580" marT="0" marB="0"/>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40</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52</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62</a:t>
                      </a: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extLst>
                  <a:ext uri="{0D108BD9-81ED-4DB2-BD59-A6C34878D82A}">
                    <a16:rowId xmlns:a16="http://schemas.microsoft.com/office/drawing/2014/main" val="24800132"/>
                  </a:ext>
                </a:extLst>
              </a:tr>
              <a:tr h="5437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200" b="0">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132 CH</a:t>
                      </a:r>
                    </a:p>
                  </a:txBody>
                  <a:tcPr marL="68580" marR="68580" marT="0" marB="0">
                    <a:solidFill>
                      <a:schemeClr val="bg2">
                        <a:lumMod val="5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31</a:t>
                      </a:r>
                    </a:p>
                  </a:txBody>
                  <a:tcPr marL="68580" marR="68580" marT="0" marB="0"/>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35</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40</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46</a:t>
                      </a: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72</a:t>
                      </a:r>
                    </a:p>
                  </a:txBody>
                  <a:tcPr marL="68580" marR="68580" marT="0" marB="0"/>
                </a:tc>
                <a:extLst>
                  <a:ext uri="{0D108BD9-81ED-4DB2-BD59-A6C34878D82A}">
                    <a16:rowId xmlns:a16="http://schemas.microsoft.com/office/drawing/2014/main" val="2611563406"/>
                  </a:ext>
                </a:extLst>
              </a:tr>
              <a:tr h="5437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200" b="0">
                          <a:solidFill>
                            <a:schemeClr val="bg1"/>
                          </a:solidFill>
                          <a:effectLst/>
                          <a:latin typeface="Intel Clear" panose="020B0604020203020204" pitchFamily="34" charset="0"/>
                          <a:ea typeface="Intel Clear" panose="020B0604020203020204" pitchFamily="34" charset="0"/>
                          <a:cs typeface="Intel Clear" panose="020B0604020203020204" pitchFamily="34" charset="0"/>
                        </a:rPr>
                        <a:t>110 CH</a:t>
                      </a:r>
                    </a:p>
                  </a:txBody>
                  <a:tcPr marL="68580" marR="68580" marT="0" marB="0">
                    <a:solidFill>
                      <a:schemeClr val="bg2">
                        <a:lumMod val="5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27</a:t>
                      </a:r>
                    </a:p>
                  </a:txBody>
                  <a:tcPr marL="68580" marR="68580" marT="0" marB="0"/>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31</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35</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72</a:t>
                      </a:r>
                    </a:p>
                  </a:txBody>
                  <a:tcPr marL="68580" marR="68580" marT="0" marB="0"/>
                </a:tc>
                <a:tc>
                  <a:txBody>
                    <a:bodyPr/>
                    <a:lstStyle/>
                    <a:p>
                      <a:pPr marL="0" marR="0" algn="ctr">
                        <a:spcBef>
                          <a:spcPts val="0"/>
                        </a:spcBef>
                        <a:spcAft>
                          <a:spcPts val="0"/>
                        </a:spcAft>
                      </a:pPr>
                      <a:r>
                        <a:rPr lang="en-US" sz="1200">
                          <a:effectLst/>
                          <a:latin typeface="Intel Clear" panose="020B0604020203020204" pitchFamily="34" charset="0"/>
                          <a:ea typeface="Intel Clear" panose="020B0604020203020204" pitchFamily="34" charset="0"/>
                          <a:cs typeface="Intel Clear" panose="020B0604020203020204" pitchFamily="34" charset="0"/>
                        </a:rPr>
                        <a:t>72/40</a:t>
                      </a: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effectLst/>
                          <a:latin typeface="Intel Clear" panose="020B0604020203020204" pitchFamily="34" charset="0"/>
                          <a:ea typeface="Intel Clear" panose="020B0604020203020204" pitchFamily="34" charset="0"/>
                          <a:cs typeface="Intel Clear" panose="020B0604020203020204" pitchFamily="34" charset="0"/>
                        </a:rPr>
                        <a:t>N/a</a:t>
                      </a:r>
                    </a:p>
                  </a:txBody>
                  <a:tcPr marL="68580" marR="68580" marT="0" marB="0">
                    <a:solidFill>
                      <a:schemeClr val="tx1"/>
                    </a:solidFill>
                  </a:tcPr>
                </a:tc>
                <a:extLst>
                  <a:ext uri="{0D108BD9-81ED-4DB2-BD59-A6C34878D82A}">
                    <a16:rowId xmlns:a16="http://schemas.microsoft.com/office/drawing/2014/main" val="625897675"/>
                  </a:ext>
                </a:extLst>
              </a:tr>
            </a:tbl>
          </a:graphicData>
        </a:graphic>
      </p:graphicFrame>
      <p:sp>
        <p:nvSpPr>
          <p:cNvPr id="3" name="TextBox 2">
            <a:extLst>
              <a:ext uri="{FF2B5EF4-FFF2-40B4-BE49-F238E27FC236}">
                <a16:creationId xmlns:a16="http://schemas.microsoft.com/office/drawing/2014/main" id="{5C1008A2-EB72-790D-079B-FF477A84CED1}"/>
              </a:ext>
            </a:extLst>
          </p:cNvPr>
          <p:cNvSpPr txBox="1"/>
          <p:nvPr/>
        </p:nvSpPr>
        <p:spPr>
          <a:xfrm>
            <a:off x="6586931" y="5329466"/>
            <a:ext cx="724196" cy="369332"/>
          </a:xfrm>
          <a:prstGeom prst="rect">
            <a:avLst/>
          </a:prstGeom>
          <a:noFill/>
        </p:spPr>
        <p:txBody>
          <a:bodyPr wrap="square" rtlCol="0">
            <a:spAutoFit/>
          </a:bodyPr>
          <a:lstStyle/>
          <a:p>
            <a:r>
              <a:rPr lang="en-US"/>
              <a:t>DKA</a:t>
            </a:r>
          </a:p>
        </p:txBody>
      </p:sp>
      <p:cxnSp>
        <p:nvCxnSpPr>
          <p:cNvPr id="5" name="Straight Arrow Connector 4">
            <a:extLst>
              <a:ext uri="{FF2B5EF4-FFF2-40B4-BE49-F238E27FC236}">
                <a16:creationId xmlns:a16="http://schemas.microsoft.com/office/drawing/2014/main" id="{C8EC9840-749B-EA64-46F6-5E40BCAB2216}"/>
              </a:ext>
            </a:extLst>
          </p:cNvPr>
          <p:cNvCxnSpPr>
            <a:cxnSpLocks/>
          </p:cNvCxnSpPr>
          <p:nvPr/>
        </p:nvCxnSpPr>
        <p:spPr>
          <a:xfrm>
            <a:off x="1885343" y="4866334"/>
            <a:ext cx="4701588" cy="0"/>
          </a:xfrm>
          <a:prstGeom prst="straightConnector1">
            <a:avLst/>
          </a:prstGeom>
          <a:noFill/>
          <a:ln w="6350" cap="flat" cmpd="sng" algn="ctr">
            <a:solidFill>
              <a:srgbClr val="4472C4"/>
            </a:solidFill>
            <a:prstDash val="lgDash"/>
            <a:miter lim="800000"/>
            <a:headEnd type="none" w="med" len="med"/>
            <a:tailEnd type="none" w="med" len="med"/>
          </a:ln>
          <a:effectLst/>
        </p:spPr>
      </p:cxnSp>
      <p:sp>
        <p:nvSpPr>
          <p:cNvPr id="6" name="TextBox 5">
            <a:extLst>
              <a:ext uri="{FF2B5EF4-FFF2-40B4-BE49-F238E27FC236}">
                <a16:creationId xmlns:a16="http://schemas.microsoft.com/office/drawing/2014/main" id="{6CD443FD-AB5B-9158-09CD-B08BC7895724}"/>
              </a:ext>
            </a:extLst>
          </p:cNvPr>
          <p:cNvSpPr txBox="1"/>
          <p:nvPr/>
        </p:nvSpPr>
        <p:spPr>
          <a:xfrm>
            <a:off x="6586931" y="4652008"/>
            <a:ext cx="2351689" cy="369332"/>
          </a:xfrm>
          <a:prstGeom prst="rect">
            <a:avLst/>
          </a:prstGeom>
          <a:noFill/>
        </p:spPr>
        <p:txBody>
          <a:bodyPr wrap="square" rtlCol="0">
            <a:spAutoFit/>
          </a:bodyPr>
          <a:lstStyle/>
          <a:p>
            <a:r>
              <a:rPr lang="en-US"/>
              <a:t>Diff center line</a:t>
            </a:r>
          </a:p>
        </p:txBody>
      </p:sp>
      <p:sp>
        <p:nvSpPr>
          <p:cNvPr id="4" name="TextBox 3">
            <a:extLst>
              <a:ext uri="{FF2B5EF4-FFF2-40B4-BE49-F238E27FC236}">
                <a16:creationId xmlns:a16="http://schemas.microsoft.com/office/drawing/2014/main" id="{B50B1F66-6488-E9CB-8D61-C8F4567F7D75}"/>
              </a:ext>
            </a:extLst>
          </p:cNvPr>
          <p:cNvSpPr txBox="1"/>
          <p:nvPr/>
        </p:nvSpPr>
        <p:spPr>
          <a:xfrm>
            <a:off x="4399435" y="5929914"/>
            <a:ext cx="5231753" cy="461665"/>
          </a:xfrm>
          <a:prstGeom prst="rect">
            <a:avLst/>
          </a:prstGeom>
          <a:noFill/>
        </p:spPr>
        <p:txBody>
          <a:bodyPr wrap="none" lIns="91440" tIns="45720" rIns="91440" bIns="45720" rtlCol="0" anchor="t">
            <a:spAutoFit/>
          </a:bodyPr>
          <a:lstStyle/>
          <a:p>
            <a:r>
              <a:rPr lang="en-US" sz="1200"/>
              <a:t>* exceptions:</a:t>
            </a:r>
          </a:p>
          <a:p>
            <a:r>
              <a:rPr lang="en-US" sz="1200"/>
              <a:t>       2) CE!  </a:t>
            </a:r>
            <a:r>
              <a:rPr lang="en-US" sz="1200" err="1"/>
              <a:t>Bitcell</a:t>
            </a:r>
            <a:r>
              <a:rPr lang="en-US" sz="1200"/>
              <a:t> collaterals do not have reference lines defined</a:t>
            </a:r>
          </a:p>
        </p:txBody>
      </p:sp>
    </p:spTree>
    <p:extLst>
      <p:ext uri="{BB962C8B-B14F-4D97-AF65-F5344CB8AC3E}">
        <p14:creationId xmlns:p14="http://schemas.microsoft.com/office/powerpoint/2010/main" val="241368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BA7B-BB3A-B53E-7762-D2439D8725E0}"/>
            </a:ext>
          </a:extLst>
        </p:cNvPr>
        <p:cNvGrpSpPr/>
        <p:nvPr/>
      </p:nvGrpSpPr>
      <p:grpSpPr>
        <a:xfrm>
          <a:off x="0" y="0"/>
          <a:ext cx="0" cy="0"/>
          <a:chOff x="0" y="0"/>
          <a:chExt cx="0" cy="0"/>
        </a:xfrm>
      </p:grpSpPr>
      <p:sp>
        <p:nvSpPr>
          <p:cNvPr id="76" name="Rectangle 75">
            <a:extLst>
              <a:ext uri="{FF2B5EF4-FFF2-40B4-BE49-F238E27FC236}">
                <a16:creationId xmlns:a16="http://schemas.microsoft.com/office/drawing/2014/main" id="{CE25E606-E11B-E07F-6051-D3AD1E9BFA34}"/>
              </a:ext>
            </a:extLst>
          </p:cNvPr>
          <p:cNvSpPr/>
          <p:nvPr/>
        </p:nvSpPr>
        <p:spPr>
          <a:xfrm>
            <a:off x="7868686" y="4921106"/>
            <a:ext cx="2550504" cy="305234"/>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70B0A7D2-DF1E-97BC-DAB4-239054291B95}"/>
              </a:ext>
            </a:extLst>
          </p:cNvPr>
          <p:cNvSpPr/>
          <p:nvPr/>
        </p:nvSpPr>
        <p:spPr bwMode="auto">
          <a:xfrm>
            <a:off x="7790933" y="4968990"/>
            <a:ext cx="2703257" cy="200153"/>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endParaRPr>
          </a:p>
        </p:txBody>
      </p:sp>
      <p:sp>
        <p:nvSpPr>
          <p:cNvPr id="74" name="Rectangle 73">
            <a:extLst>
              <a:ext uri="{FF2B5EF4-FFF2-40B4-BE49-F238E27FC236}">
                <a16:creationId xmlns:a16="http://schemas.microsoft.com/office/drawing/2014/main" id="{049FA0DA-AA33-B1A0-6006-A6455FCACA66}"/>
              </a:ext>
            </a:extLst>
          </p:cNvPr>
          <p:cNvSpPr/>
          <p:nvPr/>
        </p:nvSpPr>
        <p:spPr>
          <a:xfrm>
            <a:off x="7323185" y="4716646"/>
            <a:ext cx="411651" cy="684886"/>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0" name="Rectangle 59">
            <a:extLst>
              <a:ext uri="{FF2B5EF4-FFF2-40B4-BE49-F238E27FC236}">
                <a16:creationId xmlns:a16="http://schemas.microsoft.com/office/drawing/2014/main" id="{2AA7AB79-352F-2BC8-5EE0-022B33E41FB0}"/>
              </a:ext>
            </a:extLst>
          </p:cNvPr>
          <p:cNvSpPr/>
          <p:nvPr/>
        </p:nvSpPr>
        <p:spPr>
          <a:xfrm>
            <a:off x="4090992" y="4893952"/>
            <a:ext cx="163837" cy="369333"/>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9" name="Rectangle 58">
            <a:extLst>
              <a:ext uri="{FF2B5EF4-FFF2-40B4-BE49-F238E27FC236}">
                <a16:creationId xmlns:a16="http://schemas.microsoft.com/office/drawing/2014/main" id="{F41C7A29-BF46-A90D-3022-7E6B9AC00A0A}"/>
              </a:ext>
            </a:extLst>
          </p:cNvPr>
          <p:cNvSpPr/>
          <p:nvPr/>
        </p:nvSpPr>
        <p:spPr>
          <a:xfrm>
            <a:off x="4396102" y="4717507"/>
            <a:ext cx="106299" cy="684886"/>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B869DAFE-9F10-1AB0-4809-F60A9528FD33}"/>
              </a:ext>
            </a:extLst>
          </p:cNvPr>
          <p:cNvSpPr/>
          <p:nvPr/>
        </p:nvSpPr>
        <p:spPr>
          <a:xfrm>
            <a:off x="1409843" y="4908545"/>
            <a:ext cx="2550504" cy="369333"/>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E888D2D6-98F9-3BD0-DE37-91CA7519C600}"/>
              </a:ext>
            </a:extLst>
          </p:cNvPr>
          <p:cNvSpPr/>
          <p:nvPr/>
        </p:nvSpPr>
        <p:spPr>
          <a:xfrm>
            <a:off x="338300" y="4795608"/>
            <a:ext cx="936484" cy="566022"/>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2" name="TextBox 61">
            <a:extLst>
              <a:ext uri="{FF2B5EF4-FFF2-40B4-BE49-F238E27FC236}">
                <a16:creationId xmlns:a16="http://schemas.microsoft.com/office/drawing/2014/main" id="{B51F36B0-0DD9-B473-8F29-52E0328C9EAF}"/>
              </a:ext>
            </a:extLst>
          </p:cNvPr>
          <p:cNvSpPr txBox="1"/>
          <p:nvPr/>
        </p:nvSpPr>
        <p:spPr>
          <a:xfrm>
            <a:off x="281625" y="1040470"/>
            <a:ext cx="9462739" cy="1523494"/>
          </a:xfrm>
          <a:prstGeom prst="rect">
            <a:avLst/>
          </a:prstGeom>
          <a:noFill/>
        </p:spPr>
        <p:txBody>
          <a:bodyPr vert="horz" wrap="square" lIns="0" tIns="0" rIns="0" bIns="0"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a:solidFill>
                  <a:prstClr val="black"/>
                </a:solidFill>
                <a:latin typeface="Calibri" panose="020F0502020204030204"/>
                <a:sym typeface="Wingdings" panose="05000000000000000000" pitchFamily="2" charset="2"/>
              </a:rPr>
              <a:t>Gate OGD separation depends on the PGD size difference between the transitioning fins</a:t>
            </a:r>
            <a:endParaRPr kumimoji="0" lang="en-US"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a:solidFill>
                  <a:prstClr val="black"/>
                </a:solidFill>
                <a:latin typeface="Calibri" panose="020F0502020204030204"/>
                <a:sym typeface="Wingdings" panose="05000000000000000000" pitchFamily="2" charset="2"/>
              </a:rPr>
              <a:t> Not applicable to Turbo cells: turbo cells have natural line ends which have a different set of rules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lang="en-US">
              <a:solidFill>
                <a:prstClr val="black"/>
              </a:solidFill>
              <a:latin typeface="Calibri" panose="020F0502020204030204"/>
              <a:sym typeface="Wingdings" panose="05000000000000000000" pitchFamily="2" charset="2"/>
            </a:endParaRPr>
          </a:p>
          <a:p>
            <a:pPr marL="800100" lvl="1" indent="-342900">
              <a:buFont typeface="Courier New" panose="02070309020205020404" pitchFamily="49" charset="0"/>
              <a:buChar char="o"/>
              <a:defRPr/>
            </a:pPr>
            <a:endParaRPr kumimoji="0" lang="en-US"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p:txBody>
      </p:sp>
      <p:sp>
        <p:nvSpPr>
          <p:cNvPr id="44" name="TextBox 43">
            <a:extLst>
              <a:ext uri="{FF2B5EF4-FFF2-40B4-BE49-F238E27FC236}">
                <a16:creationId xmlns:a16="http://schemas.microsoft.com/office/drawing/2014/main" id="{70BDA00E-91E3-5270-F248-2C65A83999A1}"/>
              </a:ext>
            </a:extLst>
          </p:cNvPr>
          <p:cNvSpPr txBox="1"/>
          <p:nvPr/>
        </p:nvSpPr>
        <p:spPr>
          <a:xfrm>
            <a:off x="271941" y="111760"/>
            <a:ext cx="3834704" cy="590931"/>
          </a:xfrm>
          <a:prstGeom prst="rect">
            <a:avLst/>
          </a:prstGeom>
          <a:noFill/>
        </p:spPr>
        <p:txBody>
          <a:bodyPr wrap="none" rtlCol="0">
            <a:sp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600" b="1">
                <a:solidFill>
                  <a:prstClr val="black"/>
                </a:solidFill>
                <a:latin typeface="Calibri Light" panose="020F0302020204030204"/>
              </a:rPr>
              <a:t>f</a:t>
            </a:r>
            <a:r>
              <a:rPr kumimoji="0" lang="en-US" sz="3600" b="1" i="0" u="none" strike="noStrike" kern="1200" cap="none" spc="0" normalizeH="0" baseline="0" noProof="0" err="1">
                <a:ln>
                  <a:noFill/>
                </a:ln>
                <a:solidFill>
                  <a:prstClr val="black"/>
                </a:solidFill>
                <a:effectLst/>
                <a:uLnTx/>
                <a:uFillTx/>
                <a:latin typeface="Calibri Light" panose="020F0302020204030204"/>
              </a:rPr>
              <a:t>in_jog</a:t>
            </a:r>
            <a:r>
              <a:rPr kumimoji="0" lang="en-US" sz="3600" b="1" i="0" u="none" strike="noStrike" kern="1200" cap="none" spc="0" normalizeH="0" baseline="0" noProof="0">
                <a:ln>
                  <a:noFill/>
                </a:ln>
                <a:solidFill>
                  <a:prstClr val="black"/>
                </a:solidFill>
                <a:effectLst/>
                <a:uLnTx/>
                <a:uFillTx/>
                <a:latin typeface="Calibri Light" panose="020F0302020204030204"/>
              </a:rPr>
              <a:t> Design Rules</a:t>
            </a:r>
          </a:p>
        </p:txBody>
      </p:sp>
      <p:grpSp>
        <p:nvGrpSpPr>
          <p:cNvPr id="63" name="Group 62">
            <a:extLst>
              <a:ext uri="{FF2B5EF4-FFF2-40B4-BE49-F238E27FC236}">
                <a16:creationId xmlns:a16="http://schemas.microsoft.com/office/drawing/2014/main" id="{D9C181B2-99F6-6F03-D939-98A66D2CCE8E}"/>
              </a:ext>
            </a:extLst>
          </p:cNvPr>
          <p:cNvGrpSpPr/>
          <p:nvPr/>
        </p:nvGrpSpPr>
        <p:grpSpPr>
          <a:xfrm>
            <a:off x="10068207" y="2228442"/>
            <a:ext cx="899953" cy="292220"/>
            <a:chOff x="-530298" y="6350044"/>
            <a:chExt cx="995273" cy="296785"/>
          </a:xfrm>
        </p:grpSpPr>
        <p:sp>
          <p:nvSpPr>
            <p:cNvPr id="65" name="Rectangle 64">
              <a:extLst>
                <a:ext uri="{FF2B5EF4-FFF2-40B4-BE49-F238E27FC236}">
                  <a16:creationId xmlns:a16="http://schemas.microsoft.com/office/drawing/2014/main" id="{BEB5FC80-C8CA-BE1A-A1E9-B848D946A3BD}"/>
                </a:ext>
              </a:extLst>
            </p:cNvPr>
            <p:cNvSpPr/>
            <p:nvPr/>
          </p:nvSpPr>
          <p:spPr>
            <a:xfrm>
              <a:off x="-530298" y="6389225"/>
              <a:ext cx="496814" cy="203280"/>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a:endParaRPr>
            </a:p>
          </p:txBody>
        </p:sp>
        <p:sp>
          <p:nvSpPr>
            <p:cNvPr id="66" name="TextBox 65">
              <a:extLst>
                <a:ext uri="{FF2B5EF4-FFF2-40B4-BE49-F238E27FC236}">
                  <a16:creationId xmlns:a16="http://schemas.microsoft.com/office/drawing/2014/main" id="{F027EBE9-0200-81BE-3311-CE4C8FE022DC}"/>
                </a:ext>
              </a:extLst>
            </p:cNvPr>
            <p:cNvSpPr txBox="1"/>
            <p:nvPr/>
          </p:nvSpPr>
          <p:spPr>
            <a:xfrm>
              <a:off x="-34488" y="6350044"/>
              <a:ext cx="499463" cy="296785"/>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Calibri" panose="020F0502020204030204"/>
                </a:rPr>
                <a:t>=diff</a:t>
              </a:r>
            </a:p>
          </p:txBody>
        </p:sp>
      </p:grpSp>
      <p:sp>
        <p:nvSpPr>
          <p:cNvPr id="82" name="Rectangle 81">
            <a:extLst>
              <a:ext uri="{FF2B5EF4-FFF2-40B4-BE49-F238E27FC236}">
                <a16:creationId xmlns:a16="http://schemas.microsoft.com/office/drawing/2014/main" id="{3789C493-B673-F1C6-B616-531881AFD067}"/>
              </a:ext>
            </a:extLst>
          </p:cNvPr>
          <p:cNvSpPr/>
          <p:nvPr/>
        </p:nvSpPr>
        <p:spPr>
          <a:xfrm>
            <a:off x="10068207" y="1954458"/>
            <a:ext cx="456832" cy="177800"/>
          </a:xfrm>
          <a:prstGeom prst="rect">
            <a:avLst/>
          </a:prstGeom>
          <a:solidFill>
            <a:srgbClr val="00B05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83" name="TextBox 82">
            <a:extLst>
              <a:ext uri="{FF2B5EF4-FFF2-40B4-BE49-F238E27FC236}">
                <a16:creationId xmlns:a16="http://schemas.microsoft.com/office/drawing/2014/main" id="{6B7079A7-0209-3F4A-1995-A4F3A254AAF8}"/>
              </a:ext>
            </a:extLst>
          </p:cNvPr>
          <p:cNvSpPr txBox="1"/>
          <p:nvPr/>
        </p:nvSpPr>
        <p:spPr>
          <a:xfrm>
            <a:off x="10545676" y="1898918"/>
            <a:ext cx="627095" cy="30777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rPr>
              <a:t>=poly </a:t>
            </a:r>
          </a:p>
        </p:txBody>
      </p:sp>
      <p:sp>
        <p:nvSpPr>
          <p:cNvPr id="12" name="TextBox 11">
            <a:extLst>
              <a:ext uri="{FF2B5EF4-FFF2-40B4-BE49-F238E27FC236}">
                <a16:creationId xmlns:a16="http://schemas.microsoft.com/office/drawing/2014/main" id="{BE0958C3-FF62-E579-3334-F8DB4AD4D9C8}"/>
              </a:ext>
            </a:extLst>
          </p:cNvPr>
          <p:cNvSpPr txBox="1"/>
          <p:nvPr/>
        </p:nvSpPr>
        <p:spPr>
          <a:xfrm>
            <a:off x="338300" y="3434479"/>
            <a:ext cx="2416634" cy="923330"/>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92929"/>
                </a:solidFill>
                <a:effectLst/>
                <a:uLnTx/>
                <a:uFillTx/>
                <a:latin typeface="Calibri" panose="020F0502020204030204"/>
              </a:rPr>
              <a:t>Active 1 poly pitch from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allowed when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is &lt;= 12nm</a:t>
            </a:r>
          </a:p>
        </p:txBody>
      </p:sp>
      <p:sp>
        <p:nvSpPr>
          <p:cNvPr id="8" name="Rectangle 7">
            <a:extLst>
              <a:ext uri="{FF2B5EF4-FFF2-40B4-BE49-F238E27FC236}">
                <a16:creationId xmlns:a16="http://schemas.microsoft.com/office/drawing/2014/main" id="{25D9F1C2-7B56-98FC-C9E6-2AD9ADA9F0F5}"/>
              </a:ext>
            </a:extLst>
          </p:cNvPr>
          <p:cNvSpPr/>
          <p:nvPr/>
        </p:nvSpPr>
        <p:spPr bwMode="auto">
          <a:xfrm>
            <a:off x="10068207" y="1526317"/>
            <a:ext cx="456832" cy="227244"/>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endParaRPr>
          </a:p>
        </p:txBody>
      </p:sp>
      <p:sp>
        <p:nvSpPr>
          <p:cNvPr id="26" name="TextBox 25">
            <a:extLst>
              <a:ext uri="{FF2B5EF4-FFF2-40B4-BE49-F238E27FC236}">
                <a16:creationId xmlns:a16="http://schemas.microsoft.com/office/drawing/2014/main" id="{7E17FF88-EC4D-3613-B62A-C899C588A3E0}"/>
              </a:ext>
            </a:extLst>
          </p:cNvPr>
          <p:cNvSpPr txBox="1"/>
          <p:nvPr/>
        </p:nvSpPr>
        <p:spPr>
          <a:xfrm>
            <a:off x="10545676" y="1536825"/>
            <a:ext cx="465192" cy="30777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rPr>
              <a:t>=fin</a:t>
            </a:r>
          </a:p>
        </p:txBody>
      </p:sp>
      <p:sp>
        <p:nvSpPr>
          <p:cNvPr id="28" name="Rectangle 27">
            <a:extLst>
              <a:ext uri="{FF2B5EF4-FFF2-40B4-BE49-F238E27FC236}">
                <a16:creationId xmlns:a16="http://schemas.microsoft.com/office/drawing/2014/main" id="{CA69B16E-7A67-00AD-C164-09A25F684B9C}"/>
              </a:ext>
            </a:extLst>
          </p:cNvPr>
          <p:cNvSpPr/>
          <p:nvPr/>
        </p:nvSpPr>
        <p:spPr>
          <a:xfrm>
            <a:off x="10068205" y="1178588"/>
            <a:ext cx="448325" cy="227244"/>
          </a:xfrm>
          <a:prstGeom prst="rect">
            <a:avLst/>
          </a:prstGeom>
          <a:noFill/>
          <a:ln w="57150" cap="flat" cmpd="sng" algn="ctr">
            <a:solidFill>
              <a:srgbClr val="FF0000">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29" name="TextBox 28">
            <a:extLst>
              <a:ext uri="{FF2B5EF4-FFF2-40B4-BE49-F238E27FC236}">
                <a16:creationId xmlns:a16="http://schemas.microsoft.com/office/drawing/2014/main" id="{045021A1-DD81-93F6-2C91-AAAB847296FE}"/>
              </a:ext>
            </a:extLst>
          </p:cNvPr>
          <p:cNvSpPr txBox="1"/>
          <p:nvPr/>
        </p:nvSpPr>
        <p:spPr>
          <a:xfrm>
            <a:off x="10545676" y="1145230"/>
            <a:ext cx="431528" cy="30777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rPr>
              <a:t>=</a:t>
            </a:r>
            <a:r>
              <a:rPr kumimoji="0" lang="en-US" sz="1400" b="0" i="0" u="none" strike="noStrike" kern="1200" cap="none" spc="0" normalizeH="0" baseline="0" noProof="0" err="1">
                <a:ln>
                  <a:noFill/>
                </a:ln>
                <a:solidFill>
                  <a:prstClr val="black"/>
                </a:solidFill>
                <a:effectLst/>
                <a:uLnTx/>
                <a:uFillTx/>
                <a:latin typeface="Calibri" panose="020F0502020204030204"/>
              </a:rPr>
              <a:t>fti</a:t>
            </a:r>
            <a:endParaRPr kumimoji="0" lang="en-US" sz="1400" b="0" i="0" u="none" strike="noStrike" kern="1200" cap="none" spc="0" normalizeH="0" baseline="0" noProof="0">
              <a:ln>
                <a:noFill/>
              </a:ln>
              <a:solidFill>
                <a:prstClr val="black"/>
              </a:solidFill>
              <a:effectLst/>
              <a:uLnTx/>
              <a:uFillTx/>
              <a:latin typeface="Calibri" panose="020F0502020204030204"/>
            </a:endParaRPr>
          </a:p>
        </p:txBody>
      </p:sp>
      <p:sp>
        <p:nvSpPr>
          <p:cNvPr id="30" name="Rectangle 29">
            <a:extLst>
              <a:ext uri="{FF2B5EF4-FFF2-40B4-BE49-F238E27FC236}">
                <a16:creationId xmlns:a16="http://schemas.microsoft.com/office/drawing/2014/main" id="{A3FDFD98-3F80-BB1F-2E8A-CFE8024E47B8}"/>
              </a:ext>
            </a:extLst>
          </p:cNvPr>
          <p:cNvSpPr/>
          <p:nvPr/>
        </p:nvSpPr>
        <p:spPr bwMode="auto">
          <a:xfrm>
            <a:off x="281625" y="4908546"/>
            <a:ext cx="1047057" cy="369331"/>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endParaRPr>
          </a:p>
        </p:txBody>
      </p:sp>
      <p:sp>
        <p:nvSpPr>
          <p:cNvPr id="34" name="Rectangle 33">
            <a:extLst>
              <a:ext uri="{FF2B5EF4-FFF2-40B4-BE49-F238E27FC236}">
                <a16:creationId xmlns:a16="http://schemas.microsoft.com/office/drawing/2014/main" id="{95C68FE3-E901-4114-9FF5-5DAF69BD7441}"/>
              </a:ext>
            </a:extLst>
          </p:cNvPr>
          <p:cNvSpPr/>
          <p:nvPr/>
        </p:nvSpPr>
        <p:spPr bwMode="auto">
          <a:xfrm>
            <a:off x="1332090" y="4966152"/>
            <a:ext cx="2988308" cy="257274"/>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endParaRPr>
          </a:p>
        </p:txBody>
      </p:sp>
      <p:sp>
        <p:nvSpPr>
          <p:cNvPr id="13" name="Rectangle 12">
            <a:extLst>
              <a:ext uri="{FF2B5EF4-FFF2-40B4-BE49-F238E27FC236}">
                <a16:creationId xmlns:a16="http://schemas.microsoft.com/office/drawing/2014/main" id="{74C0C66F-7394-9C10-E782-DCE97F583D3D}"/>
              </a:ext>
            </a:extLst>
          </p:cNvPr>
          <p:cNvSpPr/>
          <p:nvPr/>
        </p:nvSpPr>
        <p:spPr>
          <a:xfrm>
            <a:off x="1812762"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15" name="Rectangle 14">
            <a:extLst>
              <a:ext uri="{FF2B5EF4-FFF2-40B4-BE49-F238E27FC236}">
                <a16:creationId xmlns:a16="http://schemas.microsoft.com/office/drawing/2014/main" id="{66562E42-0D13-0F33-F355-3DA644AF9DB8}"/>
              </a:ext>
            </a:extLst>
          </p:cNvPr>
          <p:cNvSpPr/>
          <p:nvPr/>
        </p:nvSpPr>
        <p:spPr>
          <a:xfrm>
            <a:off x="736808"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16" name="Rectangle 15">
            <a:extLst>
              <a:ext uri="{FF2B5EF4-FFF2-40B4-BE49-F238E27FC236}">
                <a16:creationId xmlns:a16="http://schemas.microsoft.com/office/drawing/2014/main" id="{18EA6E94-AE09-4D17-9730-BE9A2FCE6957}"/>
              </a:ext>
            </a:extLst>
          </p:cNvPr>
          <p:cNvSpPr/>
          <p:nvPr/>
        </p:nvSpPr>
        <p:spPr>
          <a:xfrm>
            <a:off x="3426693"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17" name="Rectangle 16">
            <a:extLst>
              <a:ext uri="{FF2B5EF4-FFF2-40B4-BE49-F238E27FC236}">
                <a16:creationId xmlns:a16="http://schemas.microsoft.com/office/drawing/2014/main" id="{CA047F19-7883-2352-E5C3-E8368D996344}"/>
              </a:ext>
            </a:extLst>
          </p:cNvPr>
          <p:cNvSpPr/>
          <p:nvPr/>
        </p:nvSpPr>
        <p:spPr>
          <a:xfrm>
            <a:off x="2888716"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18" name="Rectangle 17">
            <a:extLst>
              <a:ext uri="{FF2B5EF4-FFF2-40B4-BE49-F238E27FC236}">
                <a16:creationId xmlns:a16="http://schemas.microsoft.com/office/drawing/2014/main" id="{6631CC1C-10B8-8840-8AEF-EA77642CAA6D}"/>
              </a:ext>
            </a:extLst>
          </p:cNvPr>
          <p:cNvSpPr/>
          <p:nvPr/>
        </p:nvSpPr>
        <p:spPr>
          <a:xfrm>
            <a:off x="2350739"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14" name="Rectangle 13">
            <a:extLst>
              <a:ext uri="{FF2B5EF4-FFF2-40B4-BE49-F238E27FC236}">
                <a16:creationId xmlns:a16="http://schemas.microsoft.com/office/drawing/2014/main" id="{0D905B6C-5744-1E75-9339-F438B9656AA6}"/>
              </a:ext>
            </a:extLst>
          </p:cNvPr>
          <p:cNvSpPr/>
          <p:nvPr/>
        </p:nvSpPr>
        <p:spPr>
          <a:xfrm>
            <a:off x="1274785" y="4542150"/>
            <a:ext cx="130646" cy="1098061"/>
          </a:xfrm>
          <a:prstGeom prst="rect">
            <a:avLst/>
          </a:prstGeom>
          <a:noFill/>
          <a:ln w="57150" cap="flat" cmpd="sng" algn="ctr">
            <a:solidFill>
              <a:srgbClr val="FF0000">
                <a:alpha val="92157"/>
              </a:srgbClr>
            </a:solidFill>
            <a:prstDash val="solid"/>
            <a:miter lim="800000"/>
          </a:ln>
          <a:effectLst/>
        </p:spPr>
        <p:txBody>
          <a:bodyPr rtlCol="0" anchor="ctr"/>
          <a:lstStyle/>
          <a:p>
            <a:pPr algn="ctr" defTabSz="685800"/>
            <a:endParaRPr lang="en-US" sz="2000" kern="0">
              <a:solidFill>
                <a:prstClr val="white"/>
              </a:solidFill>
              <a:latin typeface="Calibri" panose="020F0502020204030204"/>
            </a:endParaRPr>
          </a:p>
        </p:txBody>
      </p:sp>
      <p:sp>
        <p:nvSpPr>
          <p:cNvPr id="47" name="Rectangle 46">
            <a:extLst>
              <a:ext uri="{FF2B5EF4-FFF2-40B4-BE49-F238E27FC236}">
                <a16:creationId xmlns:a16="http://schemas.microsoft.com/office/drawing/2014/main" id="{AF89DEC7-87ED-AC29-CC83-619669755997}"/>
              </a:ext>
            </a:extLst>
          </p:cNvPr>
          <p:cNvSpPr/>
          <p:nvPr/>
        </p:nvSpPr>
        <p:spPr>
          <a:xfrm>
            <a:off x="4633291" y="4737099"/>
            <a:ext cx="2559240" cy="684886"/>
          </a:xfrm>
          <a:prstGeom prst="rect">
            <a:avLst/>
          </a:prstGeom>
          <a:solidFill>
            <a:srgbClr val="FFE699"/>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94AC1D20-7B38-6846-3DC7-6CD6D61E0BC4}"/>
              </a:ext>
            </a:extLst>
          </p:cNvPr>
          <p:cNvSpPr/>
          <p:nvPr/>
        </p:nvSpPr>
        <p:spPr bwMode="auto">
          <a:xfrm>
            <a:off x="4321992" y="4870689"/>
            <a:ext cx="3474720" cy="446890"/>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endParaRPr>
          </a:p>
        </p:txBody>
      </p:sp>
      <p:sp>
        <p:nvSpPr>
          <p:cNvPr id="19" name="Rectangle 18">
            <a:extLst>
              <a:ext uri="{FF2B5EF4-FFF2-40B4-BE49-F238E27FC236}">
                <a16:creationId xmlns:a16="http://schemas.microsoft.com/office/drawing/2014/main" id="{3C383C16-E8F0-95D8-77C6-A881EDC6E75E}"/>
              </a:ext>
            </a:extLst>
          </p:cNvPr>
          <p:cNvSpPr/>
          <p:nvPr/>
        </p:nvSpPr>
        <p:spPr>
          <a:xfrm>
            <a:off x="5040626"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53" name="Rectangle 52">
            <a:extLst>
              <a:ext uri="{FF2B5EF4-FFF2-40B4-BE49-F238E27FC236}">
                <a16:creationId xmlns:a16="http://schemas.microsoft.com/office/drawing/2014/main" id="{6787CE94-4304-7506-9CBC-1CC417FF7C2A}"/>
              </a:ext>
            </a:extLst>
          </p:cNvPr>
          <p:cNvSpPr/>
          <p:nvPr/>
        </p:nvSpPr>
        <p:spPr>
          <a:xfrm>
            <a:off x="4255075" y="4547863"/>
            <a:ext cx="130646" cy="1098062"/>
          </a:xfrm>
          <a:prstGeom prst="rect">
            <a:avLst/>
          </a:prstGeom>
          <a:solidFill>
            <a:schemeClr val="bg2">
              <a:lumMod val="50000"/>
              <a:alpha val="50196"/>
            </a:scheme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4" name="Rectangle 53">
            <a:extLst>
              <a:ext uri="{FF2B5EF4-FFF2-40B4-BE49-F238E27FC236}">
                <a16:creationId xmlns:a16="http://schemas.microsoft.com/office/drawing/2014/main" id="{9B50E858-D226-6AB5-9911-D367B0694AEA}"/>
              </a:ext>
            </a:extLst>
          </p:cNvPr>
          <p:cNvSpPr/>
          <p:nvPr/>
        </p:nvSpPr>
        <p:spPr>
          <a:xfrm>
            <a:off x="10053938" y="850896"/>
            <a:ext cx="448324" cy="227244"/>
          </a:xfrm>
          <a:prstGeom prst="rect">
            <a:avLst/>
          </a:prstGeom>
          <a:solidFill>
            <a:schemeClr val="bg2">
              <a:lumMod val="50000"/>
              <a:alpha val="50196"/>
            </a:scheme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5" name="TextBox 54">
            <a:extLst>
              <a:ext uri="{FF2B5EF4-FFF2-40B4-BE49-F238E27FC236}">
                <a16:creationId xmlns:a16="http://schemas.microsoft.com/office/drawing/2014/main" id="{6B99E561-4A69-B56B-282E-1B82A53A1709}"/>
              </a:ext>
            </a:extLst>
          </p:cNvPr>
          <p:cNvSpPr txBox="1"/>
          <p:nvPr/>
        </p:nvSpPr>
        <p:spPr>
          <a:xfrm>
            <a:off x="10545676" y="837453"/>
            <a:ext cx="503086" cy="307777"/>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libri" panose="020F0502020204030204"/>
              </a:rPr>
              <a:t>=tcn</a:t>
            </a:r>
          </a:p>
        </p:txBody>
      </p:sp>
      <p:sp>
        <p:nvSpPr>
          <p:cNvPr id="20" name="Rectangle 19">
            <a:extLst>
              <a:ext uri="{FF2B5EF4-FFF2-40B4-BE49-F238E27FC236}">
                <a16:creationId xmlns:a16="http://schemas.microsoft.com/office/drawing/2014/main" id="{03706B4B-81B4-F661-4D05-75BEAEE694B5}"/>
              </a:ext>
            </a:extLst>
          </p:cNvPr>
          <p:cNvSpPr/>
          <p:nvPr/>
        </p:nvSpPr>
        <p:spPr>
          <a:xfrm>
            <a:off x="4502647"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6" name="TextBox 55">
            <a:extLst>
              <a:ext uri="{FF2B5EF4-FFF2-40B4-BE49-F238E27FC236}">
                <a16:creationId xmlns:a16="http://schemas.microsoft.com/office/drawing/2014/main" id="{F42E59D5-E9E3-3E1C-650B-C5089E943788}"/>
              </a:ext>
            </a:extLst>
          </p:cNvPr>
          <p:cNvSpPr txBox="1"/>
          <p:nvPr/>
        </p:nvSpPr>
        <p:spPr>
          <a:xfrm>
            <a:off x="3445014" y="3424222"/>
            <a:ext cx="2738483" cy="923330"/>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92929"/>
                </a:solidFill>
                <a:effectLst/>
                <a:uLnTx/>
                <a:uFillTx/>
                <a:latin typeface="Calibri" panose="020F0502020204030204"/>
              </a:rPr>
              <a:t>Active 1.5 poly pitch from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allowed when 12nm &lt;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&lt;= 24nm</a:t>
            </a:r>
          </a:p>
        </p:txBody>
      </p:sp>
      <p:sp>
        <p:nvSpPr>
          <p:cNvPr id="58" name="Rectangle 57">
            <a:extLst>
              <a:ext uri="{FF2B5EF4-FFF2-40B4-BE49-F238E27FC236}">
                <a16:creationId xmlns:a16="http://schemas.microsoft.com/office/drawing/2014/main" id="{8481E43A-1370-2A09-7871-E2BA1F82F5BB}"/>
              </a:ext>
            </a:extLst>
          </p:cNvPr>
          <p:cNvSpPr/>
          <p:nvPr/>
        </p:nvSpPr>
        <p:spPr>
          <a:xfrm>
            <a:off x="4502646" y="4547864"/>
            <a:ext cx="130646" cy="1098061"/>
          </a:xfrm>
          <a:prstGeom prst="rect">
            <a:avLst/>
          </a:prstGeom>
          <a:noFill/>
          <a:ln w="57150" cap="flat" cmpd="sng" algn="ctr">
            <a:solidFill>
              <a:srgbClr val="FF0000">
                <a:alpha val="92157"/>
              </a:srgbClr>
            </a:solidFill>
            <a:prstDash val="solid"/>
            <a:miter lim="800000"/>
          </a:ln>
          <a:effectLst/>
        </p:spPr>
        <p:txBody>
          <a:bodyPr rtlCol="0" anchor="ctr"/>
          <a:lstStyle/>
          <a:p>
            <a:pPr algn="ctr" defTabSz="685800"/>
            <a:endParaRPr lang="en-US" sz="2000" kern="0">
              <a:solidFill>
                <a:prstClr val="white"/>
              </a:solidFill>
              <a:latin typeface="Calibri" panose="020F0502020204030204"/>
            </a:endParaRPr>
          </a:p>
        </p:txBody>
      </p:sp>
      <p:sp>
        <p:nvSpPr>
          <p:cNvPr id="61" name="Rectangle 60">
            <a:extLst>
              <a:ext uri="{FF2B5EF4-FFF2-40B4-BE49-F238E27FC236}">
                <a16:creationId xmlns:a16="http://schemas.microsoft.com/office/drawing/2014/main" id="{354E422A-4F58-8CD3-2FE2-27BB9A5F6674}"/>
              </a:ext>
            </a:extLst>
          </p:cNvPr>
          <p:cNvSpPr/>
          <p:nvPr/>
        </p:nvSpPr>
        <p:spPr>
          <a:xfrm>
            <a:off x="8806467" y="4547863"/>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64" name="Rectangle 63">
            <a:extLst>
              <a:ext uri="{FF2B5EF4-FFF2-40B4-BE49-F238E27FC236}">
                <a16:creationId xmlns:a16="http://schemas.microsoft.com/office/drawing/2014/main" id="{E8871B12-120B-FF32-390B-C3EB11B8C73D}"/>
              </a:ext>
            </a:extLst>
          </p:cNvPr>
          <p:cNvSpPr/>
          <p:nvPr/>
        </p:nvSpPr>
        <p:spPr>
          <a:xfrm>
            <a:off x="8268490" y="4547863"/>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67" name="Rectangle 66">
            <a:extLst>
              <a:ext uri="{FF2B5EF4-FFF2-40B4-BE49-F238E27FC236}">
                <a16:creationId xmlns:a16="http://schemas.microsoft.com/office/drawing/2014/main" id="{04C0974D-A5F7-2243-7557-C5900DB42E15}"/>
              </a:ext>
            </a:extLst>
          </p:cNvPr>
          <p:cNvSpPr/>
          <p:nvPr/>
        </p:nvSpPr>
        <p:spPr>
          <a:xfrm>
            <a:off x="7730513" y="4547863"/>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71" name="Rectangle 70">
            <a:extLst>
              <a:ext uri="{FF2B5EF4-FFF2-40B4-BE49-F238E27FC236}">
                <a16:creationId xmlns:a16="http://schemas.microsoft.com/office/drawing/2014/main" id="{9E2AA6C2-1C80-C923-DE6E-E2FB774CBF68}"/>
              </a:ext>
            </a:extLst>
          </p:cNvPr>
          <p:cNvSpPr/>
          <p:nvPr/>
        </p:nvSpPr>
        <p:spPr>
          <a:xfrm>
            <a:off x="9344444" y="4547863"/>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22" name="Rectangle 21">
            <a:extLst>
              <a:ext uri="{FF2B5EF4-FFF2-40B4-BE49-F238E27FC236}">
                <a16:creationId xmlns:a16="http://schemas.microsoft.com/office/drawing/2014/main" id="{45C82AB2-093C-9B8A-9E60-94FD6F9DC44B}"/>
              </a:ext>
            </a:extLst>
          </p:cNvPr>
          <p:cNvSpPr/>
          <p:nvPr/>
        </p:nvSpPr>
        <p:spPr>
          <a:xfrm>
            <a:off x="6654559"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prstClr val="white"/>
                </a:solidFill>
                <a:effectLst/>
                <a:uLnTx/>
                <a:uFillTx/>
                <a:latin typeface="Calibri" panose="020F0502020204030204"/>
              </a:rPr>
              <a:t>active</a:t>
            </a:r>
          </a:p>
        </p:txBody>
      </p:sp>
      <p:sp>
        <p:nvSpPr>
          <p:cNvPr id="23" name="Rectangle 22">
            <a:extLst>
              <a:ext uri="{FF2B5EF4-FFF2-40B4-BE49-F238E27FC236}">
                <a16:creationId xmlns:a16="http://schemas.microsoft.com/office/drawing/2014/main" id="{71841C77-BEF0-0160-C8DE-B1227BA6222A}"/>
              </a:ext>
            </a:extLst>
          </p:cNvPr>
          <p:cNvSpPr/>
          <p:nvPr/>
        </p:nvSpPr>
        <p:spPr>
          <a:xfrm>
            <a:off x="6116582"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24" name="Rectangle 23">
            <a:extLst>
              <a:ext uri="{FF2B5EF4-FFF2-40B4-BE49-F238E27FC236}">
                <a16:creationId xmlns:a16="http://schemas.microsoft.com/office/drawing/2014/main" id="{89997AAA-BF95-A49A-B73C-41E14287DA9D}"/>
              </a:ext>
            </a:extLst>
          </p:cNvPr>
          <p:cNvSpPr/>
          <p:nvPr/>
        </p:nvSpPr>
        <p:spPr>
          <a:xfrm>
            <a:off x="5578605"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78" name="Rectangle 77">
            <a:extLst>
              <a:ext uri="{FF2B5EF4-FFF2-40B4-BE49-F238E27FC236}">
                <a16:creationId xmlns:a16="http://schemas.microsoft.com/office/drawing/2014/main" id="{99A22C04-0B01-1E81-A227-DF51A3CF7518}"/>
              </a:ext>
            </a:extLst>
          </p:cNvPr>
          <p:cNvSpPr/>
          <p:nvPr/>
        </p:nvSpPr>
        <p:spPr>
          <a:xfrm>
            <a:off x="9877053" y="4536802"/>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79" name="Rectangle 78">
            <a:extLst>
              <a:ext uri="{FF2B5EF4-FFF2-40B4-BE49-F238E27FC236}">
                <a16:creationId xmlns:a16="http://schemas.microsoft.com/office/drawing/2014/main" id="{BF4A5577-2544-AB87-DDE2-62883FD7A2D7}"/>
              </a:ext>
            </a:extLst>
          </p:cNvPr>
          <p:cNvSpPr/>
          <p:nvPr/>
        </p:nvSpPr>
        <p:spPr>
          <a:xfrm>
            <a:off x="10415030" y="4536802"/>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81" name="TextBox 80">
            <a:extLst>
              <a:ext uri="{FF2B5EF4-FFF2-40B4-BE49-F238E27FC236}">
                <a16:creationId xmlns:a16="http://schemas.microsoft.com/office/drawing/2014/main" id="{9527709D-B191-D2E7-686D-6E065D9DB7A9}"/>
              </a:ext>
            </a:extLst>
          </p:cNvPr>
          <p:cNvSpPr txBox="1"/>
          <p:nvPr/>
        </p:nvSpPr>
        <p:spPr>
          <a:xfrm>
            <a:off x="6773524" y="3428121"/>
            <a:ext cx="2416634" cy="923330"/>
          </a:xfrm>
          <a:prstGeom prst="rect">
            <a:avLst/>
          </a:prstGeom>
          <a:noFill/>
          <a:ln>
            <a:solidFill>
              <a:schemeClr val="tx1"/>
            </a:solid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92929"/>
                </a:solidFill>
                <a:effectLst/>
                <a:uLnTx/>
                <a:uFillTx/>
                <a:latin typeface="Calibri" panose="020F0502020204030204"/>
              </a:rPr>
              <a:t>Active 2 poly pitch from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allowed when </a:t>
            </a:r>
            <a:r>
              <a:rPr kumimoji="0" lang="en-US" sz="1800" b="0" i="0" u="none" strike="noStrike" kern="1200" cap="none" spc="0" normalizeH="0" baseline="0" noProof="0" err="1">
                <a:ln>
                  <a:noFill/>
                </a:ln>
                <a:solidFill>
                  <a:srgbClr val="292929"/>
                </a:solidFill>
                <a:effectLst/>
                <a:uLnTx/>
                <a:uFillTx/>
                <a:latin typeface="Calibri" panose="020F0502020204030204"/>
              </a:rPr>
              <a:t>fin_jog</a:t>
            </a:r>
            <a:r>
              <a:rPr kumimoji="0" lang="en-US" sz="1800" b="0" i="0" u="none" strike="noStrike" kern="1200" cap="none" spc="0" normalizeH="0" baseline="0" noProof="0">
                <a:ln>
                  <a:noFill/>
                </a:ln>
                <a:solidFill>
                  <a:srgbClr val="292929"/>
                </a:solidFill>
                <a:effectLst/>
                <a:uLnTx/>
                <a:uFillTx/>
                <a:latin typeface="Calibri" panose="020F0502020204030204"/>
              </a:rPr>
              <a:t> is &gt; 24nm</a:t>
            </a:r>
          </a:p>
        </p:txBody>
      </p:sp>
      <p:cxnSp>
        <p:nvCxnSpPr>
          <p:cNvPr id="84" name="Straight Arrow Connector 83">
            <a:extLst>
              <a:ext uri="{FF2B5EF4-FFF2-40B4-BE49-F238E27FC236}">
                <a16:creationId xmlns:a16="http://schemas.microsoft.com/office/drawing/2014/main" id="{56D0E6A2-F792-CB41-F926-6E24661AF877}"/>
              </a:ext>
            </a:extLst>
          </p:cNvPr>
          <p:cNvCxnSpPr>
            <a:cxnSpLocks/>
          </p:cNvCxnSpPr>
          <p:nvPr/>
        </p:nvCxnSpPr>
        <p:spPr>
          <a:xfrm>
            <a:off x="1328682" y="5774485"/>
            <a:ext cx="484080" cy="0"/>
          </a:xfrm>
          <a:prstGeom prst="straightConnector1">
            <a:avLst/>
          </a:prstGeom>
          <a:noFill/>
          <a:ln w="6350" cap="flat" cmpd="sng" algn="ctr">
            <a:solidFill>
              <a:sysClr val="windowText" lastClr="000000"/>
            </a:solidFill>
            <a:prstDash val="solid"/>
            <a:miter lim="800000"/>
            <a:headEnd type="triangle" w="med" len="med"/>
            <a:tailEnd type="triangle" w="med" len="med"/>
          </a:ln>
          <a:effectLst/>
        </p:spPr>
      </p:cxnSp>
      <p:cxnSp>
        <p:nvCxnSpPr>
          <p:cNvPr id="87" name="Straight Arrow Connector 86">
            <a:extLst>
              <a:ext uri="{FF2B5EF4-FFF2-40B4-BE49-F238E27FC236}">
                <a16:creationId xmlns:a16="http://schemas.microsoft.com/office/drawing/2014/main" id="{03981AC5-28F8-AA2C-6CAA-A9436345929E}"/>
              </a:ext>
            </a:extLst>
          </p:cNvPr>
          <p:cNvCxnSpPr>
            <a:cxnSpLocks/>
          </p:cNvCxnSpPr>
          <p:nvPr/>
        </p:nvCxnSpPr>
        <p:spPr>
          <a:xfrm>
            <a:off x="4320398" y="5774485"/>
            <a:ext cx="720228" cy="0"/>
          </a:xfrm>
          <a:prstGeom prst="straightConnector1">
            <a:avLst/>
          </a:prstGeom>
          <a:noFill/>
          <a:ln w="6350" cap="flat" cmpd="sng" algn="ctr">
            <a:solidFill>
              <a:sysClr val="windowText" lastClr="000000"/>
            </a:solidFill>
            <a:prstDash val="solid"/>
            <a:miter lim="800000"/>
            <a:headEnd type="triangle" w="med" len="med"/>
            <a:tailEnd type="triangle" w="med" len="med"/>
          </a:ln>
          <a:effectLst/>
        </p:spPr>
      </p:cxnSp>
      <p:sp>
        <p:nvSpPr>
          <p:cNvPr id="90" name="TextBox 89">
            <a:extLst>
              <a:ext uri="{FF2B5EF4-FFF2-40B4-BE49-F238E27FC236}">
                <a16:creationId xmlns:a16="http://schemas.microsoft.com/office/drawing/2014/main" id="{753BC0CC-3DD7-C436-A899-DE17966811A2}"/>
              </a:ext>
            </a:extLst>
          </p:cNvPr>
          <p:cNvSpPr txBox="1"/>
          <p:nvPr/>
        </p:nvSpPr>
        <p:spPr>
          <a:xfrm>
            <a:off x="750579" y="5838044"/>
            <a:ext cx="1712695" cy="646331"/>
          </a:xfrm>
          <a:prstGeom prst="rect">
            <a:avLst/>
          </a:prstGeom>
          <a:noFill/>
        </p:spPr>
        <p:txBody>
          <a:bodyPr wrap="square">
            <a:spAutoFit/>
          </a:bodyPr>
          <a:lstStyle/>
          <a:p>
            <a:pPr algn="ctr"/>
            <a:r>
              <a:rPr kumimoji="0" lang="en-US" sz="1800" b="0" i="0" u="none" strike="noStrike" kern="1200" cap="none" spc="0" normalizeH="0" baseline="0" noProof="0">
                <a:ln>
                  <a:noFill/>
                </a:ln>
                <a:solidFill>
                  <a:srgbClr val="292929"/>
                </a:solidFill>
                <a:effectLst/>
                <a:uLnTx/>
                <a:uFillTx/>
                <a:latin typeface="Calibri" panose="020F0502020204030204"/>
              </a:rPr>
              <a:t>1 poly pitch allowed </a:t>
            </a:r>
            <a:endParaRPr lang="en-US"/>
          </a:p>
        </p:txBody>
      </p:sp>
      <p:sp>
        <p:nvSpPr>
          <p:cNvPr id="91" name="TextBox 90">
            <a:extLst>
              <a:ext uri="{FF2B5EF4-FFF2-40B4-BE49-F238E27FC236}">
                <a16:creationId xmlns:a16="http://schemas.microsoft.com/office/drawing/2014/main" id="{97DE45C9-0300-3F0C-04ED-4B9133A0C57C}"/>
              </a:ext>
            </a:extLst>
          </p:cNvPr>
          <p:cNvSpPr txBox="1"/>
          <p:nvPr/>
        </p:nvSpPr>
        <p:spPr>
          <a:xfrm>
            <a:off x="3711621" y="5835160"/>
            <a:ext cx="1712695" cy="646331"/>
          </a:xfrm>
          <a:prstGeom prst="rect">
            <a:avLst/>
          </a:prstGeom>
          <a:noFill/>
        </p:spPr>
        <p:txBody>
          <a:bodyPr wrap="square">
            <a:spAutoFit/>
          </a:bodyPr>
          <a:lstStyle/>
          <a:p>
            <a:pPr algn="ctr"/>
            <a:r>
              <a:rPr kumimoji="0" lang="en-US" sz="1800" b="0" i="0" u="none" strike="noStrike" kern="1200" cap="none" spc="0" normalizeH="0" baseline="0" noProof="0">
                <a:ln>
                  <a:noFill/>
                </a:ln>
                <a:solidFill>
                  <a:srgbClr val="292929"/>
                </a:solidFill>
                <a:effectLst/>
                <a:uLnTx/>
                <a:uFillTx/>
                <a:latin typeface="Calibri" panose="020F0502020204030204"/>
              </a:rPr>
              <a:t>60nm and greater allowed </a:t>
            </a:r>
            <a:endParaRPr lang="en-US"/>
          </a:p>
        </p:txBody>
      </p:sp>
      <p:cxnSp>
        <p:nvCxnSpPr>
          <p:cNvPr id="92" name="Straight Arrow Connector 91">
            <a:extLst>
              <a:ext uri="{FF2B5EF4-FFF2-40B4-BE49-F238E27FC236}">
                <a16:creationId xmlns:a16="http://schemas.microsoft.com/office/drawing/2014/main" id="{7162CF85-D6E5-F414-0EC3-E37655BE3798}"/>
              </a:ext>
            </a:extLst>
          </p:cNvPr>
          <p:cNvCxnSpPr>
            <a:cxnSpLocks/>
          </p:cNvCxnSpPr>
          <p:nvPr/>
        </p:nvCxnSpPr>
        <p:spPr>
          <a:xfrm flipV="1">
            <a:off x="7831232" y="5801734"/>
            <a:ext cx="1005159" cy="0"/>
          </a:xfrm>
          <a:prstGeom prst="straightConnector1">
            <a:avLst/>
          </a:prstGeom>
          <a:noFill/>
          <a:ln w="6350" cap="flat" cmpd="sng" algn="ctr">
            <a:solidFill>
              <a:sysClr val="windowText" lastClr="000000"/>
            </a:solidFill>
            <a:prstDash val="solid"/>
            <a:miter lim="800000"/>
            <a:headEnd type="triangle" w="med" len="med"/>
            <a:tailEnd type="triangle" w="med" len="med"/>
          </a:ln>
          <a:effectLst/>
        </p:spPr>
      </p:cxnSp>
      <p:sp>
        <p:nvSpPr>
          <p:cNvPr id="93" name="TextBox 92">
            <a:extLst>
              <a:ext uri="{FF2B5EF4-FFF2-40B4-BE49-F238E27FC236}">
                <a16:creationId xmlns:a16="http://schemas.microsoft.com/office/drawing/2014/main" id="{579DD978-68CD-5A5E-97E6-B6D8AC972F59}"/>
              </a:ext>
            </a:extLst>
          </p:cNvPr>
          <p:cNvSpPr txBox="1"/>
          <p:nvPr/>
        </p:nvSpPr>
        <p:spPr>
          <a:xfrm>
            <a:off x="7477463" y="5842337"/>
            <a:ext cx="1712695" cy="646331"/>
          </a:xfrm>
          <a:prstGeom prst="rect">
            <a:avLst/>
          </a:prstGeom>
          <a:noFill/>
        </p:spPr>
        <p:txBody>
          <a:bodyPr wrap="square">
            <a:spAutoFit/>
          </a:bodyPr>
          <a:lstStyle/>
          <a:p>
            <a:pPr algn="ctr"/>
            <a:r>
              <a:rPr kumimoji="0" lang="en-US" sz="1800" b="0" i="0" u="none" strike="noStrike" kern="1200" cap="none" spc="0" normalizeH="0" baseline="0" noProof="0">
                <a:ln>
                  <a:noFill/>
                </a:ln>
                <a:solidFill>
                  <a:srgbClr val="292929"/>
                </a:solidFill>
                <a:effectLst/>
                <a:uLnTx/>
                <a:uFillTx/>
                <a:latin typeface="Calibri" panose="020F0502020204030204"/>
              </a:rPr>
              <a:t>82nm and greater allowed </a:t>
            </a:r>
            <a:endParaRPr lang="en-US"/>
          </a:p>
        </p:txBody>
      </p:sp>
      <p:sp>
        <p:nvSpPr>
          <p:cNvPr id="73" name="Rectangle 72">
            <a:extLst>
              <a:ext uri="{FF2B5EF4-FFF2-40B4-BE49-F238E27FC236}">
                <a16:creationId xmlns:a16="http://schemas.microsoft.com/office/drawing/2014/main" id="{0ABED555-B2E6-1E47-FC43-56E5BE2B4F0D}"/>
              </a:ext>
            </a:extLst>
          </p:cNvPr>
          <p:cNvSpPr/>
          <p:nvPr/>
        </p:nvSpPr>
        <p:spPr>
          <a:xfrm>
            <a:off x="8268490" y="4555078"/>
            <a:ext cx="130646" cy="1098061"/>
          </a:xfrm>
          <a:prstGeom prst="rect">
            <a:avLst/>
          </a:prstGeom>
          <a:noFill/>
          <a:ln w="57150" cap="flat" cmpd="sng" algn="ctr">
            <a:solidFill>
              <a:srgbClr val="FF0000">
                <a:alpha val="92157"/>
              </a:srgbClr>
            </a:solidFill>
            <a:prstDash val="solid"/>
            <a:miter lim="800000"/>
          </a:ln>
          <a:effectLst/>
        </p:spPr>
        <p:txBody>
          <a:bodyPr rtlCol="0" anchor="ctr"/>
          <a:lstStyle/>
          <a:p>
            <a:pPr algn="ctr" defTabSz="685800"/>
            <a:endParaRPr lang="en-US" sz="2000" kern="0">
              <a:solidFill>
                <a:prstClr val="white"/>
              </a:solidFill>
              <a:latin typeface="Calibri" panose="020F0502020204030204"/>
            </a:endParaRPr>
          </a:p>
        </p:txBody>
      </p:sp>
      <p:sp>
        <p:nvSpPr>
          <p:cNvPr id="27" name="Rectangle 26">
            <a:extLst>
              <a:ext uri="{FF2B5EF4-FFF2-40B4-BE49-F238E27FC236}">
                <a16:creationId xmlns:a16="http://schemas.microsoft.com/office/drawing/2014/main" id="{D0C84292-FD93-E1E2-D6A1-2E843EB06401}"/>
              </a:ext>
            </a:extLst>
          </p:cNvPr>
          <p:cNvSpPr/>
          <p:nvPr/>
        </p:nvSpPr>
        <p:spPr>
          <a:xfrm>
            <a:off x="7192536"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72" name="Rectangle 71">
            <a:extLst>
              <a:ext uri="{FF2B5EF4-FFF2-40B4-BE49-F238E27FC236}">
                <a16:creationId xmlns:a16="http://schemas.microsoft.com/office/drawing/2014/main" id="{6C0C77F1-8003-FA98-438C-7E680B0A89A3}"/>
              </a:ext>
            </a:extLst>
          </p:cNvPr>
          <p:cNvSpPr/>
          <p:nvPr/>
        </p:nvSpPr>
        <p:spPr>
          <a:xfrm>
            <a:off x="7192536" y="4547864"/>
            <a:ext cx="130646" cy="1098061"/>
          </a:xfrm>
          <a:prstGeom prst="rect">
            <a:avLst/>
          </a:prstGeom>
          <a:noFill/>
          <a:ln w="57150" cap="flat" cmpd="sng" algn="ctr">
            <a:solidFill>
              <a:srgbClr val="FF0000">
                <a:alpha val="92157"/>
              </a:srgbClr>
            </a:solidFill>
            <a:prstDash val="solid"/>
            <a:miter lim="800000"/>
          </a:ln>
          <a:effectLst/>
        </p:spPr>
        <p:txBody>
          <a:bodyPr rtlCol="0" anchor="ctr"/>
          <a:lstStyle/>
          <a:p>
            <a:pPr algn="ctr" defTabSz="685800"/>
            <a:endParaRPr lang="en-US" sz="2000" kern="0">
              <a:solidFill>
                <a:prstClr val="white"/>
              </a:solidFill>
              <a:latin typeface="Calibri" panose="020F0502020204030204"/>
            </a:endParaRPr>
          </a:p>
        </p:txBody>
      </p:sp>
      <p:sp>
        <p:nvSpPr>
          <p:cNvPr id="21" name="Rectangle 20">
            <a:extLst>
              <a:ext uri="{FF2B5EF4-FFF2-40B4-BE49-F238E27FC236}">
                <a16:creationId xmlns:a16="http://schemas.microsoft.com/office/drawing/2014/main" id="{1CDE0587-1823-EC0C-4FC2-B8B43CB40891}"/>
              </a:ext>
            </a:extLst>
          </p:cNvPr>
          <p:cNvSpPr/>
          <p:nvPr/>
        </p:nvSpPr>
        <p:spPr>
          <a:xfrm>
            <a:off x="3964670" y="4542150"/>
            <a:ext cx="130646" cy="1098062"/>
          </a:xfrm>
          <a:prstGeom prst="rect">
            <a:avLst/>
          </a:prstGeom>
          <a:solidFill>
            <a:srgbClr val="00B050">
              <a:alpha val="50196"/>
            </a:srgbClr>
          </a:solidFill>
          <a:ln w="12700" cap="flat" cmpd="sng" algn="ctr">
            <a:solidFill>
              <a:srgbClr val="2F528F">
                <a:alpha val="92157"/>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0" name="Rectangle 49">
            <a:extLst>
              <a:ext uri="{FF2B5EF4-FFF2-40B4-BE49-F238E27FC236}">
                <a16:creationId xmlns:a16="http://schemas.microsoft.com/office/drawing/2014/main" id="{3F5F7112-FF30-A1A7-E843-51CF6969EAA5}"/>
              </a:ext>
            </a:extLst>
          </p:cNvPr>
          <p:cNvSpPr/>
          <p:nvPr/>
        </p:nvSpPr>
        <p:spPr>
          <a:xfrm>
            <a:off x="3960347" y="4539862"/>
            <a:ext cx="130646" cy="1098061"/>
          </a:xfrm>
          <a:prstGeom prst="rect">
            <a:avLst/>
          </a:prstGeom>
          <a:noFill/>
          <a:ln w="57150" cap="flat" cmpd="sng" algn="ctr">
            <a:solidFill>
              <a:srgbClr val="FF0000">
                <a:alpha val="92157"/>
              </a:srgbClr>
            </a:solidFill>
            <a:prstDash val="solid"/>
            <a:miter lim="800000"/>
          </a:ln>
          <a:effectLst/>
        </p:spPr>
        <p:txBody>
          <a:bodyPr rtlCol="0" anchor="ctr"/>
          <a:lstStyle/>
          <a:p>
            <a:pPr algn="ctr" defTabSz="685800"/>
            <a:endParaRPr lang="en-US" sz="2000" kern="0">
              <a:solidFill>
                <a:prstClr val="white"/>
              </a:solidFill>
              <a:latin typeface="Calibri" panose="020F0502020204030204"/>
            </a:endParaRPr>
          </a:p>
        </p:txBody>
      </p:sp>
    </p:spTree>
    <p:extLst>
      <p:ext uri="{BB962C8B-B14F-4D97-AF65-F5344CB8AC3E}">
        <p14:creationId xmlns:p14="http://schemas.microsoft.com/office/powerpoint/2010/main" val="36471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81">
            <a:extLst>
              <a:ext uri="{FF2B5EF4-FFF2-40B4-BE49-F238E27FC236}">
                <a16:creationId xmlns:a16="http://schemas.microsoft.com/office/drawing/2014/main" id="{8CBF8AB6-B50E-4C26-8BB0-156307C20213}"/>
              </a:ext>
            </a:extLst>
          </p:cNvPr>
          <p:cNvSpPr txBox="1"/>
          <p:nvPr/>
        </p:nvSpPr>
        <p:spPr>
          <a:xfrm>
            <a:off x="451025" y="1097579"/>
            <a:ext cx="10374116" cy="1835567"/>
          </a:xfrm>
          <a:prstGeom prst="rect">
            <a:avLst/>
          </a:prstGeom>
          <a:noFill/>
        </p:spPr>
        <p:txBody>
          <a:bodyPr wrap="square" rtlCol="0">
            <a:spAutoFit/>
          </a:bodyPr>
          <a:lstStyle>
            <a:defPPr>
              <a:defRPr lang="en-US"/>
            </a:defPPr>
            <a:lvl1pPr marL="285750" indent="-285750">
              <a:buFont typeface="Wingdings" panose="05000000000000000000" pitchFamily="2" charset="2"/>
              <a:buChar char="q"/>
              <a:defRPr sz="2400"/>
            </a:lvl1p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fin must be fully populated except for specific exceptions. Only allowed in turbo cells, </a:t>
            </a:r>
            <a:r>
              <a:rPr kumimoji="0" lang="en-US" sz="2400" b="0" i="0" u="none" strike="noStrike" kern="1200" cap="none" spc="0" normalizeH="0" baseline="0" noProof="0" err="1">
                <a:ln>
                  <a:noFill/>
                </a:ln>
                <a:solidFill>
                  <a:prstClr val="black"/>
                </a:solidFill>
                <a:effectLst/>
                <a:uLnTx/>
                <a:uFillTx/>
                <a:latin typeface="Calibri" panose="020F0502020204030204"/>
              </a:rPr>
              <a:t>basetransition</a:t>
            </a:r>
            <a:r>
              <a:rPr kumimoji="0" lang="en-US" sz="2400" b="0" i="0" u="none" strike="noStrike" kern="1200" cap="none" spc="0" normalizeH="0" baseline="0" noProof="0">
                <a:ln>
                  <a:noFill/>
                </a:ln>
                <a:solidFill>
                  <a:prstClr val="black"/>
                </a:solidFill>
                <a:effectLst/>
                <a:uLnTx/>
                <a:uFillTx/>
                <a:latin typeface="Calibri" panose="020F0502020204030204"/>
              </a:rPr>
              <a:t> (BT) and special fixed collateral.</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fin </a:t>
            </a:r>
            <a:r>
              <a:rPr kumimoji="0" lang="en-US" sz="2400" b="0" i="0" u="none" strike="noStrike" kern="1200" cap="none" spc="0" normalizeH="0" baseline="0" noProof="0" err="1">
                <a:ln>
                  <a:noFill/>
                </a:ln>
                <a:solidFill>
                  <a:prstClr val="black"/>
                </a:solidFill>
                <a:effectLst/>
                <a:uLnTx/>
                <a:uFillTx/>
                <a:latin typeface="Calibri" panose="020F0502020204030204"/>
              </a:rPr>
              <a:t>depop</a:t>
            </a:r>
            <a:r>
              <a:rPr kumimoji="0" lang="en-US" sz="2400" b="0" i="0" u="none" strike="noStrike" kern="1200" cap="none" spc="0" normalizeH="0" baseline="0" noProof="0">
                <a:ln>
                  <a:noFill/>
                </a:ln>
                <a:solidFill>
                  <a:prstClr val="black"/>
                </a:solidFill>
                <a:effectLst/>
                <a:uLnTx/>
                <a:uFillTx/>
                <a:latin typeface="Calibri" panose="020F0502020204030204"/>
              </a:rPr>
              <a:t> (aka. DNU) is not allowed</a:t>
            </a:r>
          </a:p>
        </p:txBody>
      </p:sp>
      <p:sp>
        <p:nvSpPr>
          <p:cNvPr id="83" name="Rectangle 82">
            <a:extLst>
              <a:ext uri="{FF2B5EF4-FFF2-40B4-BE49-F238E27FC236}">
                <a16:creationId xmlns:a16="http://schemas.microsoft.com/office/drawing/2014/main" id="{9D2D9E0A-69E2-451E-9FE5-CFC590DE6F6E}"/>
              </a:ext>
            </a:extLst>
          </p:cNvPr>
          <p:cNvSpPr/>
          <p:nvPr/>
        </p:nvSpPr>
        <p:spPr bwMode="auto">
          <a:xfrm>
            <a:off x="3809713" y="4758386"/>
            <a:ext cx="691145" cy="360082"/>
          </a:xfrm>
          <a:prstGeom prst="rect">
            <a:avLst/>
          </a:prstGeom>
          <a:solidFill>
            <a:sysClr val="window" lastClr="FFFFFF">
              <a:alpha val="70000"/>
            </a:sysClr>
          </a:solid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84" name="Rectangle 83">
            <a:extLst>
              <a:ext uri="{FF2B5EF4-FFF2-40B4-BE49-F238E27FC236}">
                <a16:creationId xmlns:a16="http://schemas.microsoft.com/office/drawing/2014/main" id="{70300D61-5381-4C9A-AFAC-5B5A13E28BEC}"/>
              </a:ext>
            </a:extLst>
          </p:cNvPr>
          <p:cNvSpPr/>
          <p:nvPr/>
        </p:nvSpPr>
        <p:spPr bwMode="auto">
          <a:xfrm>
            <a:off x="5112501" y="3782569"/>
            <a:ext cx="1440922"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85" name="Rectangle 84">
            <a:extLst>
              <a:ext uri="{FF2B5EF4-FFF2-40B4-BE49-F238E27FC236}">
                <a16:creationId xmlns:a16="http://schemas.microsoft.com/office/drawing/2014/main" id="{C5E0FF90-50BF-4376-A811-E0311F51020A}"/>
              </a:ext>
            </a:extLst>
          </p:cNvPr>
          <p:cNvSpPr/>
          <p:nvPr/>
        </p:nvSpPr>
        <p:spPr bwMode="auto">
          <a:xfrm>
            <a:off x="4500860" y="4852770"/>
            <a:ext cx="1443612"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grpSp>
        <p:nvGrpSpPr>
          <p:cNvPr id="86" name="Group 85">
            <a:extLst>
              <a:ext uri="{FF2B5EF4-FFF2-40B4-BE49-F238E27FC236}">
                <a16:creationId xmlns:a16="http://schemas.microsoft.com/office/drawing/2014/main" id="{05F9AEB6-4556-4790-A851-A4DEF5114951}"/>
              </a:ext>
            </a:extLst>
          </p:cNvPr>
          <p:cNvGrpSpPr/>
          <p:nvPr/>
        </p:nvGrpSpPr>
        <p:grpSpPr>
          <a:xfrm>
            <a:off x="3258968" y="4099719"/>
            <a:ext cx="3298281" cy="1304085"/>
            <a:chOff x="966314" y="1821585"/>
            <a:chExt cx="3457814" cy="1413163"/>
          </a:xfrm>
          <a:solidFill>
            <a:srgbClr val="FFC000"/>
          </a:solidFill>
        </p:grpSpPr>
        <p:sp>
          <p:nvSpPr>
            <p:cNvPr id="87" name="Rectangle 86">
              <a:extLst>
                <a:ext uri="{FF2B5EF4-FFF2-40B4-BE49-F238E27FC236}">
                  <a16:creationId xmlns:a16="http://schemas.microsoft.com/office/drawing/2014/main" id="{1125F4F0-53B7-4004-84D1-8736FA1D8521}"/>
                </a:ext>
              </a:extLst>
            </p:cNvPr>
            <p:cNvSpPr/>
            <p:nvPr/>
          </p:nvSpPr>
          <p:spPr bwMode="auto">
            <a:xfrm>
              <a:off x="982719" y="1821585"/>
              <a:ext cx="3441408" cy="215826"/>
            </a:xfrm>
            <a:prstGeom prst="rect">
              <a:avLst/>
            </a:prstGeom>
            <a:grp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88" name="Rectangle 87">
              <a:extLst>
                <a:ext uri="{FF2B5EF4-FFF2-40B4-BE49-F238E27FC236}">
                  <a16:creationId xmlns:a16="http://schemas.microsoft.com/office/drawing/2014/main" id="{DAD6986B-C3D3-4A53-8F61-0C3C7B37A5CD}"/>
                </a:ext>
              </a:extLst>
            </p:cNvPr>
            <p:cNvSpPr/>
            <p:nvPr/>
          </p:nvSpPr>
          <p:spPr bwMode="auto">
            <a:xfrm>
              <a:off x="982720" y="2240850"/>
              <a:ext cx="3441408" cy="215826"/>
            </a:xfrm>
            <a:prstGeom prst="rect">
              <a:avLst/>
            </a:prstGeom>
            <a:grp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89" name="Rectangle 88">
              <a:extLst>
                <a:ext uri="{FF2B5EF4-FFF2-40B4-BE49-F238E27FC236}">
                  <a16:creationId xmlns:a16="http://schemas.microsoft.com/office/drawing/2014/main" id="{A7D12186-DBE4-4D03-9453-C29D6D3116A8}"/>
                </a:ext>
              </a:extLst>
            </p:cNvPr>
            <p:cNvSpPr/>
            <p:nvPr/>
          </p:nvSpPr>
          <p:spPr bwMode="auto">
            <a:xfrm>
              <a:off x="982718" y="2637624"/>
              <a:ext cx="550529" cy="215826"/>
            </a:xfrm>
            <a:prstGeom prst="rect">
              <a:avLst/>
            </a:prstGeom>
            <a:grp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0" name="Rectangle 89">
              <a:extLst>
                <a:ext uri="{FF2B5EF4-FFF2-40B4-BE49-F238E27FC236}">
                  <a16:creationId xmlns:a16="http://schemas.microsoft.com/office/drawing/2014/main" id="{82648F1A-199C-45A5-8D2C-AE5010E146C3}"/>
                </a:ext>
              </a:extLst>
            </p:cNvPr>
            <p:cNvSpPr/>
            <p:nvPr/>
          </p:nvSpPr>
          <p:spPr bwMode="auto">
            <a:xfrm>
              <a:off x="966314" y="3018922"/>
              <a:ext cx="3453800" cy="215826"/>
            </a:xfrm>
            <a:prstGeom prst="rect">
              <a:avLst/>
            </a:prstGeom>
            <a:grp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grpSp>
      <p:sp>
        <p:nvSpPr>
          <p:cNvPr id="91" name="Rectangle 90">
            <a:extLst>
              <a:ext uri="{FF2B5EF4-FFF2-40B4-BE49-F238E27FC236}">
                <a16:creationId xmlns:a16="http://schemas.microsoft.com/office/drawing/2014/main" id="{2250C61A-CE0F-468D-AFF4-C9496072FB6A}"/>
              </a:ext>
            </a:extLst>
          </p:cNvPr>
          <p:cNvSpPr/>
          <p:nvPr/>
        </p:nvSpPr>
        <p:spPr bwMode="auto">
          <a:xfrm>
            <a:off x="3274616" y="3383155"/>
            <a:ext cx="3278807"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2" name="Rectangle 91">
            <a:extLst>
              <a:ext uri="{FF2B5EF4-FFF2-40B4-BE49-F238E27FC236}">
                <a16:creationId xmlns:a16="http://schemas.microsoft.com/office/drawing/2014/main" id="{F8E12248-6EBD-416A-A14D-198E0D44C6F1}"/>
              </a:ext>
            </a:extLst>
          </p:cNvPr>
          <p:cNvSpPr/>
          <p:nvPr/>
        </p:nvSpPr>
        <p:spPr bwMode="auto">
          <a:xfrm>
            <a:off x="3888080" y="3782569"/>
            <a:ext cx="1136086"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3" name="Rectangle 92">
            <a:extLst>
              <a:ext uri="{FF2B5EF4-FFF2-40B4-BE49-F238E27FC236}">
                <a16:creationId xmlns:a16="http://schemas.microsoft.com/office/drawing/2014/main" id="{FE5CCB08-8EA0-416E-AF6D-DAA598AF53F9}"/>
              </a:ext>
            </a:extLst>
          </p:cNvPr>
          <p:cNvSpPr/>
          <p:nvPr/>
        </p:nvSpPr>
        <p:spPr bwMode="auto">
          <a:xfrm>
            <a:off x="3186966" y="3286201"/>
            <a:ext cx="88336" cy="2140538"/>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4" name="Rectangle 93">
            <a:extLst>
              <a:ext uri="{FF2B5EF4-FFF2-40B4-BE49-F238E27FC236}">
                <a16:creationId xmlns:a16="http://schemas.microsoft.com/office/drawing/2014/main" id="{7B26B45C-8E9C-423F-8547-688B0A26AF4C}"/>
              </a:ext>
            </a:extLst>
          </p:cNvPr>
          <p:cNvSpPr/>
          <p:nvPr/>
        </p:nvSpPr>
        <p:spPr bwMode="auto">
          <a:xfrm>
            <a:off x="3493355"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5" name="Rectangle 94">
            <a:extLst>
              <a:ext uri="{FF2B5EF4-FFF2-40B4-BE49-F238E27FC236}">
                <a16:creationId xmlns:a16="http://schemas.microsoft.com/office/drawing/2014/main" id="{B31508DD-A6C0-4294-B9CE-2FFB523113C5}"/>
              </a:ext>
            </a:extLst>
          </p:cNvPr>
          <p:cNvSpPr/>
          <p:nvPr/>
        </p:nvSpPr>
        <p:spPr bwMode="auto">
          <a:xfrm>
            <a:off x="3799746"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6" name="Rectangle 95">
            <a:extLst>
              <a:ext uri="{FF2B5EF4-FFF2-40B4-BE49-F238E27FC236}">
                <a16:creationId xmlns:a16="http://schemas.microsoft.com/office/drawing/2014/main" id="{8F0CA64A-D1B4-4244-84A4-CD9979C0ED89}"/>
              </a:ext>
            </a:extLst>
          </p:cNvPr>
          <p:cNvSpPr/>
          <p:nvPr/>
        </p:nvSpPr>
        <p:spPr bwMode="auto">
          <a:xfrm>
            <a:off x="4106135"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7" name="Rectangle 96">
            <a:extLst>
              <a:ext uri="{FF2B5EF4-FFF2-40B4-BE49-F238E27FC236}">
                <a16:creationId xmlns:a16="http://schemas.microsoft.com/office/drawing/2014/main" id="{BCD11CBB-5B62-451E-B019-D016C8791432}"/>
              </a:ext>
            </a:extLst>
          </p:cNvPr>
          <p:cNvSpPr/>
          <p:nvPr/>
        </p:nvSpPr>
        <p:spPr bwMode="auto">
          <a:xfrm>
            <a:off x="4412525"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8" name="Rectangle 97">
            <a:extLst>
              <a:ext uri="{FF2B5EF4-FFF2-40B4-BE49-F238E27FC236}">
                <a16:creationId xmlns:a16="http://schemas.microsoft.com/office/drawing/2014/main" id="{ECE36B0A-3A11-47F8-95C9-4590C94BCA39}"/>
              </a:ext>
            </a:extLst>
          </p:cNvPr>
          <p:cNvSpPr/>
          <p:nvPr/>
        </p:nvSpPr>
        <p:spPr bwMode="auto">
          <a:xfrm>
            <a:off x="4718915"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99" name="Rectangle 98">
            <a:extLst>
              <a:ext uri="{FF2B5EF4-FFF2-40B4-BE49-F238E27FC236}">
                <a16:creationId xmlns:a16="http://schemas.microsoft.com/office/drawing/2014/main" id="{F05E0DCF-EBE6-4BA9-8DA3-D81D57A1022D}"/>
              </a:ext>
            </a:extLst>
          </p:cNvPr>
          <p:cNvSpPr/>
          <p:nvPr/>
        </p:nvSpPr>
        <p:spPr bwMode="auto">
          <a:xfrm>
            <a:off x="5025304"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00" name="Rectangle 99">
            <a:extLst>
              <a:ext uri="{FF2B5EF4-FFF2-40B4-BE49-F238E27FC236}">
                <a16:creationId xmlns:a16="http://schemas.microsoft.com/office/drawing/2014/main" id="{0EF4E5DF-44C8-43EC-858B-356F8B226286}"/>
              </a:ext>
            </a:extLst>
          </p:cNvPr>
          <p:cNvSpPr/>
          <p:nvPr/>
        </p:nvSpPr>
        <p:spPr bwMode="auto">
          <a:xfrm>
            <a:off x="5331694"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01" name="Rectangle 100">
            <a:extLst>
              <a:ext uri="{FF2B5EF4-FFF2-40B4-BE49-F238E27FC236}">
                <a16:creationId xmlns:a16="http://schemas.microsoft.com/office/drawing/2014/main" id="{5E86C057-5678-4641-8FEF-47DDE8D90504}"/>
              </a:ext>
            </a:extLst>
          </p:cNvPr>
          <p:cNvSpPr/>
          <p:nvPr/>
        </p:nvSpPr>
        <p:spPr bwMode="auto">
          <a:xfrm>
            <a:off x="5638083"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02" name="Rectangle 101">
            <a:extLst>
              <a:ext uri="{FF2B5EF4-FFF2-40B4-BE49-F238E27FC236}">
                <a16:creationId xmlns:a16="http://schemas.microsoft.com/office/drawing/2014/main" id="{029E448F-ABC5-4002-8C31-AFE29628C870}"/>
              </a:ext>
            </a:extLst>
          </p:cNvPr>
          <p:cNvSpPr/>
          <p:nvPr/>
        </p:nvSpPr>
        <p:spPr bwMode="auto">
          <a:xfrm>
            <a:off x="5944473"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03" name="Rectangle 102">
            <a:extLst>
              <a:ext uri="{FF2B5EF4-FFF2-40B4-BE49-F238E27FC236}">
                <a16:creationId xmlns:a16="http://schemas.microsoft.com/office/drawing/2014/main" id="{450A29DD-1DAB-4A05-97CC-F4E626C56DB8}"/>
              </a:ext>
            </a:extLst>
          </p:cNvPr>
          <p:cNvSpPr/>
          <p:nvPr/>
        </p:nvSpPr>
        <p:spPr bwMode="auto">
          <a:xfrm>
            <a:off x="6250862" y="3286201"/>
            <a:ext cx="88336" cy="2140533"/>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04" name="Rectangle 103">
            <a:extLst>
              <a:ext uri="{FF2B5EF4-FFF2-40B4-BE49-F238E27FC236}">
                <a16:creationId xmlns:a16="http://schemas.microsoft.com/office/drawing/2014/main" id="{7973B79B-5CA1-4FCC-B692-A4D5B6FC958C}"/>
              </a:ext>
            </a:extLst>
          </p:cNvPr>
          <p:cNvSpPr/>
          <p:nvPr/>
        </p:nvSpPr>
        <p:spPr bwMode="auto">
          <a:xfrm>
            <a:off x="6557251" y="3286201"/>
            <a:ext cx="88336" cy="2140538"/>
          </a:xfrm>
          <a:prstGeom prst="rect">
            <a:avLst/>
          </a:prstGeom>
          <a:solidFill>
            <a:srgbClr val="A6CAE1">
              <a:alpha val="40000"/>
            </a:srgbClr>
          </a:solidFill>
          <a:ln w="2540" cap="flat" cmpd="sng" algn="ctr">
            <a:solidFill>
              <a:srgbClr val="0860A8"/>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cxnSp>
        <p:nvCxnSpPr>
          <p:cNvPr id="105" name="Straight Connector 104">
            <a:extLst>
              <a:ext uri="{FF2B5EF4-FFF2-40B4-BE49-F238E27FC236}">
                <a16:creationId xmlns:a16="http://schemas.microsoft.com/office/drawing/2014/main" id="{85CFCDB6-3BDA-4F9C-AD86-71EC4E2453D5}"/>
              </a:ext>
            </a:extLst>
          </p:cNvPr>
          <p:cNvCxnSpPr>
            <a:cxnSpLocks/>
          </p:cNvCxnSpPr>
          <p:nvPr/>
        </p:nvCxnSpPr>
        <p:spPr bwMode="auto">
          <a:xfrm>
            <a:off x="3210437" y="3313550"/>
            <a:ext cx="3468816" cy="0"/>
          </a:xfrm>
          <a:prstGeom prst="line">
            <a:avLst/>
          </a:prstGeom>
          <a:noFill/>
          <a:ln w="5080" cap="flat" cmpd="sng" algn="ctr">
            <a:solidFill>
              <a:srgbClr val="0860A8"/>
            </a:solidFill>
            <a:prstDash val="dash"/>
            <a:miter lim="800000"/>
            <a:headEnd type="none" w="med" len="med"/>
            <a:tailEnd type="none" w="med" len="med"/>
          </a:ln>
          <a:effectLst/>
        </p:spPr>
      </p:cxnSp>
      <p:cxnSp>
        <p:nvCxnSpPr>
          <p:cNvPr id="106" name="Straight Connector 105">
            <a:extLst>
              <a:ext uri="{FF2B5EF4-FFF2-40B4-BE49-F238E27FC236}">
                <a16:creationId xmlns:a16="http://schemas.microsoft.com/office/drawing/2014/main" id="{BA0D7D46-B9C2-4535-ABF5-C8B3F37D8C7D}"/>
              </a:ext>
            </a:extLst>
          </p:cNvPr>
          <p:cNvCxnSpPr>
            <a:cxnSpLocks/>
          </p:cNvCxnSpPr>
          <p:nvPr/>
        </p:nvCxnSpPr>
        <p:spPr bwMode="auto">
          <a:xfrm>
            <a:off x="3186966" y="4051341"/>
            <a:ext cx="3457833" cy="0"/>
          </a:xfrm>
          <a:prstGeom prst="line">
            <a:avLst/>
          </a:prstGeom>
          <a:noFill/>
          <a:ln w="5080" cap="flat" cmpd="sng" algn="ctr">
            <a:solidFill>
              <a:srgbClr val="0860A8"/>
            </a:solidFill>
            <a:prstDash val="dash"/>
            <a:miter lim="800000"/>
            <a:headEnd type="none" w="med" len="med"/>
            <a:tailEnd type="none" w="med" len="med"/>
          </a:ln>
          <a:effectLst/>
        </p:spPr>
      </p:cxnSp>
      <p:sp>
        <p:nvSpPr>
          <p:cNvPr id="107" name="Rectangle 106">
            <a:extLst>
              <a:ext uri="{FF2B5EF4-FFF2-40B4-BE49-F238E27FC236}">
                <a16:creationId xmlns:a16="http://schemas.microsoft.com/office/drawing/2014/main" id="{93734C3F-DE15-4B84-9AF8-6749D973553D}"/>
              </a:ext>
            </a:extLst>
          </p:cNvPr>
          <p:cNvSpPr/>
          <p:nvPr/>
        </p:nvSpPr>
        <p:spPr bwMode="auto">
          <a:xfrm>
            <a:off x="3276558" y="3782569"/>
            <a:ext cx="216798"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cxnSp>
        <p:nvCxnSpPr>
          <p:cNvPr id="108" name="Straight Connector 107">
            <a:extLst>
              <a:ext uri="{FF2B5EF4-FFF2-40B4-BE49-F238E27FC236}">
                <a16:creationId xmlns:a16="http://schemas.microsoft.com/office/drawing/2014/main" id="{84ED7F99-C0F1-4575-88BE-AEF1545BF03B}"/>
              </a:ext>
            </a:extLst>
          </p:cNvPr>
          <p:cNvCxnSpPr>
            <a:cxnSpLocks/>
          </p:cNvCxnSpPr>
          <p:nvPr/>
        </p:nvCxnSpPr>
        <p:spPr bwMode="auto">
          <a:xfrm>
            <a:off x="3186966" y="4755075"/>
            <a:ext cx="3385285" cy="0"/>
          </a:xfrm>
          <a:prstGeom prst="line">
            <a:avLst/>
          </a:prstGeom>
          <a:noFill/>
          <a:ln w="5080" cap="flat" cmpd="sng" algn="ctr">
            <a:solidFill>
              <a:srgbClr val="0860A8"/>
            </a:solidFill>
            <a:prstDash val="dash"/>
            <a:miter lim="800000"/>
            <a:headEnd type="none" w="med" len="med"/>
            <a:tailEnd type="none" w="med" len="med"/>
          </a:ln>
          <a:effectLst/>
        </p:spPr>
      </p:cxnSp>
      <p:sp>
        <p:nvSpPr>
          <p:cNvPr id="109" name="Rectangle 108">
            <a:extLst>
              <a:ext uri="{FF2B5EF4-FFF2-40B4-BE49-F238E27FC236}">
                <a16:creationId xmlns:a16="http://schemas.microsoft.com/office/drawing/2014/main" id="{49119E6A-0535-42CD-B9B6-7B17BDCE0767}"/>
              </a:ext>
            </a:extLst>
          </p:cNvPr>
          <p:cNvSpPr/>
          <p:nvPr/>
        </p:nvSpPr>
        <p:spPr bwMode="auto">
          <a:xfrm>
            <a:off x="6055121" y="4841811"/>
            <a:ext cx="525129" cy="199167"/>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10" name="Rectangle 109">
            <a:extLst>
              <a:ext uri="{FF2B5EF4-FFF2-40B4-BE49-F238E27FC236}">
                <a16:creationId xmlns:a16="http://schemas.microsoft.com/office/drawing/2014/main" id="{B3F91B74-08D5-470C-909F-81728FC335EE}"/>
              </a:ext>
            </a:extLst>
          </p:cNvPr>
          <p:cNvSpPr/>
          <p:nvPr/>
        </p:nvSpPr>
        <p:spPr bwMode="auto">
          <a:xfrm>
            <a:off x="3495930" y="3680016"/>
            <a:ext cx="388321" cy="371324"/>
          </a:xfrm>
          <a:prstGeom prst="rect">
            <a:avLst/>
          </a:prstGeom>
          <a:solidFill>
            <a:sysClr val="window" lastClr="FFFFFF">
              <a:alpha val="70000"/>
            </a:sysClr>
          </a:solid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endParaRPr>
          </a:p>
        </p:txBody>
      </p:sp>
      <p:sp>
        <p:nvSpPr>
          <p:cNvPr id="111" name="Rectangle 110">
            <a:extLst>
              <a:ext uri="{FF2B5EF4-FFF2-40B4-BE49-F238E27FC236}">
                <a16:creationId xmlns:a16="http://schemas.microsoft.com/office/drawing/2014/main" id="{1F7066A3-33A7-4F42-B8DF-18E76BF679D6}"/>
              </a:ext>
            </a:extLst>
          </p:cNvPr>
          <p:cNvSpPr/>
          <p:nvPr/>
        </p:nvSpPr>
        <p:spPr bwMode="auto">
          <a:xfrm>
            <a:off x="8564098" y="3782569"/>
            <a:ext cx="1316982" cy="243770"/>
          </a:xfrm>
          <a:prstGeom prst="rect">
            <a:avLst/>
          </a:prstGeom>
          <a:solidFill>
            <a:srgbClr val="A6CAE1">
              <a:alpha val="40000"/>
            </a:srgbClr>
          </a:solidFill>
          <a:ln w="2032" cap="flat" cmpd="sng" algn="ctr">
            <a:solidFill>
              <a:srgbClr val="0860A8"/>
            </a:solidFill>
            <a:prstDash val="solid"/>
            <a:round/>
            <a:headEnd type="none" w="med" len="med"/>
            <a:tailEnd type="none" w="med" len="med"/>
          </a:ln>
          <a:effectLst/>
        </p:spPr>
        <p:txBody>
          <a:bodyPr vert="horz" wrap="none" lIns="58522" tIns="29261" rIns="58522" bIns="29261"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sym typeface="Helvetica Neue"/>
              </a:rPr>
              <a:t>Poly track</a:t>
            </a:r>
          </a:p>
        </p:txBody>
      </p:sp>
      <p:sp>
        <p:nvSpPr>
          <p:cNvPr id="112" name="Rectangle 111">
            <a:extLst>
              <a:ext uri="{FF2B5EF4-FFF2-40B4-BE49-F238E27FC236}">
                <a16:creationId xmlns:a16="http://schemas.microsoft.com/office/drawing/2014/main" id="{29168800-E198-4518-BCFE-4ECAA3E8456A}"/>
              </a:ext>
            </a:extLst>
          </p:cNvPr>
          <p:cNvSpPr/>
          <p:nvPr/>
        </p:nvSpPr>
        <p:spPr bwMode="auto">
          <a:xfrm>
            <a:off x="8564098" y="4153978"/>
            <a:ext cx="1316982" cy="243770"/>
          </a:xfrm>
          <a:prstGeom prst="rect">
            <a:avLst/>
          </a:prstGeom>
          <a:solidFill>
            <a:srgbClr val="FFC000"/>
          </a:solidFill>
          <a:ln w="2540" cap="flat" cmpd="sng" algn="ctr">
            <a:solidFill>
              <a:srgbClr val="0860A8"/>
            </a:solidFill>
            <a:prstDash val="solid"/>
            <a:round/>
            <a:headEnd type="none" w="med" len="med"/>
            <a:tailEnd type="none" w="med" len="med"/>
          </a:ln>
          <a:effectLst/>
        </p:spPr>
        <p:txBody>
          <a:bodyPr vert="horz" wrap="none" lIns="73152" tIns="36576" rIns="73152" bIns="36576" numCol="1" rtlCol="0" anchor="ctr" anchorCtr="0" compatLnSpc="1">
            <a:prstTxWarp prst="textNoShape">
              <a:avLst/>
            </a:prstTxWarp>
          </a:bodyPr>
          <a:lstStyle/>
          <a:p>
            <a:pPr marL="0" marR="0" lvl="0" indent="0" algn="ctr" defTabSz="914400" rtl="0" eaLnBrk="0" fontAlgn="base" latinLnBrk="0" hangingPunct="1">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prstClr val="black"/>
                </a:solidFill>
                <a:effectLst/>
                <a:uLnTx/>
                <a:uFillTx/>
                <a:latin typeface="Verdana" panose="020B0604030504040204" pitchFamily="34" charset="0"/>
                <a:cs typeface="Arial" panose="020B0604020202020204" pitchFamily="34" charset="0"/>
                <a:sym typeface="Helvetica Neue"/>
              </a:rPr>
              <a:t>fin</a:t>
            </a:r>
          </a:p>
        </p:txBody>
      </p:sp>
      <p:sp>
        <p:nvSpPr>
          <p:cNvPr id="113" name="Rectangle 112">
            <a:extLst>
              <a:ext uri="{FF2B5EF4-FFF2-40B4-BE49-F238E27FC236}">
                <a16:creationId xmlns:a16="http://schemas.microsoft.com/office/drawing/2014/main" id="{FF916EA7-E7AA-4733-8B8D-70BEAEA3530B}"/>
              </a:ext>
            </a:extLst>
          </p:cNvPr>
          <p:cNvSpPr/>
          <p:nvPr/>
        </p:nvSpPr>
        <p:spPr bwMode="auto">
          <a:xfrm>
            <a:off x="8564098" y="4497835"/>
            <a:ext cx="1316982" cy="243770"/>
          </a:xfrm>
          <a:prstGeom prst="rect">
            <a:avLst/>
          </a:prstGeom>
          <a:solidFill>
            <a:sysClr val="window" lastClr="FFFFFF">
              <a:alpha val="70000"/>
            </a:sysClr>
          </a:solidFill>
          <a:ln w="285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100" b="0" i="0" u="none" strike="noStrike" kern="0" cap="none" spc="0" normalizeH="0" baseline="0" noProof="0">
                <a:ln>
                  <a:noFill/>
                </a:ln>
                <a:solidFill>
                  <a:srgbClr val="0860A8"/>
                </a:solidFill>
                <a:effectLst/>
                <a:uLnTx/>
                <a:uFillTx/>
                <a:latin typeface="Verdana" panose="020B0604030504040204" pitchFamily="34" charset="0"/>
                <a:cs typeface="Arial" panose="020B0604020202020204" pitchFamily="34" charset="0"/>
              </a:rPr>
              <a:t>DNU</a:t>
            </a:r>
          </a:p>
        </p:txBody>
      </p:sp>
      <p:sp>
        <p:nvSpPr>
          <p:cNvPr id="114" name="TextBox 113">
            <a:extLst>
              <a:ext uri="{FF2B5EF4-FFF2-40B4-BE49-F238E27FC236}">
                <a16:creationId xmlns:a16="http://schemas.microsoft.com/office/drawing/2014/main" id="{04856122-BA83-4F4B-B07C-9EFAC66175CB}"/>
              </a:ext>
            </a:extLst>
          </p:cNvPr>
          <p:cNvSpPr txBox="1"/>
          <p:nvPr/>
        </p:nvSpPr>
        <p:spPr>
          <a:xfrm>
            <a:off x="9230352" y="4939711"/>
            <a:ext cx="49244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rPr>
              <a:t>CRL</a:t>
            </a:r>
          </a:p>
        </p:txBody>
      </p:sp>
      <p:cxnSp>
        <p:nvCxnSpPr>
          <p:cNvPr id="115" name="Straight Connector 114">
            <a:extLst>
              <a:ext uri="{FF2B5EF4-FFF2-40B4-BE49-F238E27FC236}">
                <a16:creationId xmlns:a16="http://schemas.microsoft.com/office/drawing/2014/main" id="{B184C8BD-9277-4432-80D9-E90C127BA5A1}"/>
              </a:ext>
            </a:extLst>
          </p:cNvPr>
          <p:cNvCxnSpPr>
            <a:cxnSpLocks/>
          </p:cNvCxnSpPr>
          <p:nvPr/>
        </p:nvCxnSpPr>
        <p:spPr bwMode="auto">
          <a:xfrm>
            <a:off x="8653423" y="5084975"/>
            <a:ext cx="567841" cy="0"/>
          </a:xfrm>
          <a:prstGeom prst="line">
            <a:avLst/>
          </a:prstGeom>
          <a:noFill/>
          <a:ln w="5080" cap="flat" cmpd="sng" algn="ctr">
            <a:solidFill>
              <a:srgbClr val="0860A8"/>
            </a:solidFill>
            <a:prstDash val="dash"/>
            <a:miter lim="800000"/>
            <a:headEnd type="none" w="med" len="med"/>
            <a:tailEnd type="none" w="med" len="med"/>
          </a:ln>
          <a:effectLst/>
        </p:spPr>
      </p:cxnSp>
      <p:sp>
        <p:nvSpPr>
          <p:cNvPr id="162" name="Title 2">
            <a:extLst>
              <a:ext uri="{FF2B5EF4-FFF2-40B4-BE49-F238E27FC236}">
                <a16:creationId xmlns:a16="http://schemas.microsoft.com/office/drawing/2014/main" id="{C9818D4E-6A77-4CF8-9431-35C6D9FB9A17}"/>
              </a:ext>
            </a:extLst>
          </p:cNvPr>
          <p:cNvSpPr>
            <a:spLocks noGrp="1"/>
          </p:cNvSpPr>
          <p:nvPr>
            <p:ph type="title"/>
          </p:nvPr>
        </p:nvSpPr>
        <p:spPr>
          <a:xfrm>
            <a:off x="269701" y="0"/>
            <a:ext cx="10977032" cy="751841"/>
          </a:xfrm>
        </p:spPr>
        <p:txBody>
          <a:bodyPr>
            <a:normAutofit/>
          </a:bodyPr>
          <a:lstStyle/>
          <a:p>
            <a:r>
              <a:rPr lang="en-US" sz="3600" b="1">
                <a:solidFill>
                  <a:prstClr val="black"/>
                </a:solidFill>
                <a:latin typeface="Calibri Light" panose="020F0302020204030204"/>
                <a:ea typeface="+mn-ea"/>
                <a:cs typeface="+mn-cs"/>
              </a:rPr>
              <a:t>Fin and diffusion Design Rules</a:t>
            </a:r>
            <a:endParaRPr lang="en-US" sz="3600" b="1"/>
          </a:p>
        </p:txBody>
      </p:sp>
      <p:sp>
        <p:nvSpPr>
          <p:cNvPr id="2" name="TextBox 1">
            <a:extLst>
              <a:ext uri="{FF2B5EF4-FFF2-40B4-BE49-F238E27FC236}">
                <a16:creationId xmlns:a16="http://schemas.microsoft.com/office/drawing/2014/main" id="{4CB60749-F270-CDC0-CA2C-70BAFE847C41}"/>
              </a:ext>
            </a:extLst>
          </p:cNvPr>
          <p:cNvSpPr txBox="1"/>
          <p:nvPr/>
        </p:nvSpPr>
        <p:spPr>
          <a:xfrm>
            <a:off x="3449035" y="3549854"/>
            <a:ext cx="423514" cy="498177"/>
          </a:xfrm>
          <a:prstGeom prst="rect">
            <a:avLst/>
          </a:prstGeom>
          <a:noFill/>
        </p:spPr>
        <p:txBody>
          <a:bodyPr wrap="none" rtlCol="0">
            <a:spAutoFit/>
          </a:bodyPr>
          <a:lstStyle/>
          <a:p>
            <a:r>
              <a:rPr lang="en-US" sz="3600">
                <a:solidFill>
                  <a:srgbClr val="FF0000"/>
                </a:solidFill>
              </a:rPr>
              <a:t>X</a:t>
            </a:r>
          </a:p>
        </p:txBody>
      </p:sp>
      <p:sp>
        <p:nvSpPr>
          <p:cNvPr id="3" name="TextBox 2">
            <a:extLst>
              <a:ext uri="{FF2B5EF4-FFF2-40B4-BE49-F238E27FC236}">
                <a16:creationId xmlns:a16="http://schemas.microsoft.com/office/drawing/2014/main" id="{FC1CAE3C-EA79-FFD9-41D8-2846F3C9DD2C}"/>
              </a:ext>
            </a:extLst>
          </p:cNvPr>
          <p:cNvSpPr txBox="1"/>
          <p:nvPr/>
        </p:nvSpPr>
        <p:spPr>
          <a:xfrm>
            <a:off x="3861045" y="4641183"/>
            <a:ext cx="423514" cy="498177"/>
          </a:xfrm>
          <a:prstGeom prst="rect">
            <a:avLst/>
          </a:prstGeom>
          <a:noFill/>
        </p:spPr>
        <p:txBody>
          <a:bodyPr wrap="none" rtlCol="0">
            <a:spAutoFit/>
          </a:bodyPr>
          <a:lstStyle/>
          <a:p>
            <a:r>
              <a:rPr lang="en-US" sz="3600">
                <a:solidFill>
                  <a:srgbClr val="FF0000"/>
                </a:solidFill>
              </a:rPr>
              <a:t>X</a:t>
            </a:r>
          </a:p>
        </p:txBody>
      </p:sp>
    </p:spTree>
    <p:extLst>
      <p:ext uri="{BB962C8B-B14F-4D97-AF65-F5344CB8AC3E}">
        <p14:creationId xmlns:p14="http://schemas.microsoft.com/office/powerpoint/2010/main" val="1436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D9D2-7665-E3D3-77D6-42265E2404E7}"/>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6AF47599-FED4-18E6-AD7E-DD69D53FB71C}"/>
              </a:ext>
            </a:extLst>
          </p:cNvPr>
          <p:cNvSpPr txBox="1"/>
          <p:nvPr/>
        </p:nvSpPr>
        <p:spPr>
          <a:xfrm>
            <a:off x="227092" y="1307212"/>
            <a:ext cx="4289489" cy="4062651"/>
          </a:xfrm>
          <a:prstGeom prst="rect">
            <a:avLst/>
          </a:prstGeom>
          <a:noFill/>
        </p:spPr>
        <p:txBody>
          <a:bodyPr vert="horz" wrap="square" lIns="0" tIns="0" rIns="0" bIns="0" rtlCol="0" anchor="t">
            <a:spAutoFit/>
          </a:bodyPr>
          <a:lstStyle/>
          <a:p>
            <a:pPr marL="285750" indent="-285750">
              <a:buFont typeface="Wingdings" panose="05000000000000000000" pitchFamily="2" charset="2"/>
              <a:buChar char="q"/>
              <a:defRPr/>
            </a:pPr>
            <a:r>
              <a:rPr lang="en-US" sz="2400">
                <a:solidFill>
                  <a:prstClr val="black"/>
                </a:solidFill>
                <a:latin typeface="Calibri" panose="020F0502020204030204"/>
              </a:rPr>
              <a:t>TRM is a new drawn layer: CAD representation of poly cut. </a:t>
            </a:r>
          </a:p>
          <a:p>
            <a:pPr marL="285750" indent="-285750">
              <a:buFont typeface="Wingdings" panose="05000000000000000000" pitchFamily="2" charset="2"/>
              <a:buChar char="q"/>
              <a:defRPr/>
            </a:pPr>
            <a:r>
              <a:rPr lang="en-US" sz="2400">
                <a:solidFill>
                  <a:prstClr val="black"/>
                </a:solidFill>
                <a:latin typeface="Calibri" panose="020F0502020204030204"/>
              </a:rPr>
              <a:t>TRM is highly gridded and is drawn as a continuous polygon placed at the CRL, DKA or PCT</a:t>
            </a:r>
          </a:p>
          <a:p>
            <a:pPr marL="285750" indent="-285750">
              <a:buFont typeface="Wingdings" panose="05000000000000000000" pitchFamily="2" charset="2"/>
              <a:buChar char="q"/>
              <a:defRPr/>
            </a:pPr>
            <a:r>
              <a:rPr lang="en-US" sz="2400">
                <a:solidFill>
                  <a:prstClr val="black"/>
                </a:solidFill>
                <a:latin typeface="Calibri" panose="020F0502020204030204"/>
              </a:rPr>
              <a:t>TRM is placed at CRL and DKA for all cells except turbo cells</a:t>
            </a:r>
          </a:p>
          <a:p>
            <a:pPr marL="285750" indent="-285750">
              <a:buFont typeface="Wingdings" panose="05000000000000000000" pitchFamily="2" charset="2"/>
              <a:buChar char="q"/>
              <a:defRPr/>
            </a:pPr>
            <a:r>
              <a:rPr lang="en-US" sz="2400">
                <a:solidFill>
                  <a:prstClr val="black"/>
                </a:solidFill>
                <a:latin typeface="Calibri" panose="020F0502020204030204"/>
                <a:sym typeface="Wingdings" panose="05000000000000000000" pitchFamily="2" charset="2"/>
              </a:rPr>
              <a:t>To connect poly between different half cells, poly is extended over </a:t>
            </a:r>
            <a:r>
              <a:rPr lang="en-US" sz="2400" err="1">
                <a:solidFill>
                  <a:prstClr val="black"/>
                </a:solidFill>
                <a:latin typeface="Calibri" panose="020F0502020204030204"/>
                <a:sym typeface="Wingdings" panose="05000000000000000000" pitchFamily="2" charset="2"/>
              </a:rPr>
              <a:t>trm</a:t>
            </a:r>
            <a:r>
              <a:rPr lang="en-US" sz="2400">
                <a:solidFill>
                  <a:prstClr val="black"/>
                </a:solidFill>
                <a:latin typeface="Calibri" panose="020F0502020204030204"/>
                <a:sym typeface="Wingdings" panose="05000000000000000000" pitchFamily="2" charset="2"/>
              </a:rPr>
              <a:t> and </a:t>
            </a:r>
            <a:r>
              <a:rPr lang="en-US" sz="2400" err="1">
                <a:solidFill>
                  <a:prstClr val="black"/>
                </a:solidFill>
                <a:latin typeface="Calibri" panose="020F0502020204030204"/>
                <a:sym typeface="Wingdings" panose="05000000000000000000" pitchFamily="2" charset="2"/>
              </a:rPr>
              <a:t>glk</a:t>
            </a:r>
            <a:r>
              <a:rPr lang="en-US" sz="2400">
                <a:solidFill>
                  <a:prstClr val="black"/>
                </a:solidFill>
                <a:latin typeface="Calibri" panose="020F0502020204030204"/>
                <a:sym typeface="Wingdings" panose="05000000000000000000" pitchFamily="2" charset="2"/>
              </a:rPr>
              <a:t> is drawn at the intersection</a:t>
            </a:r>
            <a:endPar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endParaRPr>
          </a:p>
        </p:txBody>
      </p:sp>
      <p:sp>
        <p:nvSpPr>
          <p:cNvPr id="8" name="Title 2">
            <a:extLst>
              <a:ext uri="{FF2B5EF4-FFF2-40B4-BE49-F238E27FC236}">
                <a16:creationId xmlns:a16="http://schemas.microsoft.com/office/drawing/2014/main" id="{2C561495-0689-3DDF-23EA-BF93422C6A7D}"/>
              </a:ext>
            </a:extLst>
          </p:cNvPr>
          <p:cNvSpPr txBox="1">
            <a:spLocks/>
          </p:cNvSpPr>
          <p:nvPr/>
        </p:nvSpPr>
        <p:spPr>
          <a:xfrm>
            <a:off x="135652"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600" b="1">
                <a:solidFill>
                  <a:sysClr val="windowText" lastClr="000000"/>
                </a:solidFill>
                <a:latin typeface="Calibri Light" panose="020F0302020204030204"/>
              </a:rPr>
              <a:t>TRM Rules</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sp>
        <p:nvSpPr>
          <p:cNvPr id="2" name="Rectangle 1">
            <a:extLst>
              <a:ext uri="{FF2B5EF4-FFF2-40B4-BE49-F238E27FC236}">
                <a16:creationId xmlns:a16="http://schemas.microsoft.com/office/drawing/2014/main" id="{ABD22A82-ED31-3B91-5653-C9FC55772BD5}"/>
              </a:ext>
            </a:extLst>
          </p:cNvPr>
          <p:cNvSpPr/>
          <p:nvPr/>
        </p:nvSpPr>
        <p:spPr>
          <a:xfrm>
            <a:off x="5820322" y="1356032"/>
            <a:ext cx="4368713" cy="46494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4" name="Rectangle 3">
            <a:extLst>
              <a:ext uri="{FF2B5EF4-FFF2-40B4-BE49-F238E27FC236}">
                <a16:creationId xmlns:a16="http://schemas.microsoft.com/office/drawing/2014/main" id="{91F320A1-3A40-B503-2D98-A6F293DBD565}"/>
              </a:ext>
            </a:extLst>
          </p:cNvPr>
          <p:cNvSpPr/>
          <p:nvPr/>
        </p:nvSpPr>
        <p:spPr>
          <a:xfrm>
            <a:off x="5820322" y="4503397"/>
            <a:ext cx="4368713" cy="46494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 name="Rectangle 4">
            <a:extLst>
              <a:ext uri="{FF2B5EF4-FFF2-40B4-BE49-F238E27FC236}">
                <a16:creationId xmlns:a16="http://schemas.microsoft.com/office/drawing/2014/main" id="{B72E8F0E-3F48-BF87-3FE5-5DDC8E2C3B09}"/>
              </a:ext>
            </a:extLst>
          </p:cNvPr>
          <p:cNvSpPr/>
          <p:nvPr/>
        </p:nvSpPr>
        <p:spPr>
          <a:xfrm>
            <a:off x="5817294" y="2950376"/>
            <a:ext cx="4368713" cy="46494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11" name="Straight Connector 10">
            <a:extLst>
              <a:ext uri="{FF2B5EF4-FFF2-40B4-BE49-F238E27FC236}">
                <a16:creationId xmlns:a16="http://schemas.microsoft.com/office/drawing/2014/main" id="{E046370C-BED8-9CA0-94B6-6865D47FAEBF}"/>
              </a:ext>
            </a:extLst>
          </p:cNvPr>
          <p:cNvCxnSpPr>
            <a:cxnSpLocks/>
          </p:cNvCxnSpPr>
          <p:nvPr/>
        </p:nvCxnSpPr>
        <p:spPr>
          <a:xfrm>
            <a:off x="5734147" y="3182848"/>
            <a:ext cx="4675228" cy="0"/>
          </a:xfrm>
          <a:prstGeom prst="line">
            <a:avLst/>
          </a:prstGeom>
          <a:ln w="222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7ED70D0-0DE4-1CAD-6D6E-52AE68437869}"/>
              </a:ext>
            </a:extLst>
          </p:cNvPr>
          <p:cNvSpPr txBox="1"/>
          <p:nvPr/>
        </p:nvSpPr>
        <p:spPr>
          <a:xfrm>
            <a:off x="10797571" y="1432394"/>
            <a:ext cx="842038" cy="369332"/>
          </a:xfrm>
          <a:prstGeom prst="rect">
            <a:avLst/>
          </a:prstGeom>
          <a:noFill/>
        </p:spPr>
        <p:txBody>
          <a:bodyPr wrap="square" rtlCol="0">
            <a:spAutoFit/>
          </a:bodyPr>
          <a:lstStyle/>
          <a:p>
            <a:r>
              <a:rPr lang="en-US">
                <a:solidFill>
                  <a:srgbClr val="0070C0"/>
                </a:solidFill>
              </a:rPr>
              <a:t>CRL</a:t>
            </a:r>
          </a:p>
        </p:txBody>
      </p:sp>
      <p:sp>
        <p:nvSpPr>
          <p:cNvPr id="13" name="TextBox 12">
            <a:extLst>
              <a:ext uri="{FF2B5EF4-FFF2-40B4-BE49-F238E27FC236}">
                <a16:creationId xmlns:a16="http://schemas.microsoft.com/office/drawing/2014/main" id="{87CD7374-A132-3CAA-7D4E-EE55AB17DB97}"/>
              </a:ext>
            </a:extLst>
          </p:cNvPr>
          <p:cNvSpPr txBox="1"/>
          <p:nvPr/>
        </p:nvSpPr>
        <p:spPr>
          <a:xfrm>
            <a:off x="10803557" y="4528882"/>
            <a:ext cx="842038" cy="369332"/>
          </a:xfrm>
          <a:prstGeom prst="rect">
            <a:avLst/>
          </a:prstGeom>
          <a:noFill/>
        </p:spPr>
        <p:txBody>
          <a:bodyPr wrap="square" rtlCol="0">
            <a:spAutoFit/>
          </a:bodyPr>
          <a:lstStyle/>
          <a:p>
            <a:r>
              <a:rPr lang="en-US">
                <a:solidFill>
                  <a:srgbClr val="0070C0"/>
                </a:solidFill>
              </a:rPr>
              <a:t>CRL</a:t>
            </a:r>
          </a:p>
        </p:txBody>
      </p:sp>
      <p:sp>
        <p:nvSpPr>
          <p:cNvPr id="14" name="TextBox 13">
            <a:extLst>
              <a:ext uri="{FF2B5EF4-FFF2-40B4-BE49-F238E27FC236}">
                <a16:creationId xmlns:a16="http://schemas.microsoft.com/office/drawing/2014/main" id="{22CCA87D-B188-51F5-53A6-94DD7647D61D}"/>
              </a:ext>
            </a:extLst>
          </p:cNvPr>
          <p:cNvSpPr txBox="1"/>
          <p:nvPr/>
        </p:nvSpPr>
        <p:spPr>
          <a:xfrm>
            <a:off x="10806899" y="3014921"/>
            <a:ext cx="842038" cy="369332"/>
          </a:xfrm>
          <a:prstGeom prst="rect">
            <a:avLst/>
          </a:prstGeom>
          <a:noFill/>
        </p:spPr>
        <p:txBody>
          <a:bodyPr wrap="square" rtlCol="0">
            <a:spAutoFit/>
          </a:bodyPr>
          <a:lstStyle/>
          <a:p>
            <a:r>
              <a:rPr lang="en-US"/>
              <a:t>DKA</a:t>
            </a:r>
          </a:p>
        </p:txBody>
      </p:sp>
      <p:cxnSp>
        <p:nvCxnSpPr>
          <p:cNvPr id="16" name="Straight Arrow Connector 15">
            <a:extLst>
              <a:ext uri="{FF2B5EF4-FFF2-40B4-BE49-F238E27FC236}">
                <a16:creationId xmlns:a16="http://schemas.microsoft.com/office/drawing/2014/main" id="{99961F31-45D0-88B2-2E63-A4AC7810D3C2}"/>
              </a:ext>
            </a:extLst>
          </p:cNvPr>
          <p:cNvCxnSpPr>
            <a:cxnSpLocks/>
          </p:cNvCxnSpPr>
          <p:nvPr/>
        </p:nvCxnSpPr>
        <p:spPr>
          <a:xfrm>
            <a:off x="5738580" y="1606976"/>
            <a:ext cx="0" cy="311484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F5C3448-A723-20D3-5118-48F8785C6F80}"/>
              </a:ext>
            </a:extLst>
          </p:cNvPr>
          <p:cNvSpPr txBox="1"/>
          <p:nvPr/>
        </p:nvSpPr>
        <p:spPr>
          <a:xfrm>
            <a:off x="4996011" y="1710007"/>
            <a:ext cx="842038" cy="646331"/>
          </a:xfrm>
          <a:prstGeom prst="rect">
            <a:avLst/>
          </a:prstGeom>
          <a:noFill/>
        </p:spPr>
        <p:txBody>
          <a:bodyPr wrap="square" rtlCol="0">
            <a:spAutoFit/>
          </a:bodyPr>
          <a:lstStyle/>
          <a:p>
            <a:r>
              <a:rPr lang="en-US">
                <a:solidFill>
                  <a:srgbClr val="0070C0"/>
                </a:solidFill>
              </a:rPr>
              <a:t>Cell</a:t>
            </a:r>
          </a:p>
          <a:p>
            <a:r>
              <a:rPr lang="en-US">
                <a:solidFill>
                  <a:srgbClr val="0070C0"/>
                </a:solidFill>
              </a:rPr>
              <a:t>Height</a:t>
            </a:r>
          </a:p>
        </p:txBody>
      </p:sp>
      <p:cxnSp>
        <p:nvCxnSpPr>
          <p:cNvPr id="23" name="Straight Arrow Connector 22">
            <a:extLst>
              <a:ext uri="{FF2B5EF4-FFF2-40B4-BE49-F238E27FC236}">
                <a16:creationId xmlns:a16="http://schemas.microsoft.com/office/drawing/2014/main" id="{2532838A-D79B-DC9E-9D2D-33807EEA3F34}"/>
              </a:ext>
            </a:extLst>
          </p:cNvPr>
          <p:cNvCxnSpPr>
            <a:cxnSpLocks/>
          </p:cNvCxnSpPr>
          <p:nvPr/>
        </p:nvCxnSpPr>
        <p:spPr>
          <a:xfrm>
            <a:off x="8214991" y="1623091"/>
            <a:ext cx="0" cy="263725"/>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B7A93EE-8029-75DD-2D62-1AFD5D41317A}"/>
              </a:ext>
            </a:extLst>
          </p:cNvPr>
          <p:cNvSpPr txBox="1"/>
          <p:nvPr/>
        </p:nvSpPr>
        <p:spPr>
          <a:xfrm>
            <a:off x="7749380" y="1631634"/>
            <a:ext cx="532521" cy="276999"/>
          </a:xfrm>
          <a:prstGeom prst="rect">
            <a:avLst/>
          </a:prstGeom>
          <a:noFill/>
        </p:spPr>
        <p:txBody>
          <a:bodyPr wrap="square" lIns="91440" tIns="45720" rIns="91440" bIns="45720" rtlCol="0" anchor="t">
            <a:spAutoFit/>
          </a:bodyPr>
          <a:lstStyle/>
          <a:p>
            <a:r>
              <a:rPr lang="en-US" sz="1200">
                <a:solidFill>
                  <a:srgbClr val="0070C0"/>
                </a:solidFill>
              </a:rPr>
              <a:t>7nm</a:t>
            </a:r>
          </a:p>
        </p:txBody>
      </p:sp>
      <p:cxnSp>
        <p:nvCxnSpPr>
          <p:cNvPr id="27" name="Straight Arrow Connector 26">
            <a:extLst>
              <a:ext uri="{FF2B5EF4-FFF2-40B4-BE49-F238E27FC236}">
                <a16:creationId xmlns:a16="http://schemas.microsoft.com/office/drawing/2014/main" id="{64C0675F-FD4B-53A2-218B-39736959CEA3}"/>
              </a:ext>
            </a:extLst>
          </p:cNvPr>
          <p:cNvCxnSpPr>
            <a:cxnSpLocks/>
          </p:cNvCxnSpPr>
          <p:nvPr/>
        </p:nvCxnSpPr>
        <p:spPr>
          <a:xfrm>
            <a:off x="8047372" y="2934145"/>
            <a:ext cx="0" cy="46706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B912E42-D01C-6D42-7182-C8DC6D68F3CA}"/>
              </a:ext>
            </a:extLst>
          </p:cNvPr>
          <p:cNvCxnSpPr>
            <a:cxnSpLocks/>
          </p:cNvCxnSpPr>
          <p:nvPr/>
        </p:nvCxnSpPr>
        <p:spPr>
          <a:xfrm>
            <a:off x="5688346" y="4740288"/>
            <a:ext cx="4672584"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ADD65AD-0B44-9988-FF5C-2ECE996FBDDE}"/>
              </a:ext>
            </a:extLst>
          </p:cNvPr>
          <p:cNvCxnSpPr>
            <a:cxnSpLocks/>
          </p:cNvCxnSpPr>
          <p:nvPr/>
        </p:nvCxnSpPr>
        <p:spPr>
          <a:xfrm>
            <a:off x="5740725" y="1595383"/>
            <a:ext cx="4672584" cy="0"/>
          </a:xfrm>
          <a:prstGeom prst="line">
            <a:avLst/>
          </a:prstGeom>
          <a:ln w="22225">
            <a:prstDash val="sysDash"/>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A2084B28-78A9-DD0D-A814-B6F7B60688A4}"/>
              </a:ext>
            </a:extLst>
          </p:cNvPr>
          <p:cNvSpPr/>
          <p:nvPr/>
        </p:nvSpPr>
        <p:spPr>
          <a:xfrm>
            <a:off x="7853985" y="3415322"/>
            <a:ext cx="386773" cy="108807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158AA28-67ED-2D85-F000-579765CA23A4}"/>
              </a:ext>
            </a:extLst>
          </p:cNvPr>
          <p:cNvSpPr/>
          <p:nvPr/>
        </p:nvSpPr>
        <p:spPr>
          <a:xfrm>
            <a:off x="7853985" y="1820977"/>
            <a:ext cx="386773" cy="112096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AD942C6-47B6-E964-D725-6E9A33FE140B}"/>
              </a:ext>
            </a:extLst>
          </p:cNvPr>
          <p:cNvSpPr txBox="1"/>
          <p:nvPr/>
        </p:nvSpPr>
        <p:spPr>
          <a:xfrm>
            <a:off x="7524352" y="2964114"/>
            <a:ext cx="620587" cy="276999"/>
          </a:xfrm>
          <a:prstGeom prst="rect">
            <a:avLst/>
          </a:prstGeom>
          <a:noFill/>
        </p:spPr>
        <p:txBody>
          <a:bodyPr wrap="square" rtlCol="0">
            <a:spAutoFit/>
          </a:bodyPr>
          <a:lstStyle>
            <a:defPPr>
              <a:defRPr lang="en-US"/>
            </a:defPPr>
            <a:lvl1pPr>
              <a:defRPr sz="1200">
                <a:solidFill>
                  <a:srgbClr val="0070C0"/>
                </a:solidFill>
              </a:defRPr>
            </a:lvl1pPr>
          </a:lstStyle>
          <a:p>
            <a:r>
              <a:rPr lang="en-US"/>
              <a:t>14 nm</a:t>
            </a:r>
          </a:p>
        </p:txBody>
      </p:sp>
      <p:sp>
        <p:nvSpPr>
          <p:cNvPr id="51" name="Rectangle 50">
            <a:extLst>
              <a:ext uri="{FF2B5EF4-FFF2-40B4-BE49-F238E27FC236}">
                <a16:creationId xmlns:a16="http://schemas.microsoft.com/office/drawing/2014/main" id="{D4DF7F18-22E5-9645-4BC1-9132A7715618}"/>
              </a:ext>
            </a:extLst>
          </p:cNvPr>
          <p:cNvSpPr/>
          <p:nvPr/>
        </p:nvSpPr>
        <p:spPr>
          <a:xfrm>
            <a:off x="6732161" y="1820977"/>
            <a:ext cx="386773" cy="267566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F394B9F-CE2A-F80A-AA33-FD77A470DA28}"/>
              </a:ext>
            </a:extLst>
          </p:cNvPr>
          <p:cNvSpPr/>
          <p:nvPr/>
        </p:nvSpPr>
        <p:spPr>
          <a:xfrm>
            <a:off x="8988256" y="1820977"/>
            <a:ext cx="386773" cy="2682419"/>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EC927465-D1E7-AEC8-5054-6BD7B6B4F57F}"/>
              </a:ext>
            </a:extLst>
          </p:cNvPr>
          <p:cNvSpPr/>
          <p:nvPr/>
        </p:nvSpPr>
        <p:spPr>
          <a:xfrm>
            <a:off x="6172221" y="5517646"/>
            <a:ext cx="425450" cy="49771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4038F50-1C52-889E-3334-C450C809461C}"/>
              </a:ext>
            </a:extLst>
          </p:cNvPr>
          <p:cNvSpPr txBox="1"/>
          <p:nvPr/>
        </p:nvSpPr>
        <p:spPr>
          <a:xfrm>
            <a:off x="6096000" y="6018026"/>
            <a:ext cx="636161" cy="369332"/>
          </a:xfrm>
          <a:prstGeom prst="rect">
            <a:avLst/>
          </a:prstGeom>
          <a:noFill/>
        </p:spPr>
        <p:txBody>
          <a:bodyPr wrap="square" rtlCol="0">
            <a:spAutoFit/>
          </a:bodyPr>
          <a:lstStyle/>
          <a:p>
            <a:r>
              <a:rPr lang="en-US">
                <a:solidFill>
                  <a:srgbClr val="0070C0"/>
                </a:solidFill>
              </a:rPr>
              <a:t>poly</a:t>
            </a:r>
          </a:p>
        </p:txBody>
      </p:sp>
      <p:sp>
        <p:nvSpPr>
          <p:cNvPr id="55" name="Rectangle 54">
            <a:extLst>
              <a:ext uri="{FF2B5EF4-FFF2-40B4-BE49-F238E27FC236}">
                <a16:creationId xmlns:a16="http://schemas.microsoft.com/office/drawing/2014/main" id="{DF34CF1A-7B49-E4CB-8343-1CF6840D37EF}"/>
              </a:ext>
            </a:extLst>
          </p:cNvPr>
          <p:cNvSpPr/>
          <p:nvPr/>
        </p:nvSpPr>
        <p:spPr>
          <a:xfrm>
            <a:off x="7081797" y="5526484"/>
            <a:ext cx="43896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6" name="TextBox 55">
            <a:extLst>
              <a:ext uri="{FF2B5EF4-FFF2-40B4-BE49-F238E27FC236}">
                <a16:creationId xmlns:a16="http://schemas.microsoft.com/office/drawing/2014/main" id="{EE4989F1-7E4D-DBA4-1AB7-7E6A4B02431E}"/>
              </a:ext>
            </a:extLst>
          </p:cNvPr>
          <p:cNvSpPr txBox="1"/>
          <p:nvPr/>
        </p:nvSpPr>
        <p:spPr>
          <a:xfrm>
            <a:off x="7000010" y="5981704"/>
            <a:ext cx="749370" cy="369332"/>
          </a:xfrm>
          <a:prstGeom prst="rect">
            <a:avLst/>
          </a:prstGeom>
          <a:noFill/>
        </p:spPr>
        <p:txBody>
          <a:bodyPr wrap="square" rtlCol="0">
            <a:spAutoFit/>
          </a:bodyPr>
          <a:lstStyle/>
          <a:p>
            <a:r>
              <a:rPr lang="en-US" err="1">
                <a:solidFill>
                  <a:srgbClr val="0070C0"/>
                </a:solidFill>
              </a:rPr>
              <a:t>trm</a:t>
            </a:r>
            <a:endParaRPr lang="en-US">
              <a:solidFill>
                <a:srgbClr val="0070C0"/>
              </a:solidFill>
            </a:endParaRPr>
          </a:p>
        </p:txBody>
      </p:sp>
      <p:sp>
        <p:nvSpPr>
          <p:cNvPr id="61" name="Rectangle 60">
            <a:extLst>
              <a:ext uri="{FF2B5EF4-FFF2-40B4-BE49-F238E27FC236}">
                <a16:creationId xmlns:a16="http://schemas.microsoft.com/office/drawing/2014/main" id="{EC05A45C-EBB2-0926-E303-106E0C8801CB}"/>
              </a:ext>
            </a:extLst>
          </p:cNvPr>
          <p:cNvSpPr/>
          <p:nvPr/>
        </p:nvSpPr>
        <p:spPr>
          <a:xfrm>
            <a:off x="8069176" y="5501968"/>
            <a:ext cx="425450" cy="497715"/>
          </a:xfrm>
          <a:prstGeom prst="rect">
            <a:avLst/>
          </a:prstGeom>
          <a:solidFill>
            <a:schemeClr val="accent3">
              <a:lumMod val="20000"/>
              <a:lumOff val="80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CD78A3AB-AEC2-3E56-DEC7-C4AD2AD7072E}"/>
              </a:ext>
            </a:extLst>
          </p:cNvPr>
          <p:cNvSpPr txBox="1"/>
          <p:nvPr/>
        </p:nvSpPr>
        <p:spPr>
          <a:xfrm>
            <a:off x="8015640" y="5981704"/>
            <a:ext cx="636161" cy="369332"/>
          </a:xfrm>
          <a:prstGeom prst="rect">
            <a:avLst/>
          </a:prstGeom>
          <a:noFill/>
        </p:spPr>
        <p:txBody>
          <a:bodyPr wrap="square" rtlCol="0">
            <a:spAutoFit/>
          </a:bodyPr>
          <a:lstStyle/>
          <a:p>
            <a:r>
              <a:rPr lang="en-US" err="1">
                <a:solidFill>
                  <a:srgbClr val="0070C0"/>
                </a:solidFill>
              </a:rPr>
              <a:t>glk</a:t>
            </a:r>
            <a:endParaRPr lang="en-US">
              <a:solidFill>
                <a:srgbClr val="0070C0"/>
              </a:solidFill>
            </a:endParaRPr>
          </a:p>
        </p:txBody>
      </p:sp>
      <p:sp>
        <p:nvSpPr>
          <p:cNvPr id="63" name="Rectangle 62">
            <a:extLst>
              <a:ext uri="{FF2B5EF4-FFF2-40B4-BE49-F238E27FC236}">
                <a16:creationId xmlns:a16="http://schemas.microsoft.com/office/drawing/2014/main" id="{9820DF3C-7845-CBE5-5AE2-FF9AB71FC4BF}"/>
              </a:ext>
            </a:extLst>
          </p:cNvPr>
          <p:cNvSpPr/>
          <p:nvPr/>
        </p:nvSpPr>
        <p:spPr>
          <a:xfrm>
            <a:off x="6725243" y="2950375"/>
            <a:ext cx="401585" cy="464945"/>
          </a:xfrm>
          <a:prstGeom prst="rect">
            <a:avLst/>
          </a:prstGeom>
          <a:solidFill>
            <a:schemeClr val="accent3">
              <a:lumMod val="20000"/>
              <a:lumOff val="80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204A9DCF-A3F5-6539-2272-137EF2AEEDD4}"/>
              </a:ext>
            </a:extLst>
          </p:cNvPr>
          <p:cNvSpPr/>
          <p:nvPr/>
        </p:nvSpPr>
        <p:spPr>
          <a:xfrm>
            <a:off x="8984420" y="2941944"/>
            <a:ext cx="401585" cy="464945"/>
          </a:xfrm>
          <a:prstGeom prst="rect">
            <a:avLst/>
          </a:prstGeom>
          <a:solidFill>
            <a:schemeClr val="accent3">
              <a:lumMod val="20000"/>
              <a:lumOff val="80000"/>
              <a:alpha val="6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0550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C202D-1380-1C6B-E71A-FEC02FECE724}"/>
            </a:ext>
          </a:extLst>
        </p:cNvPr>
        <p:cNvGrpSpPr/>
        <p:nvPr/>
      </p:nvGrpSpPr>
      <p:grpSpPr>
        <a:xfrm>
          <a:off x="0" y="0"/>
          <a:ext cx="0" cy="0"/>
          <a:chOff x="0" y="0"/>
          <a:chExt cx="0" cy="0"/>
        </a:xfrm>
      </p:grpSpPr>
      <p:sp>
        <p:nvSpPr>
          <p:cNvPr id="67" name="Title 2">
            <a:extLst>
              <a:ext uri="{FF2B5EF4-FFF2-40B4-BE49-F238E27FC236}">
                <a16:creationId xmlns:a16="http://schemas.microsoft.com/office/drawing/2014/main" id="{A8092D2B-59E4-8133-ECA8-34DF106DD1CC}"/>
              </a:ext>
            </a:extLst>
          </p:cNvPr>
          <p:cNvSpPr txBox="1">
            <a:spLocks/>
          </p:cNvSpPr>
          <p:nvPr/>
        </p:nvSpPr>
        <p:spPr>
          <a:xfrm>
            <a:off x="200254"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ea typeface="+mj-ea"/>
                <a:cs typeface="+mj-cs"/>
              </a:rPr>
              <a:t>Poly Restrictions</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sp>
        <p:nvSpPr>
          <p:cNvPr id="68" name="TextBox 67">
            <a:extLst>
              <a:ext uri="{FF2B5EF4-FFF2-40B4-BE49-F238E27FC236}">
                <a16:creationId xmlns:a16="http://schemas.microsoft.com/office/drawing/2014/main" id="{0C4D56F9-A6FB-9961-AB1B-38FD45B2D183}"/>
              </a:ext>
            </a:extLst>
          </p:cNvPr>
          <p:cNvSpPr txBox="1"/>
          <p:nvPr/>
        </p:nvSpPr>
        <p:spPr>
          <a:xfrm>
            <a:off x="287125" y="817765"/>
            <a:ext cx="10623165" cy="2251065"/>
          </a:xfrm>
          <a:prstGeom prst="rect">
            <a:avLst/>
          </a:prstGeom>
          <a:noFill/>
        </p:spPr>
        <p:txBody>
          <a:bodyPr wrap="none" rtlCol="0">
            <a:spAutoFit/>
          </a:bodyPr>
          <a:lstStyle>
            <a:defPPr>
              <a:defRPr lang="en-US"/>
            </a:defPPr>
            <a:lvl1pPr marL="285750" indent="-285750">
              <a:buFont typeface="Wingdings" panose="05000000000000000000" pitchFamily="2" charset="2"/>
              <a:buChar char="q"/>
              <a:defRPr sz="2400"/>
            </a:lvl1p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General poly length must be under 2 cell height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err="1">
                <a:ln>
                  <a:noFill/>
                </a:ln>
                <a:solidFill>
                  <a:prstClr val="black"/>
                </a:solidFill>
                <a:effectLst/>
                <a:uLnTx/>
                <a:uFillTx/>
                <a:latin typeface="Calibri" panose="020F0502020204030204"/>
              </a:rPr>
              <a:t>poly;drawing</a:t>
            </a:r>
            <a:r>
              <a:rPr kumimoji="0" lang="en-US" sz="2400" b="0" i="0" u="none" strike="noStrike" kern="1200" cap="none" spc="0" normalizeH="0" baseline="0" noProof="0">
                <a:ln>
                  <a:noFill/>
                </a:ln>
                <a:solidFill>
                  <a:prstClr val="black"/>
                </a:solidFill>
                <a:effectLst/>
                <a:uLnTx/>
                <a:uFillTx/>
                <a:latin typeface="Calibri" panose="020F0502020204030204"/>
              </a:rPr>
              <a:t> must not cross CRL if there is an </a:t>
            </a:r>
            <a:r>
              <a:rPr kumimoji="0" lang="en-US" sz="2400" b="0" i="0" u="none" strike="noStrike" kern="1200" cap="none" spc="0" normalizeH="0" baseline="0" noProof="0" err="1">
                <a:ln>
                  <a:noFill/>
                </a:ln>
                <a:solidFill>
                  <a:prstClr val="black"/>
                </a:solidFill>
                <a:effectLst/>
                <a:uLnTx/>
                <a:uFillTx/>
                <a:latin typeface="Calibri" panose="020F0502020204030204"/>
              </a:rPr>
              <a:t>sdGen</a:t>
            </a:r>
            <a:r>
              <a:rPr kumimoji="0" lang="en-US" sz="2400" b="0" i="0" u="none" strike="noStrike" kern="1200" cap="none" spc="0" normalizeH="0" baseline="0" noProof="0">
                <a:ln>
                  <a:noFill/>
                </a:ln>
                <a:solidFill>
                  <a:prstClr val="black"/>
                </a:solidFill>
                <a:effectLst/>
                <a:uLnTx/>
                <a:uFillTx/>
                <a:latin typeface="Calibri" panose="020F0502020204030204"/>
              </a:rPr>
              <a:t> edge at that CRL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a:solidFill>
                  <a:prstClr val="black"/>
                </a:solidFill>
                <a:latin typeface="Calibri" panose="020F0502020204030204"/>
              </a:rPr>
              <a:t> </a:t>
            </a:r>
            <a:r>
              <a:rPr lang="en-US" err="1">
                <a:solidFill>
                  <a:prstClr val="black"/>
                </a:solidFill>
                <a:latin typeface="Calibri" panose="020F0502020204030204"/>
              </a:rPr>
              <a:t>poly;drawing</a:t>
            </a:r>
            <a:r>
              <a:rPr lang="en-US">
                <a:solidFill>
                  <a:prstClr val="black"/>
                </a:solidFill>
                <a:latin typeface="Calibri" panose="020F0502020204030204"/>
              </a:rPr>
              <a:t> must not cross CRL if there is a </a:t>
            </a:r>
            <a:r>
              <a:rPr lang="en-US" err="1">
                <a:solidFill>
                  <a:prstClr val="black"/>
                </a:solidFill>
                <a:latin typeface="Calibri" panose="020F0502020204030204"/>
              </a:rPr>
              <a:t>vt</a:t>
            </a:r>
            <a:r>
              <a:rPr lang="en-US">
                <a:solidFill>
                  <a:prstClr val="black"/>
                </a:solidFill>
                <a:latin typeface="Calibri" panose="020F0502020204030204"/>
              </a:rPr>
              <a:t> change at that CRL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Maximum number of consecutive poly with maximum length must be less than 2</a:t>
            </a:r>
          </a:p>
        </p:txBody>
      </p:sp>
      <p:sp>
        <p:nvSpPr>
          <p:cNvPr id="3" name="Rectangle 2">
            <a:extLst>
              <a:ext uri="{FF2B5EF4-FFF2-40B4-BE49-F238E27FC236}">
                <a16:creationId xmlns:a16="http://schemas.microsoft.com/office/drawing/2014/main" id="{A9D6AEDC-7A7A-6325-00DF-1243FB0A3F52}"/>
              </a:ext>
            </a:extLst>
          </p:cNvPr>
          <p:cNvSpPr/>
          <p:nvPr/>
        </p:nvSpPr>
        <p:spPr>
          <a:xfrm>
            <a:off x="956175" y="4438547"/>
            <a:ext cx="853677" cy="663791"/>
          </a:xfrm>
          <a:prstGeom prst="rect">
            <a:avLst/>
          </a:prstGeom>
          <a:solidFill>
            <a:schemeClr val="accent6">
              <a:alpha val="2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400"/>
          </a:p>
        </p:txBody>
      </p:sp>
      <p:sp>
        <p:nvSpPr>
          <p:cNvPr id="4" name="Rectangle 3">
            <a:extLst>
              <a:ext uri="{FF2B5EF4-FFF2-40B4-BE49-F238E27FC236}">
                <a16:creationId xmlns:a16="http://schemas.microsoft.com/office/drawing/2014/main" id="{6289B5C5-C532-3ADA-4D1C-72A8D3DB8BAC}"/>
              </a:ext>
            </a:extLst>
          </p:cNvPr>
          <p:cNvSpPr/>
          <p:nvPr/>
        </p:nvSpPr>
        <p:spPr>
          <a:xfrm>
            <a:off x="1081687" y="4507281"/>
            <a:ext cx="119369" cy="118022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 name="Rectangle 4">
            <a:extLst>
              <a:ext uri="{FF2B5EF4-FFF2-40B4-BE49-F238E27FC236}">
                <a16:creationId xmlns:a16="http://schemas.microsoft.com/office/drawing/2014/main" id="{D59FC474-AFDA-B7BB-3912-75EEAF71503A}"/>
              </a:ext>
            </a:extLst>
          </p:cNvPr>
          <p:cNvSpPr/>
          <p:nvPr/>
        </p:nvSpPr>
        <p:spPr>
          <a:xfrm>
            <a:off x="1525015" y="4518466"/>
            <a:ext cx="119369" cy="510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 name="TextBox 5">
            <a:extLst>
              <a:ext uri="{FF2B5EF4-FFF2-40B4-BE49-F238E27FC236}">
                <a16:creationId xmlns:a16="http://schemas.microsoft.com/office/drawing/2014/main" id="{7841230F-6991-CB03-82FF-8E5594237626}"/>
              </a:ext>
            </a:extLst>
          </p:cNvPr>
          <p:cNvSpPr txBox="1"/>
          <p:nvPr/>
        </p:nvSpPr>
        <p:spPr>
          <a:xfrm>
            <a:off x="310669" y="4017779"/>
            <a:ext cx="492443" cy="237227"/>
          </a:xfrm>
          <a:prstGeom prst="rect">
            <a:avLst/>
          </a:prstGeom>
          <a:noFill/>
        </p:spPr>
        <p:txBody>
          <a:bodyPr wrap="none" rtlCol="0">
            <a:spAutoFit/>
          </a:bodyPr>
          <a:lstStyle/>
          <a:p>
            <a:r>
              <a:rPr lang="en-US" sz="1400"/>
              <a:t>DKA</a:t>
            </a:r>
          </a:p>
        </p:txBody>
      </p:sp>
      <p:sp>
        <p:nvSpPr>
          <p:cNvPr id="7" name="TextBox 6">
            <a:extLst>
              <a:ext uri="{FF2B5EF4-FFF2-40B4-BE49-F238E27FC236}">
                <a16:creationId xmlns:a16="http://schemas.microsoft.com/office/drawing/2014/main" id="{FF84D76E-1ECC-928F-BE0F-18172A19887D}"/>
              </a:ext>
            </a:extLst>
          </p:cNvPr>
          <p:cNvSpPr txBox="1"/>
          <p:nvPr/>
        </p:nvSpPr>
        <p:spPr>
          <a:xfrm>
            <a:off x="310669" y="3659116"/>
            <a:ext cx="453970" cy="237227"/>
          </a:xfrm>
          <a:prstGeom prst="rect">
            <a:avLst/>
          </a:prstGeom>
          <a:noFill/>
        </p:spPr>
        <p:txBody>
          <a:bodyPr wrap="none" rtlCol="0">
            <a:spAutoFit/>
          </a:bodyPr>
          <a:lstStyle/>
          <a:p>
            <a:r>
              <a:rPr lang="en-US" sz="1400"/>
              <a:t>CRL</a:t>
            </a:r>
          </a:p>
        </p:txBody>
      </p:sp>
      <p:grpSp>
        <p:nvGrpSpPr>
          <p:cNvPr id="8" name="Group 7">
            <a:extLst>
              <a:ext uri="{FF2B5EF4-FFF2-40B4-BE49-F238E27FC236}">
                <a16:creationId xmlns:a16="http://schemas.microsoft.com/office/drawing/2014/main" id="{3F2F381C-2E1E-74FA-6AF4-70758E1D3C67}"/>
              </a:ext>
            </a:extLst>
          </p:cNvPr>
          <p:cNvGrpSpPr/>
          <p:nvPr/>
        </p:nvGrpSpPr>
        <p:grpSpPr>
          <a:xfrm>
            <a:off x="993222" y="3775473"/>
            <a:ext cx="8142804" cy="2637470"/>
            <a:chOff x="883493" y="3717125"/>
            <a:chExt cx="13411327" cy="2637470"/>
          </a:xfrm>
        </p:grpSpPr>
        <p:grpSp>
          <p:nvGrpSpPr>
            <p:cNvPr id="9" name="Group 8">
              <a:extLst>
                <a:ext uri="{FF2B5EF4-FFF2-40B4-BE49-F238E27FC236}">
                  <a16:creationId xmlns:a16="http://schemas.microsoft.com/office/drawing/2014/main" id="{58771F41-9D84-2358-9095-6818B1AB2DAE}"/>
                </a:ext>
              </a:extLst>
            </p:cNvPr>
            <p:cNvGrpSpPr/>
            <p:nvPr/>
          </p:nvGrpSpPr>
          <p:grpSpPr>
            <a:xfrm>
              <a:off x="891140" y="3717125"/>
              <a:ext cx="13403680" cy="1316366"/>
              <a:chOff x="3369655" y="3717125"/>
              <a:chExt cx="1708443" cy="1316366"/>
            </a:xfrm>
          </p:grpSpPr>
          <p:cxnSp>
            <p:nvCxnSpPr>
              <p:cNvPr id="16" name="Straight Connector 15">
                <a:extLst>
                  <a:ext uri="{FF2B5EF4-FFF2-40B4-BE49-F238E27FC236}">
                    <a16:creationId xmlns:a16="http://schemas.microsoft.com/office/drawing/2014/main" id="{93C8A19F-0479-13A5-BFC8-73FF4267DF3C}"/>
                  </a:ext>
                </a:extLst>
              </p:cNvPr>
              <p:cNvCxnSpPr/>
              <p:nvPr/>
            </p:nvCxnSpPr>
            <p:spPr>
              <a:xfrm>
                <a:off x="3369655" y="4375308"/>
                <a:ext cx="1708443"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3BA1FBA-8FEF-7938-21C5-664860BC5257}"/>
                  </a:ext>
                </a:extLst>
              </p:cNvPr>
              <p:cNvCxnSpPr>
                <a:cxnSpLocks/>
              </p:cNvCxnSpPr>
              <p:nvPr/>
            </p:nvCxnSpPr>
            <p:spPr>
              <a:xfrm>
                <a:off x="3369655" y="4046216"/>
                <a:ext cx="17074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54758A-F4F4-2667-3B29-7D69902528B8}"/>
                  </a:ext>
                </a:extLst>
              </p:cNvPr>
              <p:cNvCxnSpPr>
                <a:cxnSpLocks/>
              </p:cNvCxnSpPr>
              <p:nvPr/>
            </p:nvCxnSpPr>
            <p:spPr>
              <a:xfrm>
                <a:off x="3369655" y="4704399"/>
                <a:ext cx="170746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61FE8D5-EA0D-304A-7203-69B45CDFAF2A}"/>
                  </a:ext>
                </a:extLst>
              </p:cNvPr>
              <p:cNvCxnSpPr/>
              <p:nvPr/>
            </p:nvCxnSpPr>
            <p:spPr>
              <a:xfrm>
                <a:off x="3369655" y="5033491"/>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E00F592-0A53-0D32-A4E2-048271631086}"/>
                  </a:ext>
                </a:extLst>
              </p:cNvPr>
              <p:cNvCxnSpPr/>
              <p:nvPr/>
            </p:nvCxnSpPr>
            <p:spPr>
              <a:xfrm>
                <a:off x="3369655" y="3717125"/>
                <a:ext cx="1708443"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F6C35B2-BD3D-9434-4E38-FED8A9AC41E6}"/>
                </a:ext>
              </a:extLst>
            </p:cNvPr>
            <p:cNvGrpSpPr/>
            <p:nvPr/>
          </p:nvGrpSpPr>
          <p:grpSpPr>
            <a:xfrm>
              <a:off x="883493" y="5038229"/>
              <a:ext cx="13403680" cy="1316366"/>
              <a:chOff x="3369655" y="3717125"/>
              <a:chExt cx="1708443" cy="1316366"/>
            </a:xfrm>
          </p:grpSpPr>
          <p:cxnSp>
            <p:nvCxnSpPr>
              <p:cNvPr id="11" name="Straight Connector 10">
                <a:extLst>
                  <a:ext uri="{FF2B5EF4-FFF2-40B4-BE49-F238E27FC236}">
                    <a16:creationId xmlns:a16="http://schemas.microsoft.com/office/drawing/2014/main" id="{1FDED8B4-B87A-E60B-82FA-A6346D62013E}"/>
                  </a:ext>
                </a:extLst>
              </p:cNvPr>
              <p:cNvCxnSpPr/>
              <p:nvPr/>
            </p:nvCxnSpPr>
            <p:spPr>
              <a:xfrm>
                <a:off x="3369655" y="4375308"/>
                <a:ext cx="1708443"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7085F0C-72C8-A08C-FB11-CF7F0EC2E0DA}"/>
                  </a:ext>
                </a:extLst>
              </p:cNvPr>
              <p:cNvCxnSpPr>
                <a:cxnSpLocks/>
              </p:cNvCxnSpPr>
              <p:nvPr/>
            </p:nvCxnSpPr>
            <p:spPr>
              <a:xfrm>
                <a:off x="3369655" y="4046216"/>
                <a:ext cx="17084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62D8A59-3735-55A4-ED73-081A546ACC1D}"/>
                  </a:ext>
                </a:extLst>
              </p:cNvPr>
              <p:cNvCxnSpPr>
                <a:cxnSpLocks/>
              </p:cNvCxnSpPr>
              <p:nvPr/>
            </p:nvCxnSpPr>
            <p:spPr>
              <a:xfrm>
                <a:off x="3369655" y="4704399"/>
                <a:ext cx="108406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E3D3EA-338C-D3DB-2F4D-514F9CCBAF86}"/>
                  </a:ext>
                </a:extLst>
              </p:cNvPr>
              <p:cNvCxnSpPr/>
              <p:nvPr/>
            </p:nvCxnSpPr>
            <p:spPr>
              <a:xfrm>
                <a:off x="3369655" y="5033491"/>
                <a:ext cx="1708443"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72E0A7-3BF8-907E-9F8B-7181CD38D376}"/>
                  </a:ext>
                </a:extLst>
              </p:cNvPr>
              <p:cNvCxnSpPr/>
              <p:nvPr/>
            </p:nvCxnSpPr>
            <p:spPr>
              <a:xfrm>
                <a:off x="3369655" y="3717125"/>
                <a:ext cx="1708443"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sp>
        <p:nvSpPr>
          <p:cNvPr id="23" name="Rectangle 22">
            <a:extLst>
              <a:ext uri="{FF2B5EF4-FFF2-40B4-BE49-F238E27FC236}">
                <a16:creationId xmlns:a16="http://schemas.microsoft.com/office/drawing/2014/main" id="{A3A4877E-BB32-B0F3-B158-948377FF8D69}"/>
              </a:ext>
            </a:extLst>
          </p:cNvPr>
          <p:cNvSpPr/>
          <p:nvPr/>
        </p:nvSpPr>
        <p:spPr>
          <a:xfrm>
            <a:off x="4145872" y="4105506"/>
            <a:ext cx="1422847" cy="326897"/>
          </a:xfrm>
          <a:prstGeom prst="rect">
            <a:avLst/>
          </a:prstGeom>
          <a:solidFill>
            <a:srgbClr val="FFE699">
              <a:alpha val="58039"/>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24" name="Rectangle 23">
            <a:extLst>
              <a:ext uri="{FF2B5EF4-FFF2-40B4-BE49-F238E27FC236}">
                <a16:creationId xmlns:a16="http://schemas.microsoft.com/office/drawing/2014/main" id="{C1D14E39-199E-0928-0F62-1C846CD99E42}"/>
              </a:ext>
            </a:extLst>
          </p:cNvPr>
          <p:cNvSpPr/>
          <p:nvPr/>
        </p:nvSpPr>
        <p:spPr>
          <a:xfrm>
            <a:off x="4145872" y="4434910"/>
            <a:ext cx="1422847" cy="337892"/>
          </a:xfrm>
          <a:prstGeom prst="rect">
            <a:avLst/>
          </a:prstGeom>
          <a:solidFill>
            <a:srgbClr val="F4B183">
              <a:alpha val="56863"/>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NLVT</a:t>
            </a:r>
          </a:p>
        </p:txBody>
      </p:sp>
      <p:sp>
        <p:nvSpPr>
          <p:cNvPr id="25" name="Rectangle 24">
            <a:extLst>
              <a:ext uri="{FF2B5EF4-FFF2-40B4-BE49-F238E27FC236}">
                <a16:creationId xmlns:a16="http://schemas.microsoft.com/office/drawing/2014/main" id="{4DC04A4B-2574-7379-0B9A-805AE4FFFFD6}"/>
              </a:ext>
            </a:extLst>
          </p:cNvPr>
          <p:cNvSpPr/>
          <p:nvPr/>
        </p:nvSpPr>
        <p:spPr>
          <a:xfrm>
            <a:off x="4355631" y="3872124"/>
            <a:ext cx="119369" cy="118022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 name="TextBox 25">
            <a:extLst>
              <a:ext uri="{FF2B5EF4-FFF2-40B4-BE49-F238E27FC236}">
                <a16:creationId xmlns:a16="http://schemas.microsoft.com/office/drawing/2014/main" id="{F2DE3A4C-3E95-D317-331B-8E9B75137E7F}"/>
              </a:ext>
            </a:extLst>
          </p:cNvPr>
          <p:cNvSpPr txBox="1"/>
          <p:nvPr/>
        </p:nvSpPr>
        <p:spPr>
          <a:xfrm>
            <a:off x="4248764" y="3185152"/>
            <a:ext cx="342943" cy="523220"/>
          </a:xfrm>
          <a:prstGeom prst="rect">
            <a:avLst/>
          </a:prstGeom>
          <a:noFill/>
        </p:spPr>
        <p:txBody>
          <a:bodyPr wrap="square" rtlCol="0">
            <a:spAutoFit/>
          </a:bodyPr>
          <a:lstStyle/>
          <a:p>
            <a:r>
              <a:rPr lang="en-US" sz="2800">
                <a:solidFill>
                  <a:srgbClr val="FF0000"/>
                </a:solidFill>
              </a:rPr>
              <a:t>X</a:t>
            </a:r>
          </a:p>
        </p:txBody>
      </p:sp>
      <p:sp>
        <p:nvSpPr>
          <p:cNvPr id="27" name="Rectangle 26">
            <a:extLst>
              <a:ext uri="{FF2B5EF4-FFF2-40B4-BE49-F238E27FC236}">
                <a16:creationId xmlns:a16="http://schemas.microsoft.com/office/drawing/2014/main" id="{49360A3E-3A78-1AD0-61A6-879391FE04E5}"/>
              </a:ext>
            </a:extLst>
          </p:cNvPr>
          <p:cNvSpPr/>
          <p:nvPr/>
        </p:nvSpPr>
        <p:spPr>
          <a:xfrm>
            <a:off x="4227483" y="5420354"/>
            <a:ext cx="838266" cy="658169"/>
          </a:xfrm>
          <a:prstGeom prst="rect">
            <a:avLst/>
          </a:prstGeom>
          <a:solidFill>
            <a:srgbClr val="FFE699">
              <a:alpha val="5882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28" name="Rectangle 27">
            <a:extLst>
              <a:ext uri="{FF2B5EF4-FFF2-40B4-BE49-F238E27FC236}">
                <a16:creationId xmlns:a16="http://schemas.microsoft.com/office/drawing/2014/main" id="{1A07DB39-C1AF-EB03-CBFA-4D1F1236A234}"/>
              </a:ext>
            </a:extLst>
          </p:cNvPr>
          <p:cNvSpPr/>
          <p:nvPr/>
        </p:nvSpPr>
        <p:spPr>
          <a:xfrm>
            <a:off x="4227483" y="6077526"/>
            <a:ext cx="838266" cy="658169"/>
          </a:xfrm>
          <a:prstGeom prst="rect">
            <a:avLst/>
          </a:prstGeom>
          <a:solidFill>
            <a:schemeClr val="accent1">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PSVT</a:t>
            </a:r>
          </a:p>
        </p:txBody>
      </p:sp>
      <p:sp>
        <p:nvSpPr>
          <p:cNvPr id="29" name="Rectangle 28">
            <a:extLst>
              <a:ext uri="{FF2B5EF4-FFF2-40B4-BE49-F238E27FC236}">
                <a16:creationId xmlns:a16="http://schemas.microsoft.com/office/drawing/2014/main" id="{78187C2A-797F-A99B-A565-9990684837A7}"/>
              </a:ext>
            </a:extLst>
          </p:cNvPr>
          <p:cNvSpPr/>
          <p:nvPr/>
        </p:nvSpPr>
        <p:spPr>
          <a:xfrm>
            <a:off x="4437241" y="5499617"/>
            <a:ext cx="119369" cy="1180223"/>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3" name="Rectangle 32">
            <a:extLst>
              <a:ext uri="{FF2B5EF4-FFF2-40B4-BE49-F238E27FC236}">
                <a16:creationId xmlns:a16="http://schemas.microsoft.com/office/drawing/2014/main" id="{8A6DFD34-EFEB-A921-1538-84E943D0ABE2}"/>
              </a:ext>
            </a:extLst>
          </p:cNvPr>
          <p:cNvSpPr/>
          <p:nvPr/>
        </p:nvSpPr>
        <p:spPr>
          <a:xfrm>
            <a:off x="1525015" y="5176651"/>
            <a:ext cx="119369" cy="510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4" name="TextBox 33">
            <a:extLst>
              <a:ext uri="{FF2B5EF4-FFF2-40B4-BE49-F238E27FC236}">
                <a16:creationId xmlns:a16="http://schemas.microsoft.com/office/drawing/2014/main" id="{ACF4BA9B-9355-496A-BA62-C1840B50E782}"/>
              </a:ext>
            </a:extLst>
          </p:cNvPr>
          <p:cNvSpPr txBox="1"/>
          <p:nvPr/>
        </p:nvSpPr>
        <p:spPr>
          <a:xfrm>
            <a:off x="869526" y="5628692"/>
            <a:ext cx="342943" cy="523220"/>
          </a:xfrm>
          <a:prstGeom prst="rect">
            <a:avLst/>
          </a:prstGeom>
          <a:noFill/>
        </p:spPr>
        <p:txBody>
          <a:bodyPr wrap="square" rtlCol="0">
            <a:spAutoFit/>
          </a:bodyPr>
          <a:lstStyle/>
          <a:p>
            <a:r>
              <a:rPr lang="en-US" sz="2800">
                <a:solidFill>
                  <a:srgbClr val="FF0000"/>
                </a:solidFill>
              </a:rPr>
              <a:t>X</a:t>
            </a:r>
          </a:p>
        </p:txBody>
      </p:sp>
      <p:sp>
        <p:nvSpPr>
          <p:cNvPr id="37" name="Rectangle 36">
            <a:extLst>
              <a:ext uri="{FF2B5EF4-FFF2-40B4-BE49-F238E27FC236}">
                <a16:creationId xmlns:a16="http://schemas.microsoft.com/office/drawing/2014/main" id="{40E54E62-1C8E-5DC8-75B4-A17350D5D52A}"/>
              </a:ext>
            </a:extLst>
          </p:cNvPr>
          <p:cNvSpPr/>
          <p:nvPr/>
        </p:nvSpPr>
        <p:spPr>
          <a:xfrm>
            <a:off x="2085845" y="4427799"/>
            <a:ext cx="602368" cy="992555"/>
          </a:xfrm>
          <a:prstGeom prst="rect">
            <a:avLst/>
          </a:prstGeom>
          <a:solidFill>
            <a:schemeClr val="accent6">
              <a:alpha val="2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400"/>
          </a:p>
        </p:txBody>
      </p:sp>
      <p:sp>
        <p:nvSpPr>
          <p:cNvPr id="38" name="Rectangle 37">
            <a:extLst>
              <a:ext uri="{FF2B5EF4-FFF2-40B4-BE49-F238E27FC236}">
                <a16:creationId xmlns:a16="http://schemas.microsoft.com/office/drawing/2014/main" id="{7264FBE9-42AF-2446-8597-02315CA05B70}"/>
              </a:ext>
            </a:extLst>
          </p:cNvPr>
          <p:cNvSpPr/>
          <p:nvPr/>
        </p:nvSpPr>
        <p:spPr>
          <a:xfrm>
            <a:off x="2388608" y="4500912"/>
            <a:ext cx="110819" cy="851787"/>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Rectangle 39">
            <a:extLst>
              <a:ext uri="{FF2B5EF4-FFF2-40B4-BE49-F238E27FC236}">
                <a16:creationId xmlns:a16="http://schemas.microsoft.com/office/drawing/2014/main" id="{5DB446B1-426B-C535-4CAD-00AE935993C0}"/>
              </a:ext>
            </a:extLst>
          </p:cNvPr>
          <p:cNvSpPr/>
          <p:nvPr/>
        </p:nvSpPr>
        <p:spPr>
          <a:xfrm>
            <a:off x="2935101" y="4762746"/>
            <a:ext cx="602368" cy="664079"/>
          </a:xfrm>
          <a:prstGeom prst="rect">
            <a:avLst/>
          </a:prstGeom>
          <a:solidFill>
            <a:schemeClr val="accent6">
              <a:alpha val="20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400"/>
          </a:p>
        </p:txBody>
      </p:sp>
      <p:sp>
        <p:nvSpPr>
          <p:cNvPr id="41" name="Rectangle 40">
            <a:extLst>
              <a:ext uri="{FF2B5EF4-FFF2-40B4-BE49-F238E27FC236}">
                <a16:creationId xmlns:a16="http://schemas.microsoft.com/office/drawing/2014/main" id="{CC62B467-DF44-58BF-0616-41CFA37A40F5}"/>
              </a:ext>
            </a:extLst>
          </p:cNvPr>
          <p:cNvSpPr/>
          <p:nvPr/>
        </p:nvSpPr>
        <p:spPr>
          <a:xfrm>
            <a:off x="3179897" y="4500913"/>
            <a:ext cx="110819" cy="858658"/>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6" name="Rectangle 45">
            <a:extLst>
              <a:ext uri="{FF2B5EF4-FFF2-40B4-BE49-F238E27FC236}">
                <a16:creationId xmlns:a16="http://schemas.microsoft.com/office/drawing/2014/main" id="{D27E5FA5-88A7-D67B-3AC9-D60ADFC0B60B}"/>
              </a:ext>
            </a:extLst>
          </p:cNvPr>
          <p:cNvSpPr/>
          <p:nvPr/>
        </p:nvSpPr>
        <p:spPr>
          <a:xfrm>
            <a:off x="4816283" y="3864512"/>
            <a:ext cx="119369" cy="510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7" name="Rectangle 46">
            <a:extLst>
              <a:ext uri="{FF2B5EF4-FFF2-40B4-BE49-F238E27FC236}">
                <a16:creationId xmlns:a16="http://schemas.microsoft.com/office/drawing/2014/main" id="{E6ABDD10-6AF1-5314-744A-CC285BF21EDD}"/>
              </a:ext>
            </a:extLst>
          </p:cNvPr>
          <p:cNvSpPr/>
          <p:nvPr/>
        </p:nvSpPr>
        <p:spPr>
          <a:xfrm>
            <a:off x="4816283" y="4522697"/>
            <a:ext cx="119369" cy="51085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7" name="Rectangle 56">
            <a:extLst>
              <a:ext uri="{FF2B5EF4-FFF2-40B4-BE49-F238E27FC236}">
                <a16:creationId xmlns:a16="http://schemas.microsoft.com/office/drawing/2014/main" id="{ED899C77-B77F-F5F7-B34D-6C4AF85D5591}"/>
              </a:ext>
            </a:extLst>
          </p:cNvPr>
          <p:cNvSpPr/>
          <p:nvPr/>
        </p:nvSpPr>
        <p:spPr>
          <a:xfrm>
            <a:off x="6373048" y="3817765"/>
            <a:ext cx="110791" cy="153891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8" name="Rectangle 57">
            <a:extLst>
              <a:ext uri="{FF2B5EF4-FFF2-40B4-BE49-F238E27FC236}">
                <a16:creationId xmlns:a16="http://schemas.microsoft.com/office/drawing/2014/main" id="{96C51D71-C0F1-7E61-8662-BA113AC4A22A}"/>
              </a:ext>
            </a:extLst>
          </p:cNvPr>
          <p:cNvSpPr/>
          <p:nvPr/>
        </p:nvSpPr>
        <p:spPr>
          <a:xfrm>
            <a:off x="6742464" y="3817764"/>
            <a:ext cx="110791" cy="153891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9" name="Rectangle 58">
            <a:extLst>
              <a:ext uri="{FF2B5EF4-FFF2-40B4-BE49-F238E27FC236}">
                <a16:creationId xmlns:a16="http://schemas.microsoft.com/office/drawing/2014/main" id="{1000158D-2984-9FEF-47A8-9A467978DFAF}"/>
              </a:ext>
            </a:extLst>
          </p:cNvPr>
          <p:cNvSpPr/>
          <p:nvPr/>
        </p:nvSpPr>
        <p:spPr>
          <a:xfrm>
            <a:off x="7119340" y="3826350"/>
            <a:ext cx="110791" cy="153891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0" name="TextBox 59">
            <a:extLst>
              <a:ext uri="{FF2B5EF4-FFF2-40B4-BE49-F238E27FC236}">
                <a16:creationId xmlns:a16="http://schemas.microsoft.com/office/drawing/2014/main" id="{73AA5748-C5B0-2C44-7762-B3E008E04729}"/>
              </a:ext>
            </a:extLst>
          </p:cNvPr>
          <p:cNvSpPr txBox="1"/>
          <p:nvPr/>
        </p:nvSpPr>
        <p:spPr>
          <a:xfrm>
            <a:off x="6594229" y="3185152"/>
            <a:ext cx="342943" cy="523220"/>
          </a:xfrm>
          <a:prstGeom prst="rect">
            <a:avLst/>
          </a:prstGeom>
          <a:noFill/>
        </p:spPr>
        <p:txBody>
          <a:bodyPr wrap="square" rtlCol="0">
            <a:spAutoFit/>
          </a:bodyPr>
          <a:lstStyle/>
          <a:p>
            <a:r>
              <a:rPr lang="en-US" sz="2800">
                <a:solidFill>
                  <a:srgbClr val="FF0000"/>
                </a:solidFill>
              </a:rPr>
              <a:t>X</a:t>
            </a:r>
          </a:p>
        </p:txBody>
      </p:sp>
      <p:sp>
        <p:nvSpPr>
          <p:cNvPr id="61" name="Rectangle 60">
            <a:extLst>
              <a:ext uri="{FF2B5EF4-FFF2-40B4-BE49-F238E27FC236}">
                <a16:creationId xmlns:a16="http://schemas.microsoft.com/office/drawing/2014/main" id="{0F1A35E6-B496-7ED7-0606-640DFBFE77F1}"/>
              </a:ext>
            </a:extLst>
          </p:cNvPr>
          <p:cNvSpPr/>
          <p:nvPr/>
        </p:nvSpPr>
        <p:spPr>
          <a:xfrm>
            <a:off x="6039599" y="3817764"/>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 name="Rectangle 61">
            <a:extLst>
              <a:ext uri="{FF2B5EF4-FFF2-40B4-BE49-F238E27FC236}">
                <a16:creationId xmlns:a16="http://schemas.microsoft.com/office/drawing/2014/main" id="{1C7A2243-0D07-F9EC-2E57-53A43E186A17}"/>
              </a:ext>
            </a:extLst>
          </p:cNvPr>
          <p:cNvSpPr/>
          <p:nvPr/>
        </p:nvSpPr>
        <p:spPr>
          <a:xfrm>
            <a:off x="6046985" y="4482796"/>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Rectangle 62">
            <a:extLst>
              <a:ext uri="{FF2B5EF4-FFF2-40B4-BE49-F238E27FC236}">
                <a16:creationId xmlns:a16="http://schemas.microsoft.com/office/drawing/2014/main" id="{3BF86E62-5356-449E-6CDA-5EF0A58CEE36}"/>
              </a:ext>
            </a:extLst>
          </p:cNvPr>
          <p:cNvSpPr/>
          <p:nvPr/>
        </p:nvSpPr>
        <p:spPr>
          <a:xfrm>
            <a:off x="6055650" y="5145976"/>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64" name="Straight Arrow Connector 63">
            <a:extLst>
              <a:ext uri="{FF2B5EF4-FFF2-40B4-BE49-F238E27FC236}">
                <a16:creationId xmlns:a16="http://schemas.microsoft.com/office/drawing/2014/main" id="{00A4AC5E-4359-7EC6-E49E-607FDB1DEFDE}"/>
              </a:ext>
            </a:extLst>
          </p:cNvPr>
          <p:cNvCxnSpPr>
            <a:cxnSpLocks/>
          </p:cNvCxnSpPr>
          <p:nvPr/>
        </p:nvCxnSpPr>
        <p:spPr>
          <a:xfrm>
            <a:off x="6587170" y="3826350"/>
            <a:ext cx="0" cy="1538914"/>
          </a:xfrm>
          <a:prstGeom prst="straightConnector1">
            <a:avLst/>
          </a:prstGeom>
          <a:ln>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E01F2B3-FD59-6141-CFB8-A969FD33B078}"/>
              </a:ext>
            </a:extLst>
          </p:cNvPr>
          <p:cNvCxnSpPr>
            <a:cxnSpLocks/>
          </p:cNvCxnSpPr>
          <p:nvPr/>
        </p:nvCxnSpPr>
        <p:spPr>
          <a:xfrm>
            <a:off x="6977891" y="3826350"/>
            <a:ext cx="0" cy="1538914"/>
          </a:xfrm>
          <a:prstGeom prst="straightConnector1">
            <a:avLst/>
          </a:prstGeom>
          <a:ln>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9C522567-BF2E-3CBF-1A35-FDB8FB2E3DFF}"/>
              </a:ext>
            </a:extLst>
          </p:cNvPr>
          <p:cNvSpPr txBox="1"/>
          <p:nvPr/>
        </p:nvSpPr>
        <p:spPr>
          <a:xfrm>
            <a:off x="6479710" y="5805136"/>
            <a:ext cx="1455108" cy="461665"/>
          </a:xfrm>
          <a:prstGeom prst="rect">
            <a:avLst/>
          </a:prstGeom>
          <a:noFill/>
        </p:spPr>
        <p:txBody>
          <a:bodyPr wrap="square" rtlCol="0">
            <a:spAutoFit/>
          </a:bodyPr>
          <a:lstStyle/>
          <a:p>
            <a:r>
              <a:rPr lang="en-US" sz="1200" b="1"/>
              <a:t>Poly parallel run length &gt; 2ch</a:t>
            </a:r>
          </a:p>
        </p:txBody>
      </p:sp>
      <p:sp>
        <p:nvSpPr>
          <p:cNvPr id="132" name="Rectangle 131">
            <a:extLst>
              <a:ext uri="{FF2B5EF4-FFF2-40B4-BE49-F238E27FC236}">
                <a16:creationId xmlns:a16="http://schemas.microsoft.com/office/drawing/2014/main" id="{0E29191B-7B3B-ECE9-6B73-033A063D461F}"/>
              </a:ext>
            </a:extLst>
          </p:cNvPr>
          <p:cNvSpPr/>
          <p:nvPr/>
        </p:nvSpPr>
        <p:spPr>
          <a:xfrm>
            <a:off x="8101723" y="3843237"/>
            <a:ext cx="110791" cy="153891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3" name="Rectangle 132">
            <a:extLst>
              <a:ext uri="{FF2B5EF4-FFF2-40B4-BE49-F238E27FC236}">
                <a16:creationId xmlns:a16="http://schemas.microsoft.com/office/drawing/2014/main" id="{D837644E-AD82-5491-72FB-584DF4615863}"/>
              </a:ext>
            </a:extLst>
          </p:cNvPr>
          <p:cNvSpPr/>
          <p:nvPr/>
        </p:nvSpPr>
        <p:spPr>
          <a:xfrm>
            <a:off x="8471140" y="3843235"/>
            <a:ext cx="97356" cy="1851375"/>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4" name="Rectangle 133">
            <a:extLst>
              <a:ext uri="{FF2B5EF4-FFF2-40B4-BE49-F238E27FC236}">
                <a16:creationId xmlns:a16="http://schemas.microsoft.com/office/drawing/2014/main" id="{7B4ECD40-A955-7F72-02E3-C6FC5536D3F3}"/>
              </a:ext>
            </a:extLst>
          </p:cNvPr>
          <p:cNvSpPr/>
          <p:nvPr/>
        </p:nvSpPr>
        <p:spPr>
          <a:xfrm>
            <a:off x="8849056" y="4168848"/>
            <a:ext cx="110791" cy="1538914"/>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5" name="TextBox 134">
            <a:extLst>
              <a:ext uri="{FF2B5EF4-FFF2-40B4-BE49-F238E27FC236}">
                <a16:creationId xmlns:a16="http://schemas.microsoft.com/office/drawing/2014/main" id="{E25371DD-E17F-FE97-2906-1D4BD7EF3D49}"/>
              </a:ext>
            </a:extLst>
          </p:cNvPr>
          <p:cNvSpPr txBox="1"/>
          <p:nvPr/>
        </p:nvSpPr>
        <p:spPr>
          <a:xfrm>
            <a:off x="8258596" y="3185152"/>
            <a:ext cx="397461" cy="523220"/>
          </a:xfrm>
          <a:prstGeom prst="rect">
            <a:avLst/>
          </a:prstGeom>
          <a:noFill/>
        </p:spPr>
        <p:txBody>
          <a:bodyPr wrap="square" rtlCol="0">
            <a:spAutoFit/>
          </a:bodyPr>
          <a:lstStyle/>
          <a:p>
            <a:r>
              <a:rPr lang="en-US" sz="2800">
                <a:solidFill>
                  <a:srgbClr val="00B050"/>
                </a:solidFill>
              </a:rPr>
              <a:t>O</a:t>
            </a:r>
          </a:p>
        </p:txBody>
      </p:sp>
      <p:sp>
        <p:nvSpPr>
          <p:cNvPr id="136" name="Rectangle 135">
            <a:extLst>
              <a:ext uri="{FF2B5EF4-FFF2-40B4-BE49-F238E27FC236}">
                <a16:creationId xmlns:a16="http://schemas.microsoft.com/office/drawing/2014/main" id="{BC7DE307-4177-C25D-4D8B-322A24226C15}"/>
              </a:ext>
            </a:extLst>
          </p:cNvPr>
          <p:cNvSpPr/>
          <p:nvPr/>
        </p:nvSpPr>
        <p:spPr>
          <a:xfrm>
            <a:off x="7768274" y="3843236"/>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7" name="Rectangle 136">
            <a:extLst>
              <a:ext uri="{FF2B5EF4-FFF2-40B4-BE49-F238E27FC236}">
                <a16:creationId xmlns:a16="http://schemas.microsoft.com/office/drawing/2014/main" id="{3BD1410A-DAC7-8176-8247-10AD12B49B34}"/>
              </a:ext>
            </a:extLst>
          </p:cNvPr>
          <p:cNvSpPr/>
          <p:nvPr/>
        </p:nvSpPr>
        <p:spPr>
          <a:xfrm>
            <a:off x="7775660" y="4508268"/>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8" name="Rectangle 137">
            <a:extLst>
              <a:ext uri="{FF2B5EF4-FFF2-40B4-BE49-F238E27FC236}">
                <a16:creationId xmlns:a16="http://schemas.microsoft.com/office/drawing/2014/main" id="{3FECF237-6D82-94CD-5D55-8D10F6E763F0}"/>
              </a:ext>
            </a:extLst>
          </p:cNvPr>
          <p:cNvSpPr/>
          <p:nvPr/>
        </p:nvSpPr>
        <p:spPr>
          <a:xfrm>
            <a:off x="7784325" y="5152556"/>
            <a:ext cx="117545" cy="54005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9" name="Straight Arrow Connector 138">
            <a:extLst>
              <a:ext uri="{FF2B5EF4-FFF2-40B4-BE49-F238E27FC236}">
                <a16:creationId xmlns:a16="http://schemas.microsoft.com/office/drawing/2014/main" id="{5F9F30DD-CCE6-70EA-FDE1-F8B3647D3EF8}"/>
              </a:ext>
            </a:extLst>
          </p:cNvPr>
          <p:cNvCxnSpPr>
            <a:cxnSpLocks/>
          </p:cNvCxnSpPr>
          <p:nvPr/>
        </p:nvCxnSpPr>
        <p:spPr>
          <a:xfrm>
            <a:off x="8315845" y="3851822"/>
            <a:ext cx="0" cy="1538914"/>
          </a:xfrm>
          <a:prstGeom prst="straightConnector1">
            <a:avLst/>
          </a:prstGeom>
          <a:ln>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0AB0F33-8341-5711-739D-E2F4797323AE}"/>
              </a:ext>
            </a:extLst>
          </p:cNvPr>
          <p:cNvCxnSpPr>
            <a:cxnSpLocks/>
          </p:cNvCxnSpPr>
          <p:nvPr/>
        </p:nvCxnSpPr>
        <p:spPr>
          <a:xfrm>
            <a:off x="8677895" y="4168848"/>
            <a:ext cx="0" cy="1538914"/>
          </a:xfrm>
          <a:prstGeom prst="straightConnector1">
            <a:avLst/>
          </a:prstGeom>
          <a:ln>
            <a:solidFill>
              <a:srgbClr val="0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E290506-CD03-3A04-6BCA-0C306A7571A4}"/>
              </a:ext>
            </a:extLst>
          </p:cNvPr>
          <p:cNvGrpSpPr/>
          <p:nvPr/>
        </p:nvGrpSpPr>
        <p:grpSpPr>
          <a:xfrm>
            <a:off x="9937515" y="3512511"/>
            <a:ext cx="2171669" cy="2563228"/>
            <a:chOff x="10040564" y="3401538"/>
            <a:chExt cx="2171669" cy="2563228"/>
          </a:xfrm>
        </p:grpSpPr>
        <p:sp>
          <p:nvSpPr>
            <p:cNvPr id="32" name="TextBox 31">
              <a:extLst>
                <a:ext uri="{FF2B5EF4-FFF2-40B4-BE49-F238E27FC236}">
                  <a16:creationId xmlns:a16="http://schemas.microsoft.com/office/drawing/2014/main" id="{A8A6F412-8C55-EBBB-948D-C143412082D3}"/>
                </a:ext>
              </a:extLst>
            </p:cNvPr>
            <p:cNvSpPr txBox="1"/>
            <p:nvPr/>
          </p:nvSpPr>
          <p:spPr>
            <a:xfrm>
              <a:off x="10791131" y="3830417"/>
              <a:ext cx="840295" cy="341632"/>
            </a:xfrm>
            <a:prstGeom prst="rect">
              <a:avLst/>
            </a:prstGeom>
            <a:noFill/>
          </p:spPr>
          <p:txBody>
            <a:bodyPr wrap="none" rtlCol="0">
              <a:spAutoFit/>
            </a:bodyPr>
            <a:lstStyle/>
            <a:p>
              <a:r>
                <a:rPr lang="en-US" sz="1800"/>
                <a:t>SDGEN</a:t>
              </a:r>
            </a:p>
          </p:txBody>
        </p:sp>
        <p:sp>
          <p:nvSpPr>
            <p:cNvPr id="44" name="Rectangle 43">
              <a:extLst>
                <a:ext uri="{FF2B5EF4-FFF2-40B4-BE49-F238E27FC236}">
                  <a16:creationId xmlns:a16="http://schemas.microsoft.com/office/drawing/2014/main" id="{AD81B921-B92E-0399-25F9-E1FC29DF7FA6}"/>
                </a:ext>
              </a:extLst>
            </p:cNvPr>
            <p:cNvSpPr/>
            <p:nvPr/>
          </p:nvSpPr>
          <p:spPr>
            <a:xfrm>
              <a:off x="10040564" y="3892756"/>
              <a:ext cx="603504" cy="256032"/>
            </a:xfrm>
            <a:prstGeom prst="rect">
              <a:avLst/>
            </a:prstGeom>
            <a:solidFill>
              <a:srgbClr val="E2EFDA"/>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1100"/>
            </a:p>
          </p:txBody>
        </p:sp>
        <p:sp>
          <p:nvSpPr>
            <p:cNvPr id="49" name="TextBox 48">
              <a:extLst>
                <a:ext uri="{FF2B5EF4-FFF2-40B4-BE49-F238E27FC236}">
                  <a16:creationId xmlns:a16="http://schemas.microsoft.com/office/drawing/2014/main" id="{06EC9247-6074-0D88-6F9F-4BF35AEC368A}"/>
                </a:ext>
              </a:extLst>
            </p:cNvPr>
            <p:cNvSpPr txBox="1"/>
            <p:nvPr/>
          </p:nvSpPr>
          <p:spPr>
            <a:xfrm>
              <a:off x="10758694" y="3401538"/>
              <a:ext cx="1453539" cy="369332"/>
            </a:xfrm>
            <a:prstGeom prst="rect">
              <a:avLst/>
            </a:prstGeom>
            <a:noFill/>
          </p:spPr>
          <p:txBody>
            <a:bodyPr wrap="none" rtlCol="0">
              <a:spAutoFit/>
            </a:bodyPr>
            <a:lstStyle/>
            <a:p>
              <a:r>
                <a:rPr lang="en-US"/>
                <a:t>poly;drawing</a:t>
              </a:r>
            </a:p>
          </p:txBody>
        </p:sp>
        <p:sp>
          <p:nvSpPr>
            <p:cNvPr id="55" name="TextBox 54">
              <a:extLst>
                <a:ext uri="{FF2B5EF4-FFF2-40B4-BE49-F238E27FC236}">
                  <a16:creationId xmlns:a16="http://schemas.microsoft.com/office/drawing/2014/main" id="{B486F932-E4C6-C0D0-A606-B187F246ACE1}"/>
                </a:ext>
              </a:extLst>
            </p:cNvPr>
            <p:cNvSpPr txBox="1"/>
            <p:nvPr/>
          </p:nvSpPr>
          <p:spPr>
            <a:xfrm>
              <a:off x="10139742" y="5169486"/>
              <a:ext cx="383438" cy="523220"/>
            </a:xfrm>
            <a:prstGeom prst="rect">
              <a:avLst/>
            </a:prstGeom>
            <a:noFill/>
          </p:spPr>
          <p:txBody>
            <a:bodyPr wrap="none" rtlCol="0">
              <a:spAutoFit/>
            </a:bodyPr>
            <a:lstStyle/>
            <a:p>
              <a:r>
                <a:rPr lang="en-US" sz="2800">
                  <a:solidFill>
                    <a:srgbClr val="FF0000"/>
                  </a:solidFill>
                </a:rPr>
                <a:t>X</a:t>
              </a:r>
            </a:p>
          </p:txBody>
        </p:sp>
        <p:sp>
          <p:nvSpPr>
            <p:cNvPr id="56" name="TextBox 55">
              <a:extLst>
                <a:ext uri="{FF2B5EF4-FFF2-40B4-BE49-F238E27FC236}">
                  <a16:creationId xmlns:a16="http://schemas.microsoft.com/office/drawing/2014/main" id="{05D44C67-A16B-63DA-0821-0AEDFE002D93}"/>
                </a:ext>
              </a:extLst>
            </p:cNvPr>
            <p:cNvSpPr txBox="1"/>
            <p:nvPr/>
          </p:nvSpPr>
          <p:spPr>
            <a:xfrm>
              <a:off x="10758694" y="5595434"/>
              <a:ext cx="1141659" cy="369332"/>
            </a:xfrm>
            <a:prstGeom prst="rect">
              <a:avLst/>
            </a:prstGeom>
            <a:noFill/>
          </p:spPr>
          <p:txBody>
            <a:bodyPr wrap="none" rtlCol="0">
              <a:spAutoFit/>
            </a:bodyPr>
            <a:lstStyle/>
            <a:p>
              <a:r>
                <a:rPr lang="en-US" sz="1800"/>
                <a:t>DR clean</a:t>
              </a:r>
            </a:p>
          </p:txBody>
        </p:sp>
        <p:sp>
          <p:nvSpPr>
            <p:cNvPr id="69" name="TextBox 68">
              <a:extLst>
                <a:ext uri="{FF2B5EF4-FFF2-40B4-BE49-F238E27FC236}">
                  <a16:creationId xmlns:a16="http://schemas.microsoft.com/office/drawing/2014/main" id="{5D6E3479-F5BF-C642-6AC6-E3A1854E6619}"/>
                </a:ext>
              </a:extLst>
            </p:cNvPr>
            <p:cNvSpPr txBox="1"/>
            <p:nvPr/>
          </p:nvSpPr>
          <p:spPr>
            <a:xfrm>
              <a:off x="10758694" y="5249277"/>
              <a:ext cx="705642" cy="369332"/>
            </a:xfrm>
            <a:prstGeom prst="rect">
              <a:avLst/>
            </a:prstGeom>
            <a:noFill/>
          </p:spPr>
          <p:txBody>
            <a:bodyPr wrap="none" rtlCol="0">
              <a:spAutoFit/>
            </a:bodyPr>
            <a:lstStyle/>
            <a:p>
              <a:r>
                <a:rPr lang="en-US" sz="1800"/>
                <a:t>DRV</a:t>
              </a:r>
            </a:p>
          </p:txBody>
        </p:sp>
        <p:sp>
          <p:nvSpPr>
            <p:cNvPr id="70" name="Rectangle 69">
              <a:extLst>
                <a:ext uri="{FF2B5EF4-FFF2-40B4-BE49-F238E27FC236}">
                  <a16:creationId xmlns:a16="http://schemas.microsoft.com/office/drawing/2014/main" id="{1984B8EC-AEC2-62ED-4C56-CE2E131076EA}"/>
                </a:ext>
              </a:extLst>
            </p:cNvPr>
            <p:cNvSpPr/>
            <p:nvPr/>
          </p:nvSpPr>
          <p:spPr>
            <a:xfrm>
              <a:off x="10040564" y="4244455"/>
              <a:ext cx="603504" cy="256032"/>
            </a:xfrm>
            <a:prstGeom prst="rect">
              <a:avLst/>
            </a:prstGeom>
            <a:solidFill>
              <a:srgbClr val="FFE699">
                <a:alpha val="58039"/>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71" name="Rectangle 70">
              <a:extLst>
                <a:ext uri="{FF2B5EF4-FFF2-40B4-BE49-F238E27FC236}">
                  <a16:creationId xmlns:a16="http://schemas.microsoft.com/office/drawing/2014/main" id="{CD19D5C2-A45D-0D84-D4EF-30A7EEC2836E}"/>
                </a:ext>
              </a:extLst>
            </p:cNvPr>
            <p:cNvSpPr/>
            <p:nvPr/>
          </p:nvSpPr>
          <p:spPr>
            <a:xfrm>
              <a:off x="10040564" y="4596154"/>
              <a:ext cx="603504" cy="256032"/>
            </a:xfrm>
            <a:prstGeom prst="rect">
              <a:avLst/>
            </a:prstGeom>
            <a:solidFill>
              <a:srgbClr val="F4B183">
                <a:alpha val="56863"/>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72" name="TextBox 71">
              <a:extLst>
                <a:ext uri="{FF2B5EF4-FFF2-40B4-BE49-F238E27FC236}">
                  <a16:creationId xmlns:a16="http://schemas.microsoft.com/office/drawing/2014/main" id="{02E89CE0-EE96-ACE8-0AB5-4F6BB293528C}"/>
                </a:ext>
              </a:extLst>
            </p:cNvPr>
            <p:cNvSpPr txBox="1"/>
            <p:nvPr/>
          </p:nvSpPr>
          <p:spPr>
            <a:xfrm>
              <a:off x="10758694" y="4179818"/>
              <a:ext cx="870751" cy="369332"/>
            </a:xfrm>
            <a:prstGeom prst="rect">
              <a:avLst/>
            </a:prstGeom>
            <a:noFill/>
          </p:spPr>
          <p:txBody>
            <a:bodyPr wrap="none" rtlCol="0">
              <a:spAutoFit/>
            </a:bodyPr>
            <a:lstStyle/>
            <a:p>
              <a:r>
                <a:rPr lang="en-US"/>
                <a:t>NSVT</a:t>
              </a:r>
              <a:endParaRPr lang="en-US" sz="1800"/>
            </a:p>
          </p:txBody>
        </p:sp>
        <p:sp>
          <p:nvSpPr>
            <p:cNvPr id="73" name="TextBox 72">
              <a:extLst>
                <a:ext uri="{FF2B5EF4-FFF2-40B4-BE49-F238E27FC236}">
                  <a16:creationId xmlns:a16="http://schemas.microsoft.com/office/drawing/2014/main" id="{A2672170-990D-5BF2-FC3F-96759DDF0CD2}"/>
                </a:ext>
              </a:extLst>
            </p:cNvPr>
            <p:cNvSpPr txBox="1"/>
            <p:nvPr/>
          </p:nvSpPr>
          <p:spPr>
            <a:xfrm>
              <a:off x="10758694" y="4523440"/>
              <a:ext cx="851515" cy="369332"/>
            </a:xfrm>
            <a:prstGeom prst="rect">
              <a:avLst/>
            </a:prstGeom>
            <a:noFill/>
          </p:spPr>
          <p:txBody>
            <a:bodyPr wrap="none" rtlCol="0">
              <a:spAutoFit/>
            </a:bodyPr>
            <a:lstStyle/>
            <a:p>
              <a:r>
                <a:rPr lang="en-US"/>
                <a:t>NLVT</a:t>
              </a:r>
              <a:endParaRPr lang="en-US" sz="1800"/>
            </a:p>
          </p:txBody>
        </p:sp>
        <p:sp>
          <p:nvSpPr>
            <p:cNvPr id="75" name="Rectangle 74">
              <a:extLst>
                <a:ext uri="{FF2B5EF4-FFF2-40B4-BE49-F238E27FC236}">
                  <a16:creationId xmlns:a16="http://schemas.microsoft.com/office/drawing/2014/main" id="{956D63FD-92E8-96D9-FE8E-94D22C3B047F}"/>
                </a:ext>
              </a:extLst>
            </p:cNvPr>
            <p:cNvSpPr/>
            <p:nvPr/>
          </p:nvSpPr>
          <p:spPr>
            <a:xfrm>
              <a:off x="10040564" y="4947853"/>
              <a:ext cx="603504" cy="256032"/>
            </a:xfrm>
            <a:prstGeom prst="rect">
              <a:avLst/>
            </a:prstGeom>
            <a:solidFill>
              <a:schemeClr val="accent1">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76" name="TextBox 75">
              <a:extLst>
                <a:ext uri="{FF2B5EF4-FFF2-40B4-BE49-F238E27FC236}">
                  <a16:creationId xmlns:a16="http://schemas.microsoft.com/office/drawing/2014/main" id="{2934B261-E257-523E-420A-873F01BB8897}"/>
                </a:ext>
              </a:extLst>
            </p:cNvPr>
            <p:cNvSpPr txBox="1"/>
            <p:nvPr/>
          </p:nvSpPr>
          <p:spPr>
            <a:xfrm>
              <a:off x="10758694" y="4869907"/>
              <a:ext cx="691471" cy="369332"/>
            </a:xfrm>
            <a:prstGeom prst="rect">
              <a:avLst/>
            </a:prstGeom>
            <a:noFill/>
          </p:spPr>
          <p:txBody>
            <a:bodyPr wrap="none" rtlCol="0">
              <a:spAutoFit/>
            </a:bodyPr>
            <a:lstStyle/>
            <a:p>
              <a:r>
                <a:rPr lang="en-US"/>
                <a:t>PSVT</a:t>
              </a:r>
              <a:endParaRPr lang="en-US" sz="1800"/>
            </a:p>
          </p:txBody>
        </p:sp>
        <p:sp>
          <p:nvSpPr>
            <p:cNvPr id="79" name="Rectangle 78">
              <a:extLst>
                <a:ext uri="{FF2B5EF4-FFF2-40B4-BE49-F238E27FC236}">
                  <a16:creationId xmlns:a16="http://schemas.microsoft.com/office/drawing/2014/main" id="{CC0D9BE4-440A-8033-8839-EC4FE566268B}"/>
                </a:ext>
              </a:extLst>
            </p:cNvPr>
            <p:cNvSpPr/>
            <p:nvPr/>
          </p:nvSpPr>
          <p:spPr>
            <a:xfrm>
              <a:off x="10040564" y="3519441"/>
              <a:ext cx="603504" cy="25603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81" name="TextBox 80">
            <a:extLst>
              <a:ext uri="{FF2B5EF4-FFF2-40B4-BE49-F238E27FC236}">
                <a16:creationId xmlns:a16="http://schemas.microsoft.com/office/drawing/2014/main" id="{E749FD78-DDE4-DF73-9CC9-4DA69433D875}"/>
              </a:ext>
            </a:extLst>
          </p:cNvPr>
          <p:cNvSpPr txBox="1"/>
          <p:nvPr/>
        </p:nvSpPr>
        <p:spPr>
          <a:xfrm>
            <a:off x="4670034" y="5823495"/>
            <a:ext cx="1042258" cy="261610"/>
          </a:xfrm>
          <a:prstGeom prst="rect">
            <a:avLst/>
          </a:prstGeom>
          <a:noFill/>
        </p:spPr>
        <p:txBody>
          <a:bodyPr wrap="square" rtlCol="0">
            <a:spAutoFit/>
          </a:bodyPr>
          <a:lstStyle/>
          <a:p>
            <a:r>
              <a:rPr lang="en-US" sz="1100">
                <a:solidFill>
                  <a:srgbClr val="0000FF"/>
                </a:solidFill>
              </a:rPr>
              <a:t>Both are SVT</a:t>
            </a:r>
          </a:p>
        </p:txBody>
      </p:sp>
      <p:sp>
        <p:nvSpPr>
          <p:cNvPr id="82" name="TextBox 81">
            <a:extLst>
              <a:ext uri="{FF2B5EF4-FFF2-40B4-BE49-F238E27FC236}">
                <a16:creationId xmlns:a16="http://schemas.microsoft.com/office/drawing/2014/main" id="{DAB80933-29F0-9F8C-5543-97581B0F111A}"/>
              </a:ext>
            </a:extLst>
          </p:cNvPr>
          <p:cNvSpPr txBox="1"/>
          <p:nvPr/>
        </p:nvSpPr>
        <p:spPr>
          <a:xfrm>
            <a:off x="4641138" y="3185152"/>
            <a:ext cx="397461" cy="523220"/>
          </a:xfrm>
          <a:prstGeom prst="rect">
            <a:avLst/>
          </a:prstGeom>
          <a:noFill/>
        </p:spPr>
        <p:txBody>
          <a:bodyPr wrap="square" rtlCol="0">
            <a:spAutoFit/>
          </a:bodyPr>
          <a:lstStyle/>
          <a:p>
            <a:r>
              <a:rPr lang="en-US" sz="2800">
                <a:solidFill>
                  <a:srgbClr val="00B050"/>
                </a:solidFill>
              </a:rPr>
              <a:t>O</a:t>
            </a:r>
          </a:p>
        </p:txBody>
      </p:sp>
      <p:sp>
        <p:nvSpPr>
          <p:cNvPr id="83" name="TextBox 82">
            <a:extLst>
              <a:ext uri="{FF2B5EF4-FFF2-40B4-BE49-F238E27FC236}">
                <a16:creationId xmlns:a16="http://schemas.microsoft.com/office/drawing/2014/main" id="{AEA605EC-5477-9F9F-113E-A92C8DC4A8BE}"/>
              </a:ext>
            </a:extLst>
          </p:cNvPr>
          <p:cNvSpPr txBox="1"/>
          <p:nvPr/>
        </p:nvSpPr>
        <p:spPr>
          <a:xfrm>
            <a:off x="3748411" y="5628691"/>
            <a:ext cx="397461" cy="523220"/>
          </a:xfrm>
          <a:prstGeom prst="rect">
            <a:avLst/>
          </a:prstGeom>
          <a:noFill/>
        </p:spPr>
        <p:txBody>
          <a:bodyPr wrap="square" rtlCol="0">
            <a:spAutoFit/>
          </a:bodyPr>
          <a:lstStyle/>
          <a:p>
            <a:r>
              <a:rPr lang="en-US" sz="2800">
                <a:solidFill>
                  <a:srgbClr val="00B050"/>
                </a:solidFill>
              </a:rPr>
              <a:t>O</a:t>
            </a:r>
          </a:p>
        </p:txBody>
      </p:sp>
      <p:sp>
        <p:nvSpPr>
          <p:cNvPr id="84" name="TextBox 83">
            <a:extLst>
              <a:ext uri="{FF2B5EF4-FFF2-40B4-BE49-F238E27FC236}">
                <a16:creationId xmlns:a16="http://schemas.microsoft.com/office/drawing/2014/main" id="{314A5315-5DB9-189E-DC99-9E22CFC77571}"/>
              </a:ext>
            </a:extLst>
          </p:cNvPr>
          <p:cNvSpPr txBox="1"/>
          <p:nvPr/>
        </p:nvSpPr>
        <p:spPr>
          <a:xfrm>
            <a:off x="1318602" y="5628691"/>
            <a:ext cx="397461" cy="523220"/>
          </a:xfrm>
          <a:prstGeom prst="rect">
            <a:avLst/>
          </a:prstGeom>
          <a:noFill/>
        </p:spPr>
        <p:txBody>
          <a:bodyPr wrap="square" rtlCol="0">
            <a:spAutoFit/>
          </a:bodyPr>
          <a:lstStyle/>
          <a:p>
            <a:r>
              <a:rPr lang="en-US" sz="2800">
                <a:solidFill>
                  <a:srgbClr val="00B050"/>
                </a:solidFill>
              </a:rPr>
              <a:t>O</a:t>
            </a:r>
          </a:p>
        </p:txBody>
      </p:sp>
      <p:sp>
        <p:nvSpPr>
          <p:cNvPr id="85" name="TextBox 84">
            <a:extLst>
              <a:ext uri="{FF2B5EF4-FFF2-40B4-BE49-F238E27FC236}">
                <a16:creationId xmlns:a16="http://schemas.microsoft.com/office/drawing/2014/main" id="{8A4E3D20-6BFB-9324-09C6-F4BDD6854D09}"/>
              </a:ext>
            </a:extLst>
          </p:cNvPr>
          <p:cNvSpPr txBox="1"/>
          <p:nvPr/>
        </p:nvSpPr>
        <p:spPr>
          <a:xfrm>
            <a:off x="2249788" y="5289324"/>
            <a:ext cx="397461" cy="523220"/>
          </a:xfrm>
          <a:prstGeom prst="rect">
            <a:avLst/>
          </a:prstGeom>
          <a:noFill/>
        </p:spPr>
        <p:txBody>
          <a:bodyPr wrap="square" rtlCol="0">
            <a:spAutoFit/>
          </a:bodyPr>
          <a:lstStyle/>
          <a:p>
            <a:r>
              <a:rPr lang="en-US" sz="2800">
                <a:solidFill>
                  <a:srgbClr val="00B050"/>
                </a:solidFill>
              </a:rPr>
              <a:t>O</a:t>
            </a:r>
          </a:p>
        </p:txBody>
      </p:sp>
      <p:sp>
        <p:nvSpPr>
          <p:cNvPr id="86" name="TextBox 85">
            <a:extLst>
              <a:ext uri="{FF2B5EF4-FFF2-40B4-BE49-F238E27FC236}">
                <a16:creationId xmlns:a16="http://schemas.microsoft.com/office/drawing/2014/main" id="{F66E6B64-92DC-0045-A9A0-845B64891D8E}"/>
              </a:ext>
            </a:extLst>
          </p:cNvPr>
          <p:cNvSpPr txBox="1"/>
          <p:nvPr/>
        </p:nvSpPr>
        <p:spPr>
          <a:xfrm>
            <a:off x="2973583" y="5289324"/>
            <a:ext cx="397461" cy="523220"/>
          </a:xfrm>
          <a:prstGeom prst="rect">
            <a:avLst/>
          </a:prstGeom>
          <a:noFill/>
        </p:spPr>
        <p:txBody>
          <a:bodyPr wrap="square" rtlCol="0">
            <a:spAutoFit/>
          </a:bodyPr>
          <a:lstStyle/>
          <a:p>
            <a:r>
              <a:rPr lang="en-US" sz="2800">
                <a:solidFill>
                  <a:srgbClr val="00B050"/>
                </a:solidFill>
              </a:rPr>
              <a:t>O</a:t>
            </a:r>
          </a:p>
        </p:txBody>
      </p:sp>
      <p:sp>
        <p:nvSpPr>
          <p:cNvPr id="91" name="TextBox 90">
            <a:extLst>
              <a:ext uri="{FF2B5EF4-FFF2-40B4-BE49-F238E27FC236}">
                <a16:creationId xmlns:a16="http://schemas.microsoft.com/office/drawing/2014/main" id="{3619B27C-C355-9D0F-8A27-4AFCBC885762}"/>
              </a:ext>
            </a:extLst>
          </p:cNvPr>
          <p:cNvSpPr txBox="1"/>
          <p:nvPr/>
        </p:nvSpPr>
        <p:spPr>
          <a:xfrm>
            <a:off x="10007435" y="5618665"/>
            <a:ext cx="447558" cy="523220"/>
          </a:xfrm>
          <a:prstGeom prst="rect">
            <a:avLst/>
          </a:prstGeom>
          <a:noFill/>
        </p:spPr>
        <p:txBody>
          <a:bodyPr wrap="none" rtlCol="0">
            <a:spAutoFit/>
          </a:bodyPr>
          <a:lstStyle/>
          <a:p>
            <a:r>
              <a:rPr lang="en-US" sz="2800">
                <a:solidFill>
                  <a:srgbClr val="00B050"/>
                </a:solidFill>
              </a:rPr>
              <a:t>O</a:t>
            </a:r>
          </a:p>
        </p:txBody>
      </p:sp>
    </p:spTree>
    <p:extLst>
      <p:ext uri="{BB962C8B-B14F-4D97-AF65-F5344CB8AC3E}">
        <p14:creationId xmlns:p14="http://schemas.microsoft.com/office/powerpoint/2010/main" val="2866449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F4D9665-E73B-E025-8DDE-64A4D5C4C227}"/>
              </a:ext>
            </a:extLst>
          </p:cNvPr>
          <p:cNvSpPr/>
          <p:nvPr/>
        </p:nvSpPr>
        <p:spPr>
          <a:xfrm>
            <a:off x="9903184" y="5506327"/>
            <a:ext cx="438960" cy="369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TextBox 39">
            <a:extLst>
              <a:ext uri="{FF2B5EF4-FFF2-40B4-BE49-F238E27FC236}">
                <a16:creationId xmlns:a16="http://schemas.microsoft.com/office/drawing/2014/main" id="{5A7E2EAF-E2B6-05A3-FE81-F46BA40DB93E}"/>
              </a:ext>
            </a:extLst>
          </p:cNvPr>
          <p:cNvSpPr txBox="1"/>
          <p:nvPr/>
        </p:nvSpPr>
        <p:spPr>
          <a:xfrm>
            <a:off x="10411130" y="5506327"/>
            <a:ext cx="2165665" cy="369332"/>
          </a:xfrm>
          <a:prstGeom prst="rect">
            <a:avLst/>
          </a:prstGeom>
          <a:noFill/>
        </p:spPr>
        <p:txBody>
          <a:bodyPr wrap="square" rtlCol="0">
            <a:spAutoFit/>
          </a:bodyPr>
          <a:lstStyle/>
          <a:p>
            <a:r>
              <a:rPr lang="en-US">
                <a:solidFill>
                  <a:srgbClr val="0070C0"/>
                </a:solidFill>
              </a:rPr>
              <a:t>logicchRegionID</a:t>
            </a:r>
          </a:p>
        </p:txBody>
      </p:sp>
      <p:sp>
        <p:nvSpPr>
          <p:cNvPr id="46" name="Rectangle 45">
            <a:extLst>
              <a:ext uri="{FF2B5EF4-FFF2-40B4-BE49-F238E27FC236}">
                <a16:creationId xmlns:a16="http://schemas.microsoft.com/office/drawing/2014/main" id="{33C973C1-F667-0A21-BCEC-FA50FFE84A05}"/>
              </a:ext>
            </a:extLst>
          </p:cNvPr>
          <p:cNvSpPr/>
          <p:nvPr/>
        </p:nvSpPr>
        <p:spPr>
          <a:xfrm>
            <a:off x="630126" y="4935272"/>
            <a:ext cx="186397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47" name="Rectangle 46">
            <a:extLst>
              <a:ext uri="{FF2B5EF4-FFF2-40B4-BE49-F238E27FC236}">
                <a16:creationId xmlns:a16="http://schemas.microsoft.com/office/drawing/2014/main" id="{BF993809-CF6F-3D83-C2FA-4156CE24C70A}"/>
              </a:ext>
            </a:extLst>
          </p:cNvPr>
          <p:cNvSpPr/>
          <p:nvPr/>
        </p:nvSpPr>
        <p:spPr>
          <a:xfrm>
            <a:off x="4293786" y="4935272"/>
            <a:ext cx="186397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48" name="Straight Arrow Connector 47">
            <a:extLst>
              <a:ext uri="{FF2B5EF4-FFF2-40B4-BE49-F238E27FC236}">
                <a16:creationId xmlns:a16="http://schemas.microsoft.com/office/drawing/2014/main" id="{B8F33EB9-4644-3E14-E464-2B8C6E847995}"/>
              </a:ext>
            </a:extLst>
          </p:cNvPr>
          <p:cNvCxnSpPr>
            <a:cxnSpLocks/>
          </p:cNvCxnSpPr>
          <p:nvPr/>
        </p:nvCxnSpPr>
        <p:spPr>
          <a:xfrm>
            <a:off x="2494096" y="5151248"/>
            <a:ext cx="179969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9" name="TextBox 6">
            <a:extLst>
              <a:ext uri="{FF2B5EF4-FFF2-40B4-BE49-F238E27FC236}">
                <a16:creationId xmlns:a16="http://schemas.microsoft.com/office/drawing/2014/main" id="{187CB4CC-34DA-E5C0-757D-87C8A1C560B8}"/>
              </a:ext>
            </a:extLst>
          </p:cNvPr>
          <p:cNvSpPr txBox="1"/>
          <p:nvPr/>
        </p:nvSpPr>
        <p:spPr>
          <a:xfrm>
            <a:off x="2724542" y="5159506"/>
            <a:ext cx="13575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&gt;=220nm</a:t>
            </a:r>
          </a:p>
        </p:txBody>
      </p:sp>
      <p:sp>
        <p:nvSpPr>
          <p:cNvPr id="50" name="TextBox 49">
            <a:extLst>
              <a:ext uri="{FF2B5EF4-FFF2-40B4-BE49-F238E27FC236}">
                <a16:creationId xmlns:a16="http://schemas.microsoft.com/office/drawing/2014/main" id="{C7F2F738-8BE2-E1A8-947D-5A1BE14FE3A1}"/>
              </a:ext>
            </a:extLst>
          </p:cNvPr>
          <p:cNvSpPr txBox="1"/>
          <p:nvPr/>
        </p:nvSpPr>
        <p:spPr>
          <a:xfrm>
            <a:off x="227093" y="1146190"/>
            <a:ext cx="8574008" cy="2158732"/>
          </a:xfrm>
          <a:prstGeom prst="rect">
            <a:avLst/>
          </a:prstGeom>
          <a:noFill/>
        </p:spPr>
        <p:txBody>
          <a:bodyPr vert="horz" wrap="square" lIns="0" tIns="0" rIns="0" bIns="0" rtlCol="0" anchor="t">
            <a:spAutoFit/>
          </a:bodyPr>
          <a:lstStyle/>
          <a:p>
            <a:pPr marL="285750" indent="-285750">
              <a:lnSpc>
                <a:spcPct val="150000"/>
              </a:lnSpc>
              <a:buFont typeface="Wingdings" panose="05000000000000000000" pitchFamily="2" charset="2"/>
              <a:buChar char="q"/>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Region ID</a:t>
            </a:r>
            <a:r>
              <a:rPr lang="en-US" sz="2400">
                <a:solidFill>
                  <a:prstClr val="black"/>
                </a:solidFill>
                <a:latin typeface="Calibri" panose="020F0502020204030204"/>
                <a:sym typeface="Wingdings" panose="05000000000000000000" pitchFamily="2" charset="2"/>
              </a:rPr>
              <a:t> edge must be coincident on TRM</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sym typeface="Wingdings" panose="05000000000000000000" pitchFamily="2" charset="2"/>
              </a:rPr>
              <a:t>&gt;= 220 nm min space between TRM</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TRM PGD edge ends on BT at </a:t>
            </a:r>
            <a:r>
              <a:rPr kumimoji="0" lang="en-US" sz="2400" b="0" i="0" u="none" strike="noStrike" kern="1200" cap="none" spc="0" normalizeH="0" baseline="0" noProof="0" err="1">
                <a:ln>
                  <a:noFill/>
                </a:ln>
                <a:solidFill>
                  <a:prstClr val="black"/>
                </a:solidFill>
                <a:effectLst/>
                <a:uLnTx/>
                <a:uFillTx/>
                <a:latin typeface="Calibri" panose="020F0502020204030204"/>
                <a:sym typeface="Wingdings" panose="05000000000000000000" pitchFamily="2" charset="2"/>
              </a:rPr>
              <a:t>logicchRegionID</a:t>
            </a: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edge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sym typeface="Wingdings" panose="05000000000000000000" pitchFamily="2" charset="2"/>
              </a:rPr>
              <a:t>TRM OGD edge straddles the OGD edge of the Region</a:t>
            </a: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53" name="Rectangle 52">
            <a:extLst>
              <a:ext uri="{FF2B5EF4-FFF2-40B4-BE49-F238E27FC236}">
                <a16:creationId xmlns:a16="http://schemas.microsoft.com/office/drawing/2014/main" id="{863F8A7F-6228-C76B-A3BF-1C34214D7AB2}"/>
              </a:ext>
            </a:extLst>
          </p:cNvPr>
          <p:cNvSpPr/>
          <p:nvPr/>
        </p:nvSpPr>
        <p:spPr>
          <a:xfrm>
            <a:off x="9914729" y="4741460"/>
            <a:ext cx="43896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4" name="TextBox 53">
            <a:extLst>
              <a:ext uri="{FF2B5EF4-FFF2-40B4-BE49-F238E27FC236}">
                <a16:creationId xmlns:a16="http://schemas.microsoft.com/office/drawing/2014/main" id="{C1F87AD6-7764-0FC1-9CE4-6FBA42E301A3}"/>
              </a:ext>
            </a:extLst>
          </p:cNvPr>
          <p:cNvSpPr txBox="1"/>
          <p:nvPr/>
        </p:nvSpPr>
        <p:spPr>
          <a:xfrm>
            <a:off x="10422675" y="4750606"/>
            <a:ext cx="2165665" cy="369332"/>
          </a:xfrm>
          <a:prstGeom prst="rect">
            <a:avLst/>
          </a:prstGeom>
          <a:noFill/>
        </p:spPr>
        <p:txBody>
          <a:bodyPr wrap="square" rtlCol="0">
            <a:spAutoFit/>
          </a:bodyPr>
          <a:lstStyle/>
          <a:p>
            <a:r>
              <a:rPr lang="en-US">
                <a:solidFill>
                  <a:srgbClr val="0070C0"/>
                </a:solidFill>
              </a:rPr>
              <a:t>TRM</a:t>
            </a:r>
          </a:p>
        </p:txBody>
      </p:sp>
      <p:sp>
        <p:nvSpPr>
          <p:cNvPr id="75" name="Rectangle 74">
            <a:extLst>
              <a:ext uri="{FF2B5EF4-FFF2-40B4-BE49-F238E27FC236}">
                <a16:creationId xmlns:a16="http://schemas.microsoft.com/office/drawing/2014/main" id="{D5FA2EE6-9E87-240F-746A-C371E1D13F92}"/>
              </a:ext>
            </a:extLst>
          </p:cNvPr>
          <p:cNvSpPr/>
          <p:nvPr/>
        </p:nvSpPr>
        <p:spPr>
          <a:xfrm>
            <a:off x="7171814" y="4150960"/>
            <a:ext cx="1343545" cy="3052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78" name="Straight Connector 77">
            <a:extLst>
              <a:ext uri="{FF2B5EF4-FFF2-40B4-BE49-F238E27FC236}">
                <a16:creationId xmlns:a16="http://schemas.microsoft.com/office/drawing/2014/main" id="{9706519E-FA69-32A6-59C4-BD8B96750357}"/>
              </a:ext>
            </a:extLst>
          </p:cNvPr>
          <p:cNvCxnSpPr>
            <a:cxnSpLocks/>
          </p:cNvCxnSpPr>
          <p:nvPr/>
        </p:nvCxnSpPr>
        <p:spPr>
          <a:xfrm>
            <a:off x="6748042" y="4306561"/>
            <a:ext cx="1767317"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31751672-61FC-7B71-7C52-0B4171CCE722}"/>
              </a:ext>
            </a:extLst>
          </p:cNvPr>
          <p:cNvSpPr/>
          <p:nvPr/>
        </p:nvSpPr>
        <p:spPr>
          <a:xfrm>
            <a:off x="7171814" y="4674090"/>
            <a:ext cx="1343545" cy="3052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2" name="Rectangle 21">
            <a:extLst>
              <a:ext uri="{FF2B5EF4-FFF2-40B4-BE49-F238E27FC236}">
                <a16:creationId xmlns:a16="http://schemas.microsoft.com/office/drawing/2014/main" id="{AE96EB05-47F5-B0A4-D872-7F0941D2124F}"/>
              </a:ext>
            </a:extLst>
          </p:cNvPr>
          <p:cNvSpPr/>
          <p:nvPr/>
        </p:nvSpPr>
        <p:spPr>
          <a:xfrm>
            <a:off x="7171814" y="5185619"/>
            <a:ext cx="1357596" cy="3052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3" name="Rectangle 22">
            <a:extLst>
              <a:ext uri="{FF2B5EF4-FFF2-40B4-BE49-F238E27FC236}">
                <a16:creationId xmlns:a16="http://schemas.microsoft.com/office/drawing/2014/main" id="{17224064-D5B2-12CF-62C1-FEFA43F664B4}"/>
              </a:ext>
            </a:extLst>
          </p:cNvPr>
          <p:cNvSpPr/>
          <p:nvPr/>
        </p:nvSpPr>
        <p:spPr>
          <a:xfrm>
            <a:off x="7171814" y="5799110"/>
            <a:ext cx="1343545" cy="3052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4" name="Rectangle 23">
            <a:extLst>
              <a:ext uri="{FF2B5EF4-FFF2-40B4-BE49-F238E27FC236}">
                <a16:creationId xmlns:a16="http://schemas.microsoft.com/office/drawing/2014/main" id="{C858C0A5-8A7D-C4FE-E9A1-62CE7A5EED87}"/>
              </a:ext>
            </a:extLst>
          </p:cNvPr>
          <p:cNvSpPr/>
          <p:nvPr/>
        </p:nvSpPr>
        <p:spPr>
          <a:xfrm>
            <a:off x="7163839" y="6235480"/>
            <a:ext cx="1365571" cy="30529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79" name="Straight Connector 78">
            <a:extLst>
              <a:ext uri="{FF2B5EF4-FFF2-40B4-BE49-F238E27FC236}">
                <a16:creationId xmlns:a16="http://schemas.microsoft.com/office/drawing/2014/main" id="{738A0E9B-D6E0-4B33-E04A-433C44143652}"/>
              </a:ext>
            </a:extLst>
          </p:cNvPr>
          <p:cNvCxnSpPr>
            <a:cxnSpLocks/>
          </p:cNvCxnSpPr>
          <p:nvPr/>
        </p:nvCxnSpPr>
        <p:spPr>
          <a:xfrm>
            <a:off x="6748042" y="6403458"/>
            <a:ext cx="1739885"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17B4744D-0993-BB45-2366-03084539E46D}"/>
              </a:ext>
            </a:extLst>
          </p:cNvPr>
          <p:cNvCxnSpPr>
            <a:cxnSpLocks/>
          </p:cNvCxnSpPr>
          <p:nvPr/>
        </p:nvCxnSpPr>
        <p:spPr>
          <a:xfrm flipH="1">
            <a:off x="8498240" y="4306561"/>
            <a:ext cx="17119" cy="2096897"/>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itle 2">
            <a:extLst>
              <a:ext uri="{FF2B5EF4-FFF2-40B4-BE49-F238E27FC236}">
                <a16:creationId xmlns:a16="http://schemas.microsoft.com/office/drawing/2014/main" id="{B0DF0A49-D63F-359C-80FE-9FC14E282106}"/>
              </a:ext>
            </a:extLst>
          </p:cNvPr>
          <p:cNvSpPr txBox="1">
            <a:spLocks/>
          </p:cNvSpPr>
          <p:nvPr/>
        </p:nvSpPr>
        <p:spPr>
          <a:xfrm>
            <a:off x="135652"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600" b="1">
                <a:solidFill>
                  <a:sysClr val="windowText" lastClr="000000"/>
                </a:solidFill>
                <a:latin typeface="Calibri Light" panose="020F0302020204030204"/>
              </a:rPr>
              <a:t>TRM Rules</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cxnSp>
        <p:nvCxnSpPr>
          <p:cNvPr id="2" name="Straight Arrow Connector 1">
            <a:extLst>
              <a:ext uri="{FF2B5EF4-FFF2-40B4-BE49-F238E27FC236}">
                <a16:creationId xmlns:a16="http://schemas.microsoft.com/office/drawing/2014/main" id="{5A2766F4-87AB-86AA-4C13-F780908E78A8}"/>
              </a:ext>
            </a:extLst>
          </p:cNvPr>
          <p:cNvCxnSpPr>
            <a:cxnSpLocks/>
          </p:cNvCxnSpPr>
          <p:nvPr/>
        </p:nvCxnSpPr>
        <p:spPr>
          <a:xfrm>
            <a:off x="630126" y="5528838"/>
            <a:ext cx="179969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 name="TextBox 6">
            <a:extLst>
              <a:ext uri="{FF2B5EF4-FFF2-40B4-BE49-F238E27FC236}">
                <a16:creationId xmlns:a16="http://schemas.microsoft.com/office/drawing/2014/main" id="{D2468746-C509-7037-D193-01C463A6E174}"/>
              </a:ext>
            </a:extLst>
          </p:cNvPr>
          <p:cNvSpPr txBox="1"/>
          <p:nvPr/>
        </p:nvSpPr>
        <p:spPr>
          <a:xfrm>
            <a:off x="851173" y="5582423"/>
            <a:ext cx="13575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&gt;=220nm</a:t>
            </a:r>
          </a:p>
        </p:txBody>
      </p:sp>
      <p:sp>
        <p:nvSpPr>
          <p:cNvPr id="4" name="Rectangle 3">
            <a:extLst>
              <a:ext uri="{FF2B5EF4-FFF2-40B4-BE49-F238E27FC236}">
                <a16:creationId xmlns:a16="http://schemas.microsoft.com/office/drawing/2014/main" id="{70AFA508-CDDC-5D84-33DB-CEFA01BAB21A}"/>
              </a:ext>
            </a:extLst>
          </p:cNvPr>
          <p:cNvSpPr/>
          <p:nvPr/>
        </p:nvSpPr>
        <p:spPr>
          <a:xfrm>
            <a:off x="8515359" y="4150960"/>
            <a:ext cx="731663" cy="2389805"/>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 name="Rectangle 4">
            <a:extLst>
              <a:ext uri="{FF2B5EF4-FFF2-40B4-BE49-F238E27FC236}">
                <a16:creationId xmlns:a16="http://schemas.microsoft.com/office/drawing/2014/main" id="{FD76D30D-D891-0588-92BB-DC6E51FF3C0B}"/>
              </a:ext>
            </a:extLst>
          </p:cNvPr>
          <p:cNvSpPr/>
          <p:nvPr/>
        </p:nvSpPr>
        <p:spPr>
          <a:xfrm>
            <a:off x="9914729" y="3976593"/>
            <a:ext cx="438960" cy="44846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6" name="TextBox 5">
            <a:extLst>
              <a:ext uri="{FF2B5EF4-FFF2-40B4-BE49-F238E27FC236}">
                <a16:creationId xmlns:a16="http://schemas.microsoft.com/office/drawing/2014/main" id="{2F2DB042-6C5E-EB9B-9F03-BB2D1D1BB7AE}"/>
              </a:ext>
            </a:extLst>
          </p:cNvPr>
          <p:cNvSpPr txBox="1"/>
          <p:nvPr/>
        </p:nvSpPr>
        <p:spPr>
          <a:xfrm>
            <a:off x="10422675" y="4055729"/>
            <a:ext cx="2165665" cy="369332"/>
          </a:xfrm>
          <a:prstGeom prst="rect">
            <a:avLst/>
          </a:prstGeom>
          <a:noFill/>
        </p:spPr>
        <p:txBody>
          <a:bodyPr wrap="square" rtlCol="0">
            <a:spAutoFit/>
          </a:bodyPr>
          <a:lstStyle/>
          <a:p>
            <a:r>
              <a:rPr lang="en-US">
                <a:solidFill>
                  <a:srgbClr val="0070C0"/>
                </a:solidFill>
              </a:rPr>
              <a:t>BT</a:t>
            </a:r>
          </a:p>
        </p:txBody>
      </p:sp>
    </p:spTree>
    <p:extLst>
      <p:ext uri="{BB962C8B-B14F-4D97-AF65-F5344CB8AC3E}">
        <p14:creationId xmlns:p14="http://schemas.microsoft.com/office/powerpoint/2010/main" val="64743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50E55-414B-4A81-A4A8-3410AD37BEB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83FF0A44-1DA6-1156-142F-A64917909482}"/>
              </a:ext>
            </a:extLst>
          </p:cNvPr>
          <p:cNvSpPr/>
          <p:nvPr/>
        </p:nvSpPr>
        <p:spPr>
          <a:xfrm>
            <a:off x="6290536" y="5147374"/>
            <a:ext cx="731663" cy="114640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0" name="TextBox 49">
            <a:extLst>
              <a:ext uri="{FF2B5EF4-FFF2-40B4-BE49-F238E27FC236}">
                <a16:creationId xmlns:a16="http://schemas.microsoft.com/office/drawing/2014/main" id="{01341492-FB34-CCFE-4559-F81EC0E0DDAB}"/>
              </a:ext>
            </a:extLst>
          </p:cNvPr>
          <p:cNvSpPr txBox="1"/>
          <p:nvPr/>
        </p:nvSpPr>
        <p:spPr>
          <a:xfrm>
            <a:off x="270660" y="775386"/>
            <a:ext cx="9762733" cy="2712730"/>
          </a:xfrm>
          <a:prstGeom prst="rect">
            <a:avLst/>
          </a:prstGeom>
          <a:noFill/>
        </p:spPr>
        <p:txBody>
          <a:bodyPr vert="horz" wrap="square" lIns="0" tIns="0" rIns="0" bIns="0" rtlCol="0" anchor="t">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 Poly OGD edge must abut TRM</a:t>
            </a:r>
            <a:endParaRPr lang="en-US" sz="2400">
              <a:solidFill>
                <a:prstClr val="black"/>
              </a:solidFill>
              <a:latin typeface="Calibri" panose="020F0502020204030204"/>
              <a:sym typeface="Wingdings" panose="05000000000000000000" pitchFamily="2" charset="2"/>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FTI OGD edge must abut TRM center</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sym typeface="Wingdings" panose="05000000000000000000" pitchFamily="2" charset="2"/>
              </a:rPr>
              <a:t>TRM </a:t>
            </a:r>
            <a:r>
              <a:rPr lang="en-US" sz="2400">
                <a:solidFill>
                  <a:prstClr val="black"/>
                </a:solidFill>
                <a:latin typeface="Calibri" panose="020F0502020204030204"/>
                <a:sym typeface="Wingdings" panose="05000000000000000000" pitchFamily="2" charset="2"/>
              </a:rPr>
              <a:t>PGD edges must be coincident with </a:t>
            </a:r>
            <a:r>
              <a:rPr lang="en-US" sz="2400" err="1">
                <a:solidFill>
                  <a:prstClr val="black"/>
                </a:solidFill>
                <a:latin typeface="Calibri" panose="020F0502020204030204"/>
                <a:sym typeface="Wingdings" panose="05000000000000000000" pitchFamily="2" charset="2"/>
              </a:rPr>
              <a:t>global_tcn_grid</a:t>
            </a:r>
            <a:r>
              <a:rPr lang="en-US" sz="2400">
                <a:solidFill>
                  <a:prstClr val="black"/>
                </a:solidFill>
                <a:latin typeface="Calibri" panose="020F0502020204030204"/>
                <a:sym typeface="Wingdings" panose="05000000000000000000" pitchFamily="2" charset="2"/>
              </a:rPr>
              <a:t>. Exception:</a:t>
            </a:r>
          </a:p>
          <a:p>
            <a:pPr marL="742950" lvl="1" indent="-285750">
              <a:lnSpc>
                <a:spcPct val="150000"/>
              </a:lnSpc>
              <a:buFont typeface="Wingdings" panose="05000000000000000000" pitchFamily="2" charset="2"/>
              <a:buChar char="q"/>
              <a:defRPr/>
            </a:pPr>
            <a:r>
              <a:rPr lang="en-US" sz="2400" b="0" i="0" u="none" strike="noStrike" kern="1200" cap="none" spc="0" normalizeH="0" baseline="0" noProof="0">
                <a:ln>
                  <a:noFill/>
                </a:ln>
                <a:solidFill>
                  <a:prstClr val="black"/>
                </a:solidFill>
                <a:effectLst/>
                <a:uLnTx/>
                <a:uFillTx/>
                <a:latin typeface="Calibri" panose="020F0502020204030204"/>
                <a:ea typeface="Calibri"/>
                <a:cs typeface="Calibri"/>
                <a:sym typeface="Wingdings" panose="05000000000000000000" pitchFamily="2" charset="2"/>
              </a:rPr>
              <a:t>When </a:t>
            </a:r>
            <a:r>
              <a:rPr lang="en-US" sz="2400">
                <a:solidFill>
                  <a:prstClr val="black"/>
                </a:solidFill>
                <a:latin typeface="Calibri" panose="020F0502020204030204"/>
                <a:ea typeface="Calibri"/>
                <a:cs typeface="Calibri"/>
                <a:sym typeface="Wingdings" panose="05000000000000000000" pitchFamily="2" charset="2"/>
              </a:rPr>
              <a:t>TRM PGD edge abuts BT</a:t>
            </a:r>
            <a:endParaRPr lang="en-US" sz="2400" b="0" i="0" u="none" strike="noStrike" kern="1200" cap="none" spc="0" normalizeH="0" baseline="0" noProof="0">
              <a:ln>
                <a:noFill/>
              </a:ln>
              <a:solidFill>
                <a:prstClr val="black"/>
              </a:solidFill>
              <a:effectLst/>
              <a:uLnTx/>
              <a:uFillTx/>
              <a:latin typeface="Calibri" panose="020F0502020204030204"/>
              <a:ea typeface="Calibri"/>
              <a:cs typeface="Calibri"/>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51" name="Rectangle 50">
            <a:extLst>
              <a:ext uri="{FF2B5EF4-FFF2-40B4-BE49-F238E27FC236}">
                <a16:creationId xmlns:a16="http://schemas.microsoft.com/office/drawing/2014/main" id="{3971D59D-37A0-038B-2DC9-F2F91FB08826}"/>
              </a:ext>
            </a:extLst>
          </p:cNvPr>
          <p:cNvSpPr/>
          <p:nvPr/>
        </p:nvSpPr>
        <p:spPr>
          <a:xfrm>
            <a:off x="10678026" y="4362226"/>
            <a:ext cx="434658" cy="448468"/>
          </a:xfrm>
          <a:prstGeom prst="rect">
            <a:avLst/>
          </a:prstGeom>
          <a:solidFill>
            <a:srgbClr val="4EA72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ysClr val="windowText" lastClr="000000"/>
                </a:solidFill>
              </a:rPr>
              <a:t> </a:t>
            </a:r>
          </a:p>
        </p:txBody>
      </p:sp>
      <p:sp>
        <p:nvSpPr>
          <p:cNvPr id="52" name="TextBox 51">
            <a:extLst>
              <a:ext uri="{FF2B5EF4-FFF2-40B4-BE49-F238E27FC236}">
                <a16:creationId xmlns:a16="http://schemas.microsoft.com/office/drawing/2014/main" id="{45436A57-C4A7-2E64-9F37-D4D7435A1E7C}"/>
              </a:ext>
            </a:extLst>
          </p:cNvPr>
          <p:cNvSpPr txBox="1"/>
          <p:nvPr/>
        </p:nvSpPr>
        <p:spPr>
          <a:xfrm>
            <a:off x="11181670" y="4454391"/>
            <a:ext cx="657211" cy="369332"/>
          </a:xfrm>
          <a:prstGeom prst="rect">
            <a:avLst/>
          </a:prstGeom>
          <a:noFill/>
        </p:spPr>
        <p:txBody>
          <a:bodyPr wrap="square" rtlCol="0">
            <a:spAutoFit/>
          </a:bodyPr>
          <a:lstStyle/>
          <a:p>
            <a:r>
              <a:rPr lang="en-US">
                <a:solidFill>
                  <a:srgbClr val="0070C0"/>
                </a:solidFill>
              </a:rPr>
              <a:t>poly</a:t>
            </a:r>
          </a:p>
        </p:txBody>
      </p:sp>
      <p:sp>
        <p:nvSpPr>
          <p:cNvPr id="53" name="Rectangle 52">
            <a:extLst>
              <a:ext uri="{FF2B5EF4-FFF2-40B4-BE49-F238E27FC236}">
                <a16:creationId xmlns:a16="http://schemas.microsoft.com/office/drawing/2014/main" id="{0BF09C01-7E60-C13D-03D5-A95AE7752003}"/>
              </a:ext>
            </a:extLst>
          </p:cNvPr>
          <p:cNvSpPr/>
          <p:nvPr/>
        </p:nvSpPr>
        <p:spPr>
          <a:xfrm>
            <a:off x="10673724" y="3745624"/>
            <a:ext cx="438960"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4" name="TextBox 53">
            <a:extLst>
              <a:ext uri="{FF2B5EF4-FFF2-40B4-BE49-F238E27FC236}">
                <a16:creationId xmlns:a16="http://schemas.microsoft.com/office/drawing/2014/main" id="{5DF82BBA-A8FA-D296-7535-9D52C0396D85}"/>
              </a:ext>
            </a:extLst>
          </p:cNvPr>
          <p:cNvSpPr txBox="1"/>
          <p:nvPr/>
        </p:nvSpPr>
        <p:spPr>
          <a:xfrm>
            <a:off x="11181670" y="3754770"/>
            <a:ext cx="657211" cy="369332"/>
          </a:xfrm>
          <a:prstGeom prst="rect">
            <a:avLst/>
          </a:prstGeom>
          <a:noFill/>
        </p:spPr>
        <p:txBody>
          <a:bodyPr wrap="square" rtlCol="0">
            <a:spAutoFit/>
          </a:bodyPr>
          <a:lstStyle/>
          <a:p>
            <a:r>
              <a:rPr lang="en-US">
                <a:solidFill>
                  <a:srgbClr val="0070C0"/>
                </a:solidFill>
              </a:rPr>
              <a:t>TRM </a:t>
            </a:r>
          </a:p>
        </p:txBody>
      </p:sp>
      <p:sp>
        <p:nvSpPr>
          <p:cNvPr id="55" name="Rectangle 54">
            <a:extLst>
              <a:ext uri="{FF2B5EF4-FFF2-40B4-BE49-F238E27FC236}">
                <a16:creationId xmlns:a16="http://schemas.microsoft.com/office/drawing/2014/main" id="{114E6B77-7D33-4EBE-CA9D-407A951590F2}"/>
              </a:ext>
            </a:extLst>
          </p:cNvPr>
          <p:cNvSpPr/>
          <p:nvPr/>
        </p:nvSpPr>
        <p:spPr>
          <a:xfrm>
            <a:off x="793383" y="4605716"/>
            <a:ext cx="4846319"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6" name="Rectangle 55">
            <a:extLst>
              <a:ext uri="{FF2B5EF4-FFF2-40B4-BE49-F238E27FC236}">
                <a16:creationId xmlns:a16="http://schemas.microsoft.com/office/drawing/2014/main" id="{7DAD5A44-C083-ABE1-7729-3A730F97FBAA}"/>
              </a:ext>
            </a:extLst>
          </p:cNvPr>
          <p:cNvSpPr/>
          <p:nvPr/>
        </p:nvSpPr>
        <p:spPr>
          <a:xfrm>
            <a:off x="942628" y="5054184"/>
            <a:ext cx="334787" cy="106713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7" name="Rectangle 56">
            <a:extLst>
              <a:ext uri="{FF2B5EF4-FFF2-40B4-BE49-F238E27FC236}">
                <a16:creationId xmlns:a16="http://schemas.microsoft.com/office/drawing/2014/main" id="{4637F5E8-D924-87AB-439B-6B50CAEDEA37}"/>
              </a:ext>
            </a:extLst>
          </p:cNvPr>
          <p:cNvSpPr/>
          <p:nvPr/>
        </p:nvSpPr>
        <p:spPr>
          <a:xfrm>
            <a:off x="2320629" y="4490822"/>
            <a:ext cx="334788" cy="165691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4" name="Rectangle 63">
            <a:extLst>
              <a:ext uri="{FF2B5EF4-FFF2-40B4-BE49-F238E27FC236}">
                <a16:creationId xmlns:a16="http://schemas.microsoft.com/office/drawing/2014/main" id="{42DBAD8E-9224-0D94-F5DE-0D983CC1B4C6}"/>
              </a:ext>
            </a:extLst>
          </p:cNvPr>
          <p:cNvSpPr/>
          <p:nvPr/>
        </p:nvSpPr>
        <p:spPr>
          <a:xfrm>
            <a:off x="4571413" y="4829949"/>
            <a:ext cx="286720" cy="1291373"/>
          </a:xfrm>
          <a:prstGeom prst="rect">
            <a:avLst/>
          </a:prstGeom>
          <a:pattFill prst="wdDnDiag">
            <a:fgClr>
              <a:srgbClr val="FF000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65" name="Rectangle 64">
            <a:extLst>
              <a:ext uri="{FF2B5EF4-FFF2-40B4-BE49-F238E27FC236}">
                <a16:creationId xmlns:a16="http://schemas.microsoft.com/office/drawing/2014/main" id="{8ADAABB0-782A-48AD-41B2-06B86B578EE3}"/>
              </a:ext>
            </a:extLst>
          </p:cNvPr>
          <p:cNvSpPr/>
          <p:nvPr/>
        </p:nvSpPr>
        <p:spPr>
          <a:xfrm>
            <a:off x="5152027" y="4381481"/>
            <a:ext cx="286720" cy="1752095"/>
          </a:xfrm>
          <a:prstGeom prst="rect">
            <a:avLst/>
          </a:prstGeom>
          <a:pattFill prst="wdDnDiag">
            <a:fgClr>
              <a:srgbClr val="FF000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67" name="Rectangle 66">
            <a:extLst>
              <a:ext uri="{FF2B5EF4-FFF2-40B4-BE49-F238E27FC236}">
                <a16:creationId xmlns:a16="http://schemas.microsoft.com/office/drawing/2014/main" id="{D95937B9-5953-6681-AA8D-388831675055}"/>
              </a:ext>
            </a:extLst>
          </p:cNvPr>
          <p:cNvSpPr/>
          <p:nvPr/>
        </p:nvSpPr>
        <p:spPr>
          <a:xfrm>
            <a:off x="7023934" y="3745624"/>
            <a:ext cx="2267291"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68" name="Rectangle 67">
            <a:extLst>
              <a:ext uri="{FF2B5EF4-FFF2-40B4-BE49-F238E27FC236}">
                <a16:creationId xmlns:a16="http://schemas.microsoft.com/office/drawing/2014/main" id="{3DFC610D-6F37-532B-C05F-86E5740CEE1F}"/>
              </a:ext>
            </a:extLst>
          </p:cNvPr>
          <p:cNvSpPr/>
          <p:nvPr/>
        </p:nvSpPr>
        <p:spPr>
          <a:xfrm>
            <a:off x="8856586" y="3391080"/>
            <a:ext cx="434641" cy="1131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9" name="Rectangle 68">
            <a:extLst>
              <a:ext uri="{FF2B5EF4-FFF2-40B4-BE49-F238E27FC236}">
                <a16:creationId xmlns:a16="http://schemas.microsoft.com/office/drawing/2014/main" id="{C9D8DA5C-6511-83B3-50C7-F1B1FDA294E7}"/>
              </a:ext>
            </a:extLst>
          </p:cNvPr>
          <p:cNvSpPr/>
          <p:nvPr/>
        </p:nvSpPr>
        <p:spPr>
          <a:xfrm>
            <a:off x="6806613" y="3391080"/>
            <a:ext cx="434641" cy="1131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70" name="Straight Connector 69">
            <a:extLst>
              <a:ext uri="{FF2B5EF4-FFF2-40B4-BE49-F238E27FC236}">
                <a16:creationId xmlns:a16="http://schemas.microsoft.com/office/drawing/2014/main" id="{05828BF8-70BC-038E-9FC7-BAF89E22D2AD}"/>
              </a:ext>
            </a:extLst>
          </p:cNvPr>
          <p:cNvCxnSpPr>
            <a:stCxn id="69" idx="0"/>
            <a:endCxn id="69" idx="2"/>
          </p:cNvCxnSpPr>
          <p:nvPr/>
        </p:nvCxnSpPr>
        <p:spPr>
          <a:xfrm>
            <a:off x="7023934" y="3391080"/>
            <a:ext cx="0" cy="1131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F3AEB6CD-A45D-E5D2-4725-24CE4B1B33FE}"/>
              </a:ext>
            </a:extLst>
          </p:cNvPr>
          <p:cNvCxnSpPr/>
          <p:nvPr/>
        </p:nvCxnSpPr>
        <p:spPr>
          <a:xfrm>
            <a:off x="9073906" y="3391080"/>
            <a:ext cx="0" cy="1131616"/>
          </a:xfrm>
          <a:prstGeom prst="line">
            <a:avLst/>
          </a:prstGeom>
        </p:spPr>
        <p:style>
          <a:lnRef idx="2">
            <a:schemeClr val="accent1"/>
          </a:lnRef>
          <a:fillRef idx="0">
            <a:schemeClr val="accent1"/>
          </a:fillRef>
          <a:effectRef idx="1">
            <a:schemeClr val="accent1"/>
          </a:effectRef>
          <a:fontRef idx="minor">
            <a:schemeClr val="tx1"/>
          </a:fontRef>
        </p:style>
      </p:cxnSp>
      <p:sp>
        <p:nvSpPr>
          <p:cNvPr id="73" name="TextBox 1144">
            <a:extLst>
              <a:ext uri="{FF2B5EF4-FFF2-40B4-BE49-F238E27FC236}">
                <a16:creationId xmlns:a16="http://schemas.microsoft.com/office/drawing/2014/main" id="{36BC3A02-B98D-ECDD-B099-BC973BB4AEEC}"/>
              </a:ext>
            </a:extLst>
          </p:cNvPr>
          <p:cNvSpPr txBox="1"/>
          <p:nvPr/>
        </p:nvSpPr>
        <p:spPr>
          <a:xfrm>
            <a:off x="8448374" y="4631146"/>
            <a:ext cx="176734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err="1">
                <a:solidFill>
                  <a:prstClr val="black"/>
                </a:solidFill>
                <a:latin typeface="Calibri" panose="020F0502020204030204"/>
                <a:sym typeface="Wingdings" panose="05000000000000000000" pitchFamily="2" charset="2"/>
              </a:rPr>
              <a:t>global_tcn_grid</a:t>
            </a:r>
            <a:endParaRPr lang="en-US"/>
          </a:p>
        </p:txBody>
      </p:sp>
      <p:sp>
        <p:nvSpPr>
          <p:cNvPr id="8" name="Rectangle 7">
            <a:extLst>
              <a:ext uri="{FF2B5EF4-FFF2-40B4-BE49-F238E27FC236}">
                <a16:creationId xmlns:a16="http://schemas.microsoft.com/office/drawing/2014/main" id="{B78CFCF8-EFEC-91A8-DD46-FC1D6C82D5D4}"/>
              </a:ext>
            </a:extLst>
          </p:cNvPr>
          <p:cNvSpPr/>
          <p:nvPr/>
        </p:nvSpPr>
        <p:spPr>
          <a:xfrm>
            <a:off x="10663458" y="5070962"/>
            <a:ext cx="459491" cy="445744"/>
          </a:xfrm>
          <a:prstGeom prst="rect">
            <a:avLst/>
          </a:prstGeom>
          <a:pattFill prst="wdDnDiag">
            <a:fgClr>
              <a:srgbClr val="FF000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9" name="TextBox 8">
            <a:extLst>
              <a:ext uri="{FF2B5EF4-FFF2-40B4-BE49-F238E27FC236}">
                <a16:creationId xmlns:a16="http://schemas.microsoft.com/office/drawing/2014/main" id="{E5804E9F-03A6-6EE3-6FB9-3010896A74D0}"/>
              </a:ext>
            </a:extLst>
          </p:cNvPr>
          <p:cNvSpPr txBox="1"/>
          <p:nvPr/>
        </p:nvSpPr>
        <p:spPr>
          <a:xfrm>
            <a:off x="11181670" y="5147374"/>
            <a:ext cx="763056" cy="369332"/>
          </a:xfrm>
          <a:prstGeom prst="rect">
            <a:avLst/>
          </a:prstGeom>
          <a:noFill/>
        </p:spPr>
        <p:txBody>
          <a:bodyPr wrap="square" rtlCol="0">
            <a:spAutoFit/>
          </a:bodyPr>
          <a:lstStyle/>
          <a:p>
            <a:r>
              <a:rPr lang="en-US">
                <a:solidFill>
                  <a:srgbClr val="0070C0"/>
                </a:solidFill>
              </a:rPr>
              <a:t>FTI</a:t>
            </a:r>
          </a:p>
        </p:txBody>
      </p:sp>
      <p:sp>
        <p:nvSpPr>
          <p:cNvPr id="10" name="Title 2">
            <a:extLst>
              <a:ext uri="{FF2B5EF4-FFF2-40B4-BE49-F238E27FC236}">
                <a16:creationId xmlns:a16="http://schemas.microsoft.com/office/drawing/2014/main" id="{8710F47F-3C50-A784-9C0D-558CAED075C0}"/>
              </a:ext>
            </a:extLst>
          </p:cNvPr>
          <p:cNvSpPr txBox="1">
            <a:spLocks/>
          </p:cNvSpPr>
          <p:nvPr/>
        </p:nvSpPr>
        <p:spPr>
          <a:xfrm>
            <a:off x="135652"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3600" b="1">
                <a:solidFill>
                  <a:sysClr val="windowText" lastClr="000000"/>
                </a:solidFill>
                <a:latin typeface="Calibri Light" panose="020F0302020204030204"/>
              </a:rPr>
              <a:t>TRM Rules</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sp>
        <p:nvSpPr>
          <p:cNvPr id="3" name="TextBox 2">
            <a:extLst>
              <a:ext uri="{FF2B5EF4-FFF2-40B4-BE49-F238E27FC236}">
                <a16:creationId xmlns:a16="http://schemas.microsoft.com/office/drawing/2014/main" id="{FC2B53CF-0F54-CFCF-398E-89EAFA1F1AA5}"/>
              </a:ext>
            </a:extLst>
          </p:cNvPr>
          <p:cNvSpPr txBox="1"/>
          <p:nvPr/>
        </p:nvSpPr>
        <p:spPr>
          <a:xfrm>
            <a:off x="2276266" y="3828439"/>
            <a:ext cx="423514" cy="498177"/>
          </a:xfrm>
          <a:prstGeom prst="rect">
            <a:avLst/>
          </a:prstGeom>
          <a:noFill/>
        </p:spPr>
        <p:txBody>
          <a:bodyPr wrap="none" rtlCol="0">
            <a:spAutoFit/>
          </a:bodyPr>
          <a:lstStyle/>
          <a:p>
            <a:r>
              <a:rPr lang="en-US" sz="3600">
                <a:solidFill>
                  <a:srgbClr val="FF0000"/>
                </a:solidFill>
              </a:rPr>
              <a:t>X</a:t>
            </a:r>
          </a:p>
        </p:txBody>
      </p:sp>
      <p:sp>
        <p:nvSpPr>
          <p:cNvPr id="5" name="TextBox 4">
            <a:extLst>
              <a:ext uri="{FF2B5EF4-FFF2-40B4-BE49-F238E27FC236}">
                <a16:creationId xmlns:a16="http://schemas.microsoft.com/office/drawing/2014/main" id="{0B105811-96C5-F6B3-8EE1-30BF3CC7FDEB}"/>
              </a:ext>
            </a:extLst>
          </p:cNvPr>
          <p:cNvSpPr txBox="1"/>
          <p:nvPr/>
        </p:nvSpPr>
        <p:spPr>
          <a:xfrm>
            <a:off x="5083630" y="3828439"/>
            <a:ext cx="423514" cy="498177"/>
          </a:xfrm>
          <a:prstGeom prst="rect">
            <a:avLst/>
          </a:prstGeom>
          <a:noFill/>
        </p:spPr>
        <p:txBody>
          <a:bodyPr wrap="none" rtlCol="0">
            <a:spAutoFit/>
          </a:bodyPr>
          <a:lstStyle/>
          <a:p>
            <a:r>
              <a:rPr lang="en-US" sz="3600">
                <a:solidFill>
                  <a:srgbClr val="FF0000"/>
                </a:solidFill>
              </a:rPr>
              <a:t>X</a:t>
            </a:r>
          </a:p>
        </p:txBody>
      </p:sp>
      <p:sp>
        <p:nvSpPr>
          <p:cNvPr id="6" name="TextBox 5">
            <a:extLst>
              <a:ext uri="{FF2B5EF4-FFF2-40B4-BE49-F238E27FC236}">
                <a16:creationId xmlns:a16="http://schemas.microsoft.com/office/drawing/2014/main" id="{DB375326-DE31-C177-5AA3-7525E64861A7}"/>
              </a:ext>
            </a:extLst>
          </p:cNvPr>
          <p:cNvSpPr txBox="1"/>
          <p:nvPr/>
        </p:nvSpPr>
        <p:spPr>
          <a:xfrm>
            <a:off x="9245723" y="3684196"/>
            <a:ext cx="423514" cy="498177"/>
          </a:xfrm>
          <a:prstGeom prst="rect">
            <a:avLst/>
          </a:prstGeom>
          <a:noFill/>
        </p:spPr>
        <p:txBody>
          <a:bodyPr wrap="none" rtlCol="0">
            <a:spAutoFit/>
          </a:bodyPr>
          <a:lstStyle/>
          <a:p>
            <a:r>
              <a:rPr lang="en-US" sz="3600">
                <a:solidFill>
                  <a:srgbClr val="FF0000"/>
                </a:solidFill>
              </a:rPr>
              <a:t>X</a:t>
            </a:r>
          </a:p>
        </p:txBody>
      </p:sp>
      <p:sp>
        <p:nvSpPr>
          <p:cNvPr id="7" name="Rectangle 6">
            <a:extLst>
              <a:ext uri="{FF2B5EF4-FFF2-40B4-BE49-F238E27FC236}">
                <a16:creationId xmlns:a16="http://schemas.microsoft.com/office/drawing/2014/main" id="{9926BE4F-0BB0-DD39-119C-C5AE2C4C30E3}"/>
              </a:ext>
            </a:extLst>
          </p:cNvPr>
          <p:cNvSpPr/>
          <p:nvPr/>
        </p:nvSpPr>
        <p:spPr>
          <a:xfrm>
            <a:off x="7023935" y="5516706"/>
            <a:ext cx="2049972" cy="44846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2" name="Rectangle 11">
            <a:extLst>
              <a:ext uri="{FF2B5EF4-FFF2-40B4-BE49-F238E27FC236}">
                <a16:creationId xmlns:a16="http://schemas.microsoft.com/office/drawing/2014/main" id="{91B8DABB-EDEB-F48C-20C6-BD6089F0469F}"/>
              </a:ext>
            </a:extLst>
          </p:cNvPr>
          <p:cNvSpPr/>
          <p:nvPr/>
        </p:nvSpPr>
        <p:spPr>
          <a:xfrm>
            <a:off x="8856586" y="5162162"/>
            <a:ext cx="434641" cy="1131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E8E02346-26E2-8EA8-4999-36A0A8479329}"/>
              </a:ext>
            </a:extLst>
          </p:cNvPr>
          <p:cNvSpPr/>
          <p:nvPr/>
        </p:nvSpPr>
        <p:spPr>
          <a:xfrm>
            <a:off x="6806613" y="5162162"/>
            <a:ext cx="434641" cy="1131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4" name="Straight Connector 13">
            <a:extLst>
              <a:ext uri="{FF2B5EF4-FFF2-40B4-BE49-F238E27FC236}">
                <a16:creationId xmlns:a16="http://schemas.microsoft.com/office/drawing/2014/main" id="{6DBB00DA-B043-3D14-905B-10A49BABE5D4}"/>
              </a:ext>
            </a:extLst>
          </p:cNvPr>
          <p:cNvCxnSpPr>
            <a:stCxn id="13" idx="0"/>
            <a:endCxn id="13" idx="2"/>
          </p:cNvCxnSpPr>
          <p:nvPr/>
        </p:nvCxnSpPr>
        <p:spPr>
          <a:xfrm>
            <a:off x="7023934" y="5162162"/>
            <a:ext cx="0" cy="11316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AD60925-49D8-866B-914B-8680AD0B485A}"/>
              </a:ext>
            </a:extLst>
          </p:cNvPr>
          <p:cNvCxnSpPr/>
          <p:nvPr/>
        </p:nvCxnSpPr>
        <p:spPr>
          <a:xfrm>
            <a:off x="9073906" y="5162162"/>
            <a:ext cx="0" cy="1131616"/>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144">
            <a:extLst>
              <a:ext uri="{FF2B5EF4-FFF2-40B4-BE49-F238E27FC236}">
                <a16:creationId xmlns:a16="http://schemas.microsoft.com/office/drawing/2014/main" id="{11DFFA6D-801E-6A94-28D1-E2538CA4CC3F}"/>
              </a:ext>
            </a:extLst>
          </p:cNvPr>
          <p:cNvSpPr txBox="1"/>
          <p:nvPr/>
        </p:nvSpPr>
        <p:spPr>
          <a:xfrm>
            <a:off x="6390239" y="6440674"/>
            <a:ext cx="176734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err="1">
                <a:solidFill>
                  <a:prstClr val="black"/>
                </a:solidFill>
                <a:latin typeface="Calibri" panose="020F0502020204030204"/>
                <a:sym typeface="Wingdings" panose="05000000000000000000" pitchFamily="2" charset="2"/>
              </a:rPr>
              <a:t>global_poly_grid</a:t>
            </a:r>
            <a:endParaRPr lang="en-US"/>
          </a:p>
        </p:txBody>
      </p:sp>
      <p:sp>
        <p:nvSpPr>
          <p:cNvPr id="17" name="TextBox 16">
            <a:extLst>
              <a:ext uri="{FF2B5EF4-FFF2-40B4-BE49-F238E27FC236}">
                <a16:creationId xmlns:a16="http://schemas.microsoft.com/office/drawing/2014/main" id="{ECE4C6A6-074B-E193-E5D1-8B2C90824C86}"/>
              </a:ext>
            </a:extLst>
          </p:cNvPr>
          <p:cNvSpPr txBox="1"/>
          <p:nvPr/>
        </p:nvSpPr>
        <p:spPr>
          <a:xfrm>
            <a:off x="9245723" y="5455278"/>
            <a:ext cx="423514" cy="498177"/>
          </a:xfrm>
          <a:prstGeom prst="rect">
            <a:avLst/>
          </a:prstGeom>
          <a:noFill/>
        </p:spPr>
        <p:txBody>
          <a:bodyPr wrap="none" rtlCol="0">
            <a:spAutoFit/>
          </a:bodyPr>
          <a:lstStyle/>
          <a:p>
            <a:r>
              <a:rPr lang="en-US" sz="3600">
                <a:solidFill>
                  <a:srgbClr val="FF0000"/>
                </a:solidFill>
              </a:rPr>
              <a:t>X</a:t>
            </a:r>
          </a:p>
        </p:txBody>
      </p:sp>
      <p:sp>
        <p:nvSpPr>
          <p:cNvPr id="19" name="Rectangle 18">
            <a:extLst>
              <a:ext uri="{FF2B5EF4-FFF2-40B4-BE49-F238E27FC236}">
                <a16:creationId xmlns:a16="http://schemas.microsoft.com/office/drawing/2014/main" id="{AC9B0273-CAF4-2DFC-D184-7F36B8F8FF9B}"/>
              </a:ext>
            </a:extLst>
          </p:cNvPr>
          <p:cNvSpPr/>
          <p:nvPr/>
        </p:nvSpPr>
        <p:spPr>
          <a:xfrm>
            <a:off x="10673724" y="3112376"/>
            <a:ext cx="438960" cy="44846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0" name="TextBox 19">
            <a:extLst>
              <a:ext uri="{FF2B5EF4-FFF2-40B4-BE49-F238E27FC236}">
                <a16:creationId xmlns:a16="http://schemas.microsoft.com/office/drawing/2014/main" id="{AFCFCA99-00A8-34A5-92FA-36E509DDF187}"/>
              </a:ext>
            </a:extLst>
          </p:cNvPr>
          <p:cNvSpPr txBox="1"/>
          <p:nvPr/>
        </p:nvSpPr>
        <p:spPr>
          <a:xfrm>
            <a:off x="11181669" y="3151944"/>
            <a:ext cx="657211" cy="369332"/>
          </a:xfrm>
          <a:prstGeom prst="rect">
            <a:avLst/>
          </a:prstGeom>
          <a:noFill/>
        </p:spPr>
        <p:txBody>
          <a:bodyPr wrap="square" rtlCol="0">
            <a:spAutoFit/>
          </a:bodyPr>
          <a:lstStyle/>
          <a:p>
            <a:r>
              <a:rPr lang="en-US">
                <a:solidFill>
                  <a:srgbClr val="0070C0"/>
                </a:solidFill>
              </a:rPr>
              <a:t>BT </a:t>
            </a:r>
          </a:p>
        </p:txBody>
      </p:sp>
      <p:sp>
        <p:nvSpPr>
          <p:cNvPr id="23" name="TextBox 22">
            <a:extLst>
              <a:ext uri="{FF2B5EF4-FFF2-40B4-BE49-F238E27FC236}">
                <a16:creationId xmlns:a16="http://schemas.microsoft.com/office/drawing/2014/main" id="{B01E8052-3207-56F3-F8FA-12BF57D79F78}"/>
              </a:ext>
            </a:extLst>
          </p:cNvPr>
          <p:cNvSpPr txBox="1"/>
          <p:nvPr/>
        </p:nvSpPr>
        <p:spPr>
          <a:xfrm>
            <a:off x="6498495" y="3063953"/>
            <a:ext cx="971292" cy="369332"/>
          </a:xfrm>
          <a:prstGeom prst="rect">
            <a:avLst/>
          </a:prstGeom>
          <a:noFill/>
        </p:spPr>
        <p:txBody>
          <a:bodyPr wrap="none" rtlCol="0">
            <a:spAutoFit/>
          </a:bodyPr>
          <a:lstStyle/>
          <a:p>
            <a:r>
              <a:rPr lang="en-US"/>
              <a:t>General</a:t>
            </a:r>
          </a:p>
        </p:txBody>
      </p:sp>
      <p:sp>
        <p:nvSpPr>
          <p:cNvPr id="24" name="TextBox 23">
            <a:extLst>
              <a:ext uri="{FF2B5EF4-FFF2-40B4-BE49-F238E27FC236}">
                <a16:creationId xmlns:a16="http://schemas.microsoft.com/office/drawing/2014/main" id="{4B757EE4-30C0-6E15-8DAF-3B13757B7159}"/>
              </a:ext>
            </a:extLst>
          </p:cNvPr>
          <p:cNvSpPr txBox="1"/>
          <p:nvPr/>
        </p:nvSpPr>
        <p:spPr>
          <a:xfrm>
            <a:off x="6445989" y="4584124"/>
            <a:ext cx="2009531" cy="646331"/>
          </a:xfrm>
          <a:prstGeom prst="rect">
            <a:avLst/>
          </a:prstGeom>
          <a:noFill/>
        </p:spPr>
        <p:txBody>
          <a:bodyPr wrap="square" rtlCol="0">
            <a:spAutoFit/>
          </a:bodyPr>
          <a:lstStyle/>
          <a:p>
            <a:r>
              <a:rPr lang="en-US"/>
              <a:t>Allowed for BT abutment</a:t>
            </a:r>
          </a:p>
        </p:txBody>
      </p:sp>
      <p:sp>
        <p:nvSpPr>
          <p:cNvPr id="2" name="Rectangle 1">
            <a:extLst>
              <a:ext uri="{FF2B5EF4-FFF2-40B4-BE49-F238E27FC236}">
                <a16:creationId xmlns:a16="http://schemas.microsoft.com/office/drawing/2014/main" id="{54732021-3E57-967C-5963-EEE00045F57D}"/>
              </a:ext>
            </a:extLst>
          </p:cNvPr>
          <p:cNvSpPr/>
          <p:nvPr/>
        </p:nvSpPr>
        <p:spPr>
          <a:xfrm>
            <a:off x="1617437" y="4823724"/>
            <a:ext cx="334787" cy="12976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 name="TextBox 3">
            <a:extLst>
              <a:ext uri="{FF2B5EF4-FFF2-40B4-BE49-F238E27FC236}">
                <a16:creationId xmlns:a16="http://schemas.microsoft.com/office/drawing/2014/main" id="{F46EF969-B217-5087-2131-850672B5922F}"/>
              </a:ext>
            </a:extLst>
          </p:cNvPr>
          <p:cNvSpPr txBox="1"/>
          <p:nvPr/>
        </p:nvSpPr>
        <p:spPr>
          <a:xfrm>
            <a:off x="1555087" y="3828439"/>
            <a:ext cx="423514" cy="498177"/>
          </a:xfrm>
          <a:prstGeom prst="rect">
            <a:avLst/>
          </a:prstGeom>
          <a:noFill/>
        </p:spPr>
        <p:txBody>
          <a:bodyPr wrap="none" rtlCol="0">
            <a:spAutoFit/>
          </a:bodyPr>
          <a:lstStyle/>
          <a:p>
            <a:r>
              <a:rPr lang="en-US" sz="3600">
                <a:solidFill>
                  <a:srgbClr val="FF0000"/>
                </a:solidFill>
              </a:rPr>
              <a:t>X</a:t>
            </a:r>
          </a:p>
        </p:txBody>
      </p:sp>
      <p:sp>
        <p:nvSpPr>
          <p:cNvPr id="11" name="Rectangle 10">
            <a:extLst>
              <a:ext uri="{FF2B5EF4-FFF2-40B4-BE49-F238E27FC236}">
                <a16:creationId xmlns:a16="http://schemas.microsoft.com/office/drawing/2014/main" id="{9B9A20A0-7E12-0A7D-E7C8-ABC6AB19FB4E}"/>
              </a:ext>
            </a:extLst>
          </p:cNvPr>
          <p:cNvSpPr/>
          <p:nvPr/>
        </p:nvSpPr>
        <p:spPr>
          <a:xfrm>
            <a:off x="3997337" y="5054184"/>
            <a:ext cx="286720" cy="1060912"/>
          </a:xfrm>
          <a:prstGeom prst="rect">
            <a:avLst/>
          </a:prstGeom>
          <a:pattFill prst="wdDnDiag">
            <a:fgClr>
              <a:srgbClr val="FF000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21" name="TextBox 20">
            <a:extLst>
              <a:ext uri="{FF2B5EF4-FFF2-40B4-BE49-F238E27FC236}">
                <a16:creationId xmlns:a16="http://schemas.microsoft.com/office/drawing/2014/main" id="{CEA7B188-D9B6-0F5C-080A-CC3630AC178B}"/>
              </a:ext>
            </a:extLst>
          </p:cNvPr>
          <p:cNvSpPr txBox="1"/>
          <p:nvPr/>
        </p:nvSpPr>
        <p:spPr>
          <a:xfrm>
            <a:off x="3860543" y="3828439"/>
            <a:ext cx="423514" cy="498177"/>
          </a:xfrm>
          <a:prstGeom prst="rect">
            <a:avLst/>
          </a:prstGeom>
          <a:noFill/>
        </p:spPr>
        <p:txBody>
          <a:bodyPr wrap="none" rtlCol="0">
            <a:spAutoFit/>
          </a:bodyPr>
          <a:lstStyle/>
          <a:p>
            <a:r>
              <a:rPr lang="en-US" sz="3600">
                <a:solidFill>
                  <a:srgbClr val="FF0000"/>
                </a:solidFill>
              </a:rPr>
              <a:t>X</a:t>
            </a:r>
          </a:p>
        </p:txBody>
      </p:sp>
    </p:spTree>
    <p:extLst>
      <p:ext uri="{BB962C8B-B14F-4D97-AF65-F5344CB8AC3E}">
        <p14:creationId xmlns:p14="http://schemas.microsoft.com/office/powerpoint/2010/main" val="1574070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B2F18-2351-12AD-8E9B-02FE4F22FE5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B2D4ADB-72C6-E880-9C76-80F9E766D263}"/>
              </a:ext>
            </a:extLst>
          </p:cNvPr>
          <p:cNvSpPr/>
          <p:nvPr/>
        </p:nvSpPr>
        <p:spPr>
          <a:xfrm>
            <a:off x="6922483" y="3661546"/>
            <a:ext cx="1422847" cy="329988"/>
          </a:xfrm>
          <a:prstGeom prst="rect">
            <a:avLst/>
          </a:prstGeom>
          <a:solidFill>
            <a:schemeClr val="accent1">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PSVT</a:t>
            </a:r>
          </a:p>
        </p:txBody>
      </p:sp>
      <p:sp>
        <p:nvSpPr>
          <p:cNvPr id="17" name="Rectangle 16">
            <a:extLst>
              <a:ext uri="{FF2B5EF4-FFF2-40B4-BE49-F238E27FC236}">
                <a16:creationId xmlns:a16="http://schemas.microsoft.com/office/drawing/2014/main" id="{F7EB916E-B0DD-974F-D127-C7C5B978B4B6}"/>
              </a:ext>
            </a:extLst>
          </p:cNvPr>
          <p:cNvSpPr/>
          <p:nvPr/>
        </p:nvSpPr>
        <p:spPr>
          <a:xfrm>
            <a:off x="6922483" y="4645129"/>
            <a:ext cx="1422847" cy="326206"/>
          </a:xfrm>
          <a:prstGeom prst="rect">
            <a:avLst/>
          </a:prstGeom>
          <a:solidFill>
            <a:schemeClr val="accent1">
              <a:lumMod val="20000"/>
              <a:lumOff val="8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PLVT</a:t>
            </a:r>
          </a:p>
        </p:txBody>
      </p:sp>
      <p:sp>
        <p:nvSpPr>
          <p:cNvPr id="46" name="Title 2">
            <a:extLst>
              <a:ext uri="{FF2B5EF4-FFF2-40B4-BE49-F238E27FC236}">
                <a16:creationId xmlns:a16="http://schemas.microsoft.com/office/drawing/2014/main" id="{469D8FE2-C4B6-3D09-C84C-0DA299541945}"/>
              </a:ext>
            </a:extLst>
          </p:cNvPr>
          <p:cNvSpPr txBox="1">
            <a:spLocks/>
          </p:cNvSpPr>
          <p:nvPr/>
        </p:nvSpPr>
        <p:spPr>
          <a:xfrm>
            <a:off x="155499" y="0"/>
            <a:ext cx="5635701"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rPr>
              <a:t>TCN Design Rule</a:t>
            </a:r>
          </a:p>
        </p:txBody>
      </p:sp>
      <p:sp>
        <p:nvSpPr>
          <p:cNvPr id="78" name="TextBox 77">
            <a:extLst>
              <a:ext uri="{FF2B5EF4-FFF2-40B4-BE49-F238E27FC236}">
                <a16:creationId xmlns:a16="http://schemas.microsoft.com/office/drawing/2014/main" id="{CD251BE5-16CE-8CEA-53A8-BA98EC21B97A}"/>
              </a:ext>
            </a:extLst>
          </p:cNvPr>
          <p:cNvSpPr txBox="1"/>
          <p:nvPr/>
        </p:nvSpPr>
        <p:spPr>
          <a:xfrm>
            <a:off x="359015" y="797056"/>
            <a:ext cx="9376541" cy="1477328"/>
          </a:xfrm>
          <a:prstGeom prst="rect">
            <a:avLst/>
          </a:prstGeom>
          <a:noFill/>
        </p:spPr>
        <p:txBody>
          <a:bodyPr vert="horz" wrap="none" lIns="0" tIns="0" rIns="0" bIns="0" rtlCol="0">
            <a:spAutoFit/>
          </a:bodyPr>
          <a:lstStyle>
            <a:defPPr>
              <a:defRPr lang="en-US"/>
            </a:defPPr>
            <a:lvl1pPr marL="285750" marR="0" lvl="0" indent="-285750" fontAlgn="auto">
              <a:lnSpc>
                <a:spcPct val="100000"/>
              </a:lnSpc>
              <a:spcBef>
                <a:spcPts val="0"/>
              </a:spcBef>
              <a:spcAft>
                <a:spcPts val="0"/>
              </a:spcAft>
              <a:buClrTx/>
              <a:buSzTx/>
              <a:buFont typeface="Wingdings" panose="05000000000000000000" pitchFamily="2" charset="2"/>
              <a:buChar char="q"/>
              <a:tabLst/>
              <a:defRPr kumimoji="0" sz="2400" b="0" i="0" u="none" strike="noStrike" cap="none" spc="0" normalizeH="0" baseline="0">
                <a:ln>
                  <a:noFill/>
                </a:ln>
                <a:solidFill>
                  <a:prstClr val="black"/>
                </a:solidFill>
                <a:effectLst/>
                <a:uLnTx/>
                <a:uFillTx/>
                <a:latin typeface="Calibri" panose="020F0502020204030204"/>
              </a:defRPr>
            </a:lvl1pPr>
          </a:lstStyle>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rPr>
              <a:t> tcn has a fixed width: 12nm</a:t>
            </a:r>
          </a:p>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lang="en-US">
                <a:solidFill>
                  <a:schemeClr val="tx1"/>
                </a:solidFill>
                <a:latin typeface="Calibri" panose="020F0502020204030204" pitchFamily="34" charset="0"/>
                <a:ea typeface="Calibri" panose="020F0502020204030204" pitchFamily="34" charset="0"/>
                <a:cs typeface="Calibri" panose="020F0502020204030204" pitchFamily="34" charset="0"/>
              </a:rPr>
              <a:t> </a:t>
            </a:r>
            <a:r>
              <a:rPr kumimoji="0" lang="en-US" sz="2400" b="0" i="0" u="none" strike="noStrike" kern="1200" cap="none" spc="0" normalizeH="0" baseline="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rPr>
              <a:t>tcn has a fixed ETE size under 40nm: 16nm or 32nm</a:t>
            </a:r>
          </a:p>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rPr>
              <a:t> tcn</a:t>
            </a:r>
            <a:r>
              <a:rPr lang="en-US">
                <a:solidFill>
                  <a:schemeClr val="tx1"/>
                </a:solidFill>
                <a:latin typeface="Calibri" panose="020F0502020204030204" pitchFamily="34" charset="0"/>
                <a:ea typeface="Calibri" panose="020F0502020204030204" pitchFamily="34" charset="0"/>
                <a:cs typeface="Calibri" panose="020F0502020204030204" pitchFamily="34" charset="0"/>
              </a:rPr>
              <a:t> must not interact two or more </a:t>
            </a:r>
            <a:r>
              <a:rPr lang="en-US" err="1">
                <a:solidFill>
                  <a:schemeClr val="tx1"/>
                </a:solidFill>
                <a:latin typeface="Calibri" panose="020F0502020204030204" pitchFamily="34" charset="0"/>
                <a:ea typeface="Calibri" panose="020F0502020204030204" pitchFamily="34" charset="0"/>
                <a:cs typeface="Calibri" panose="020F0502020204030204" pitchFamily="34" charset="0"/>
              </a:rPr>
              <a:t>vt</a:t>
            </a:r>
            <a:r>
              <a:rPr lang="en-US">
                <a:solidFill>
                  <a:schemeClr val="tx1"/>
                </a:solidFill>
                <a:latin typeface="Calibri" panose="020F0502020204030204" pitchFamily="34" charset="0"/>
                <a:ea typeface="Calibri" panose="020F0502020204030204" pitchFamily="34" charset="0"/>
                <a:cs typeface="Calibri" panose="020F0502020204030204" pitchFamily="34" charset="0"/>
              </a:rPr>
              <a:t> devices</a:t>
            </a:r>
          </a:p>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lang="en-US" sz="24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lang="en-US" sz="2400" b="0" i="0" u="none" strike="noStrike" err="1">
                <a:solidFill>
                  <a:schemeClr val="tx1"/>
                </a:solidFill>
                <a:effectLst/>
                <a:latin typeface="Calibri" panose="020F0502020204030204" pitchFamily="34" charset="0"/>
                <a:ea typeface="Calibri" panose="020F0502020204030204" pitchFamily="34" charset="0"/>
                <a:cs typeface="Calibri" panose="020F0502020204030204" pitchFamily="34" charset="0"/>
              </a:rPr>
              <a:t>tcn;drawing</a:t>
            </a:r>
            <a:r>
              <a:rPr lang="en-US" sz="24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must not cross CRL if there is a change in </a:t>
            </a:r>
            <a:r>
              <a:rPr lang="en-US" sz="2400" b="0" i="0" u="none" strike="noStrike" err="1">
                <a:solidFill>
                  <a:schemeClr val="tx1"/>
                </a:solidFill>
                <a:effectLst/>
                <a:latin typeface="Calibri" panose="020F0502020204030204" pitchFamily="34" charset="0"/>
                <a:ea typeface="Calibri" panose="020F0502020204030204" pitchFamily="34" charset="0"/>
                <a:cs typeface="Calibri" panose="020F0502020204030204" pitchFamily="34" charset="0"/>
              </a:rPr>
              <a:t>devflav</a:t>
            </a:r>
            <a:r>
              <a:rPr lang="en-US" sz="2400" b="0" i="0" u="none" strike="noStrike">
                <a:solidFill>
                  <a:schemeClr val="tx1"/>
                </a:solidFill>
                <a:effectLst/>
                <a:latin typeface="Calibri" panose="020F0502020204030204" pitchFamily="34" charset="0"/>
                <a:ea typeface="Calibri" panose="020F0502020204030204" pitchFamily="34" charset="0"/>
                <a:cs typeface="Calibri" panose="020F0502020204030204" pitchFamily="34" charset="0"/>
              </a:rPr>
              <a:t> at that CRL</a:t>
            </a:r>
            <a:endParaRPr kumimoji="0" lang="en-US" sz="2400" b="0" i="0" u="none" strike="noStrike" kern="1200" cap="none" spc="0" normalizeH="0" baseline="0" noProof="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9BC1AE99-3D3F-3542-4B78-B273C0373249}"/>
              </a:ext>
            </a:extLst>
          </p:cNvPr>
          <p:cNvSpPr txBox="1"/>
          <p:nvPr/>
        </p:nvSpPr>
        <p:spPr>
          <a:xfrm>
            <a:off x="1796757" y="3845839"/>
            <a:ext cx="492443" cy="237227"/>
          </a:xfrm>
          <a:prstGeom prst="rect">
            <a:avLst/>
          </a:prstGeom>
          <a:noFill/>
        </p:spPr>
        <p:txBody>
          <a:bodyPr wrap="none" rtlCol="0">
            <a:spAutoFit/>
          </a:bodyPr>
          <a:lstStyle/>
          <a:p>
            <a:r>
              <a:rPr lang="en-US" sz="1400"/>
              <a:t>DKA</a:t>
            </a:r>
          </a:p>
        </p:txBody>
      </p:sp>
      <p:sp>
        <p:nvSpPr>
          <p:cNvPr id="91" name="TextBox 90">
            <a:extLst>
              <a:ext uri="{FF2B5EF4-FFF2-40B4-BE49-F238E27FC236}">
                <a16:creationId xmlns:a16="http://schemas.microsoft.com/office/drawing/2014/main" id="{6E7E7795-A0CD-2D12-C8DF-7075CABF7051}"/>
              </a:ext>
            </a:extLst>
          </p:cNvPr>
          <p:cNvSpPr txBox="1"/>
          <p:nvPr/>
        </p:nvSpPr>
        <p:spPr>
          <a:xfrm>
            <a:off x="1782851" y="3536760"/>
            <a:ext cx="453970" cy="237227"/>
          </a:xfrm>
          <a:prstGeom prst="rect">
            <a:avLst/>
          </a:prstGeom>
          <a:noFill/>
        </p:spPr>
        <p:txBody>
          <a:bodyPr wrap="none" rtlCol="0">
            <a:spAutoFit/>
          </a:bodyPr>
          <a:lstStyle/>
          <a:p>
            <a:r>
              <a:rPr lang="en-US" sz="1400"/>
              <a:t>CRL</a:t>
            </a:r>
          </a:p>
        </p:txBody>
      </p:sp>
      <p:grpSp>
        <p:nvGrpSpPr>
          <p:cNvPr id="92" name="Group 91">
            <a:extLst>
              <a:ext uri="{FF2B5EF4-FFF2-40B4-BE49-F238E27FC236}">
                <a16:creationId xmlns:a16="http://schemas.microsoft.com/office/drawing/2014/main" id="{CA0A78D5-338E-29EB-F383-CFBA8615FCBA}"/>
              </a:ext>
            </a:extLst>
          </p:cNvPr>
          <p:cNvGrpSpPr/>
          <p:nvPr/>
        </p:nvGrpSpPr>
        <p:grpSpPr>
          <a:xfrm>
            <a:off x="2236821" y="3653117"/>
            <a:ext cx="6530014" cy="2637470"/>
            <a:chOff x="883508" y="3717125"/>
            <a:chExt cx="10755039" cy="2637470"/>
          </a:xfrm>
        </p:grpSpPr>
        <p:grpSp>
          <p:nvGrpSpPr>
            <p:cNvPr id="93" name="Group 92">
              <a:extLst>
                <a:ext uri="{FF2B5EF4-FFF2-40B4-BE49-F238E27FC236}">
                  <a16:creationId xmlns:a16="http://schemas.microsoft.com/office/drawing/2014/main" id="{52488D95-CD17-E301-F47D-75BB033E6B94}"/>
                </a:ext>
              </a:extLst>
            </p:cNvPr>
            <p:cNvGrpSpPr/>
            <p:nvPr/>
          </p:nvGrpSpPr>
          <p:grpSpPr>
            <a:xfrm>
              <a:off x="891155" y="3717125"/>
              <a:ext cx="10747392" cy="1316366"/>
              <a:chOff x="3369655" y="3717125"/>
              <a:chExt cx="1369870" cy="1316366"/>
            </a:xfrm>
          </p:grpSpPr>
          <p:cxnSp>
            <p:nvCxnSpPr>
              <p:cNvPr id="100" name="Straight Connector 99">
                <a:extLst>
                  <a:ext uri="{FF2B5EF4-FFF2-40B4-BE49-F238E27FC236}">
                    <a16:creationId xmlns:a16="http://schemas.microsoft.com/office/drawing/2014/main" id="{18A65EBD-0A82-2467-1229-73B026B0A4B8}"/>
                  </a:ext>
                </a:extLst>
              </p:cNvPr>
              <p:cNvCxnSpPr/>
              <p:nvPr/>
            </p:nvCxnSpPr>
            <p:spPr>
              <a:xfrm>
                <a:off x="3369655" y="4375308"/>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D119F263-013B-EF2D-34EA-8725DA67ABB3}"/>
                  </a:ext>
                </a:extLst>
              </p:cNvPr>
              <p:cNvCxnSpPr/>
              <p:nvPr/>
            </p:nvCxnSpPr>
            <p:spPr>
              <a:xfrm>
                <a:off x="3369655" y="4046216"/>
                <a:ext cx="1369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DD699-7117-0D1C-69C8-13C5B957292E}"/>
                  </a:ext>
                </a:extLst>
              </p:cNvPr>
              <p:cNvCxnSpPr/>
              <p:nvPr/>
            </p:nvCxnSpPr>
            <p:spPr>
              <a:xfrm>
                <a:off x="3369655" y="4704399"/>
                <a:ext cx="1369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9DBA1292-FDCE-8D3E-3679-5EC20F737BF8}"/>
                  </a:ext>
                </a:extLst>
              </p:cNvPr>
              <p:cNvCxnSpPr/>
              <p:nvPr/>
            </p:nvCxnSpPr>
            <p:spPr>
              <a:xfrm>
                <a:off x="3369655" y="5033491"/>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74D416ED-84A8-E104-258F-8BAA1AD3285D}"/>
                  </a:ext>
                </a:extLst>
              </p:cNvPr>
              <p:cNvCxnSpPr/>
              <p:nvPr/>
            </p:nvCxnSpPr>
            <p:spPr>
              <a:xfrm>
                <a:off x="3369655" y="3717125"/>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131FDF6A-6362-A95E-3F63-A90A6D262C78}"/>
                </a:ext>
              </a:extLst>
            </p:cNvPr>
            <p:cNvGrpSpPr/>
            <p:nvPr/>
          </p:nvGrpSpPr>
          <p:grpSpPr>
            <a:xfrm>
              <a:off x="883508" y="5038229"/>
              <a:ext cx="10747392" cy="1316366"/>
              <a:chOff x="3369655" y="3717125"/>
              <a:chExt cx="1369870" cy="1316366"/>
            </a:xfrm>
          </p:grpSpPr>
          <p:cxnSp>
            <p:nvCxnSpPr>
              <p:cNvPr id="95" name="Straight Connector 94">
                <a:extLst>
                  <a:ext uri="{FF2B5EF4-FFF2-40B4-BE49-F238E27FC236}">
                    <a16:creationId xmlns:a16="http://schemas.microsoft.com/office/drawing/2014/main" id="{D67580A1-D4EC-6057-6841-7FFA717FF0AF}"/>
                  </a:ext>
                </a:extLst>
              </p:cNvPr>
              <p:cNvCxnSpPr/>
              <p:nvPr/>
            </p:nvCxnSpPr>
            <p:spPr>
              <a:xfrm>
                <a:off x="3369655" y="4375308"/>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A65EC0A-E392-11F6-E553-E04C6E62D489}"/>
                  </a:ext>
                </a:extLst>
              </p:cNvPr>
              <p:cNvCxnSpPr/>
              <p:nvPr/>
            </p:nvCxnSpPr>
            <p:spPr>
              <a:xfrm>
                <a:off x="3369655" y="4046216"/>
                <a:ext cx="1369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79E1CA00-0EA1-193E-5585-5C3667EAF808}"/>
                  </a:ext>
                </a:extLst>
              </p:cNvPr>
              <p:cNvCxnSpPr/>
              <p:nvPr/>
            </p:nvCxnSpPr>
            <p:spPr>
              <a:xfrm>
                <a:off x="3369655" y="4704399"/>
                <a:ext cx="13698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8801373-1D7A-2635-1EE5-DB87387DDE67}"/>
                  </a:ext>
                </a:extLst>
              </p:cNvPr>
              <p:cNvCxnSpPr/>
              <p:nvPr/>
            </p:nvCxnSpPr>
            <p:spPr>
              <a:xfrm>
                <a:off x="3369655" y="5033491"/>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5CFFFE7-FDA1-3329-6711-65FF25CC2FEC}"/>
                  </a:ext>
                </a:extLst>
              </p:cNvPr>
              <p:cNvCxnSpPr/>
              <p:nvPr/>
            </p:nvCxnSpPr>
            <p:spPr>
              <a:xfrm>
                <a:off x="3369655" y="3717125"/>
                <a:ext cx="1369870"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sp>
        <p:nvSpPr>
          <p:cNvPr id="105" name="Rectangle 104">
            <a:extLst>
              <a:ext uri="{FF2B5EF4-FFF2-40B4-BE49-F238E27FC236}">
                <a16:creationId xmlns:a16="http://schemas.microsoft.com/office/drawing/2014/main" id="{41D3D4AF-9C14-04BE-2874-DFFE27D67AD5}"/>
              </a:ext>
            </a:extLst>
          </p:cNvPr>
          <p:cNvSpPr/>
          <p:nvPr/>
        </p:nvSpPr>
        <p:spPr>
          <a:xfrm>
            <a:off x="6922483" y="3985599"/>
            <a:ext cx="1422847" cy="325598"/>
          </a:xfrm>
          <a:prstGeom prst="rect">
            <a:avLst/>
          </a:prstGeom>
          <a:solidFill>
            <a:srgbClr val="FFE699">
              <a:alpha val="58039"/>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106" name="Rectangle 105">
            <a:extLst>
              <a:ext uri="{FF2B5EF4-FFF2-40B4-BE49-F238E27FC236}">
                <a16:creationId xmlns:a16="http://schemas.microsoft.com/office/drawing/2014/main" id="{C9B8B3B2-2DB5-F24F-F7B9-86F2212C4393}"/>
              </a:ext>
            </a:extLst>
          </p:cNvPr>
          <p:cNvSpPr/>
          <p:nvPr/>
        </p:nvSpPr>
        <p:spPr>
          <a:xfrm>
            <a:off x="6922483" y="4310201"/>
            <a:ext cx="1422847" cy="341368"/>
          </a:xfrm>
          <a:prstGeom prst="rect">
            <a:avLst/>
          </a:prstGeom>
          <a:solidFill>
            <a:srgbClr val="F4B183">
              <a:alpha val="56863"/>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NLVT</a:t>
            </a:r>
          </a:p>
        </p:txBody>
      </p:sp>
      <p:sp>
        <p:nvSpPr>
          <p:cNvPr id="107" name="Rectangle 106">
            <a:extLst>
              <a:ext uri="{FF2B5EF4-FFF2-40B4-BE49-F238E27FC236}">
                <a16:creationId xmlns:a16="http://schemas.microsoft.com/office/drawing/2014/main" id="{2D3F59D4-F902-F091-A7B8-AC2C5A154732}"/>
              </a:ext>
            </a:extLst>
          </p:cNvPr>
          <p:cNvSpPr/>
          <p:nvPr/>
        </p:nvSpPr>
        <p:spPr>
          <a:xfrm>
            <a:off x="7132242" y="3732291"/>
            <a:ext cx="119369" cy="118022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8" name="TextBox 107">
            <a:extLst>
              <a:ext uri="{FF2B5EF4-FFF2-40B4-BE49-F238E27FC236}">
                <a16:creationId xmlns:a16="http://schemas.microsoft.com/office/drawing/2014/main" id="{F7507265-BCF1-5798-CE00-A5FB424EFA3D}"/>
              </a:ext>
            </a:extLst>
          </p:cNvPr>
          <p:cNvSpPr txBox="1"/>
          <p:nvPr/>
        </p:nvSpPr>
        <p:spPr>
          <a:xfrm>
            <a:off x="6980169" y="3077916"/>
            <a:ext cx="423514" cy="498177"/>
          </a:xfrm>
          <a:prstGeom prst="rect">
            <a:avLst/>
          </a:prstGeom>
          <a:noFill/>
        </p:spPr>
        <p:txBody>
          <a:bodyPr wrap="none" rtlCol="0">
            <a:spAutoFit/>
          </a:bodyPr>
          <a:lstStyle/>
          <a:p>
            <a:r>
              <a:rPr lang="en-US" sz="3600">
                <a:solidFill>
                  <a:srgbClr val="FF0000"/>
                </a:solidFill>
              </a:rPr>
              <a:t>X</a:t>
            </a:r>
          </a:p>
        </p:txBody>
      </p:sp>
      <p:sp>
        <p:nvSpPr>
          <p:cNvPr id="109" name="Rectangle 108">
            <a:extLst>
              <a:ext uri="{FF2B5EF4-FFF2-40B4-BE49-F238E27FC236}">
                <a16:creationId xmlns:a16="http://schemas.microsoft.com/office/drawing/2014/main" id="{1369C75A-8A19-02DA-FED5-4E4C498F93FB}"/>
              </a:ext>
            </a:extLst>
          </p:cNvPr>
          <p:cNvSpPr/>
          <p:nvPr/>
        </p:nvSpPr>
        <p:spPr>
          <a:xfrm>
            <a:off x="5409631" y="4315757"/>
            <a:ext cx="838266" cy="333071"/>
          </a:xfrm>
          <a:prstGeom prst="rect">
            <a:avLst/>
          </a:prstGeom>
          <a:solidFill>
            <a:srgbClr val="FFE699">
              <a:alpha val="5882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110" name="Rectangle 109">
            <a:extLst>
              <a:ext uri="{FF2B5EF4-FFF2-40B4-BE49-F238E27FC236}">
                <a16:creationId xmlns:a16="http://schemas.microsoft.com/office/drawing/2014/main" id="{85CBA695-503B-E1AE-A202-89E44DE273FF}"/>
              </a:ext>
            </a:extLst>
          </p:cNvPr>
          <p:cNvSpPr/>
          <p:nvPr/>
        </p:nvSpPr>
        <p:spPr>
          <a:xfrm>
            <a:off x="5409631" y="4647833"/>
            <a:ext cx="838266" cy="329078"/>
          </a:xfrm>
          <a:prstGeom prst="rect">
            <a:avLst/>
          </a:prstGeom>
          <a:solidFill>
            <a:schemeClr val="accent1">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PSVT</a:t>
            </a:r>
          </a:p>
        </p:txBody>
      </p:sp>
      <p:sp>
        <p:nvSpPr>
          <p:cNvPr id="111" name="Rectangle 110">
            <a:extLst>
              <a:ext uri="{FF2B5EF4-FFF2-40B4-BE49-F238E27FC236}">
                <a16:creationId xmlns:a16="http://schemas.microsoft.com/office/drawing/2014/main" id="{EAD100F4-7644-C1F7-C1F8-F966840CC978}"/>
              </a:ext>
            </a:extLst>
          </p:cNvPr>
          <p:cNvSpPr/>
          <p:nvPr/>
        </p:nvSpPr>
        <p:spPr>
          <a:xfrm>
            <a:off x="5599511" y="4337794"/>
            <a:ext cx="119369" cy="62254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2" name="TextBox 111">
            <a:extLst>
              <a:ext uri="{FF2B5EF4-FFF2-40B4-BE49-F238E27FC236}">
                <a16:creationId xmlns:a16="http://schemas.microsoft.com/office/drawing/2014/main" id="{3A68248C-DD1A-5AEB-F4CD-2804D980CDFC}"/>
              </a:ext>
            </a:extLst>
          </p:cNvPr>
          <p:cNvSpPr txBox="1"/>
          <p:nvPr/>
        </p:nvSpPr>
        <p:spPr>
          <a:xfrm>
            <a:off x="5382528" y="3985287"/>
            <a:ext cx="1042258" cy="261610"/>
          </a:xfrm>
          <a:prstGeom prst="rect">
            <a:avLst/>
          </a:prstGeom>
          <a:noFill/>
        </p:spPr>
        <p:txBody>
          <a:bodyPr wrap="square" rtlCol="0">
            <a:spAutoFit/>
          </a:bodyPr>
          <a:lstStyle/>
          <a:p>
            <a:r>
              <a:rPr lang="en-US" sz="1100">
                <a:solidFill>
                  <a:srgbClr val="0000FF"/>
                </a:solidFill>
              </a:rPr>
              <a:t>Both are SVT</a:t>
            </a:r>
          </a:p>
        </p:txBody>
      </p:sp>
      <p:sp>
        <p:nvSpPr>
          <p:cNvPr id="113" name="TextBox 112">
            <a:extLst>
              <a:ext uri="{FF2B5EF4-FFF2-40B4-BE49-F238E27FC236}">
                <a16:creationId xmlns:a16="http://schemas.microsoft.com/office/drawing/2014/main" id="{6C2DEC62-9A03-E9D9-B9A1-4EFD4A5E1BB1}"/>
              </a:ext>
            </a:extLst>
          </p:cNvPr>
          <p:cNvSpPr txBox="1"/>
          <p:nvPr/>
        </p:nvSpPr>
        <p:spPr>
          <a:xfrm>
            <a:off x="5639828" y="3077916"/>
            <a:ext cx="490840" cy="646331"/>
          </a:xfrm>
          <a:prstGeom prst="rect">
            <a:avLst/>
          </a:prstGeom>
          <a:noFill/>
        </p:spPr>
        <p:txBody>
          <a:bodyPr wrap="none" rtlCol="0">
            <a:spAutoFit/>
          </a:bodyPr>
          <a:lstStyle/>
          <a:p>
            <a:r>
              <a:rPr lang="en-US" sz="3600">
                <a:solidFill>
                  <a:srgbClr val="00B050"/>
                </a:solidFill>
              </a:rPr>
              <a:t>O</a:t>
            </a:r>
          </a:p>
        </p:txBody>
      </p:sp>
      <p:sp>
        <p:nvSpPr>
          <p:cNvPr id="116" name="Rectangle 115">
            <a:extLst>
              <a:ext uri="{FF2B5EF4-FFF2-40B4-BE49-F238E27FC236}">
                <a16:creationId xmlns:a16="http://schemas.microsoft.com/office/drawing/2014/main" id="{DCBF6920-0F8A-5EFC-A71B-BAE6BF8065BE}"/>
              </a:ext>
            </a:extLst>
          </p:cNvPr>
          <p:cNvSpPr/>
          <p:nvPr/>
        </p:nvSpPr>
        <p:spPr>
          <a:xfrm>
            <a:off x="10083873" y="3484128"/>
            <a:ext cx="603504" cy="25603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7" name="TextBox 116">
            <a:extLst>
              <a:ext uri="{FF2B5EF4-FFF2-40B4-BE49-F238E27FC236}">
                <a16:creationId xmlns:a16="http://schemas.microsoft.com/office/drawing/2014/main" id="{DC558879-80FA-93DA-FB36-F4DEBA350A79}"/>
              </a:ext>
            </a:extLst>
          </p:cNvPr>
          <p:cNvSpPr txBox="1"/>
          <p:nvPr/>
        </p:nvSpPr>
        <p:spPr>
          <a:xfrm>
            <a:off x="10802003" y="3401858"/>
            <a:ext cx="1356205" cy="369332"/>
          </a:xfrm>
          <a:prstGeom prst="rect">
            <a:avLst/>
          </a:prstGeom>
          <a:noFill/>
        </p:spPr>
        <p:txBody>
          <a:bodyPr wrap="none" rtlCol="0">
            <a:spAutoFit/>
          </a:bodyPr>
          <a:lstStyle/>
          <a:p>
            <a:r>
              <a:rPr lang="en-US"/>
              <a:t>tcn;drawing</a:t>
            </a:r>
          </a:p>
        </p:txBody>
      </p:sp>
      <p:sp>
        <p:nvSpPr>
          <p:cNvPr id="119" name="Rectangle 118">
            <a:extLst>
              <a:ext uri="{FF2B5EF4-FFF2-40B4-BE49-F238E27FC236}">
                <a16:creationId xmlns:a16="http://schemas.microsoft.com/office/drawing/2014/main" id="{610992F0-F572-0591-7C71-6E6006F46A96}"/>
              </a:ext>
            </a:extLst>
          </p:cNvPr>
          <p:cNvSpPr/>
          <p:nvPr/>
        </p:nvSpPr>
        <p:spPr>
          <a:xfrm>
            <a:off x="7592894" y="3724679"/>
            <a:ext cx="119369" cy="51085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0" name="Rectangle 119">
            <a:extLst>
              <a:ext uri="{FF2B5EF4-FFF2-40B4-BE49-F238E27FC236}">
                <a16:creationId xmlns:a16="http://schemas.microsoft.com/office/drawing/2014/main" id="{553A1569-ACED-2AA6-8F9A-95BCFEE23BE8}"/>
              </a:ext>
            </a:extLst>
          </p:cNvPr>
          <p:cNvSpPr/>
          <p:nvPr/>
        </p:nvSpPr>
        <p:spPr>
          <a:xfrm>
            <a:off x="7592894" y="4382864"/>
            <a:ext cx="119369" cy="51085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7" name="Rectangle 126">
            <a:extLst>
              <a:ext uri="{FF2B5EF4-FFF2-40B4-BE49-F238E27FC236}">
                <a16:creationId xmlns:a16="http://schemas.microsoft.com/office/drawing/2014/main" id="{33B02730-0DB9-88CE-E9D1-933DDBB3CE78}"/>
              </a:ext>
            </a:extLst>
          </p:cNvPr>
          <p:cNvSpPr/>
          <p:nvPr/>
        </p:nvSpPr>
        <p:spPr>
          <a:xfrm>
            <a:off x="2763593" y="3991157"/>
            <a:ext cx="838266" cy="325598"/>
          </a:xfrm>
          <a:prstGeom prst="rect">
            <a:avLst/>
          </a:prstGeom>
          <a:solidFill>
            <a:srgbClr val="FFE699">
              <a:alpha val="5882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128" name="Rectangle 127">
            <a:extLst>
              <a:ext uri="{FF2B5EF4-FFF2-40B4-BE49-F238E27FC236}">
                <a16:creationId xmlns:a16="http://schemas.microsoft.com/office/drawing/2014/main" id="{945E6D70-2AA8-55D4-4D70-91CBC1796871}"/>
              </a:ext>
            </a:extLst>
          </p:cNvPr>
          <p:cNvSpPr/>
          <p:nvPr/>
        </p:nvSpPr>
        <p:spPr>
          <a:xfrm>
            <a:off x="2763593" y="4315758"/>
            <a:ext cx="838266" cy="329371"/>
          </a:xfrm>
          <a:prstGeom prst="rect">
            <a:avLst/>
          </a:prstGeom>
          <a:solidFill>
            <a:srgbClr val="F4B183">
              <a:alpha val="65098"/>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NLVT</a:t>
            </a:r>
          </a:p>
        </p:txBody>
      </p:sp>
      <p:sp>
        <p:nvSpPr>
          <p:cNvPr id="129" name="Rectangle 128">
            <a:extLst>
              <a:ext uri="{FF2B5EF4-FFF2-40B4-BE49-F238E27FC236}">
                <a16:creationId xmlns:a16="http://schemas.microsoft.com/office/drawing/2014/main" id="{AC0C0468-5F33-CCD9-7664-1A5117616A1C}"/>
              </a:ext>
            </a:extLst>
          </p:cNvPr>
          <p:cNvSpPr/>
          <p:nvPr/>
        </p:nvSpPr>
        <p:spPr>
          <a:xfrm>
            <a:off x="2953473" y="4006656"/>
            <a:ext cx="119369" cy="61798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0" name="TextBox 129">
            <a:extLst>
              <a:ext uri="{FF2B5EF4-FFF2-40B4-BE49-F238E27FC236}">
                <a16:creationId xmlns:a16="http://schemas.microsoft.com/office/drawing/2014/main" id="{68229052-3153-3738-3A90-F9CF8772906B}"/>
              </a:ext>
            </a:extLst>
          </p:cNvPr>
          <p:cNvSpPr txBox="1"/>
          <p:nvPr/>
        </p:nvSpPr>
        <p:spPr>
          <a:xfrm>
            <a:off x="2763593" y="3077916"/>
            <a:ext cx="423514" cy="498177"/>
          </a:xfrm>
          <a:prstGeom prst="rect">
            <a:avLst/>
          </a:prstGeom>
          <a:noFill/>
        </p:spPr>
        <p:txBody>
          <a:bodyPr wrap="none" rtlCol="0">
            <a:spAutoFit/>
          </a:bodyPr>
          <a:lstStyle/>
          <a:p>
            <a:r>
              <a:rPr lang="en-US" sz="3600">
                <a:solidFill>
                  <a:srgbClr val="FF0000"/>
                </a:solidFill>
              </a:rPr>
              <a:t>X</a:t>
            </a:r>
          </a:p>
        </p:txBody>
      </p:sp>
      <p:sp>
        <p:nvSpPr>
          <p:cNvPr id="132" name="TextBox 131">
            <a:extLst>
              <a:ext uri="{FF2B5EF4-FFF2-40B4-BE49-F238E27FC236}">
                <a16:creationId xmlns:a16="http://schemas.microsoft.com/office/drawing/2014/main" id="{255E0867-11F4-43BF-DF3C-1DAE9444D152}"/>
              </a:ext>
            </a:extLst>
          </p:cNvPr>
          <p:cNvSpPr txBox="1"/>
          <p:nvPr/>
        </p:nvSpPr>
        <p:spPr>
          <a:xfrm>
            <a:off x="10183051" y="5071945"/>
            <a:ext cx="423514" cy="498177"/>
          </a:xfrm>
          <a:prstGeom prst="rect">
            <a:avLst/>
          </a:prstGeom>
          <a:noFill/>
        </p:spPr>
        <p:txBody>
          <a:bodyPr wrap="none" rtlCol="0">
            <a:spAutoFit/>
          </a:bodyPr>
          <a:lstStyle/>
          <a:p>
            <a:r>
              <a:rPr lang="en-US" sz="3600">
                <a:solidFill>
                  <a:srgbClr val="FF0000"/>
                </a:solidFill>
              </a:rPr>
              <a:t>X</a:t>
            </a:r>
          </a:p>
        </p:txBody>
      </p:sp>
      <p:sp>
        <p:nvSpPr>
          <p:cNvPr id="133" name="TextBox 132">
            <a:extLst>
              <a:ext uri="{FF2B5EF4-FFF2-40B4-BE49-F238E27FC236}">
                <a16:creationId xmlns:a16="http://schemas.microsoft.com/office/drawing/2014/main" id="{CD614FC5-C964-97AD-C621-B5CF763E80F6}"/>
              </a:ext>
            </a:extLst>
          </p:cNvPr>
          <p:cNvSpPr txBox="1"/>
          <p:nvPr/>
        </p:nvSpPr>
        <p:spPr>
          <a:xfrm>
            <a:off x="10802003" y="5592163"/>
            <a:ext cx="1141659" cy="369332"/>
          </a:xfrm>
          <a:prstGeom prst="rect">
            <a:avLst/>
          </a:prstGeom>
          <a:noFill/>
        </p:spPr>
        <p:txBody>
          <a:bodyPr wrap="none" rtlCol="0">
            <a:spAutoFit/>
          </a:bodyPr>
          <a:lstStyle/>
          <a:p>
            <a:r>
              <a:rPr lang="en-US" sz="1800"/>
              <a:t>DR clean</a:t>
            </a:r>
          </a:p>
        </p:txBody>
      </p:sp>
      <p:sp>
        <p:nvSpPr>
          <p:cNvPr id="134" name="TextBox 133">
            <a:extLst>
              <a:ext uri="{FF2B5EF4-FFF2-40B4-BE49-F238E27FC236}">
                <a16:creationId xmlns:a16="http://schemas.microsoft.com/office/drawing/2014/main" id="{3797F2A4-F845-2897-54FC-B64E8AD98C08}"/>
              </a:ext>
            </a:extLst>
          </p:cNvPr>
          <p:cNvSpPr txBox="1"/>
          <p:nvPr/>
        </p:nvSpPr>
        <p:spPr>
          <a:xfrm>
            <a:off x="10802003" y="5246006"/>
            <a:ext cx="705642" cy="369332"/>
          </a:xfrm>
          <a:prstGeom prst="rect">
            <a:avLst/>
          </a:prstGeom>
          <a:noFill/>
        </p:spPr>
        <p:txBody>
          <a:bodyPr wrap="none" rtlCol="0">
            <a:spAutoFit/>
          </a:bodyPr>
          <a:lstStyle/>
          <a:p>
            <a:r>
              <a:rPr lang="en-US" sz="1800"/>
              <a:t>DRV</a:t>
            </a:r>
          </a:p>
        </p:txBody>
      </p:sp>
      <p:sp>
        <p:nvSpPr>
          <p:cNvPr id="2" name="Rectangle 1">
            <a:extLst>
              <a:ext uri="{FF2B5EF4-FFF2-40B4-BE49-F238E27FC236}">
                <a16:creationId xmlns:a16="http://schemas.microsoft.com/office/drawing/2014/main" id="{7A7D5B0A-1F69-7F0F-420A-560E5D5073A7}"/>
              </a:ext>
            </a:extLst>
          </p:cNvPr>
          <p:cNvSpPr/>
          <p:nvPr/>
        </p:nvSpPr>
        <p:spPr>
          <a:xfrm>
            <a:off x="10083873" y="3835827"/>
            <a:ext cx="603504" cy="256032"/>
          </a:xfrm>
          <a:prstGeom prst="rect">
            <a:avLst/>
          </a:prstGeom>
          <a:solidFill>
            <a:srgbClr val="FFE699">
              <a:alpha val="58039"/>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3" name="Rectangle 2">
            <a:extLst>
              <a:ext uri="{FF2B5EF4-FFF2-40B4-BE49-F238E27FC236}">
                <a16:creationId xmlns:a16="http://schemas.microsoft.com/office/drawing/2014/main" id="{0FB2A835-CAAA-9825-CDAB-220C618C83FD}"/>
              </a:ext>
            </a:extLst>
          </p:cNvPr>
          <p:cNvSpPr/>
          <p:nvPr/>
        </p:nvSpPr>
        <p:spPr>
          <a:xfrm>
            <a:off x="10083873" y="4187526"/>
            <a:ext cx="603504" cy="256032"/>
          </a:xfrm>
          <a:prstGeom prst="rect">
            <a:avLst/>
          </a:prstGeom>
          <a:solidFill>
            <a:srgbClr val="F4B183">
              <a:alpha val="56863"/>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4" name="TextBox 3">
            <a:extLst>
              <a:ext uri="{FF2B5EF4-FFF2-40B4-BE49-F238E27FC236}">
                <a16:creationId xmlns:a16="http://schemas.microsoft.com/office/drawing/2014/main" id="{C7B69BEB-F2F3-B430-BF6C-5930FD33866B}"/>
              </a:ext>
            </a:extLst>
          </p:cNvPr>
          <p:cNvSpPr txBox="1"/>
          <p:nvPr/>
        </p:nvSpPr>
        <p:spPr>
          <a:xfrm>
            <a:off x="10802003" y="3771190"/>
            <a:ext cx="870751" cy="369332"/>
          </a:xfrm>
          <a:prstGeom prst="rect">
            <a:avLst/>
          </a:prstGeom>
          <a:noFill/>
        </p:spPr>
        <p:txBody>
          <a:bodyPr wrap="none" rtlCol="0">
            <a:spAutoFit/>
          </a:bodyPr>
          <a:lstStyle/>
          <a:p>
            <a:r>
              <a:rPr lang="en-US"/>
              <a:t>NSVT</a:t>
            </a:r>
            <a:endParaRPr lang="en-US" sz="1800"/>
          </a:p>
        </p:txBody>
      </p:sp>
      <p:sp>
        <p:nvSpPr>
          <p:cNvPr id="5" name="TextBox 4">
            <a:extLst>
              <a:ext uri="{FF2B5EF4-FFF2-40B4-BE49-F238E27FC236}">
                <a16:creationId xmlns:a16="http://schemas.microsoft.com/office/drawing/2014/main" id="{50946FB6-6A7F-A64F-DCD7-3AA8BA2872E1}"/>
              </a:ext>
            </a:extLst>
          </p:cNvPr>
          <p:cNvSpPr txBox="1"/>
          <p:nvPr/>
        </p:nvSpPr>
        <p:spPr>
          <a:xfrm>
            <a:off x="10802003" y="4114812"/>
            <a:ext cx="851515" cy="369332"/>
          </a:xfrm>
          <a:prstGeom prst="rect">
            <a:avLst/>
          </a:prstGeom>
          <a:noFill/>
        </p:spPr>
        <p:txBody>
          <a:bodyPr wrap="none" rtlCol="0">
            <a:spAutoFit/>
          </a:bodyPr>
          <a:lstStyle/>
          <a:p>
            <a:r>
              <a:rPr lang="en-US"/>
              <a:t>NLVT</a:t>
            </a:r>
            <a:endParaRPr lang="en-US" sz="1800"/>
          </a:p>
        </p:txBody>
      </p:sp>
      <p:sp>
        <p:nvSpPr>
          <p:cNvPr id="11" name="TextBox 10">
            <a:extLst>
              <a:ext uri="{FF2B5EF4-FFF2-40B4-BE49-F238E27FC236}">
                <a16:creationId xmlns:a16="http://schemas.microsoft.com/office/drawing/2014/main" id="{A4964EE4-8FA8-CD64-2478-F01DF69C665D}"/>
              </a:ext>
            </a:extLst>
          </p:cNvPr>
          <p:cNvSpPr txBox="1"/>
          <p:nvPr/>
        </p:nvSpPr>
        <p:spPr>
          <a:xfrm>
            <a:off x="6956981" y="2601798"/>
            <a:ext cx="184731" cy="369332"/>
          </a:xfrm>
          <a:prstGeom prst="rect">
            <a:avLst/>
          </a:prstGeom>
          <a:noFill/>
        </p:spPr>
        <p:txBody>
          <a:bodyPr wrap="none" rtlCol="0">
            <a:spAutoFit/>
          </a:bodyPr>
          <a:lstStyle/>
          <a:p>
            <a:endParaRPr lang="en-US"/>
          </a:p>
        </p:txBody>
      </p:sp>
      <p:sp>
        <p:nvSpPr>
          <p:cNvPr id="6" name="TextBox 5">
            <a:extLst>
              <a:ext uri="{FF2B5EF4-FFF2-40B4-BE49-F238E27FC236}">
                <a16:creationId xmlns:a16="http://schemas.microsoft.com/office/drawing/2014/main" id="{5D9048F3-590D-C92F-6D7B-71331178D317}"/>
              </a:ext>
            </a:extLst>
          </p:cNvPr>
          <p:cNvSpPr txBox="1"/>
          <p:nvPr/>
        </p:nvSpPr>
        <p:spPr>
          <a:xfrm>
            <a:off x="10183051" y="5430672"/>
            <a:ext cx="423514" cy="646331"/>
          </a:xfrm>
          <a:prstGeom prst="rect">
            <a:avLst/>
          </a:prstGeom>
          <a:noFill/>
        </p:spPr>
        <p:txBody>
          <a:bodyPr wrap="square" rtlCol="0">
            <a:spAutoFit/>
          </a:bodyPr>
          <a:lstStyle/>
          <a:p>
            <a:r>
              <a:rPr lang="en-US" sz="3600">
                <a:solidFill>
                  <a:srgbClr val="00B050"/>
                </a:solidFill>
              </a:rPr>
              <a:t>O</a:t>
            </a:r>
          </a:p>
        </p:txBody>
      </p:sp>
      <p:sp>
        <p:nvSpPr>
          <p:cNvPr id="7" name="Rectangle 6">
            <a:extLst>
              <a:ext uri="{FF2B5EF4-FFF2-40B4-BE49-F238E27FC236}">
                <a16:creationId xmlns:a16="http://schemas.microsoft.com/office/drawing/2014/main" id="{03C62581-B859-1D81-AC77-25737B9228DA}"/>
              </a:ext>
            </a:extLst>
          </p:cNvPr>
          <p:cNvSpPr/>
          <p:nvPr/>
        </p:nvSpPr>
        <p:spPr>
          <a:xfrm>
            <a:off x="10083873" y="4539225"/>
            <a:ext cx="603504" cy="256032"/>
          </a:xfrm>
          <a:prstGeom prst="rect">
            <a:avLst/>
          </a:prstGeom>
          <a:solidFill>
            <a:schemeClr val="accent1">
              <a:lumMod val="40000"/>
              <a:lumOff val="6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8" name="TextBox 7">
            <a:extLst>
              <a:ext uri="{FF2B5EF4-FFF2-40B4-BE49-F238E27FC236}">
                <a16:creationId xmlns:a16="http://schemas.microsoft.com/office/drawing/2014/main" id="{B600D38B-3F37-9BE3-9EFD-F4C7E365B7B3}"/>
              </a:ext>
            </a:extLst>
          </p:cNvPr>
          <p:cNvSpPr txBox="1"/>
          <p:nvPr/>
        </p:nvSpPr>
        <p:spPr>
          <a:xfrm>
            <a:off x="10802003" y="4461279"/>
            <a:ext cx="691471" cy="369332"/>
          </a:xfrm>
          <a:prstGeom prst="rect">
            <a:avLst/>
          </a:prstGeom>
          <a:noFill/>
        </p:spPr>
        <p:txBody>
          <a:bodyPr wrap="none" rtlCol="0">
            <a:spAutoFit/>
          </a:bodyPr>
          <a:lstStyle/>
          <a:p>
            <a:r>
              <a:rPr lang="en-US"/>
              <a:t>PSVT</a:t>
            </a:r>
            <a:endParaRPr lang="en-US" sz="1800"/>
          </a:p>
        </p:txBody>
      </p:sp>
      <p:sp>
        <p:nvSpPr>
          <p:cNvPr id="9" name="Rectangle 8">
            <a:extLst>
              <a:ext uri="{FF2B5EF4-FFF2-40B4-BE49-F238E27FC236}">
                <a16:creationId xmlns:a16="http://schemas.microsoft.com/office/drawing/2014/main" id="{B05807F4-8BCE-5B8A-0B2A-5066A5C8789D}"/>
              </a:ext>
            </a:extLst>
          </p:cNvPr>
          <p:cNvSpPr/>
          <p:nvPr/>
        </p:nvSpPr>
        <p:spPr>
          <a:xfrm>
            <a:off x="10083873" y="4890924"/>
            <a:ext cx="603504" cy="256032"/>
          </a:xfrm>
          <a:prstGeom prst="rect">
            <a:avLst/>
          </a:prstGeom>
          <a:solidFill>
            <a:schemeClr val="accent1">
              <a:lumMod val="20000"/>
              <a:lumOff val="8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endParaRPr lang="en-US" sz="1400">
              <a:solidFill>
                <a:schemeClr val="tx1"/>
              </a:solidFill>
            </a:endParaRPr>
          </a:p>
        </p:txBody>
      </p:sp>
      <p:sp>
        <p:nvSpPr>
          <p:cNvPr id="10" name="TextBox 9">
            <a:extLst>
              <a:ext uri="{FF2B5EF4-FFF2-40B4-BE49-F238E27FC236}">
                <a16:creationId xmlns:a16="http://schemas.microsoft.com/office/drawing/2014/main" id="{6A9C919B-8957-15AF-C634-1A1B8E94F756}"/>
              </a:ext>
            </a:extLst>
          </p:cNvPr>
          <p:cNvSpPr txBox="1"/>
          <p:nvPr/>
        </p:nvSpPr>
        <p:spPr>
          <a:xfrm>
            <a:off x="10802003" y="4810970"/>
            <a:ext cx="664221" cy="369332"/>
          </a:xfrm>
          <a:prstGeom prst="rect">
            <a:avLst/>
          </a:prstGeom>
          <a:noFill/>
        </p:spPr>
        <p:txBody>
          <a:bodyPr wrap="none" rtlCol="0">
            <a:spAutoFit/>
          </a:bodyPr>
          <a:lstStyle/>
          <a:p>
            <a:r>
              <a:rPr lang="en-US"/>
              <a:t>PLVT</a:t>
            </a:r>
            <a:endParaRPr lang="en-US" sz="1800"/>
          </a:p>
        </p:txBody>
      </p:sp>
      <p:sp>
        <p:nvSpPr>
          <p:cNvPr id="12" name="Rectangle 11">
            <a:extLst>
              <a:ext uri="{FF2B5EF4-FFF2-40B4-BE49-F238E27FC236}">
                <a16:creationId xmlns:a16="http://schemas.microsoft.com/office/drawing/2014/main" id="{30192BB0-A070-6452-CD04-02C99CE44889}"/>
              </a:ext>
            </a:extLst>
          </p:cNvPr>
          <p:cNvSpPr/>
          <p:nvPr/>
        </p:nvSpPr>
        <p:spPr>
          <a:xfrm>
            <a:off x="4046566" y="3988183"/>
            <a:ext cx="838266" cy="325598"/>
          </a:xfrm>
          <a:prstGeom prst="rect">
            <a:avLst/>
          </a:prstGeom>
          <a:solidFill>
            <a:srgbClr val="FFE699">
              <a:alpha val="58824"/>
            </a:srgb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13" name="Rectangle 12">
            <a:extLst>
              <a:ext uri="{FF2B5EF4-FFF2-40B4-BE49-F238E27FC236}">
                <a16:creationId xmlns:a16="http://schemas.microsoft.com/office/drawing/2014/main" id="{30B1DDBC-DE2B-0356-B09B-E47C20B43195}"/>
              </a:ext>
            </a:extLst>
          </p:cNvPr>
          <p:cNvSpPr/>
          <p:nvPr/>
        </p:nvSpPr>
        <p:spPr>
          <a:xfrm>
            <a:off x="4046566" y="4312784"/>
            <a:ext cx="838266" cy="329371"/>
          </a:xfrm>
          <a:prstGeom prst="rect">
            <a:avLst/>
          </a:prstGeom>
          <a:solidFill>
            <a:srgbClr val="FFF0C3"/>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r"/>
            <a:r>
              <a:rPr lang="en-US" sz="1400">
                <a:solidFill>
                  <a:schemeClr val="tx1"/>
                </a:solidFill>
              </a:rPr>
              <a:t>NSVT</a:t>
            </a:r>
          </a:p>
        </p:txBody>
      </p:sp>
      <p:sp>
        <p:nvSpPr>
          <p:cNvPr id="14" name="Rectangle 13">
            <a:extLst>
              <a:ext uri="{FF2B5EF4-FFF2-40B4-BE49-F238E27FC236}">
                <a16:creationId xmlns:a16="http://schemas.microsoft.com/office/drawing/2014/main" id="{1D8ECF27-C42E-ED4F-55CA-2C4C5868728D}"/>
              </a:ext>
            </a:extLst>
          </p:cNvPr>
          <p:cNvSpPr/>
          <p:nvPr/>
        </p:nvSpPr>
        <p:spPr>
          <a:xfrm>
            <a:off x="4236446" y="4010356"/>
            <a:ext cx="119369" cy="617980"/>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TextBox 15">
            <a:extLst>
              <a:ext uri="{FF2B5EF4-FFF2-40B4-BE49-F238E27FC236}">
                <a16:creationId xmlns:a16="http://schemas.microsoft.com/office/drawing/2014/main" id="{D2360E72-FD18-E073-4A9D-7045EDAA9C7A}"/>
              </a:ext>
            </a:extLst>
          </p:cNvPr>
          <p:cNvSpPr txBox="1"/>
          <p:nvPr/>
        </p:nvSpPr>
        <p:spPr>
          <a:xfrm>
            <a:off x="4163936" y="3077916"/>
            <a:ext cx="423514" cy="646331"/>
          </a:xfrm>
          <a:prstGeom prst="rect">
            <a:avLst/>
          </a:prstGeom>
          <a:noFill/>
        </p:spPr>
        <p:txBody>
          <a:bodyPr wrap="square" rtlCol="0">
            <a:spAutoFit/>
          </a:bodyPr>
          <a:lstStyle/>
          <a:p>
            <a:r>
              <a:rPr lang="en-US" sz="3600">
                <a:solidFill>
                  <a:srgbClr val="00B050"/>
                </a:solidFill>
              </a:rPr>
              <a:t>O</a:t>
            </a:r>
          </a:p>
        </p:txBody>
      </p:sp>
      <p:sp>
        <p:nvSpPr>
          <p:cNvPr id="19" name="TextBox 18">
            <a:extLst>
              <a:ext uri="{FF2B5EF4-FFF2-40B4-BE49-F238E27FC236}">
                <a16:creationId xmlns:a16="http://schemas.microsoft.com/office/drawing/2014/main" id="{1DA85864-1056-3F02-80FF-A71CDB617C01}"/>
              </a:ext>
            </a:extLst>
          </p:cNvPr>
          <p:cNvSpPr txBox="1"/>
          <p:nvPr/>
        </p:nvSpPr>
        <p:spPr>
          <a:xfrm>
            <a:off x="7459702" y="3077916"/>
            <a:ext cx="490840" cy="646331"/>
          </a:xfrm>
          <a:prstGeom prst="rect">
            <a:avLst/>
          </a:prstGeom>
          <a:noFill/>
        </p:spPr>
        <p:txBody>
          <a:bodyPr wrap="none" rtlCol="0">
            <a:spAutoFit/>
          </a:bodyPr>
          <a:lstStyle/>
          <a:p>
            <a:r>
              <a:rPr lang="en-US" sz="3600">
                <a:solidFill>
                  <a:srgbClr val="00B050"/>
                </a:solidFill>
              </a:rPr>
              <a:t>O</a:t>
            </a:r>
          </a:p>
        </p:txBody>
      </p:sp>
    </p:spTree>
    <p:extLst>
      <p:ext uri="{BB962C8B-B14F-4D97-AF65-F5344CB8AC3E}">
        <p14:creationId xmlns:p14="http://schemas.microsoft.com/office/powerpoint/2010/main" val="4206787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2">
            <a:extLst>
              <a:ext uri="{FF2B5EF4-FFF2-40B4-BE49-F238E27FC236}">
                <a16:creationId xmlns:a16="http://schemas.microsoft.com/office/drawing/2014/main" id="{FEEB6C77-3FEF-4B80-AD4F-8247CD18952B}"/>
              </a:ext>
            </a:extLst>
          </p:cNvPr>
          <p:cNvSpPr txBox="1">
            <a:spLocks/>
          </p:cNvSpPr>
          <p:nvPr/>
        </p:nvSpPr>
        <p:spPr>
          <a:xfrm>
            <a:off x="155499" y="0"/>
            <a:ext cx="5635701"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3600" b="1">
                <a:solidFill>
                  <a:sysClr val="windowText" lastClr="000000"/>
                </a:solidFill>
                <a:latin typeface="Calibri Light" panose="020F0302020204030204"/>
              </a:rPr>
              <a:t>VCR and VCRNUB Design Rule</a:t>
            </a:r>
          </a:p>
        </p:txBody>
      </p:sp>
      <p:sp>
        <p:nvSpPr>
          <p:cNvPr id="47" name="TextBox 46">
            <a:extLst>
              <a:ext uri="{FF2B5EF4-FFF2-40B4-BE49-F238E27FC236}">
                <a16:creationId xmlns:a16="http://schemas.microsoft.com/office/drawing/2014/main" id="{12EDD18B-E8CA-4628-AD8B-23E817FE880A}"/>
              </a:ext>
            </a:extLst>
          </p:cNvPr>
          <p:cNvSpPr txBox="1"/>
          <p:nvPr/>
        </p:nvSpPr>
        <p:spPr>
          <a:xfrm>
            <a:off x="155500" y="678803"/>
            <a:ext cx="11560250" cy="2712730"/>
          </a:xfrm>
          <a:prstGeom prst="rect">
            <a:avLst/>
          </a:prstGeom>
          <a:noFill/>
        </p:spPr>
        <p:txBody>
          <a:bodyPr vert="horz" wrap="square" lIns="0" tIns="0" rIns="0" bIns="0"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a:t>
            </a:r>
            <a:r>
              <a:rPr lang="en-US" sz="2400">
                <a:solidFill>
                  <a:prstClr val="black"/>
                </a:solidFill>
                <a:latin typeface="Calibri" panose="020F0502020204030204"/>
              </a:rPr>
              <a:t>VCR is a contact rail delivering power/ground</a:t>
            </a:r>
            <a:endParaRPr kumimoji="0" lang="en-US" sz="2400" b="0" i="0" u="none" strike="noStrike" kern="1200" cap="none" spc="0" normalizeH="0" baseline="0" noProof="0">
              <a:ln>
                <a:noFill/>
              </a:ln>
              <a:solidFill>
                <a:prstClr val="black"/>
              </a:solidFill>
              <a:effectLst/>
              <a:uLnTx/>
              <a:uFillTx/>
              <a:latin typeface="Calibri" panose="020F0502020204030204"/>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a:t>
            </a:r>
            <a:r>
              <a:rPr lang="en-US" sz="2400">
                <a:solidFill>
                  <a:prstClr val="black"/>
                </a:solidFill>
                <a:latin typeface="Calibri" panose="020F0502020204030204"/>
              </a:rPr>
              <a:t>VCR is drawn at the cell boundary along the CRL</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rPr>
              <a:t> VCRNUB is an independent CAD layer that is merged with VCR for manufacturing</a:t>
            </a:r>
            <a:endParaRPr kumimoji="0" lang="en-US" sz="2400" b="0" i="0" u="none" strike="noStrike" kern="1200" cap="none" spc="0" normalizeH="0" baseline="0" noProof="0">
              <a:ln>
                <a:noFill/>
              </a:ln>
              <a:solidFill>
                <a:prstClr val="black"/>
              </a:solidFill>
              <a:effectLst/>
              <a:uLnTx/>
              <a:uFillTx/>
              <a:latin typeface="Calibri" panose="020F0502020204030204"/>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lang="en-US" sz="2400">
                <a:solidFill>
                  <a:prstClr val="black"/>
                </a:solidFill>
                <a:latin typeface="Calibri" panose="020F0502020204030204"/>
              </a:rPr>
              <a:t> tcn can only connect to a VCR if overlapping </a:t>
            </a:r>
            <a:r>
              <a:rPr lang="en-US" sz="2400" err="1">
                <a:solidFill>
                  <a:prstClr val="black"/>
                </a:solidFill>
                <a:latin typeface="Calibri" panose="020F0502020204030204"/>
              </a:rPr>
              <a:t>vcrnub</a:t>
            </a:r>
            <a:endParaRPr lang="en-US" sz="2400">
              <a:solidFill>
                <a:prstClr val="black"/>
              </a:solidFill>
              <a:latin typeface="Calibri" panose="020F0502020204030204"/>
            </a:endParaRPr>
          </a:p>
          <a:p>
            <a:pPr marR="0" lvl="0" algn="l" defTabSz="914400" rtl="0" eaLnBrk="1" fontAlgn="auto" latinLnBrk="0" hangingPunct="1">
              <a:lnSpc>
                <a:spcPct val="150000"/>
              </a:lnSpc>
              <a:spcBef>
                <a:spcPts val="0"/>
              </a:spcBef>
              <a:spcAft>
                <a:spcPts val="0"/>
              </a:spcAft>
              <a:buClrTx/>
              <a:buSzTx/>
              <a:tabLst/>
              <a:defRPr/>
            </a:pPr>
            <a:endParaRPr kumimoji="0" lang="en-US" sz="2400" b="0" i="0" u="none" strike="noStrike" kern="1200" cap="none" spc="0" normalizeH="0" baseline="0" noProof="0">
              <a:ln>
                <a:noFill/>
              </a:ln>
              <a:solidFill>
                <a:prstClr val="black"/>
              </a:solidFill>
              <a:effectLst/>
              <a:uLnTx/>
              <a:uFillTx/>
              <a:latin typeface="Calibri" panose="020F0502020204030204"/>
            </a:endParaRPr>
          </a:p>
        </p:txBody>
      </p:sp>
      <p:sp>
        <p:nvSpPr>
          <p:cNvPr id="49" name="Rectangle 48">
            <a:extLst>
              <a:ext uri="{FF2B5EF4-FFF2-40B4-BE49-F238E27FC236}">
                <a16:creationId xmlns:a16="http://schemas.microsoft.com/office/drawing/2014/main" id="{39F78E2F-A967-422D-B1F5-578FA1887BD8}"/>
              </a:ext>
            </a:extLst>
          </p:cNvPr>
          <p:cNvSpPr/>
          <p:nvPr/>
        </p:nvSpPr>
        <p:spPr>
          <a:xfrm>
            <a:off x="7540573" y="3737847"/>
            <a:ext cx="1969262" cy="732980"/>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0" name="Rectangle 49">
            <a:extLst>
              <a:ext uri="{FF2B5EF4-FFF2-40B4-BE49-F238E27FC236}">
                <a16:creationId xmlns:a16="http://schemas.microsoft.com/office/drawing/2014/main" id="{76506A35-79E0-4A7C-91C9-893DFE09E436}"/>
              </a:ext>
            </a:extLst>
          </p:cNvPr>
          <p:cNvSpPr/>
          <p:nvPr/>
        </p:nvSpPr>
        <p:spPr>
          <a:xfrm>
            <a:off x="7532653" y="5087535"/>
            <a:ext cx="1969262" cy="596937"/>
          </a:xfrm>
          <a:prstGeom prst="rect">
            <a:avLst/>
          </a:prstGeom>
          <a:solidFill>
            <a:srgbClr val="FFC000">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1" name="Rectangle 50">
            <a:extLst>
              <a:ext uri="{FF2B5EF4-FFF2-40B4-BE49-F238E27FC236}">
                <a16:creationId xmlns:a16="http://schemas.microsoft.com/office/drawing/2014/main" id="{15B0348E-47B2-4DE4-B96B-B3E22E36D77C}"/>
              </a:ext>
            </a:extLst>
          </p:cNvPr>
          <p:cNvSpPr/>
          <p:nvPr/>
        </p:nvSpPr>
        <p:spPr>
          <a:xfrm>
            <a:off x="8325975" y="3568850"/>
            <a:ext cx="322593" cy="952368"/>
          </a:xfrm>
          <a:prstGeom prst="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52" name="Rectangle 51">
            <a:extLst>
              <a:ext uri="{FF2B5EF4-FFF2-40B4-BE49-F238E27FC236}">
                <a16:creationId xmlns:a16="http://schemas.microsoft.com/office/drawing/2014/main" id="{2666D89C-400E-4BEC-8FB3-B0C8820AE641}"/>
              </a:ext>
            </a:extLst>
          </p:cNvPr>
          <p:cNvSpPr/>
          <p:nvPr/>
        </p:nvSpPr>
        <p:spPr>
          <a:xfrm>
            <a:off x="8312652" y="4906248"/>
            <a:ext cx="325461" cy="1010056"/>
          </a:xfrm>
          <a:prstGeom prst="rect">
            <a:avLst/>
          </a:prstGeom>
          <a:solidFill>
            <a:srgbClr val="00B050"/>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Calibri" panose="020F0502020204030204"/>
            </a:endParaRPr>
          </a:p>
        </p:txBody>
      </p:sp>
      <p:sp>
        <p:nvSpPr>
          <p:cNvPr id="10" name="Rectangle 9">
            <a:extLst>
              <a:ext uri="{FF2B5EF4-FFF2-40B4-BE49-F238E27FC236}">
                <a16:creationId xmlns:a16="http://schemas.microsoft.com/office/drawing/2014/main" id="{553588A1-2782-2F4B-3C77-AE56D63E2076}"/>
              </a:ext>
            </a:extLst>
          </p:cNvPr>
          <p:cNvSpPr/>
          <p:nvPr/>
        </p:nvSpPr>
        <p:spPr>
          <a:xfrm>
            <a:off x="7082553" y="5949716"/>
            <a:ext cx="2573251" cy="318206"/>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r>
              <a:rPr lang="en-US"/>
              <a:t>VCR</a:t>
            </a:r>
          </a:p>
        </p:txBody>
      </p:sp>
      <p:sp>
        <p:nvSpPr>
          <p:cNvPr id="32" name="Rectangle 31">
            <a:extLst>
              <a:ext uri="{FF2B5EF4-FFF2-40B4-BE49-F238E27FC236}">
                <a16:creationId xmlns:a16="http://schemas.microsoft.com/office/drawing/2014/main" id="{D905F1FA-EFA6-747C-F19A-10806C0F0663}"/>
              </a:ext>
            </a:extLst>
          </p:cNvPr>
          <p:cNvSpPr/>
          <p:nvPr/>
        </p:nvSpPr>
        <p:spPr>
          <a:xfrm>
            <a:off x="7082553" y="3187820"/>
            <a:ext cx="2595443" cy="350027"/>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r>
              <a:rPr lang="en-US"/>
              <a:t>VCR</a:t>
            </a:r>
          </a:p>
        </p:txBody>
      </p:sp>
      <p:sp>
        <p:nvSpPr>
          <p:cNvPr id="3" name="Rectangle 2">
            <a:extLst>
              <a:ext uri="{FF2B5EF4-FFF2-40B4-BE49-F238E27FC236}">
                <a16:creationId xmlns:a16="http://schemas.microsoft.com/office/drawing/2014/main" id="{E22F978A-EBF4-5E8A-CBC3-1BF9EA3B95DD}"/>
              </a:ext>
            </a:extLst>
          </p:cNvPr>
          <p:cNvSpPr/>
          <p:nvPr/>
        </p:nvSpPr>
        <p:spPr>
          <a:xfrm>
            <a:off x="8903354" y="3664228"/>
            <a:ext cx="306687" cy="2143415"/>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DE07ACD4-A407-0B79-5FA2-F33B437092A4}"/>
              </a:ext>
            </a:extLst>
          </p:cNvPr>
          <p:cNvSpPr/>
          <p:nvPr/>
        </p:nvSpPr>
        <p:spPr>
          <a:xfrm>
            <a:off x="7329133" y="3369826"/>
            <a:ext cx="1167819"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 name="Rectangle 4">
            <a:extLst>
              <a:ext uri="{FF2B5EF4-FFF2-40B4-BE49-F238E27FC236}">
                <a16:creationId xmlns:a16="http://schemas.microsoft.com/office/drawing/2014/main" id="{7780D297-7D4A-469D-4B75-E4C48BFDAFDF}"/>
              </a:ext>
            </a:extLst>
          </p:cNvPr>
          <p:cNvSpPr/>
          <p:nvPr/>
        </p:nvSpPr>
        <p:spPr>
          <a:xfrm>
            <a:off x="600422" y="4123074"/>
            <a:ext cx="2187744" cy="350027"/>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ectangle 5">
            <a:extLst>
              <a:ext uri="{FF2B5EF4-FFF2-40B4-BE49-F238E27FC236}">
                <a16:creationId xmlns:a16="http://schemas.microsoft.com/office/drawing/2014/main" id="{B926DBB3-71E0-D985-294F-6E5FA90117CD}"/>
              </a:ext>
            </a:extLst>
          </p:cNvPr>
          <p:cNvSpPr/>
          <p:nvPr/>
        </p:nvSpPr>
        <p:spPr>
          <a:xfrm>
            <a:off x="964537" y="4294806"/>
            <a:ext cx="1459513"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5" name="Rectangle 54">
            <a:extLst>
              <a:ext uri="{FF2B5EF4-FFF2-40B4-BE49-F238E27FC236}">
                <a16:creationId xmlns:a16="http://schemas.microsoft.com/office/drawing/2014/main" id="{64C00D32-C0B8-4880-B033-77446740C691}"/>
              </a:ext>
            </a:extLst>
          </p:cNvPr>
          <p:cNvSpPr/>
          <p:nvPr/>
        </p:nvSpPr>
        <p:spPr>
          <a:xfrm>
            <a:off x="7759380" y="3369825"/>
            <a:ext cx="311809" cy="1151393"/>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7D21F72-FE11-7D4C-351B-97A4814EE2FB}"/>
              </a:ext>
            </a:extLst>
          </p:cNvPr>
          <p:cNvSpPr/>
          <p:nvPr/>
        </p:nvSpPr>
        <p:spPr>
          <a:xfrm>
            <a:off x="1487884" y="4280022"/>
            <a:ext cx="311809" cy="1031534"/>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9E3DD58-430E-84A0-BF2E-5CC17A803C9B}"/>
              </a:ext>
            </a:extLst>
          </p:cNvPr>
          <p:cNvSpPr/>
          <p:nvPr/>
        </p:nvSpPr>
        <p:spPr>
          <a:xfrm>
            <a:off x="7316195" y="5902721"/>
            <a:ext cx="1167819"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6" name="Rectangle 55">
            <a:extLst>
              <a:ext uri="{FF2B5EF4-FFF2-40B4-BE49-F238E27FC236}">
                <a16:creationId xmlns:a16="http://schemas.microsoft.com/office/drawing/2014/main" id="{4ADB5642-4906-4A13-BC7B-6E1DBF1787C1}"/>
              </a:ext>
            </a:extLst>
          </p:cNvPr>
          <p:cNvSpPr/>
          <p:nvPr/>
        </p:nvSpPr>
        <p:spPr>
          <a:xfrm>
            <a:off x="7759380" y="4869286"/>
            <a:ext cx="306687" cy="1274844"/>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0F5C167D-F73D-39F7-77BC-1FFB6A08E39B}"/>
              </a:ext>
            </a:extLst>
          </p:cNvPr>
          <p:cNvSpPr txBox="1"/>
          <p:nvPr/>
        </p:nvSpPr>
        <p:spPr>
          <a:xfrm>
            <a:off x="7637163" y="6325417"/>
            <a:ext cx="1572878" cy="461665"/>
          </a:xfrm>
          <a:prstGeom prst="rect">
            <a:avLst/>
          </a:prstGeom>
          <a:noFill/>
        </p:spPr>
        <p:txBody>
          <a:bodyPr wrap="square" rtlCol="0">
            <a:spAutoFit/>
          </a:bodyPr>
          <a:lstStyle/>
          <a:p>
            <a:r>
              <a:rPr lang="en-US" sz="1200"/>
              <a:t>*some layers not shown for simplicity</a:t>
            </a:r>
          </a:p>
        </p:txBody>
      </p:sp>
      <p:sp>
        <p:nvSpPr>
          <p:cNvPr id="16" name="Rectangle 15">
            <a:extLst>
              <a:ext uri="{FF2B5EF4-FFF2-40B4-BE49-F238E27FC236}">
                <a16:creationId xmlns:a16="http://schemas.microsoft.com/office/drawing/2014/main" id="{B4CE042F-BACF-9A32-D5EE-545F88BB29B4}"/>
              </a:ext>
            </a:extLst>
          </p:cNvPr>
          <p:cNvSpPr/>
          <p:nvPr/>
        </p:nvSpPr>
        <p:spPr>
          <a:xfrm>
            <a:off x="3466854" y="4123074"/>
            <a:ext cx="2187744" cy="350027"/>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Rectangle 16">
            <a:extLst>
              <a:ext uri="{FF2B5EF4-FFF2-40B4-BE49-F238E27FC236}">
                <a16:creationId xmlns:a16="http://schemas.microsoft.com/office/drawing/2014/main" id="{AFFBE7F3-6473-2687-EC00-BF24E0849184}"/>
              </a:ext>
            </a:extLst>
          </p:cNvPr>
          <p:cNvSpPr/>
          <p:nvPr/>
        </p:nvSpPr>
        <p:spPr>
          <a:xfrm>
            <a:off x="3830969" y="4294806"/>
            <a:ext cx="1459513"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8" name="Rectangle 17">
            <a:extLst>
              <a:ext uri="{FF2B5EF4-FFF2-40B4-BE49-F238E27FC236}">
                <a16:creationId xmlns:a16="http://schemas.microsoft.com/office/drawing/2014/main" id="{35B337F1-6B47-A2CC-A8DA-7ACC326041E3}"/>
              </a:ext>
            </a:extLst>
          </p:cNvPr>
          <p:cNvSpPr/>
          <p:nvPr/>
        </p:nvSpPr>
        <p:spPr>
          <a:xfrm>
            <a:off x="4354316" y="4280022"/>
            <a:ext cx="311809" cy="1031534"/>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5A82A20-227D-65D9-FB94-D514E23F8720}"/>
              </a:ext>
            </a:extLst>
          </p:cNvPr>
          <p:cNvSpPr/>
          <p:nvPr/>
        </p:nvSpPr>
        <p:spPr>
          <a:xfrm>
            <a:off x="3830969" y="4036670"/>
            <a:ext cx="1459513"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0" name="Rectangle 19">
            <a:extLst>
              <a:ext uri="{FF2B5EF4-FFF2-40B4-BE49-F238E27FC236}">
                <a16:creationId xmlns:a16="http://schemas.microsoft.com/office/drawing/2014/main" id="{0F9AFCF5-D907-1508-E7F5-46C32D9EBE02}"/>
              </a:ext>
            </a:extLst>
          </p:cNvPr>
          <p:cNvSpPr/>
          <p:nvPr/>
        </p:nvSpPr>
        <p:spPr>
          <a:xfrm>
            <a:off x="4354315" y="3248488"/>
            <a:ext cx="311809" cy="1031534"/>
          </a:xfrm>
          <a:prstGeom prst="rect">
            <a:avLst/>
          </a:prstGeom>
          <a:solidFill>
            <a:srgbClr val="CCCCCC"/>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Rectangle 1">
            <a:extLst>
              <a:ext uri="{FF2B5EF4-FFF2-40B4-BE49-F238E27FC236}">
                <a16:creationId xmlns:a16="http://schemas.microsoft.com/office/drawing/2014/main" id="{46B43764-7D25-2D89-DCFD-41BEE5DAA546}"/>
              </a:ext>
            </a:extLst>
          </p:cNvPr>
          <p:cNvSpPr/>
          <p:nvPr/>
        </p:nvSpPr>
        <p:spPr>
          <a:xfrm>
            <a:off x="928207" y="5911307"/>
            <a:ext cx="425450" cy="473907"/>
          </a:xfrm>
          <a:prstGeom prst="rect">
            <a:avLst/>
          </a:prstGeom>
          <a:solidFill>
            <a:srgbClr val="8F5DA2"/>
          </a:solidFill>
          <a:ln w="12700" cap="flat" cmpd="sng" algn="ctr">
            <a:solidFill>
              <a:srgbClr val="4472C4">
                <a:shade val="50000"/>
              </a:srgbClr>
            </a:solidFill>
            <a:prstDash val="solid"/>
            <a:miter lim="800000"/>
          </a:ln>
          <a:effectLst/>
        </p:spPr>
        <p:txBody>
          <a:bodyPr rtlCol="0" anchor="ctr"/>
          <a:lstStyle/>
          <a:p>
            <a:pPr algn="ctr"/>
            <a:endParaRPr lang="en-US" sz="4000" kern="0">
              <a:solidFill>
                <a:prstClr val="white"/>
              </a:solidFill>
              <a:latin typeface="Calibri" panose="020F0502020204030204"/>
            </a:endParaRPr>
          </a:p>
        </p:txBody>
      </p:sp>
      <p:sp>
        <p:nvSpPr>
          <p:cNvPr id="9" name="Rectangle 8">
            <a:extLst>
              <a:ext uri="{FF2B5EF4-FFF2-40B4-BE49-F238E27FC236}">
                <a16:creationId xmlns:a16="http://schemas.microsoft.com/office/drawing/2014/main" id="{FF364AA7-3D2E-208A-986C-23FB2003075D}"/>
              </a:ext>
            </a:extLst>
          </p:cNvPr>
          <p:cNvSpPr/>
          <p:nvPr/>
        </p:nvSpPr>
        <p:spPr>
          <a:xfrm>
            <a:off x="211873" y="5911307"/>
            <a:ext cx="425450" cy="49771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2B1FA16-12D4-D28F-25FF-C145C2711A03}"/>
              </a:ext>
            </a:extLst>
          </p:cNvPr>
          <p:cNvSpPr/>
          <p:nvPr/>
        </p:nvSpPr>
        <p:spPr>
          <a:xfrm>
            <a:off x="2391016" y="5911307"/>
            <a:ext cx="425450" cy="473907"/>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4E6344-38D7-C174-87EB-2D563A3D2670}"/>
              </a:ext>
            </a:extLst>
          </p:cNvPr>
          <p:cNvSpPr txBox="1"/>
          <p:nvPr/>
        </p:nvSpPr>
        <p:spPr>
          <a:xfrm>
            <a:off x="831676" y="6414236"/>
            <a:ext cx="842038" cy="369332"/>
          </a:xfrm>
          <a:prstGeom prst="rect">
            <a:avLst/>
          </a:prstGeom>
          <a:noFill/>
        </p:spPr>
        <p:txBody>
          <a:bodyPr wrap="square" lIns="91440" tIns="45720" rIns="91440" bIns="45720" rtlCol="0" anchor="t">
            <a:spAutoFit/>
          </a:bodyPr>
          <a:lstStyle/>
          <a:p>
            <a:r>
              <a:rPr lang="en-US">
                <a:solidFill>
                  <a:srgbClr val="0070C0"/>
                </a:solidFill>
              </a:rPr>
              <a:t>VCR</a:t>
            </a:r>
          </a:p>
        </p:txBody>
      </p:sp>
      <p:sp>
        <p:nvSpPr>
          <p:cNvPr id="21" name="TextBox 20">
            <a:extLst>
              <a:ext uri="{FF2B5EF4-FFF2-40B4-BE49-F238E27FC236}">
                <a16:creationId xmlns:a16="http://schemas.microsoft.com/office/drawing/2014/main" id="{89B3092D-E8EB-8397-CC68-5F4BE2092C6D}"/>
              </a:ext>
            </a:extLst>
          </p:cNvPr>
          <p:cNvSpPr txBox="1"/>
          <p:nvPr/>
        </p:nvSpPr>
        <p:spPr>
          <a:xfrm>
            <a:off x="135652" y="6414236"/>
            <a:ext cx="842038" cy="369332"/>
          </a:xfrm>
          <a:prstGeom prst="rect">
            <a:avLst/>
          </a:prstGeom>
          <a:noFill/>
        </p:spPr>
        <p:txBody>
          <a:bodyPr wrap="square" rtlCol="0">
            <a:spAutoFit/>
          </a:bodyPr>
          <a:lstStyle/>
          <a:p>
            <a:r>
              <a:rPr lang="en-US">
                <a:solidFill>
                  <a:srgbClr val="0070C0"/>
                </a:solidFill>
              </a:rPr>
              <a:t>poly</a:t>
            </a:r>
          </a:p>
        </p:txBody>
      </p:sp>
      <p:sp>
        <p:nvSpPr>
          <p:cNvPr id="22" name="TextBox 21">
            <a:extLst>
              <a:ext uri="{FF2B5EF4-FFF2-40B4-BE49-F238E27FC236}">
                <a16:creationId xmlns:a16="http://schemas.microsoft.com/office/drawing/2014/main" id="{16EC2070-1E6B-5EA9-1198-466D262F382F}"/>
              </a:ext>
            </a:extLst>
          </p:cNvPr>
          <p:cNvSpPr txBox="1"/>
          <p:nvPr/>
        </p:nvSpPr>
        <p:spPr>
          <a:xfrm>
            <a:off x="2406343" y="6414236"/>
            <a:ext cx="513459" cy="369332"/>
          </a:xfrm>
          <a:prstGeom prst="rect">
            <a:avLst/>
          </a:prstGeom>
          <a:noFill/>
        </p:spPr>
        <p:txBody>
          <a:bodyPr wrap="square" rtlCol="0">
            <a:spAutoFit/>
          </a:bodyPr>
          <a:lstStyle/>
          <a:p>
            <a:r>
              <a:rPr lang="en-US">
                <a:solidFill>
                  <a:srgbClr val="0070C0"/>
                </a:solidFill>
              </a:rPr>
              <a:t>tcn</a:t>
            </a:r>
          </a:p>
        </p:txBody>
      </p:sp>
      <p:sp>
        <p:nvSpPr>
          <p:cNvPr id="23" name="TextBox 22">
            <a:extLst>
              <a:ext uri="{FF2B5EF4-FFF2-40B4-BE49-F238E27FC236}">
                <a16:creationId xmlns:a16="http://schemas.microsoft.com/office/drawing/2014/main" id="{649B784C-76A9-95A3-549B-D940294A5591}"/>
              </a:ext>
            </a:extLst>
          </p:cNvPr>
          <p:cNvSpPr txBox="1"/>
          <p:nvPr/>
        </p:nvSpPr>
        <p:spPr>
          <a:xfrm>
            <a:off x="3047295" y="6414236"/>
            <a:ext cx="1221726" cy="369332"/>
          </a:xfrm>
          <a:prstGeom prst="rect">
            <a:avLst/>
          </a:prstGeom>
          <a:noFill/>
        </p:spPr>
        <p:txBody>
          <a:bodyPr wrap="square" rtlCol="0">
            <a:spAutoFit/>
          </a:bodyPr>
          <a:lstStyle/>
          <a:p>
            <a:r>
              <a:rPr lang="en-US">
                <a:solidFill>
                  <a:srgbClr val="0070C0"/>
                </a:solidFill>
              </a:rPr>
              <a:t>diffusion</a:t>
            </a:r>
          </a:p>
        </p:txBody>
      </p:sp>
      <p:sp>
        <p:nvSpPr>
          <p:cNvPr id="24" name="Rectangle 23">
            <a:extLst>
              <a:ext uri="{FF2B5EF4-FFF2-40B4-BE49-F238E27FC236}">
                <a16:creationId xmlns:a16="http://schemas.microsoft.com/office/drawing/2014/main" id="{056E47E5-435C-8F0E-D185-B0F9D3700AB2}"/>
              </a:ext>
            </a:extLst>
          </p:cNvPr>
          <p:cNvSpPr/>
          <p:nvPr/>
        </p:nvSpPr>
        <p:spPr>
          <a:xfrm>
            <a:off x="3210715" y="5911307"/>
            <a:ext cx="438960" cy="448468"/>
          </a:xfrm>
          <a:prstGeom prst="rect">
            <a:avLst/>
          </a:prstGeom>
          <a:solidFill>
            <a:srgbClr val="FFE6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5" name="Rectangle 24">
            <a:extLst>
              <a:ext uri="{FF2B5EF4-FFF2-40B4-BE49-F238E27FC236}">
                <a16:creationId xmlns:a16="http://schemas.microsoft.com/office/drawing/2014/main" id="{6F7B4AA9-2863-C24C-D783-7D396BAA9922}"/>
              </a:ext>
            </a:extLst>
          </p:cNvPr>
          <p:cNvSpPr/>
          <p:nvPr/>
        </p:nvSpPr>
        <p:spPr>
          <a:xfrm>
            <a:off x="1664238" y="5911307"/>
            <a:ext cx="438960" cy="448468"/>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26" name="TextBox 25">
            <a:extLst>
              <a:ext uri="{FF2B5EF4-FFF2-40B4-BE49-F238E27FC236}">
                <a16:creationId xmlns:a16="http://schemas.microsoft.com/office/drawing/2014/main" id="{1E9496BC-9AD3-30A8-72D1-935A5B101507}"/>
              </a:ext>
            </a:extLst>
          </p:cNvPr>
          <p:cNvSpPr txBox="1"/>
          <p:nvPr/>
        </p:nvSpPr>
        <p:spPr>
          <a:xfrm>
            <a:off x="1426994" y="6414236"/>
            <a:ext cx="920654" cy="369332"/>
          </a:xfrm>
          <a:prstGeom prst="rect">
            <a:avLst/>
          </a:prstGeom>
          <a:noFill/>
        </p:spPr>
        <p:txBody>
          <a:bodyPr wrap="square" rtlCol="0">
            <a:spAutoFit/>
          </a:bodyPr>
          <a:lstStyle/>
          <a:p>
            <a:r>
              <a:rPr lang="en-US" err="1">
                <a:solidFill>
                  <a:srgbClr val="0070C0"/>
                </a:solidFill>
              </a:rPr>
              <a:t>vcrnub</a:t>
            </a:r>
            <a:endParaRPr lang="en-US">
              <a:solidFill>
                <a:srgbClr val="0070C0"/>
              </a:solidFill>
            </a:endParaRPr>
          </a:p>
        </p:txBody>
      </p:sp>
    </p:spTree>
    <p:extLst>
      <p:ext uri="{BB962C8B-B14F-4D97-AF65-F5344CB8AC3E}">
        <p14:creationId xmlns:p14="http://schemas.microsoft.com/office/powerpoint/2010/main" val="3171995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99CBF-3159-A087-400B-65E526FC394F}"/>
            </a:ext>
          </a:extLst>
        </p:cNvPr>
        <p:cNvGrpSpPr/>
        <p:nvPr/>
      </p:nvGrpSpPr>
      <p:grpSpPr>
        <a:xfrm>
          <a:off x="0" y="0"/>
          <a:ext cx="0" cy="0"/>
          <a:chOff x="0" y="0"/>
          <a:chExt cx="0" cy="0"/>
        </a:xfrm>
      </p:grpSpPr>
      <p:sp>
        <p:nvSpPr>
          <p:cNvPr id="46" name="Title 2">
            <a:extLst>
              <a:ext uri="{FF2B5EF4-FFF2-40B4-BE49-F238E27FC236}">
                <a16:creationId xmlns:a16="http://schemas.microsoft.com/office/drawing/2014/main" id="{DC0025F6-7D55-A37D-1629-0E5704F05B0D}"/>
              </a:ext>
            </a:extLst>
          </p:cNvPr>
          <p:cNvSpPr txBox="1">
            <a:spLocks/>
          </p:cNvSpPr>
          <p:nvPr/>
        </p:nvSpPr>
        <p:spPr>
          <a:xfrm>
            <a:off x="155499" y="0"/>
            <a:ext cx="5635701" cy="75184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3600" b="1">
                <a:solidFill>
                  <a:sysClr val="windowText" lastClr="000000"/>
                </a:solidFill>
                <a:latin typeface="Calibri Light" panose="020F0302020204030204"/>
              </a:rPr>
              <a:t>VCR and VCRNUB Design Rules</a:t>
            </a:r>
          </a:p>
        </p:txBody>
      </p:sp>
      <p:sp>
        <p:nvSpPr>
          <p:cNvPr id="4" name="Rectangle 3">
            <a:extLst>
              <a:ext uri="{FF2B5EF4-FFF2-40B4-BE49-F238E27FC236}">
                <a16:creationId xmlns:a16="http://schemas.microsoft.com/office/drawing/2014/main" id="{CB86E762-536B-6842-C805-36E42145D171}"/>
              </a:ext>
            </a:extLst>
          </p:cNvPr>
          <p:cNvSpPr/>
          <p:nvPr/>
        </p:nvSpPr>
        <p:spPr>
          <a:xfrm>
            <a:off x="6680652" y="1958790"/>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Straight Arrow Connector 4">
            <a:extLst>
              <a:ext uri="{FF2B5EF4-FFF2-40B4-BE49-F238E27FC236}">
                <a16:creationId xmlns:a16="http://schemas.microsoft.com/office/drawing/2014/main" id="{8F818B9F-0213-1225-9579-E4AA0BF2739D}"/>
              </a:ext>
            </a:extLst>
          </p:cNvPr>
          <p:cNvCxnSpPr>
            <a:cxnSpLocks/>
          </p:cNvCxnSpPr>
          <p:nvPr/>
        </p:nvCxnSpPr>
        <p:spPr>
          <a:xfrm>
            <a:off x="8741766" y="1958788"/>
            <a:ext cx="0" cy="513695"/>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3F56A1-BE6F-3FFD-679D-28B8CD83661A}"/>
              </a:ext>
            </a:extLst>
          </p:cNvPr>
          <p:cNvSpPr txBox="1"/>
          <p:nvPr/>
        </p:nvSpPr>
        <p:spPr>
          <a:xfrm>
            <a:off x="8856329" y="2077137"/>
            <a:ext cx="700950" cy="276999"/>
          </a:xfrm>
          <a:prstGeom prst="rect">
            <a:avLst/>
          </a:prstGeom>
          <a:noFill/>
        </p:spPr>
        <p:txBody>
          <a:bodyPr wrap="square" rtlCol="0">
            <a:spAutoFit/>
          </a:bodyPr>
          <a:lstStyle/>
          <a:p>
            <a:r>
              <a:rPr lang="en-US" sz="1200">
                <a:solidFill>
                  <a:srgbClr val="0070C0"/>
                </a:solidFill>
              </a:rPr>
              <a:t>=12 nm</a:t>
            </a:r>
          </a:p>
        </p:txBody>
      </p:sp>
      <p:cxnSp>
        <p:nvCxnSpPr>
          <p:cNvPr id="8" name="Straight Arrow Connector 7">
            <a:extLst>
              <a:ext uri="{FF2B5EF4-FFF2-40B4-BE49-F238E27FC236}">
                <a16:creationId xmlns:a16="http://schemas.microsoft.com/office/drawing/2014/main" id="{62528BBF-C8FF-31A3-1E3A-57A10413DF12}"/>
              </a:ext>
            </a:extLst>
          </p:cNvPr>
          <p:cNvCxnSpPr>
            <a:cxnSpLocks/>
            <a:stCxn id="4" idx="1"/>
          </p:cNvCxnSpPr>
          <p:nvPr/>
        </p:nvCxnSpPr>
        <p:spPr>
          <a:xfrm flipH="1">
            <a:off x="5556247" y="2215638"/>
            <a:ext cx="1124405" cy="0"/>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C2C9728-AE1D-B3F7-296B-3739808A4AFC}"/>
              </a:ext>
            </a:extLst>
          </p:cNvPr>
          <p:cNvSpPr/>
          <p:nvPr/>
        </p:nvSpPr>
        <p:spPr>
          <a:xfrm>
            <a:off x="3368503" y="1958787"/>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t>VCR</a:t>
            </a:r>
          </a:p>
        </p:txBody>
      </p:sp>
      <p:sp>
        <p:nvSpPr>
          <p:cNvPr id="31" name="TextBox 30">
            <a:extLst>
              <a:ext uri="{FF2B5EF4-FFF2-40B4-BE49-F238E27FC236}">
                <a16:creationId xmlns:a16="http://schemas.microsoft.com/office/drawing/2014/main" id="{E856B4C3-B855-CCE2-B1BB-1221DFD5EEE4}"/>
              </a:ext>
            </a:extLst>
          </p:cNvPr>
          <p:cNvSpPr txBox="1"/>
          <p:nvPr/>
        </p:nvSpPr>
        <p:spPr>
          <a:xfrm>
            <a:off x="5658989" y="1938637"/>
            <a:ext cx="923286" cy="276999"/>
          </a:xfrm>
          <a:prstGeom prst="rect">
            <a:avLst/>
          </a:prstGeom>
          <a:noFill/>
        </p:spPr>
        <p:txBody>
          <a:bodyPr wrap="square" rtlCol="0">
            <a:spAutoFit/>
          </a:bodyPr>
          <a:lstStyle/>
          <a:p>
            <a:r>
              <a:rPr lang="en-US" sz="1200">
                <a:solidFill>
                  <a:srgbClr val="0070C0"/>
                </a:solidFill>
              </a:rPr>
              <a:t>&gt;=88 nm</a:t>
            </a:r>
          </a:p>
        </p:txBody>
      </p:sp>
      <p:sp>
        <p:nvSpPr>
          <p:cNvPr id="32" name="Rectangle 31">
            <a:extLst>
              <a:ext uri="{FF2B5EF4-FFF2-40B4-BE49-F238E27FC236}">
                <a16:creationId xmlns:a16="http://schemas.microsoft.com/office/drawing/2014/main" id="{BEBC59A3-3282-9196-38A9-69AE2A391223}"/>
              </a:ext>
            </a:extLst>
          </p:cNvPr>
          <p:cNvSpPr/>
          <p:nvPr/>
        </p:nvSpPr>
        <p:spPr>
          <a:xfrm>
            <a:off x="760969" y="4921722"/>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Rectangle 32">
            <a:extLst>
              <a:ext uri="{FF2B5EF4-FFF2-40B4-BE49-F238E27FC236}">
                <a16:creationId xmlns:a16="http://schemas.microsoft.com/office/drawing/2014/main" id="{93EDC5B5-3887-A50C-973D-D2160BFD5DAC}"/>
              </a:ext>
            </a:extLst>
          </p:cNvPr>
          <p:cNvSpPr/>
          <p:nvPr/>
        </p:nvSpPr>
        <p:spPr>
          <a:xfrm>
            <a:off x="972650" y="5178569"/>
            <a:ext cx="1459513" cy="513695"/>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34" name="Straight Arrow Connector 33">
            <a:extLst>
              <a:ext uri="{FF2B5EF4-FFF2-40B4-BE49-F238E27FC236}">
                <a16:creationId xmlns:a16="http://schemas.microsoft.com/office/drawing/2014/main" id="{DF0491C3-99BD-1301-F95A-FA630A4D957A}"/>
              </a:ext>
            </a:extLst>
          </p:cNvPr>
          <p:cNvCxnSpPr>
            <a:cxnSpLocks/>
          </p:cNvCxnSpPr>
          <p:nvPr/>
        </p:nvCxnSpPr>
        <p:spPr>
          <a:xfrm>
            <a:off x="2290648" y="5178569"/>
            <a:ext cx="0" cy="513695"/>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670D12E-B1D8-30CD-101C-482B3D17D67C}"/>
              </a:ext>
            </a:extLst>
          </p:cNvPr>
          <p:cNvSpPr txBox="1"/>
          <p:nvPr/>
        </p:nvSpPr>
        <p:spPr>
          <a:xfrm>
            <a:off x="2339962" y="5435416"/>
            <a:ext cx="820427" cy="276999"/>
          </a:xfrm>
          <a:prstGeom prst="rect">
            <a:avLst/>
          </a:prstGeom>
          <a:noFill/>
        </p:spPr>
        <p:txBody>
          <a:bodyPr wrap="square" rtlCol="0">
            <a:spAutoFit/>
          </a:bodyPr>
          <a:lstStyle/>
          <a:p>
            <a:r>
              <a:rPr lang="en-US" sz="1200">
                <a:solidFill>
                  <a:srgbClr val="0070C0"/>
                </a:solidFill>
              </a:rPr>
              <a:t>=8.4 nm</a:t>
            </a:r>
          </a:p>
        </p:txBody>
      </p:sp>
      <p:sp>
        <p:nvSpPr>
          <p:cNvPr id="36" name="Rectangle 35">
            <a:extLst>
              <a:ext uri="{FF2B5EF4-FFF2-40B4-BE49-F238E27FC236}">
                <a16:creationId xmlns:a16="http://schemas.microsoft.com/office/drawing/2014/main" id="{974FE031-E177-D73D-96B9-8051F595A84D}"/>
              </a:ext>
            </a:extLst>
          </p:cNvPr>
          <p:cNvSpPr/>
          <p:nvPr/>
        </p:nvSpPr>
        <p:spPr>
          <a:xfrm>
            <a:off x="3555221" y="4921721"/>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Rectangle 36">
            <a:extLst>
              <a:ext uri="{FF2B5EF4-FFF2-40B4-BE49-F238E27FC236}">
                <a16:creationId xmlns:a16="http://schemas.microsoft.com/office/drawing/2014/main" id="{9459DBD8-4AE9-547A-13DD-9D85D2EEC509}"/>
              </a:ext>
            </a:extLst>
          </p:cNvPr>
          <p:cNvSpPr/>
          <p:nvPr/>
        </p:nvSpPr>
        <p:spPr>
          <a:xfrm>
            <a:off x="3869642" y="5178568"/>
            <a:ext cx="1459513" cy="513695"/>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38" name="Straight Arrow Connector 37">
            <a:extLst>
              <a:ext uri="{FF2B5EF4-FFF2-40B4-BE49-F238E27FC236}">
                <a16:creationId xmlns:a16="http://schemas.microsoft.com/office/drawing/2014/main" id="{9B1D465B-8F07-0032-121F-7EA79CA1F089}"/>
              </a:ext>
            </a:extLst>
          </p:cNvPr>
          <p:cNvCxnSpPr>
            <a:cxnSpLocks/>
          </p:cNvCxnSpPr>
          <p:nvPr/>
        </p:nvCxnSpPr>
        <p:spPr>
          <a:xfrm>
            <a:off x="5187640" y="4665271"/>
            <a:ext cx="0" cy="1026992"/>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C7EB5944-8DE5-9D24-33A0-AC97A7EFF33D}"/>
              </a:ext>
            </a:extLst>
          </p:cNvPr>
          <p:cNvSpPr txBox="1"/>
          <p:nvPr/>
        </p:nvSpPr>
        <p:spPr>
          <a:xfrm>
            <a:off x="5283553" y="4664874"/>
            <a:ext cx="820427" cy="276999"/>
          </a:xfrm>
          <a:prstGeom prst="rect">
            <a:avLst/>
          </a:prstGeom>
          <a:noFill/>
        </p:spPr>
        <p:txBody>
          <a:bodyPr wrap="square" rtlCol="0">
            <a:spAutoFit/>
          </a:bodyPr>
          <a:lstStyle/>
          <a:p>
            <a:r>
              <a:rPr lang="en-US" sz="1200">
                <a:solidFill>
                  <a:srgbClr val="0070C0"/>
                </a:solidFill>
              </a:rPr>
              <a:t>=16.8 nm</a:t>
            </a:r>
          </a:p>
        </p:txBody>
      </p:sp>
      <p:sp>
        <p:nvSpPr>
          <p:cNvPr id="40" name="Rectangle 39">
            <a:extLst>
              <a:ext uri="{FF2B5EF4-FFF2-40B4-BE49-F238E27FC236}">
                <a16:creationId xmlns:a16="http://schemas.microsoft.com/office/drawing/2014/main" id="{1C3F1D68-FD5B-31AD-EF46-01255EEF584F}"/>
              </a:ext>
            </a:extLst>
          </p:cNvPr>
          <p:cNvSpPr/>
          <p:nvPr/>
        </p:nvSpPr>
        <p:spPr>
          <a:xfrm>
            <a:off x="3869642" y="4665271"/>
            <a:ext cx="1459513" cy="513695"/>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42" name="Right Brace 41">
            <a:extLst>
              <a:ext uri="{FF2B5EF4-FFF2-40B4-BE49-F238E27FC236}">
                <a16:creationId xmlns:a16="http://schemas.microsoft.com/office/drawing/2014/main" id="{B7EFB8C1-A3FD-2BE6-8E2C-E79BF856D0C7}"/>
              </a:ext>
            </a:extLst>
          </p:cNvPr>
          <p:cNvSpPr/>
          <p:nvPr/>
        </p:nvSpPr>
        <p:spPr>
          <a:xfrm rot="16200000">
            <a:off x="3144919" y="1560421"/>
            <a:ext cx="482886" cy="541927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3" name="TextBox 42">
            <a:extLst>
              <a:ext uri="{FF2B5EF4-FFF2-40B4-BE49-F238E27FC236}">
                <a16:creationId xmlns:a16="http://schemas.microsoft.com/office/drawing/2014/main" id="{54FB8136-565D-7990-A40A-018532FA1C3E}"/>
              </a:ext>
            </a:extLst>
          </p:cNvPr>
          <p:cNvSpPr txBox="1"/>
          <p:nvPr/>
        </p:nvSpPr>
        <p:spPr>
          <a:xfrm>
            <a:off x="2496619" y="3659281"/>
            <a:ext cx="1627369" cy="369332"/>
          </a:xfrm>
          <a:prstGeom prst="rect">
            <a:avLst/>
          </a:prstGeom>
          <a:noFill/>
        </p:spPr>
        <p:txBody>
          <a:bodyPr wrap="none" rtlCol="0">
            <a:spAutoFit/>
          </a:bodyPr>
          <a:lstStyle/>
          <a:p>
            <a:r>
              <a:rPr lang="en-US"/>
              <a:t>110 cell height</a:t>
            </a:r>
          </a:p>
        </p:txBody>
      </p:sp>
      <p:sp>
        <p:nvSpPr>
          <p:cNvPr id="44" name="Rectangle 43">
            <a:extLst>
              <a:ext uri="{FF2B5EF4-FFF2-40B4-BE49-F238E27FC236}">
                <a16:creationId xmlns:a16="http://schemas.microsoft.com/office/drawing/2014/main" id="{53B305CF-AEA1-E18C-92AC-21A895428CCE}"/>
              </a:ext>
            </a:extLst>
          </p:cNvPr>
          <p:cNvSpPr/>
          <p:nvPr/>
        </p:nvSpPr>
        <p:spPr>
          <a:xfrm>
            <a:off x="6601552" y="4921720"/>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5" name="Rectangle 44">
            <a:extLst>
              <a:ext uri="{FF2B5EF4-FFF2-40B4-BE49-F238E27FC236}">
                <a16:creationId xmlns:a16="http://schemas.microsoft.com/office/drawing/2014/main" id="{F35F7654-6442-95AD-D731-EFF6EE57B568}"/>
              </a:ext>
            </a:extLst>
          </p:cNvPr>
          <p:cNvSpPr/>
          <p:nvPr/>
        </p:nvSpPr>
        <p:spPr>
          <a:xfrm>
            <a:off x="6813233" y="5178567"/>
            <a:ext cx="1459513" cy="667067"/>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48" name="Straight Arrow Connector 47">
            <a:extLst>
              <a:ext uri="{FF2B5EF4-FFF2-40B4-BE49-F238E27FC236}">
                <a16:creationId xmlns:a16="http://schemas.microsoft.com/office/drawing/2014/main" id="{9058ACE7-E6C0-FFC6-5696-CCE2B74978FF}"/>
              </a:ext>
            </a:extLst>
          </p:cNvPr>
          <p:cNvCxnSpPr>
            <a:cxnSpLocks/>
          </p:cNvCxnSpPr>
          <p:nvPr/>
        </p:nvCxnSpPr>
        <p:spPr>
          <a:xfrm>
            <a:off x="8131231" y="5178567"/>
            <a:ext cx="0" cy="667067"/>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D8E89E9-E926-F809-F080-2AB900D0134E}"/>
              </a:ext>
            </a:extLst>
          </p:cNvPr>
          <p:cNvSpPr txBox="1"/>
          <p:nvPr/>
        </p:nvSpPr>
        <p:spPr>
          <a:xfrm>
            <a:off x="8180545" y="5435414"/>
            <a:ext cx="820427" cy="276999"/>
          </a:xfrm>
          <a:prstGeom prst="rect">
            <a:avLst/>
          </a:prstGeom>
          <a:noFill/>
        </p:spPr>
        <p:txBody>
          <a:bodyPr wrap="square" rtlCol="0">
            <a:spAutoFit/>
          </a:bodyPr>
          <a:lstStyle/>
          <a:p>
            <a:r>
              <a:rPr lang="en-US" sz="1200">
                <a:solidFill>
                  <a:srgbClr val="0070C0"/>
                </a:solidFill>
              </a:rPr>
              <a:t>=13.4 nm</a:t>
            </a:r>
          </a:p>
        </p:txBody>
      </p:sp>
      <p:sp>
        <p:nvSpPr>
          <p:cNvPr id="50" name="Rectangle 49">
            <a:extLst>
              <a:ext uri="{FF2B5EF4-FFF2-40B4-BE49-F238E27FC236}">
                <a16:creationId xmlns:a16="http://schemas.microsoft.com/office/drawing/2014/main" id="{D7CB109C-93B0-B544-F536-3BCF18915972}"/>
              </a:ext>
            </a:extLst>
          </p:cNvPr>
          <p:cNvSpPr/>
          <p:nvPr/>
        </p:nvSpPr>
        <p:spPr>
          <a:xfrm>
            <a:off x="9395804" y="4921719"/>
            <a:ext cx="2187744" cy="513695"/>
          </a:xfrm>
          <a:prstGeom prst="rect">
            <a:avLst/>
          </a:prstGeom>
          <a:solidFill>
            <a:srgbClr val="7030A0"/>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1" name="Rectangle 50">
            <a:extLst>
              <a:ext uri="{FF2B5EF4-FFF2-40B4-BE49-F238E27FC236}">
                <a16:creationId xmlns:a16="http://schemas.microsoft.com/office/drawing/2014/main" id="{662EC561-18C6-7E9B-2CB2-EF15E000755D}"/>
              </a:ext>
            </a:extLst>
          </p:cNvPr>
          <p:cNvSpPr/>
          <p:nvPr/>
        </p:nvSpPr>
        <p:spPr>
          <a:xfrm>
            <a:off x="9710225" y="5178566"/>
            <a:ext cx="1459513" cy="667066"/>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cxnSp>
        <p:nvCxnSpPr>
          <p:cNvPr id="52" name="Straight Arrow Connector 51">
            <a:extLst>
              <a:ext uri="{FF2B5EF4-FFF2-40B4-BE49-F238E27FC236}">
                <a16:creationId xmlns:a16="http://schemas.microsoft.com/office/drawing/2014/main" id="{63E78C3F-91D9-AB65-4956-46B715516E13}"/>
              </a:ext>
            </a:extLst>
          </p:cNvPr>
          <p:cNvCxnSpPr>
            <a:cxnSpLocks/>
          </p:cNvCxnSpPr>
          <p:nvPr/>
        </p:nvCxnSpPr>
        <p:spPr>
          <a:xfrm>
            <a:off x="11028223" y="4511501"/>
            <a:ext cx="0" cy="1334131"/>
          </a:xfrm>
          <a:prstGeom prst="straightConnector1">
            <a:avLst/>
          </a:prstGeom>
          <a:ln w="127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00813B5-C9DD-406D-0A1E-714A1E7E0D9E}"/>
              </a:ext>
            </a:extLst>
          </p:cNvPr>
          <p:cNvSpPr txBox="1"/>
          <p:nvPr/>
        </p:nvSpPr>
        <p:spPr>
          <a:xfrm>
            <a:off x="11124136" y="4664872"/>
            <a:ext cx="820427" cy="276999"/>
          </a:xfrm>
          <a:prstGeom prst="rect">
            <a:avLst/>
          </a:prstGeom>
          <a:noFill/>
        </p:spPr>
        <p:txBody>
          <a:bodyPr wrap="square" rtlCol="0">
            <a:spAutoFit/>
          </a:bodyPr>
          <a:lstStyle/>
          <a:p>
            <a:r>
              <a:rPr lang="en-US" sz="1200">
                <a:solidFill>
                  <a:srgbClr val="0070C0"/>
                </a:solidFill>
              </a:rPr>
              <a:t>=26.8 nm</a:t>
            </a:r>
          </a:p>
        </p:txBody>
      </p:sp>
      <p:sp>
        <p:nvSpPr>
          <p:cNvPr id="54" name="Rectangle 53">
            <a:extLst>
              <a:ext uri="{FF2B5EF4-FFF2-40B4-BE49-F238E27FC236}">
                <a16:creationId xmlns:a16="http://schemas.microsoft.com/office/drawing/2014/main" id="{099C66CB-FCE6-54DC-0BB4-C2B13297917F}"/>
              </a:ext>
            </a:extLst>
          </p:cNvPr>
          <p:cNvSpPr/>
          <p:nvPr/>
        </p:nvSpPr>
        <p:spPr>
          <a:xfrm>
            <a:off x="9710225" y="4511501"/>
            <a:ext cx="1459513" cy="66746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55" name="Right Brace 54">
            <a:extLst>
              <a:ext uri="{FF2B5EF4-FFF2-40B4-BE49-F238E27FC236}">
                <a16:creationId xmlns:a16="http://schemas.microsoft.com/office/drawing/2014/main" id="{BEDAA4F2-E254-3054-0CE0-2511D5B6136F}"/>
              </a:ext>
            </a:extLst>
          </p:cNvPr>
          <p:cNvSpPr/>
          <p:nvPr/>
        </p:nvSpPr>
        <p:spPr>
          <a:xfrm rot="16200000">
            <a:off x="8993482" y="1560420"/>
            <a:ext cx="482886" cy="541927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6" name="TextBox 55">
            <a:extLst>
              <a:ext uri="{FF2B5EF4-FFF2-40B4-BE49-F238E27FC236}">
                <a16:creationId xmlns:a16="http://schemas.microsoft.com/office/drawing/2014/main" id="{C0759E24-49EC-0571-069A-03C13D44E02F}"/>
              </a:ext>
            </a:extLst>
          </p:cNvPr>
          <p:cNvSpPr txBox="1"/>
          <p:nvPr/>
        </p:nvSpPr>
        <p:spPr>
          <a:xfrm>
            <a:off x="8345182" y="3659281"/>
            <a:ext cx="2109873" cy="369332"/>
          </a:xfrm>
          <a:prstGeom prst="rect">
            <a:avLst/>
          </a:prstGeom>
          <a:noFill/>
        </p:spPr>
        <p:txBody>
          <a:bodyPr wrap="none" rtlCol="0">
            <a:spAutoFit/>
          </a:bodyPr>
          <a:lstStyle/>
          <a:p>
            <a:r>
              <a:rPr lang="en-US"/>
              <a:t>132, 165 cell height</a:t>
            </a:r>
          </a:p>
        </p:txBody>
      </p:sp>
      <p:sp>
        <p:nvSpPr>
          <p:cNvPr id="3" name="TextBox 2">
            <a:extLst>
              <a:ext uri="{FF2B5EF4-FFF2-40B4-BE49-F238E27FC236}">
                <a16:creationId xmlns:a16="http://schemas.microsoft.com/office/drawing/2014/main" id="{1251EF0C-D327-6FC7-8E53-419F5668F163}"/>
              </a:ext>
            </a:extLst>
          </p:cNvPr>
          <p:cNvSpPr txBox="1"/>
          <p:nvPr/>
        </p:nvSpPr>
        <p:spPr>
          <a:xfrm flipH="1">
            <a:off x="11478227" y="369278"/>
            <a:ext cx="567137"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a:t>
            </a:r>
            <a:r>
              <a:rPr kumimoji="0" lang="en-US" sz="1600" b="0" i="0" u="none" strike="noStrike" kern="0" cap="none" spc="0" normalizeH="0" baseline="0" noProof="0" err="1">
                <a:ln>
                  <a:noFill/>
                </a:ln>
                <a:solidFill>
                  <a:prstClr val="black"/>
                </a:solidFill>
                <a:effectLst/>
                <a:uLnTx/>
                <a:uFillTx/>
                <a:latin typeface="Calibri" panose="020F0502020204030204"/>
              </a:rPr>
              <a:t>vcr</a:t>
            </a:r>
            <a:endParaRPr kumimoji="0" lang="en-US" sz="1600" b="0" i="0" u="none" strike="noStrike" kern="0" cap="none" spc="0" normalizeH="0" baseline="0" noProof="0">
              <a:ln>
                <a:noFill/>
              </a:ln>
              <a:solidFill>
                <a:prstClr val="black"/>
              </a:solidFill>
              <a:effectLst/>
              <a:uLnTx/>
              <a:uFillTx/>
              <a:latin typeface="Calibri" panose="020F0502020204030204"/>
            </a:endParaRPr>
          </a:p>
        </p:txBody>
      </p:sp>
      <p:sp>
        <p:nvSpPr>
          <p:cNvPr id="9" name="Rectangle 8">
            <a:extLst>
              <a:ext uri="{FF2B5EF4-FFF2-40B4-BE49-F238E27FC236}">
                <a16:creationId xmlns:a16="http://schemas.microsoft.com/office/drawing/2014/main" id="{11625F01-428B-3D7E-71F8-199E9CCAD68A}"/>
              </a:ext>
            </a:extLst>
          </p:cNvPr>
          <p:cNvSpPr/>
          <p:nvPr/>
        </p:nvSpPr>
        <p:spPr>
          <a:xfrm>
            <a:off x="10664203" y="353861"/>
            <a:ext cx="658983" cy="210195"/>
          </a:xfrm>
          <a:prstGeom prst="rect">
            <a:avLst/>
          </a:prstGeom>
          <a:solidFill>
            <a:srgbClr val="8F5DA2"/>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9B270DF0-25C2-43AE-9F01-1C58187183D1}"/>
              </a:ext>
            </a:extLst>
          </p:cNvPr>
          <p:cNvSpPr/>
          <p:nvPr/>
        </p:nvSpPr>
        <p:spPr>
          <a:xfrm>
            <a:off x="10664203" y="674909"/>
            <a:ext cx="644829" cy="251683"/>
          </a:xfrm>
          <a:prstGeom prst="rect">
            <a:avLst/>
          </a:prstGeom>
          <a:solidFill>
            <a:schemeClr val="accent5">
              <a:lumMod val="40000"/>
              <a:lumOff val="60000"/>
              <a:alpha val="4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ysClr val="windowText" lastClr="000000"/>
              </a:solidFill>
            </a:endParaRPr>
          </a:p>
        </p:txBody>
      </p:sp>
      <p:sp>
        <p:nvSpPr>
          <p:cNvPr id="11" name="TextBox 10">
            <a:extLst>
              <a:ext uri="{FF2B5EF4-FFF2-40B4-BE49-F238E27FC236}">
                <a16:creationId xmlns:a16="http://schemas.microsoft.com/office/drawing/2014/main" id="{C452C2D0-EC86-4928-5F4B-2096CB4DF79B}"/>
              </a:ext>
            </a:extLst>
          </p:cNvPr>
          <p:cNvSpPr txBox="1"/>
          <p:nvPr/>
        </p:nvSpPr>
        <p:spPr>
          <a:xfrm flipH="1">
            <a:off x="11463278" y="663960"/>
            <a:ext cx="713773" cy="24622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prstClr val="black"/>
                </a:solidFill>
                <a:effectLst/>
                <a:uLnTx/>
                <a:uFillTx/>
                <a:latin typeface="Calibri" panose="020F0502020204030204"/>
              </a:rPr>
              <a:t>=</a:t>
            </a:r>
            <a:r>
              <a:rPr lang="en-US" sz="1600" kern="0" err="1">
                <a:solidFill>
                  <a:prstClr val="black"/>
                </a:solidFill>
                <a:latin typeface="Calibri" panose="020F0502020204030204"/>
              </a:rPr>
              <a:t>vcrnub</a:t>
            </a:r>
            <a:endParaRPr kumimoji="0" lang="en-US" sz="1600" b="0" i="0" u="none" strike="noStrike" kern="0" cap="none" spc="0" normalizeH="0" baseline="0" noProof="0">
              <a:ln>
                <a:noFill/>
              </a:ln>
              <a:solidFill>
                <a:prstClr val="black"/>
              </a:solidFill>
              <a:effectLst/>
              <a:uLnTx/>
              <a:uFillTx/>
              <a:latin typeface="Calibri" panose="020F0502020204030204"/>
            </a:endParaRPr>
          </a:p>
        </p:txBody>
      </p:sp>
    </p:spTree>
    <p:extLst>
      <p:ext uri="{BB962C8B-B14F-4D97-AF65-F5344CB8AC3E}">
        <p14:creationId xmlns:p14="http://schemas.microsoft.com/office/powerpoint/2010/main" val="322092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75C87FFC-9108-49FC-85D1-D00642EB0EF8}"/>
              </a:ext>
            </a:extLst>
          </p:cNvPr>
          <p:cNvSpPr txBox="1">
            <a:spLocks/>
          </p:cNvSpPr>
          <p:nvPr/>
        </p:nvSpPr>
        <p:spPr>
          <a:xfrm>
            <a:off x="362299"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ea typeface="+mj-ea"/>
                <a:cs typeface="+mj-cs"/>
              </a:rPr>
              <a:t>Stacked FTI Restriction</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sp>
        <p:nvSpPr>
          <p:cNvPr id="49" name="TextBox 48">
            <a:extLst>
              <a:ext uri="{FF2B5EF4-FFF2-40B4-BE49-F238E27FC236}">
                <a16:creationId xmlns:a16="http://schemas.microsoft.com/office/drawing/2014/main" id="{C016DD3A-E096-4307-B2E8-599B2502E238}"/>
              </a:ext>
            </a:extLst>
          </p:cNvPr>
          <p:cNvSpPr txBox="1"/>
          <p:nvPr/>
        </p:nvSpPr>
        <p:spPr>
          <a:xfrm>
            <a:off x="187207" y="660086"/>
            <a:ext cx="11327216" cy="1569660"/>
          </a:xfrm>
          <a:prstGeom prst="rect">
            <a:avLst/>
          </a:prstGeom>
          <a:noFill/>
        </p:spPr>
        <p:txBody>
          <a:bodyPr wrap="square" rtlCol="0">
            <a:spAutoFit/>
          </a:bodyPr>
          <a:lstStyle>
            <a:defPPr>
              <a:defRPr lang="en-US"/>
            </a:defPPr>
            <a:lvl1pPr marL="285750" indent="-285750">
              <a:buFont typeface="Wingdings" panose="05000000000000000000" pitchFamily="2" charset="2"/>
              <a:buChar char="q"/>
              <a:defRPr sz="2400"/>
            </a:lvl1pPr>
          </a:lstStyle>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Stacked FTI is legal</a:t>
            </a:r>
            <a:endParaRPr lang="en-US">
              <a:solidFill>
                <a:prstClr val="black"/>
              </a:solidFill>
              <a:latin typeface="Calibri" panose="020F0502020204030204"/>
            </a:endParaRPr>
          </a:p>
          <a:p>
            <a:pPr marL="285750" marR="0" lvl="0" indent="-285750" algn="l" defTabSz="914400" rtl="0" eaLnBrk="1" fontAlgn="auto" latinLnBrk="0" hangingPunct="1">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3 consecutive stacked FTI is illegal. Unique exceptions for transitions may apply.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Any active transistor inside </a:t>
            </a:r>
            <a:r>
              <a:rPr kumimoji="0" lang="en-US" sz="2400" b="0" i="0" u="none" strike="noStrike" kern="1200" cap="none" spc="0" normalizeH="0" baseline="0" noProof="0" err="1">
                <a:ln>
                  <a:noFill/>
                </a:ln>
                <a:solidFill>
                  <a:prstClr val="black"/>
                </a:solidFill>
                <a:effectLst/>
                <a:uLnTx/>
                <a:uFillTx/>
                <a:latin typeface="Calibri" panose="020F0502020204030204"/>
              </a:rPr>
              <a:t>logicchRegionID</a:t>
            </a:r>
            <a:r>
              <a:rPr kumimoji="0" lang="en-US" sz="2400" b="0" i="0" u="none" strike="noStrike" kern="1200" cap="none" spc="0" normalizeH="0" baseline="0" noProof="0">
                <a:ln>
                  <a:noFill/>
                </a:ln>
                <a:solidFill>
                  <a:prstClr val="black"/>
                </a:solidFill>
                <a:effectLst/>
                <a:uLnTx/>
                <a:uFillTx/>
                <a:latin typeface="Calibri" panose="020F0502020204030204"/>
              </a:rPr>
              <a:t> must be semi-nested or fully nested. Special allowances granted for X81A with ID for isolated devices.</a:t>
            </a:r>
          </a:p>
        </p:txBody>
      </p:sp>
      <p:grpSp>
        <p:nvGrpSpPr>
          <p:cNvPr id="3" name="Group 2">
            <a:extLst>
              <a:ext uri="{FF2B5EF4-FFF2-40B4-BE49-F238E27FC236}">
                <a16:creationId xmlns:a16="http://schemas.microsoft.com/office/drawing/2014/main" id="{7FE32297-C08D-18A1-0EEC-C0ECCC67FF67}"/>
              </a:ext>
            </a:extLst>
          </p:cNvPr>
          <p:cNvGrpSpPr/>
          <p:nvPr/>
        </p:nvGrpSpPr>
        <p:grpSpPr>
          <a:xfrm>
            <a:off x="3155379" y="3061871"/>
            <a:ext cx="4862029" cy="550505"/>
            <a:chOff x="782214" y="2174033"/>
            <a:chExt cx="4862029" cy="550505"/>
          </a:xfrm>
        </p:grpSpPr>
        <p:sp>
          <p:nvSpPr>
            <p:cNvPr id="4" name="Rectangle 3">
              <a:extLst>
                <a:ext uri="{FF2B5EF4-FFF2-40B4-BE49-F238E27FC236}">
                  <a16:creationId xmlns:a16="http://schemas.microsoft.com/office/drawing/2014/main" id="{EE8C8D8D-8D0B-3333-1A8C-C62A43A44D57}"/>
                </a:ext>
              </a:extLst>
            </p:cNvPr>
            <p:cNvSpPr/>
            <p:nvPr/>
          </p:nvSpPr>
          <p:spPr>
            <a:xfrm>
              <a:off x="838200" y="2174033"/>
              <a:ext cx="4749282" cy="5505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C4F326-D268-416B-CCF2-4AAA0D73EA17}"/>
                </a:ext>
              </a:extLst>
            </p:cNvPr>
            <p:cNvSpPr/>
            <p:nvPr/>
          </p:nvSpPr>
          <p:spPr>
            <a:xfrm>
              <a:off x="838200" y="2369977"/>
              <a:ext cx="4749282" cy="17728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E91F36-9E6A-EAF9-A394-BA0ED09DC238}"/>
                </a:ext>
              </a:extLst>
            </p:cNvPr>
            <p:cNvSpPr/>
            <p:nvPr/>
          </p:nvSpPr>
          <p:spPr>
            <a:xfrm>
              <a:off x="78221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09CC2C-1A99-8659-365F-3DA373D9B865}"/>
                </a:ext>
              </a:extLst>
            </p:cNvPr>
            <p:cNvSpPr/>
            <p:nvPr/>
          </p:nvSpPr>
          <p:spPr>
            <a:xfrm>
              <a:off x="121220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96C45E-EBA5-C0E1-831F-D101D2CE88E7}"/>
                </a:ext>
              </a:extLst>
            </p:cNvPr>
            <p:cNvSpPr/>
            <p:nvPr/>
          </p:nvSpPr>
          <p:spPr>
            <a:xfrm>
              <a:off x="164218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710966A-3F66-B4AC-359A-DB27B0C27C0B}"/>
                </a:ext>
              </a:extLst>
            </p:cNvPr>
            <p:cNvSpPr/>
            <p:nvPr/>
          </p:nvSpPr>
          <p:spPr>
            <a:xfrm>
              <a:off x="207217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D7C3AA-30A7-856C-4722-C7CE8586051A}"/>
                </a:ext>
              </a:extLst>
            </p:cNvPr>
            <p:cNvSpPr/>
            <p:nvPr/>
          </p:nvSpPr>
          <p:spPr>
            <a:xfrm>
              <a:off x="250215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5743AB-8A30-92A5-D1D9-C5CDE39556A4}"/>
                </a:ext>
              </a:extLst>
            </p:cNvPr>
            <p:cNvSpPr/>
            <p:nvPr/>
          </p:nvSpPr>
          <p:spPr>
            <a:xfrm>
              <a:off x="293214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4FC684-8EB1-8900-D0B0-F3B3D59B6125}"/>
                </a:ext>
              </a:extLst>
            </p:cNvPr>
            <p:cNvSpPr/>
            <p:nvPr/>
          </p:nvSpPr>
          <p:spPr>
            <a:xfrm>
              <a:off x="336213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69D3DEC-965D-7190-699E-8A342B8B92CB}"/>
                </a:ext>
              </a:extLst>
            </p:cNvPr>
            <p:cNvSpPr/>
            <p:nvPr/>
          </p:nvSpPr>
          <p:spPr>
            <a:xfrm>
              <a:off x="379211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0EB2A7C-4D6D-B138-5616-F726A5C28034}"/>
                </a:ext>
              </a:extLst>
            </p:cNvPr>
            <p:cNvSpPr/>
            <p:nvPr/>
          </p:nvSpPr>
          <p:spPr>
            <a:xfrm>
              <a:off x="422210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B9A8A45-878D-173C-D48D-B2B140E6B856}"/>
                </a:ext>
              </a:extLst>
            </p:cNvPr>
            <p:cNvSpPr/>
            <p:nvPr/>
          </p:nvSpPr>
          <p:spPr>
            <a:xfrm>
              <a:off x="465208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EB2C72-E8B9-B848-74C3-6918713636EF}"/>
                </a:ext>
              </a:extLst>
            </p:cNvPr>
            <p:cNvSpPr/>
            <p:nvPr/>
          </p:nvSpPr>
          <p:spPr>
            <a:xfrm>
              <a:off x="508207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431B6E1-95EE-283C-387E-D4E3E01E6CFE}"/>
                </a:ext>
              </a:extLst>
            </p:cNvPr>
            <p:cNvSpPr/>
            <p:nvPr/>
          </p:nvSpPr>
          <p:spPr>
            <a:xfrm>
              <a:off x="5512059"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0205775-5457-FD62-7F76-2396317E9D3A}"/>
              </a:ext>
            </a:extLst>
          </p:cNvPr>
          <p:cNvGrpSpPr/>
          <p:nvPr/>
        </p:nvGrpSpPr>
        <p:grpSpPr>
          <a:xfrm>
            <a:off x="3155379" y="3615488"/>
            <a:ext cx="4862029" cy="550505"/>
            <a:chOff x="782214" y="2174033"/>
            <a:chExt cx="4862029" cy="550505"/>
          </a:xfrm>
        </p:grpSpPr>
        <p:sp>
          <p:nvSpPr>
            <p:cNvPr id="19" name="Rectangle 18">
              <a:extLst>
                <a:ext uri="{FF2B5EF4-FFF2-40B4-BE49-F238E27FC236}">
                  <a16:creationId xmlns:a16="http://schemas.microsoft.com/office/drawing/2014/main" id="{F046B721-2F26-D686-6B9B-7A392F5DC486}"/>
                </a:ext>
              </a:extLst>
            </p:cNvPr>
            <p:cNvSpPr/>
            <p:nvPr/>
          </p:nvSpPr>
          <p:spPr>
            <a:xfrm>
              <a:off x="838200" y="2174033"/>
              <a:ext cx="4749282" cy="5505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051A95E-D0A4-53D0-74C2-495B2E1C8D74}"/>
                </a:ext>
              </a:extLst>
            </p:cNvPr>
            <p:cNvSpPr/>
            <p:nvPr/>
          </p:nvSpPr>
          <p:spPr>
            <a:xfrm>
              <a:off x="838200" y="2369977"/>
              <a:ext cx="4749282" cy="17728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03765D2-657A-CDAA-9D18-D2D80BF99332}"/>
                </a:ext>
              </a:extLst>
            </p:cNvPr>
            <p:cNvSpPr/>
            <p:nvPr/>
          </p:nvSpPr>
          <p:spPr>
            <a:xfrm>
              <a:off x="78221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24E5B48-3958-BCFB-AC59-D641F63D0ACD}"/>
                </a:ext>
              </a:extLst>
            </p:cNvPr>
            <p:cNvSpPr/>
            <p:nvPr/>
          </p:nvSpPr>
          <p:spPr>
            <a:xfrm>
              <a:off x="121220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01B4BA9-6EBE-9547-2684-220C24FA853E}"/>
                </a:ext>
              </a:extLst>
            </p:cNvPr>
            <p:cNvSpPr/>
            <p:nvPr/>
          </p:nvSpPr>
          <p:spPr>
            <a:xfrm>
              <a:off x="164218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4C5D354-93C0-464F-6544-C27571DC5196}"/>
                </a:ext>
              </a:extLst>
            </p:cNvPr>
            <p:cNvSpPr/>
            <p:nvPr/>
          </p:nvSpPr>
          <p:spPr>
            <a:xfrm>
              <a:off x="207217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037226C-00EB-C595-7377-0EBC594F9FB5}"/>
                </a:ext>
              </a:extLst>
            </p:cNvPr>
            <p:cNvSpPr/>
            <p:nvPr/>
          </p:nvSpPr>
          <p:spPr>
            <a:xfrm>
              <a:off x="250215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408982-E8F3-4D5E-3006-D83C71A66580}"/>
                </a:ext>
              </a:extLst>
            </p:cNvPr>
            <p:cNvSpPr/>
            <p:nvPr/>
          </p:nvSpPr>
          <p:spPr>
            <a:xfrm>
              <a:off x="293214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DBD11B6-3FB4-092E-6901-1B8476FBB236}"/>
                </a:ext>
              </a:extLst>
            </p:cNvPr>
            <p:cNvSpPr/>
            <p:nvPr/>
          </p:nvSpPr>
          <p:spPr>
            <a:xfrm>
              <a:off x="336213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8583CB-7239-DEAB-670F-BCE477849D6D}"/>
                </a:ext>
              </a:extLst>
            </p:cNvPr>
            <p:cNvSpPr/>
            <p:nvPr/>
          </p:nvSpPr>
          <p:spPr>
            <a:xfrm>
              <a:off x="379211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50A86AE-229A-02EA-0614-516C81E1AC1B}"/>
                </a:ext>
              </a:extLst>
            </p:cNvPr>
            <p:cNvSpPr/>
            <p:nvPr/>
          </p:nvSpPr>
          <p:spPr>
            <a:xfrm>
              <a:off x="422210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1D8948-25D3-0598-9675-20CFA0FDCC5E}"/>
                </a:ext>
              </a:extLst>
            </p:cNvPr>
            <p:cNvSpPr/>
            <p:nvPr/>
          </p:nvSpPr>
          <p:spPr>
            <a:xfrm>
              <a:off x="465208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65E092B-E767-9F21-C176-1E8ED9E529EB}"/>
                </a:ext>
              </a:extLst>
            </p:cNvPr>
            <p:cNvSpPr/>
            <p:nvPr/>
          </p:nvSpPr>
          <p:spPr>
            <a:xfrm>
              <a:off x="508207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16CEAC6-C416-DCAA-C19B-7576C0998F49}"/>
                </a:ext>
              </a:extLst>
            </p:cNvPr>
            <p:cNvSpPr/>
            <p:nvPr/>
          </p:nvSpPr>
          <p:spPr>
            <a:xfrm>
              <a:off x="5512059"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B6B7B12A-B755-A1DB-4FB9-96AB089C7168}"/>
              </a:ext>
            </a:extLst>
          </p:cNvPr>
          <p:cNvGrpSpPr/>
          <p:nvPr/>
        </p:nvGrpSpPr>
        <p:grpSpPr>
          <a:xfrm>
            <a:off x="3155379" y="4161330"/>
            <a:ext cx="4862029" cy="550505"/>
            <a:chOff x="782214" y="2174033"/>
            <a:chExt cx="4862029" cy="550505"/>
          </a:xfrm>
        </p:grpSpPr>
        <p:sp>
          <p:nvSpPr>
            <p:cNvPr id="34" name="Rectangle 33">
              <a:extLst>
                <a:ext uri="{FF2B5EF4-FFF2-40B4-BE49-F238E27FC236}">
                  <a16:creationId xmlns:a16="http://schemas.microsoft.com/office/drawing/2014/main" id="{A456B073-844D-9628-D39B-1C67D493CA3C}"/>
                </a:ext>
              </a:extLst>
            </p:cNvPr>
            <p:cNvSpPr/>
            <p:nvPr/>
          </p:nvSpPr>
          <p:spPr>
            <a:xfrm>
              <a:off x="838200" y="2174033"/>
              <a:ext cx="4749282" cy="5505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51CA85-65F1-3EB3-45EC-B12138FB2EDF}"/>
                </a:ext>
              </a:extLst>
            </p:cNvPr>
            <p:cNvSpPr/>
            <p:nvPr/>
          </p:nvSpPr>
          <p:spPr>
            <a:xfrm>
              <a:off x="838200" y="2369977"/>
              <a:ext cx="4749282" cy="17728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B1DD86F2-101F-C8CD-CE8D-2065ED7345C2}"/>
                </a:ext>
              </a:extLst>
            </p:cNvPr>
            <p:cNvSpPr/>
            <p:nvPr/>
          </p:nvSpPr>
          <p:spPr>
            <a:xfrm>
              <a:off x="78221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5136F56-ED5E-A848-08E9-8F8AFC95D835}"/>
                </a:ext>
              </a:extLst>
            </p:cNvPr>
            <p:cNvSpPr/>
            <p:nvPr/>
          </p:nvSpPr>
          <p:spPr>
            <a:xfrm>
              <a:off x="121220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DAF1277-FAA1-3E1C-C838-20CE6F390B83}"/>
                </a:ext>
              </a:extLst>
            </p:cNvPr>
            <p:cNvSpPr/>
            <p:nvPr/>
          </p:nvSpPr>
          <p:spPr>
            <a:xfrm>
              <a:off x="164218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FE41813-ECB6-D477-79CB-81C308A61DBD}"/>
                </a:ext>
              </a:extLst>
            </p:cNvPr>
            <p:cNvSpPr/>
            <p:nvPr/>
          </p:nvSpPr>
          <p:spPr>
            <a:xfrm>
              <a:off x="207217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6FDE15A-D932-0C5A-C9D0-DFE09154B7A2}"/>
                </a:ext>
              </a:extLst>
            </p:cNvPr>
            <p:cNvSpPr/>
            <p:nvPr/>
          </p:nvSpPr>
          <p:spPr>
            <a:xfrm>
              <a:off x="250215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D7F60FE-AA26-395F-A45D-6776F5ACCDA8}"/>
                </a:ext>
              </a:extLst>
            </p:cNvPr>
            <p:cNvSpPr/>
            <p:nvPr/>
          </p:nvSpPr>
          <p:spPr>
            <a:xfrm>
              <a:off x="293214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C5C2F61-F950-3C8D-D4AF-D367AE94D61C}"/>
                </a:ext>
              </a:extLst>
            </p:cNvPr>
            <p:cNvSpPr/>
            <p:nvPr/>
          </p:nvSpPr>
          <p:spPr>
            <a:xfrm>
              <a:off x="336213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E2DEC39-F947-4F2F-97FC-51A5804BE1A3}"/>
                </a:ext>
              </a:extLst>
            </p:cNvPr>
            <p:cNvSpPr/>
            <p:nvPr/>
          </p:nvSpPr>
          <p:spPr>
            <a:xfrm>
              <a:off x="379211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277189D-E4F9-C12A-7D05-3C351A4C3D1D}"/>
                </a:ext>
              </a:extLst>
            </p:cNvPr>
            <p:cNvSpPr/>
            <p:nvPr/>
          </p:nvSpPr>
          <p:spPr>
            <a:xfrm>
              <a:off x="422210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1F2C3E7-20ED-14C7-DDD2-BA6D95CB9972}"/>
                </a:ext>
              </a:extLst>
            </p:cNvPr>
            <p:cNvSpPr/>
            <p:nvPr/>
          </p:nvSpPr>
          <p:spPr>
            <a:xfrm>
              <a:off x="465208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F14350E-C69F-DA30-CB33-C86A8A9622E1}"/>
                </a:ext>
              </a:extLst>
            </p:cNvPr>
            <p:cNvSpPr/>
            <p:nvPr/>
          </p:nvSpPr>
          <p:spPr>
            <a:xfrm>
              <a:off x="508207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B08FFB1D-83DD-DEDC-2F16-414CAC2E2926}"/>
                </a:ext>
              </a:extLst>
            </p:cNvPr>
            <p:cNvSpPr/>
            <p:nvPr/>
          </p:nvSpPr>
          <p:spPr>
            <a:xfrm>
              <a:off x="5512059"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7311AB7B-0788-839F-154E-B5E723920535}"/>
              </a:ext>
            </a:extLst>
          </p:cNvPr>
          <p:cNvGrpSpPr/>
          <p:nvPr/>
        </p:nvGrpSpPr>
        <p:grpSpPr>
          <a:xfrm>
            <a:off x="3155379" y="4714947"/>
            <a:ext cx="4862029" cy="550505"/>
            <a:chOff x="782214" y="2174033"/>
            <a:chExt cx="4862029" cy="550505"/>
          </a:xfrm>
        </p:grpSpPr>
        <p:sp>
          <p:nvSpPr>
            <p:cNvPr id="96" name="Rectangle 95">
              <a:extLst>
                <a:ext uri="{FF2B5EF4-FFF2-40B4-BE49-F238E27FC236}">
                  <a16:creationId xmlns:a16="http://schemas.microsoft.com/office/drawing/2014/main" id="{755F2677-613F-92B7-BD60-8C0BDCF30BE2}"/>
                </a:ext>
              </a:extLst>
            </p:cNvPr>
            <p:cNvSpPr/>
            <p:nvPr/>
          </p:nvSpPr>
          <p:spPr>
            <a:xfrm>
              <a:off x="838200" y="2174033"/>
              <a:ext cx="4749282" cy="55050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4801448D-902E-1EF3-0612-DBF111B9644B}"/>
                </a:ext>
              </a:extLst>
            </p:cNvPr>
            <p:cNvSpPr/>
            <p:nvPr/>
          </p:nvSpPr>
          <p:spPr>
            <a:xfrm>
              <a:off x="838200" y="2369977"/>
              <a:ext cx="4749282" cy="17728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59A748BE-115C-0F3D-CC0C-90B19CE4561A}"/>
                </a:ext>
              </a:extLst>
            </p:cNvPr>
            <p:cNvSpPr/>
            <p:nvPr/>
          </p:nvSpPr>
          <p:spPr>
            <a:xfrm>
              <a:off x="78221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23BC1686-E2F5-B25A-FC82-720634A3B8D1}"/>
                </a:ext>
              </a:extLst>
            </p:cNvPr>
            <p:cNvSpPr/>
            <p:nvPr/>
          </p:nvSpPr>
          <p:spPr>
            <a:xfrm>
              <a:off x="121220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827687DF-FDDE-D797-E12E-7A9332FDB99E}"/>
                </a:ext>
              </a:extLst>
            </p:cNvPr>
            <p:cNvSpPr/>
            <p:nvPr/>
          </p:nvSpPr>
          <p:spPr>
            <a:xfrm>
              <a:off x="164218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8A1D42E1-ED72-4181-51F5-B1D7110F3D64}"/>
                </a:ext>
              </a:extLst>
            </p:cNvPr>
            <p:cNvSpPr/>
            <p:nvPr/>
          </p:nvSpPr>
          <p:spPr>
            <a:xfrm>
              <a:off x="207217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66A61B4-7F7E-8B5C-9B7E-8EA5442BBD7C}"/>
                </a:ext>
              </a:extLst>
            </p:cNvPr>
            <p:cNvSpPr/>
            <p:nvPr/>
          </p:nvSpPr>
          <p:spPr>
            <a:xfrm>
              <a:off x="250215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71396180-5C28-CD11-4D70-31010FDA1D8C}"/>
                </a:ext>
              </a:extLst>
            </p:cNvPr>
            <p:cNvSpPr/>
            <p:nvPr/>
          </p:nvSpPr>
          <p:spPr>
            <a:xfrm>
              <a:off x="293214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DFCB13D4-DADE-2A5F-A004-6674EBC05590}"/>
                </a:ext>
              </a:extLst>
            </p:cNvPr>
            <p:cNvSpPr/>
            <p:nvPr/>
          </p:nvSpPr>
          <p:spPr>
            <a:xfrm>
              <a:off x="3362130"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6F0707DE-9ECE-1840-3E1B-4CEA3FC56E1F}"/>
                </a:ext>
              </a:extLst>
            </p:cNvPr>
            <p:cNvSpPr/>
            <p:nvPr/>
          </p:nvSpPr>
          <p:spPr>
            <a:xfrm>
              <a:off x="3792116"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C4BC3F1E-B1F4-8F5D-6311-C0E189E6FD83}"/>
                </a:ext>
              </a:extLst>
            </p:cNvPr>
            <p:cNvSpPr/>
            <p:nvPr/>
          </p:nvSpPr>
          <p:spPr>
            <a:xfrm>
              <a:off x="4222102"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E9BA96FC-366A-3159-A728-9996336274A4}"/>
                </a:ext>
              </a:extLst>
            </p:cNvPr>
            <p:cNvSpPr/>
            <p:nvPr/>
          </p:nvSpPr>
          <p:spPr>
            <a:xfrm>
              <a:off x="4652088"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FBCA5D10-3CA0-D1F9-1357-A21CA1826B21}"/>
                </a:ext>
              </a:extLst>
            </p:cNvPr>
            <p:cNvSpPr/>
            <p:nvPr/>
          </p:nvSpPr>
          <p:spPr>
            <a:xfrm>
              <a:off x="5082074"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5DE5D24-8971-F08F-9BE6-92F71C326D4E}"/>
                </a:ext>
              </a:extLst>
            </p:cNvPr>
            <p:cNvSpPr/>
            <p:nvPr/>
          </p:nvSpPr>
          <p:spPr>
            <a:xfrm>
              <a:off x="5512059" y="2265003"/>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0" name="Rectangle 109">
            <a:extLst>
              <a:ext uri="{FF2B5EF4-FFF2-40B4-BE49-F238E27FC236}">
                <a16:creationId xmlns:a16="http://schemas.microsoft.com/office/drawing/2014/main" id="{B7256219-D941-53BA-E3CB-AF4613FF9972}"/>
              </a:ext>
            </a:extLst>
          </p:cNvPr>
          <p:cNvSpPr/>
          <p:nvPr/>
        </p:nvSpPr>
        <p:spPr>
          <a:xfrm>
            <a:off x="3997390" y="3151066"/>
            <a:ext cx="132184" cy="363894"/>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6A78F87B-D975-B1AE-BADD-EF80B863323F}"/>
              </a:ext>
            </a:extLst>
          </p:cNvPr>
          <p:cNvSpPr/>
          <p:nvPr/>
        </p:nvSpPr>
        <p:spPr>
          <a:xfrm>
            <a:off x="3579651" y="3051539"/>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9AE1FD47-1316-D8FE-4E13-DCFB775970D9}"/>
              </a:ext>
            </a:extLst>
          </p:cNvPr>
          <p:cNvSpPr/>
          <p:nvPr/>
        </p:nvSpPr>
        <p:spPr>
          <a:xfrm>
            <a:off x="4870019" y="3044817"/>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E389C5CE-FA9C-F669-CA49-0F81A3DC837A}"/>
              </a:ext>
            </a:extLst>
          </p:cNvPr>
          <p:cNvSpPr/>
          <p:nvPr/>
        </p:nvSpPr>
        <p:spPr>
          <a:xfrm>
            <a:off x="4443936" y="3154173"/>
            <a:ext cx="132184" cy="363894"/>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847918BC-88FB-C1E1-900A-FDAFF29E499A}"/>
              </a:ext>
            </a:extLst>
          </p:cNvPr>
          <p:cNvSpPr/>
          <p:nvPr/>
        </p:nvSpPr>
        <p:spPr>
          <a:xfrm>
            <a:off x="3579651" y="3607675"/>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A8AD420A-20F0-8BE1-1688-75A011F435C9}"/>
              </a:ext>
            </a:extLst>
          </p:cNvPr>
          <p:cNvSpPr/>
          <p:nvPr/>
        </p:nvSpPr>
        <p:spPr>
          <a:xfrm>
            <a:off x="4870019" y="3600953"/>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03144748-B6A6-52FA-8E4B-5F9B4509BFA1}"/>
              </a:ext>
            </a:extLst>
          </p:cNvPr>
          <p:cNvSpPr/>
          <p:nvPr/>
        </p:nvSpPr>
        <p:spPr>
          <a:xfrm>
            <a:off x="4443936" y="3710309"/>
            <a:ext cx="132184" cy="363894"/>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1E56F3DC-CC0C-7676-5782-481DA96E8E22}"/>
              </a:ext>
            </a:extLst>
          </p:cNvPr>
          <p:cNvSpPr/>
          <p:nvPr/>
        </p:nvSpPr>
        <p:spPr>
          <a:xfrm>
            <a:off x="4012494" y="4175326"/>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B8FCD39-F507-701D-DDBA-FC0434274D02}"/>
              </a:ext>
            </a:extLst>
          </p:cNvPr>
          <p:cNvSpPr/>
          <p:nvPr/>
        </p:nvSpPr>
        <p:spPr>
          <a:xfrm>
            <a:off x="4870019" y="4161330"/>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54AE22F7-E892-31D3-D09C-FFF0BC72C7BA}"/>
              </a:ext>
            </a:extLst>
          </p:cNvPr>
          <p:cNvSpPr/>
          <p:nvPr/>
        </p:nvSpPr>
        <p:spPr>
          <a:xfrm>
            <a:off x="4443936" y="4250139"/>
            <a:ext cx="132184" cy="363894"/>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extBox 119">
            <a:extLst>
              <a:ext uri="{FF2B5EF4-FFF2-40B4-BE49-F238E27FC236}">
                <a16:creationId xmlns:a16="http://schemas.microsoft.com/office/drawing/2014/main" id="{07C1C22E-CFE1-5014-5673-BAD7A4431144}"/>
              </a:ext>
            </a:extLst>
          </p:cNvPr>
          <p:cNvSpPr txBox="1"/>
          <p:nvPr/>
        </p:nvSpPr>
        <p:spPr>
          <a:xfrm>
            <a:off x="4395048" y="4136151"/>
            <a:ext cx="423514" cy="646331"/>
          </a:xfrm>
          <a:prstGeom prst="rect">
            <a:avLst/>
          </a:prstGeom>
          <a:noFill/>
        </p:spPr>
        <p:txBody>
          <a:bodyPr wrap="square" rtlCol="0">
            <a:spAutoFit/>
          </a:bodyPr>
          <a:lstStyle/>
          <a:p>
            <a:r>
              <a:rPr lang="en-US" sz="3600">
                <a:solidFill>
                  <a:srgbClr val="FF0000"/>
                </a:solidFill>
              </a:rPr>
              <a:t>X</a:t>
            </a:r>
          </a:p>
        </p:txBody>
      </p:sp>
      <p:sp>
        <p:nvSpPr>
          <p:cNvPr id="121" name="Rectangle 120">
            <a:extLst>
              <a:ext uri="{FF2B5EF4-FFF2-40B4-BE49-F238E27FC236}">
                <a16:creationId xmlns:a16="http://schemas.microsoft.com/office/drawing/2014/main" id="{A2FBF896-1255-F392-FE4C-5F3857CCD0D3}"/>
              </a:ext>
            </a:extLst>
          </p:cNvPr>
          <p:cNvSpPr/>
          <p:nvPr/>
        </p:nvSpPr>
        <p:spPr>
          <a:xfrm>
            <a:off x="7286751" y="5615799"/>
            <a:ext cx="132184" cy="363894"/>
          </a:xfrm>
          <a:prstGeom prst="rect">
            <a:avLst/>
          </a:prstGeom>
          <a:solidFill>
            <a:schemeClr val="accent5">
              <a:lumMod val="20000"/>
              <a:lumOff val="80000"/>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3CFC63EF-7A1B-D689-BBA2-050B57095479}"/>
              </a:ext>
            </a:extLst>
          </p:cNvPr>
          <p:cNvSpPr/>
          <p:nvPr/>
        </p:nvSpPr>
        <p:spPr>
          <a:xfrm>
            <a:off x="5474111" y="5615799"/>
            <a:ext cx="132184" cy="363894"/>
          </a:xfrm>
          <a:prstGeom prst="rect">
            <a:avLst/>
          </a:prstGeom>
          <a:solidFill>
            <a:srgbClr val="00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TextBox 122">
            <a:extLst>
              <a:ext uri="{FF2B5EF4-FFF2-40B4-BE49-F238E27FC236}">
                <a16:creationId xmlns:a16="http://schemas.microsoft.com/office/drawing/2014/main" id="{13C9500A-20FF-E462-51EA-2A3E7E3DC2E7}"/>
              </a:ext>
            </a:extLst>
          </p:cNvPr>
          <p:cNvSpPr txBox="1"/>
          <p:nvPr/>
        </p:nvSpPr>
        <p:spPr>
          <a:xfrm>
            <a:off x="7418935" y="5613080"/>
            <a:ext cx="1416926" cy="369332"/>
          </a:xfrm>
          <a:prstGeom prst="rect">
            <a:avLst/>
          </a:prstGeom>
          <a:noFill/>
        </p:spPr>
        <p:txBody>
          <a:bodyPr wrap="none" rtlCol="0">
            <a:spAutoFit/>
          </a:bodyPr>
          <a:lstStyle/>
          <a:p>
            <a:r>
              <a:rPr lang="en-US"/>
              <a:t>Inactive Gate</a:t>
            </a:r>
          </a:p>
        </p:txBody>
      </p:sp>
      <p:sp>
        <p:nvSpPr>
          <p:cNvPr id="124" name="TextBox 123">
            <a:extLst>
              <a:ext uri="{FF2B5EF4-FFF2-40B4-BE49-F238E27FC236}">
                <a16:creationId xmlns:a16="http://schemas.microsoft.com/office/drawing/2014/main" id="{0A90DD76-F363-E5FA-B478-3F7F1A6949E6}"/>
              </a:ext>
            </a:extLst>
          </p:cNvPr>
          <p:cNvSpPr txBox="1"/>
          <p:nvPr/>
        </p:nvSpPr>
        <p:spPr>
          <a:xfrm>
            <a:off x="5606295" y="5613080"/>
            <a:ext cx="1259832" cy="369332"/>
          </a:xfrm>
          <a:prstGeom prst="rect">
            <a:avLst/>
          </a:prstGeom>
          <a:noFill/>
        </p:spPr>
        <p:txBody>
          <a:bodyPr wrap="none" rtlCol="0">
            <a:spAutoFit/>
          </a:bodyPr>
          <a:lstStyle/>
          <a:p>
            <a:r>
              <a:rPr lang="en-US"/>
              <a:t>Active Gate</a:t>
            </a:r>
          </a:p>
        </p:txBody>
      </p:sp>
      <p:sp>
        <p:nvSpPr>
          <p:cNvPr id="125" name="Rectangle 124">
            <a:extLst>
              <a:ext uri="{FF2B5EF4-FFF2-40B4-BE49-F238E27FC236}">
                <a16:creationId xmlns:a16="http://schemas.microsoft.com/office/drawing/2014/main" id="{18915615-02BF-2C24-1548-861D8430C2E2}"/>
              </a:ext>
            </a:extLst>
          </p:cNvPr>
          <p:cNvSpPr/>
          <p:nvPr/>
        </p:nvSpPr>
        <p:spPr>
          <a:xfrm>
            <a:off x="4738711" y="5615799"/>
            <a:ext cx="132184" cy="363894"/>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125">
            <a:extLst>
              <a:ext uri="{FF2B5EF4-FFF2-40B4-BE49-F238E27FC236}">
                <a16:creationId xmlns:a16="http://schemas.microsoft.com/office/drawing/2014/main" id="{112D02FA-538C-ED9C-6701-C3EA478C404F}"/>
              </a:ext>
            </a:extLst>
          </p:cNvPr>
          <p:cNvSpPr txBox="1"/>
          <p:nvPr/>
        </p:nvSpPr>
        <p:spPr>
          <a:xfrm>
            <a:off x="4870895" y="5613080"/>
            <a:ext cx="460382" cy="369332"/>
          </a:xfrm>
          <a:prstGeom prst="rect">
            <a:avLst/>
          </a:prstGeom>
          <a:noFill/>
        </p:spPr>
        <p:txBody>
          <a:bodyPr wrap="none" rtlCol="0">
            <a:spAutoFit/>
          </a:bodyPr>
          <a:lstStyle/>
          <a:p>
            <a:r>
              <a:rPr lang="en-US"/>
              <a:t>FTI</a:t>
            </a:r>
          </a:p>
        </p:txBody>
      </p:sp>
      <p:sp>
        <p:nvSpPr>
          <p:cNvPr id="127" name="Rectangle 126">
            <a:extLst>
              <a:ext uri="{FF2B5EF4-FFF2-40B4-BE49-F238E27FC236}">
                <a16:creationId xmlns:a16="http://schemas.microsoft.com/office/drawing/2014/main" id="{6BBD2A60-D7E4-976E-2429-E5643EB829BC}"/>
              </a:ext>
            </a:extLst>
          </p:cNvPr>
          <p:cNvSpPr/>
          <p:nvPr/>
        </p:nvSpPr>
        <p:spPr>
          <a:xfrm>
            <a:off x="3077895" y="5613080"/>
            <a:ext cx="132184" cy="37084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8" name="TextBox 127">
            <a:extLst>
              <a:ext uri="{FF2B5EF4-FFF2-40B4-BE49-F238E27FC236}">
                <a16:creationId xmlns:a16="http://schemas.microsoft.com/office/drawing/2014/main" id="{A5EDA90F-8CCD-15DF-5513-ECD481A7EFF8}"/>
              </a:ext>
            </a:extLst>
          </p:cNvPr>
          <p:cNvSpPr txBox="1"/>
          <p:nvPr/>
        </p:nvSpPr>
        <p:spPr>
          <a:xfrm>
            <a:off x="3287563" y="5610361"/>
            <a:ext cx="1336648" cy="369332"/>
          </a:xfrm>
          <a:prstGeom prst="rect">
            <a:avLst/>
          </a:prstGeom>
          <a:noFill/>
        </p:spPr>
        <p:txBody>
          <a:bodyPr wrap="none" rtlCol="0">
            <a:spAutoFit/>
          </a:bodyPr>
          <a:lstStyle/>
          <a:p>
            <a:r>
              <a:rPr lang="en-US"/>
              <a:t>Diff;drawing</a:t>
            </a:r>
          </a:p>
        </p:txBody>
      </p:sp>
      <p:sp>
        <p:nvSpPr>
          <p:cNvPr id="130" name="Rectangle 129">
            <a:extLst>
              <a:ext uri="{FF2B5EF4-FFF2-40B4-BE49-F238E27FC236}">
                <a16:creationId xmlns:a16="http://schemas.microsoft.com/office/drawing/2014/main" id="{DD47BD02-F294-6327-C508-E4E014DEBF6D}"/>
              </a:ext>
            </a:extLst>
          </p:cNvPr>
          <p:cNvSpPr/>
          <p:nvPr/>
        </p:nvSpPr>
        <p:spPr>
          <a:xfrm>
            <a:off x="7453884" y="3066158"/>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2AB7006F-8EC0-C381-9438-752A0B0FA887}"/>
              </a:ext>
            </a:extLst>
          </p:cNvPr>
          <p:cNvSpPr/>
          <p:nvPr/>
        </p:nvSpPr>
        <p:spPr>
          <a:xfrm>
            <a:off x="7027026" y="3051539"/>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TextBox 131">
            <a:extLst>
              <a:ext uri="{FF2B5EF4-FFF2-40B4-BE49-F238E27FC236}">
                <a16:creationId xmlns:a16="http://schemas.microsoft.com/office/drawing/2014/main" id="{CC95514F-C267-00A4-8F34-776DE278A9F2}"/>
              </a:ext>
            </a:extLst>
          </p:cNvPr>
          <p:cNvSpPr txBox="1"/>
          <p:nvPr/>
        </p:nvSpPr>
        <p:spPr>
          <a:xfrm>
            <a:off x="6876594" y="2504735"/>
            <a:ext cx="423514" cy="646331"/>
          </a:xfrm>
          <a:prstGeom prst="rect">
            <a:avLst/>
          </a:prstGeom>
          <a:noFill/>
        </p:spPr>
        <p:txBody>
          <a:bodyPr wrap="square" rtlCol="0">
            <a:spAutoFit/>
          </a:bodyPr>
          <a:lstStyle/>
          <a:p>
            <a:r>
              <a:rPr lang="en-US" sz="3600">
                <a:solidFill>
                  <a:srgbClr val="FF0000"/>
                </a:solidFill>
              </a:rPr>
              <a:t>X</a:t>
            </a:r>
          </a:p>
        </p:txBody>
      </p:sp>
      <p:sp>
        <p:nvSpPr>
          <p:cNvPr id="2" name="Rectangle 1">
            <a:extLst>
              <a:ext uri="{FF2B5EF4-FFF2-40B4-BE49-F238E27FC236}">
                <a16:creationId xmlns:a16="http://schemas.microsoft.com/office/drawing/2014/main" id="{C16E8A11-942F-EB67-C26C-F4B5045C3033}"/>
              </a:ext>
            </a:extLst>
          </p:cNvPr>
          <p:cNvSpPr/>
          <p:nvPr/>
        </p:nvSpPr>
        <p:spPr>
          <a:xfrm>
            <a:off x="6600168" y="3058136"/>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D3D296C-BF1B-B605-CD44-90146AD69146}"/>
              </a:ext>
            </a:extLst>
          </p:cNvPr>
          <p:cNvSpPr/>
          <p:nvPr/>
        </p:nvSpPr>
        <p:spPr>
          <a:xfrm>
            <a:off x="6600167" y="4156699"/>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022761C-4118-77D2-CD56-CEFB318EAAE4}"/>
              </a:ext>
            </a:extLst>
          </p:cNvPr>
          <p:cNvSpPr/>
          <p:nvPr/>
        </p:nvSpPr>
        <p:spPr>
          <a:xfrm>
            <a:off x="7030259" y="4163901"/>
            <a:ext cx="132959" cy="5629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092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itle 2">
            <a:extLst>
              <a:ext uri="{FF2B5EF4-FFF2-40B4-BE49-F238E27FC236}">
                <a16:creationId xmlns:a16="http://schemas.microsoft.com/office/drawing/2014/main" id="{E7C23882-E790-4C58-9EB1-6499BEAED3FF}"/>
              </a:ext>
            </a:extLst>
          </p:cNvPr>
          <p:cNvSpPr txBox="1">
            <a:spLocks/>
          </p:cNvSpPr>
          <p:nvPr/>
        </p:nvSpPr>
        <p:spPr>
          <a:xfrm>
            <a:off x="130806"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ea typeface="+mj-ea"/>
                <a:cs typeface="+mj-cs"/>
              </a:rPr>
              <a:t>Current - Vt ID Design Rules</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sp>
        <p:nvSpPr>
          <p:cNvPr id="78" name="Rectangle 114">
            <a:extLst>
              <a:ext uri="{FF2B5EF4-FFF2-40B4-BE49-F238E27FC236}">
                <a16:creationId xmlns:a16="http://schemas.microsoft.com/office/drawing/2014/main" id="{1B4CADA9-F0A7-44F5-BFE1-620FE48EE5BC}"/>
              </a:ext>
            </a:extLst>
          </p:cNvPr>
          <p:cNvSpPr>
            <a:spLocks noChangeArrowheads="1"/>
          </p:cNvSpPr>
          <p:nvPr/>
        </p:nvSpPr>
        <p:spPr bwMode="auto">
          <a:xfrm>
            <a:off x="4041422" y="2291544"/>
            <a:ext cx="1850047" cy="1166844"/>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79" name="Rectangle 118">
            <a:extLst>
              <a:ext uri="{FF2B5EF4-FFF2-40B4-BE49-F238E27FC236}">
                <a16:creationId xmlns:a16="http://schemas.microsoft.com/office/drawing/2014/main" id="{6F0FE4FF-865A-4279-A3B3-1046A57BC2C4}"/>
              </a:ext>
            </a:extLst>
          </p:cNvPr>
          <p:cNvSpPr>
            <a:spLocks noChangeArrowheads="1"/>
          </p:cNvSpPr>
          <p:nvPr/>
        </p:nvSpPr>
        <p:spPr bwMode="auto">
          <a:xfrm>
            <a:off x="6836480" y="2685651"/>
            <a:ext cx="1426856" cy="1105049"/>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80" name="Rectangle 119">
            <a:extLst>
              <a:ext uri="{FF2B5EF4-FFF2-40B4-BE49-F238E27FC236}">
                <a16:creationId xmlns:a16="http://schemas.microsoft.com/office/drawing/2014/main" id="{0C209DD6-F819-4257-84A0-CCA8220B41C3}"/>
              </a:ext>
            </a:extLst>
          </p:cNvPr>
          <p:cNvSpPr>
            <a:spLocks noChangeArrowheads="1"/>
          </p:cNvSpPr>
          <p:nvPr/>
        </p:nvSpPr>
        <p:spPr bwMode="auto">
          <a:xfrm>
            <a:off x="9023237" y="4852062"/>
            <a:ext cx="65" cy="230832"/>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Intel Clear"/>
              <a:sym typeface="Helvetica Neue"/>
            </a:endParaRPr>
          </a:p>
        </p:txBody>
      </p:sp>
      <p:sp>
        <p:nvSpPr>
          <p:cNvPr id="81" name="Rectangle 125">
            <a:extLst>
              <a:ext uri="{FF2B5EF4-FFF2-40B4-BE49-F238E27FC236}">
                <a16:creationId xmlns:a16="http://schemas.microsoft.com/office/drawing/2014/main" id="{9952B06E-F2EF-41D3-B3F9-C2BD05B61524}"/>
              </a:ext>
            </a:extLst>
          </p:cNvPr>
          <p:cNvSpPr>
            <a:spLocks noChangeArrowheads="1"/>
          </p:cNvSpPr>
          <p:nvPr/>
        </p:nvSpPr>
        <p:spPr bwMode="auto">
          <a:xfrm>
            <a:off x="5901694" y="3800929"/>
            <a:ext cx="1424472" cy="699936"/>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82" name="Line 135">
            <a:extLst>
              <a:ext uri="{FF2B5EF4-FFF2-40B4-BE49-F238E27FC236}">
                <a16:creationId xmlns:a16="http://schemas.microsoft.com/office/drawing/2014/main" id="{36C1826F-AE15-4AF4-AF53-2980235BDD81}"/>
              </a:ext>
            </a:extLst>
          </p:cNvPr>
          <p:cNvSpPr>
            <a:spLocks noChangeShapeType="1"/>
          </p:cNvSpPr>
          <p:nvPr/>
        </p:nvSpPr>
        <p:spPr bwMode="auto">
          <a:xfrm>
            <a:off x="8278166" y="3789608"/>
            <a:ext cx="390354" cy="1"/>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83" name="Rectangle 136">
            <a:extLst>
              <a:ext uri="{FF2B5EF4-FFF2-40B4-BE49-F238E27FC236}">
                <a16:creationId xmlns:a16="http://schemas.microsoft.com/office/drawing/2014/main" id="{E23A4A09-1572-40A7-AB06-60759D83AC9E}"/>
              </a:ext>
            </a:extLst>
          </p:cNvPr>
          <p:cNvSpPr>
            <a:spLocks noChangeArrowheads="1"/>
          </p:cNvSpPr>
          <p:nvPr/>
        </p:nvSpPr>
        <p:spPr bwMode="auto">
          <a:xfrm>
            <a:off x="8400607" y="3518623"/>
            <a:ext cx="363882" cy="230832"/>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rPr>
              <a:t>1PP</a:t>
            </a:r>
            <a:endParaRPr kumimoji="0" lang="en-US" sz="15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sp>
        <p:nvSpPr>
          <p:cNvPr id="84" name="Line 167">
            <a:extLst>
              <a:ext uri="{FF2B5EF4-FFF2-40B4-BE49-F238E27FC236}">
                <a16:creationId xmlns:a16="http://schemas.microsoft.com/office/drawing/2014/main" id="{E69DCB67-A967-429B-8927-961A95FA4C3B}"/>
              </a:ext>
            </a:extLst>
          </p:cNvPr>
          <p:cNvSpPr>
            <a:spLocks noChangeShapeType="1"/>
          </p:cNvSpPr>
          <p:nvPr/>
        </p:nvSpPr>
        <p:spPr bwMode="auto">
          <a:xfrm>
            <a:off x="6872675" y="3713083"/>
            <a:ext cx="475972" cy="0"/>
          </a:xfrm>
          <a:prstGeom prst="line">
            <a:avLst/>
          </a:prstGeom>
          <a:noFill/>
          <a:ln w="28575">
            <a:solidFill>
              <a:sysClr val="windowText" lastClr="000000"/>
            </a:solidFill>
            <a:round/>
            <a:headEnd type="triangle" w="med" len="med"/>
            <a:tailEnd type="triangle" w="med" len="me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85" name="Line 123">
            <a:extLst>
              <a:ext uri="{FF2B5EF4-FFF2-40B4-BE49-F238E27FC236}">
                <a16:creationId xmlns:a16="http://schemas.microsoft.com/office/drawing/2014/main" id="{36CE729A-2A6D-464E-B6C6-C96330A2B7FB}"/>
              </a:ext>
            </a:extLst>
          </p:cNvPr>
          <p:cNvSpPr>
            <a:spLocks noChangeShapeType="1"/>
          </p:cNvSpPr>
          <p:nvPr/>
        </p:nvSpPr>
        <p:spPr bwMode="auto">
          <a:xfrm flipV="1">
            <a:off x="8245405" y="4500614"/>
            <a:ext cx="505154" cy="422429"/>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86" name="Line 120">
            <a:extLst>
              <a:ext uri="{FF2B5EF4-FFF2-40B4-BE49-F238E27FC236}">
                <a16:creationId xmlns:a16="http://schemas.microsoft.com/office/drawing/2014/main" id="{505040A7-E404-4FE5-867D-F38D2764BEF4}"/>
              </a:ext>
            </a:extLst>
          </p:cNvPr>
          <p:cNvSpPr>
            <a:spLocks noChangeShapeType="1"/>
          </p:cNvSpPr>
          <p:nvPr/>
        </p:nvSpPr>
        <p:spPr bwMode="auto">
          <a:xfrm flipH="1">
            <a:off x="10121261" y="3799475"/>
            <a:ext cx="4543" cy="309703"/>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87" name="Rectangle 113">
            <a:extLst>
              <a:ext uri="{FF2B5EF4-FFF2-40B4-BE49-F238E27FC236}">
                <a16:creationId xmlns:a16="http://schemas.microsoft.com/office/drawing/2014/main" id="{4E288D2C-47EB-443D-A6E6-02B57CA64F18}"/>
              </a:ext>
            </a:extLst>
          </p:cNvPr>
          <p:cNvSpPr>
            <a:spLocks noChangeArrowheads="1"/>
          </p:cNvSpPr>
          <p:nvPr/>
        </p:nvSpPr>
        <p:spPr bwMode="auto">
          <a:xfrm>
            <a:off x="9759249" y="3110388"/>
            <a:ext cx="1195767"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Arial" charset="0"/>
                <a:cs typeface="Arial" charset="0"/>
                <a:sym typeface="Helvetica Neue"/>
              </a:rPr>
              <a:t>Half cell height</a:t>
            </a:r>
            <a:endParaRPr kumimoji="0" lang="en-US" sz="14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sp>
        <p:nvSpPr>
          <p:cNvPr id="88" name="Line 123">
            <a:extLst>
              <a:ext uri="{FF2B5EF4-FFF2-40B4-BE49-F238E27FC236}">
                <a16:creationId xmlns:a16="http://schemas.microsoft.com/office/drawing/2014/main" id="{0C47B9D6-0896-4F4F-B24A-89DFB4CE438B}"/>
              </a:ext>
            </a:extLst>
          </p:cNvPr>
          <p:cNvSpPr>
            <a:spLocks noChangeShapeType="1"/>
          </p:cNvSpPr>
          <p:nvPr/>
        </p:nvSpPr>
        <p:spPr bwMode="auto">
          <a:xfrm>
            <a:off x="10081902" y="4196547"/>
            <a:ext cx="926015" cy="0"/>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89" name="Rectangle 113">
            <a:extLst>
              <a:ext uri="{FF2B5EF4-FFF2-40B4-BE49-F238E27FC236}">
                <a16:creationId xmlns:a16="http://schemas.microsoft.com/office/drawing/2014/main" id="{B4D10F55-2212-402B-A62E-4E67CA6EA28A}"/>
              </a:ext>
            </a:extLst>
          </p:cNvPr>
          <p:cNvSpPr>
            <a:spLocks noChangeArrowheads="1"/>
          </p:cNvSpPr>
          <p:nvPr/>
        </p:nvSpPr>
        <p:spPr bwMode="auto">
          <a:xfrm>
            <a:off x="10142903" y="4192639"/>
            <a:ext cx="966669"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Arial" charset="0"/>
                <a:cs typeface="Arial" charset="0"/>
                <a:sym typeface="Helvetica Neue"/>
              </a:rPr>
              <a:t>1 x PP</a:t>
            </a:r>
            <a:endParaRPr kumimoji="0" lang="en-US" sz="1400" b="0" i="0" u="none" strike="noStrike" kern="1200" cap="none" spc="0" normalizeH="0" baseline="0" noProof="0">
              <a:ln>
                <a:noFill/>
              </a:ln>
              <a:solidFill>
                <a:srgbClr val="000000"/>
              </a:solidFill>
              <a:effectLst/>
              <a:uLnTx/>
              <a:uFillTx/>
              <a:latin typeface="Times New Roman" pitchFamily="18" charset="0"/>
              <a:cs typeface="Arial" charset="0"/>
              <a:sym typeface="Helvetica Neue"/>
            </a:endParaRPr>
          </a:p>
        </p:txBody>
      </p:sp>
      <p:sp>
        <p:nvSpPr>
          <p:cNvPr id="90" name="Line 123">
            <a:extLst>
              <a:ext uri="{FF2B5EF4-FFF2-40B4-BE49-F238E27FC236}">
                <a16:creationId xmlns:a16="http://schemas.microsoft.com/office/drawing/2014/main" id="{D0E5AED6-F31F-40A1-8E1A-6C039A0FD50F}"/>
              </a:ext>
            </a:extLst>
          </p:cNvPr>
          <p:cNvSpPr>
            <a:spLocks noChangeShapeType="1"/>
          </p:cNvSpPr>
          <p:nvPr/>
        </p:nvSpPr>
        <p:spPr bwMode="auto">
          <a:xfrm>
            <a:off x="9653587" y="4992530"/>
            <a:ext cx="1395589" cy="0"/>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91" name="Rectangle 136">
            <a:extLst>
              <a:ext uri="{FF2B5EF4-FFF2-40B4-BE49-F238E27FC236}">
                <a16:creationId xmlns:a16="http://schemas.microsoft.com/office/drawing/2014/main" id="{A5598537-8917-4F69-A21E-5F1089C1C9C7}"/>
              </a:ext>
            </a:extLst>
          </p:cNvPr>
          <p:cNvSpPr>
            <a:spLocks noChangeArrowheads="1"/>
          </p:cNvSpPr>
          <p:nvPr/>
        </p:nvSpPr>
        <p:spPr bwMode="auto">
          <a:xfrm>
            <a:off x="9918704" y="5100537"/>
            <a:ext cx="1085952"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lang="en-US" sz="1400">
                <a:solidFill>
                  <a:srgbClr val="000000"/>
                </a:solidFill>
                <a:latin typeface="Arial" charset="0"/>
                <a:cs typeface="Arial" charset="0"/>
                <a:sym typeface="Helvetica Neue"/>
              </a:rPr>
              <a:t>10</a:t>
            </a:r>
            <a:r>
              <a:rPr kumimoji="0" lang="en-US" sz="1400" b="0" i="0" u="none" strike="noStrike" kern="1200" cap="none" spc="0" normalizeH="0" baseline="0" noProof="0">
                <a:ln>
                  <a:noFill/>
                </a:ln>
                <a:solidFill>
                  <a:srgbClr val="000000"/>
                </a:solidFill>
                <a:effectLst/>
                <a:uLnTx/>
                <a:uFillTx/>
                <a:latin typeface="Arial" charset="0"/>
                <a:cs typeface="Arial" charset="0"/>
                <a:sym typeface="Helvetica Neue"/>
              </a:rPr>
              <a:t> x PP</a:t>
            </a:r>
          </a:p>
        </p:txBody>
      </p:sp>
      <p:sp>
        <p:nvSpPr>
          <p:cNvPr id="92" name="Line 158">
            <a:extLst>
              <a:ext uri="{FF2B5EF4-FFF2-40B4-BE49-F238E27FC236}">
                <a16:creationId xmlns:a16="http://schemas.microsoft.com/office/drawing/2014/main" id="{639094EC-079C-4E20-9FC9-0ABC263820D8}"/>
              </a:ext>
            </a:extLst>
          </p:cNvPr>
          <p:cNvSpPr>
            <a:spLocks noChangeShapeType="1"/>
          </p:cNvSpPr>
          <p:nvPr/>
        </p:nvSpPr>
        <p:spPr bwMode="auto">
          <a:xfrm flipH="1">
            <a:off x="9675627" y="4146360"/>
            <a:ext cx="365299" cy="310422"/>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93" name="Rectangle 113">
            <a:extLst>
              <a:ext uri="{FF2B5EF4-FFF2-40B4-BE49-F238E27FC236}">
                <a16:creationId xmlns:a16="http://schemas.microsoft.com/office/drawing/2014/main" id="{F2AF99D3-7B56-4190-B326-A64B098FEBA5}"/>
              </a:ext>
            </a:extLst>
          </p:cNvPr>
          <p:cNvSpPr>
            <a:spLocks noChangeArrowheads="1"/>
          </p:cNvSpPr>
          <p:nvPr/>
        </p:nvSpPr>
        <p:spPr bwMode="auto">
          <a:xfrm>
            <a:off x="6839783" y="3427985"/>
            <a:ext cx="1019815"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cs typeface="Arial" charset="0"/>
                <a:sym typeface="Helvetica Neue"/>
              </a:rPr>
              <a:t>1 x PP</a:t>
            </a:r>
            <a:endParaRPr kumimoji="0" lang="en-US" sz="1400" b="0" i="0" u="none" strike="noStrike" kern="1200" cap="none" spc="0" normalizeH="0" baseline="0" noProof="0">
              <a:ln>
                <a:noFill/>
              </a:ln>
              <a:solidFill>
                <a:srgbClr val="000000"/>
              </a:solidFill>
              <a:effectLst/>
              <a:uLnTx/>
              <a:uFillTx/>
              <a:latin typeface="Times New Roman" pitchFamily="18" charset="0"/>
              <a:cs typeface="Arial" charset="0"/>
              <a:sym typeface="Helvetica Neue"/>
            </a:endParaRPr>
          </a:p>
        </p:txBody>
      </p:sp>
      <p:grpSp>
        <p:nvGrpSpPr>
          <p:cNvPr id="94" name="Group 93">
            <a:extLst>
              <a:ext uri="{FF2B5EF4-FFF2-40B4-BE49-F238E27FC236}">
                <a16:creationId xmlns:a16="http://schemas.microsoft.com/office/drawing/2014/main" id="{109E00D1-5C57-477D-87EE-220BAE7AF362}"/>
              </a:ext>
            </a:extLst>
          </p:cNvPr>
          <p:cNvGrpSpPr/>
          <p:nvPr/>
        </p:nvGrpSpPr>
        <p:grpSpPr>
          <a:xfrm>
            <a:off x="4885711" y="2031137"/>
            <a:ext cx="6230524" cy="3720371"/>
            <a:chOff x="57052" y="1973151"/>
            <a:chExt cx="8394399" cy="3684815"/>
          </a:xfrm>
        </p:grpSpPr>
        <p:grpSp>
          <p:nvGrpSpPr>
            <p:cNvPr id="95" name="Group 94">
              <a:extLst>
                <a:ext uri="{FF2B5EF4-FFF2-40B4-BE49-F238E27FC236}">
                  <a16:creationId xmlns:a16="http://schemas.microsoft.com/office/drawing/2014/main" id="{BA9F1761-B94D-48AC-9908-F35A7A6B1138}"/>
                </a:ext>
              </a:extLst>
            </p:cNvPr>
            <p:cNvGrpSpPr/>
            <p:nvPr/>
          </p:nvGrpSpPr>
          <p:grpSpPr>
            <a:xfrm>
              <a:off x="57052" y="1973151"/>
              <a:ext cx="6527290" cy="3596208"/>
              <a:chOff x="1236663" y="1431925"/>
              <a:chExt cx="10406062" cy="14106526"/>
            </a:xfrm>
          </p:grpSpPr>
          <p:sp>
            <p:nvSpPr>
              <p:cNvPr id="99" name="Rectangle 101">
                <a:extLst>
                  <a:ext uri="{FF2B5EF4-FFF2-40B4-BE49-F238E27FC236}">
                    <a16:creationId xmlns:a16="http://schemas.microsoft.com/office/drawing/2014/main" id="{AAAB4D3A-AB40-4516-8734-47A05C1E0B74}"/>
                  </a:ext>
                </a:extLst>
              </p:cNvPr>
              <p:cNvSpPr>
                <a:spLocks noChangeArrowheads="1"/>
              </p:cNvSpPr>
              <p:nvPr/>
            </p:nvSpPr>
            <p:spPr bwMode="auto">
              <a:xfrm>
                <a:off x="8342313" y="1522413"/>
                <a:ext cx="242887" cy="1401603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0" name="Rectangle 102">
                <a:extLst>
                  <a:ext uri="{FF2B5EF4-FFF2-40B4-BE49-F238E27FC236}">
                    <a16:creationId xmlns:a16="http://schemas.microsoft.com/office/drawing/2014/main" id="{5509DC6C-C8BB-4B60-B664-5BC29EC9B42F}"/>
                  </a:ext>
                </a:extLst>
              </p:cNvPr>
              <p:cNvSpPr>
                <a:spLocks noChangeArrowheads="1"/>
              </p:cNvSpPr>
              <p:nvPr/>
            </p:nvSpPr>
            <p:spPr bwMode="auto">
              <a:xfrm>
                <a:off x="7318375" y="1536700"/>
                <a:ext cx="241300" cy="1397476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1" name="Rectangle 103">
                <a:extLst>
                  <a:ext uri="{FF2B5EF4-FFF2-40B4-BE49-F238E27FC236}">
                    <a16:creationId xmlns:a16="http://schemas.microsoft.com/office/drawing/2014/main" id="{80E3039D-A948-4E98-A30A-5F3D3DD64FBD}"/>
                  </a:ext>
                </a:extLst>
              </p:cNvPr>
              <p:cNvSpPr>
                <a:spLocks noChangeArrowheads="1"/>
              </p:cNvSpPr>
              <p:nvPr/>
            </p:nvSpPr>
            <p:spPr bwMode="auto">
              <a:xfrm>
                <a:off x="6316663" y="1539875"/>
                <a:ext cx="241300" cy="1397476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2" name="Rectangle 104">
                <a:extLst>
                  <a:ext uri="{FF2B5EF4-FFF2-40B4-BE49-F238E27FC236}">
                    <a16:creationId xmlns:a16="http://schemas.microsoft.com/office/drawing/2014/main" id="{3EA8DE3D-F6FC-4600-A0B2-107E1AC05B08}"/>
                  </a:ext>
                </a:extLst>
              </p:cNvPr>
              <p:cNvSpPr>
                <a:spLocks noChangeArrowheads="1"/>
              </p:cNvSpPr>
              <p:nvPr/>
            </p:nvSpPr>
            <p:spPr bwMode="auto">
              <a:xfrm>
                <a:off x="5287963" y="1530350"/>
                <a:ext cx="244475" cy="139938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3" name="Rectangle 105">
                <a:extLst>
                  <a:ext uri="{FF2B5EF4-FFF2-40B4-BE49-F238E27FC236}">
                    <a16:creationId xmlns:a16="http://schemas.microsoft.com/office/drawing/2014/main" id="{7CCD3187-AEC7-4530-88FB-5DB797C92BF1}"/>
                  </a:ext>
                </a:extLst>
              </p:cNvPr>
              <p:cNvSpPr>
                <a:spLocks noChangeArrowheads="1"/>
              </p:cNvSpPr>
              <p:nvPr/>
            </p:nvSpPr>
            <p:spPr bwMode="auto">
              <a:xfrm>
                <a:off x="4273550" y="1533525"/>
                <a:ext cx="242887" cy="139938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4" name="Rectangle 106">
                <a:extLst>
                  <a:ext uri="{FF2B5EF4-FFF2-40B4-BE49-F238E27FC236}">
                    <a16:creationId xmlns:a16="http://schemas.microsoft.com/office/drawing/2014/main" id="{465F5B3C-D981-4C3A-8839-E146193B9559}"/>
                  </a:ext>
                </a:extLst>
              </p:cNvPr>
              <p:cNvSpPr>
                <a:spLocks noChangeArrowheads="1"/>
              </p:cNvSpPr>
              <p:nvPr/>
            </p:nvSpPr>
            <p:spPr bwMode="auto">
              <a:xfrm>
                <a:off x="3249613" y="1431925"/>
                <a:ext cx="244475" cy="140827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5" name="Rectangle 107">
                <a:extLst>
                  <a:ext uri="{FF2B5EF4-FFF2-40B4-BE49-F238E27FC236}">
                    <a16:creationId xmlns:a16="http://schemas.microsoft.com/office/drawing/2014/main" id="{15A49A48-2420-40C9-8C37-173C09FC00EC}"/>
                  </a:ext>
                </a:extLst>
              </p:cNvPr>
              <p:cNvSpPr>
                <a:spLocks noChangeArrowheads="1"/>
              </p:cNvSpPr>
              <p:nvPr/>
            </p:nvSpPr>
            <p:spPr bwMode="auto">
              <a:xfrm>
                <a:off x="2235200" y="1485900"/>
                <a:ext cx="228600" cy="140065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6" name="Rectangle 108">
                <a:extLst>
                  <a:ext uri="{FF2B5EF4-FFF2-40B4-BE49-F238E27FC236}">
                    <a16:creationId xmlns:a16="http://schemas.microsoft.com/office/drawing/2014/main" id="{3DBD20D0-1FC4-40E7-B375-BB6FD7703387}"/>
                  </a:ext>
                </a:extLst>
              </p:cNvPr>
              <p:cNvSpPr>
                <a:spLocks noChangeArrowheads="1"/>
              </p:cNvSpPr>
              <p:nvPr/>
            </p:nvSpPr>
            <p:spPr bwMode="auto">
              <a:xfrm>
                <a:off x="11398250" y="1511300"/>
                <a:ext cx="244475" cy="1401603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7" name="Rectangle 109">
                <a:extLst>
                  <a:ext uri="{FF2B5EF4-FFF2-40B4-BE49-F238E27FC236}">
                    <a16:creationId xmlns:a16="http://schemas.microsoft.com/office/drawing/2014/main" id="{57A2A028-7926-4C34-A420-EE277E3C2110}"/>
                  </a:ext>
                </a:extLst>
              </p:cNvPr>
              <p:cNvSpPr>
                <a:spLocks noChangeArrowheads="1"/>
              </p:cNvSpPr>
              <p:nvPr/>
            </p:nvSpPr>
            <p:spPr bwMode="auto">
              <a:xfrm>
                <a:off x="10372725" y="1522413"/>
                <a:ext cx="241300" cy="139811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8" name="Rectangle 110">
                <a:extLst>
                  <a:ext uri="{FF2B5EF4-FFF2-40B4-BE49-F238E27FC236}">
                    <a16:creationId xmlns:a16="http://schemas.microsoft.com/office/drawing/2014/main" id="{0D4B2635-BB2B-49C8-AA81-3FAC6658C059}"/>
                  </a:ext>
                </a:extLst>
              </p:cNvPr>
              <p:cNvSpPr>
                <a:spLocks noChangeArrowheads="1"/>
              </p:cNvSpPr>
              <p:nvPr/>
            </p:nvSpPr>
            <p:spPr bwMode="auto">
              <a:xfrm>
                <a:off x="9371013" y="1525588"/>
                <a:ext cx="244475" cy="139811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09" name="Rectangle 111">
                <a:extLst>
                  <a:ext uri="{FF2B5EF4-FFF2-40B4-BE49-F238E27FC236}">
                    <a16:creationId xmlns:a16="http://schemas.microsoft.com/office/drawing/2014/main" id="{16D711CA-6F18-45A4-9C2B-865C2B307860}"/>
                  </a:ext>
                </a:extLst>
              </p:cNvPr>
              <p:cNvSpPr>
                <a:spLocks noChangeArrowheads="1"/>
              </p:cNvSpPr>
              <p:nvPr/>
            </p:nvSpPr>
            <p:spPr bwMode="auto">
              <a:xfrm>
                <a:off x="1236663" y="1539875"/>
                <a:ext cx="242887" cy="13944600"/>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grpSp>
        <p:sp>
          <p:nvSpPr>
            <p:cNvPr id="96" name="Rectangle 108">
              <a:extLst>
                <a:ext uri="{FF2B5EF4-FFF2-40B4-BE49-F238E27FC236}">
                  <a16:creationId xmlns:a16="http://schemas.microsoft.com/office/drawing/2014/main" id="{BD8224C0-D172-4E3B-82AB-5A0347EF942A}"/>
                </a:ext>
              </a:extLst>
            </p:cNvPr>
            <p:cNvSpPr>
              <a:spLocks noChangeArrowheads="1"/>
            </p:cNvSpPr>
            <p:nvPr/>
          </p:nvSpPr>
          <p:spPr bwMode="auto">
            <a:xfrm>
              <a:off x="7665433" y="1993387"/>
              <a:ext cx="171163" cy="363409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97" name="Rectangle 109">
              <a:extLst>
                <a:ext uri="{FF2B5EF4-FFF2-40B4-BE49-F238E27FC236}">
                  <a16:creationId xmlns:a16="http://schemas.microsoft.com/office/drawing/2014/main" id="{4DF0738B-AE1D-4EEA-88B6-3B7EAD85A701}"/>
                </a:ext>
              </a:extLst>
            </p:cNvPr>
            <p:cNvSpPr>
              <a:spLocks noChangeArrowheads="1"/>
            </p:cNvSpPr>
            <p:nvPr/>
          </p:nvSpPr>
          <p:spPr bwMode="auto">
            <a:xfrm>
              <a:off x="7007838" y="1993387"/>
              <a:ext cx="146262" cy="362802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98" name="Rectangle 108">
              <a:extLst>
                <a:ext uri="{FF2B5EF4-FFF2-40B4-BE49-F238E27FC236}">
                  <a16:creationId xmlns:a16="http://schemas.microsoft.com/office/drawing/2014/main" id="{AF48FDDE-EDEF-4B6F-9B29-81BDDBF7B869}"/>
                </a:ext>
              </a:extLst>
            </p:cNvPr>
            <p:cNvSpPr>
              <a:spLocks noChangeArrowheads="1"/>
            </p:cNvSpPr>
            <p:nvPr/>
          </p:nvSpPr>
          <p:spPr bwMode="auto">
            <a:xfrm>
              <a:off x="8305513" y="1993387"/>
              <a:ext cx="145938" cy="3664579"/>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grpSp>
      <p:sp>
        <p:nvSpPr>
          <p:cNvPr id="110" name="Rectangle 125">
            <a:extLst>
              <a:ext uri="{FF2B5EF4-FFF2-40B4-BE49-F238E27FC236}">
                <a16:creationId xmlns:a16="http://schemas.microsoft.com/office/drawing/2014/main" id="{15821CF5-F23D-4281-AA58-F8E96002C7BC}"/>
              </a:ext>
            </a:extLst>
          </p:cNvPr>
          <p:cNvSpPr>
            <a:spLocks noChangeArrowheads="1"/>
          </p:cNvSpPr>
          <p:nvPr/>
        </p:nvSpPr>
        <p:spPr bwMode="auto">
          <a:xfrm>
            <a:off x="6819298" y="4909493"/>
            <a:ext cx="1438077" cy="711398"/>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11" name="Rectangle 111">
            <a:extLst>
              <a:ext uri="{FF2B5EF4-FFF2-40B4-BE49-F238E27FC236}">
                <a16:creationId xmlns:a16="http://schemas.microsoft.com/office/drawing/2014/main" id="{505F7F0A-7F56-4E0F-BE46-EA95D2B3FC69}"/>
              </a:ext>
            </a:extLst>
          </p:cNvPr>
          <p:cNvSpPr>
            <a:spLocks noChangeArrowheads="1"/>
          </p:cNvSpPr>
          <p:nvPr/>
        </p:nvSpPr>
        <p:spPr bwMode="auto">
          <a:xfrm>
            <a:off x="4406047" y="2049851"/>
            <a:ext cx="113080" cy="3589231"/>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12" name="Line 167">
            <a:extLst>
              <a:ext uri="{FF2B5EF4-FFF2-40B4-BE49-F238E27FC236}">
                <a16:creationId xmlns:a16="http://schemas.microsoft.com/office/drawing/2014/main" id="{0C2F2D6A-B33C-4E84-B2EA-31B5C4B16901}"/>
              </a:ext>
            </a:extLst>
          </p:cNvPr>
          <p:cNvSpPr>
            <a:spLocks noChangeShapeType="1"/>
          </p:cNvSpPr>
          <p:nvPr/>
        </p:nvSpPr>
        <p:spPr bwMode="auto">
          <a:xfrm>
            <a:off x="5442338" y="5159713"/>
            <a:ext cx="1351188" cy="8964"/>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113" name="Rectangle 113">
            <a:extLst>
              <a:ext uri="{FF2B5EF4-FFF2-40B4-BE49-F238E27FC236}">
                <a16:creationId xmlns:a16="http://schemas.microsoft.com/office/drawing/2014/main" id="{469CEA58-4583-42A3-8F95-DA838BE1A6F8}"/>
              </a:ext>
            </a:extLst>
          </p:cNvPr>
          <p:cNvSpPr>
            <a:spLocks noChangeArrowheads="1"/>
          </p:cNvSpPr>
          <p:nvPr/>
        </p:nvSpPr>
        <p:spPr bwMode="auto">
          <a:xfrm>
            <a:off x="5620433" y="4920216"/>
            <a:ext cx="1019815"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lang="en-US" sz="1400">
                <a:solidFill>
                  <a:prstClr val="black"/>
                </a:solidFill>
                <a:latin typeface="Arial" panose="020B0604020202020204" pitchFamily="34" charset="0"/>
                <a:cs typeface="Arial" panose="020B0604020202020204" pitchFamily="34" charset="0"/>
                <a:sym typeface="Helvetica Neue"/>
              </a:rPr>
              <a:t>10</a:t>
            </a:r>
            <a:r>
              <a:rPr kumimoji="0" lang="en-US" sz="14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sym typeface="Helvetica Neue"/>
              </a:rPr>
              <a:t>xPP</a:t>
            </a:r>
          </a:p>
        </p:txBody>
      </p:sp>
      <p:sp>
        <p:nvSpPr>
          <p:cNvPr id="114" name="Rectangle 125">
            <a:extLst>
              <a:ext uri="{FF2B5EF4-FFF2-40B4-BE49-F238E27FC236}">
                <a16:creationId xmlns:a16="http://schemas.microsoft.com/office/drawing/2014/main" id="{21A733BB-1631-4AE9-A9E7-6E3442DC2F5A}"/>
              </a:ext>
            </a:extLst>
          </p:cNvPr>
          <p:cNvSpPr>
            <a:spLocks noChangeArrowheads="1"/>
          </p:cNvSpPr>
          <p:nvPr/>
        </p:nvSpPr>
        <p:spPr bwMode="auto">
          <a:xfrm>
            <a:off x="8268221" y="2285138"/>
            <a:ext cx="1420474" cy="834903"/>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15" name="Line 135">
            <a:extLst>
              <a:ext uri="{FF2B5EF4-FFF2-40B4-BE49-F238E27FC236}">
                <a16:creationId xmlns:a16="http://schemas.microsoft.com/office/drawing/2014/main" id="{755769ED-6CEE-4304-B6AE-E4F2BBB51468}"/>
              </a:ext>
            </a:extLst>
          </p:cNvPr>
          <p:cNvSpPr>
            <a:spLocks noChangeShapeType="1"/>
          </p:cNvSpPr>
          <p:nvPr/>
        </p:nvSpPr>
        <p:spPr bwMode="auto">
          <a:xfrm flipH="1">
            <a:off x="8322725" y="2659009"/>
            <a:ext cx="8420" cy="462789"/>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116" name="Rectangle 113">
            <a:extLst>
              <a:ext uri="{FF2B5EF4-FFF2-40B4-BE49-F238E27FC236}">
                <a16:creationId xmlns:a16="http://schemas.microsoft.com/office/drawing/2014/main" id="{F68315FE-C5C4-4533-9311-B7B818E74F6A}"/>
              </a:ext>
            </a:extLst>
          </p:cNvPr>
          <p:cNvSpPr>
            <a:spLocks noChangeArrowheads="1"/>
          </p:cNvSpPr>
          <p:nvPr/>
        </p:nvSpPr>
        <p:spPr bwMode="auto">
          <a:xfrm>
            <a:off x="8413822" y="2702525"/>
            <a:ext cx="1313701"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charset="0"/>
                <a:cs typeface="Arial" charset="0"/>
                <a:sym typeface="Helvetica Neue"/>
              </a:rPr>
              <a:t>Half cell height</a:t>
            </a:r>
            <a:endParaRPr kumimoji="0" lang="en-US" sz="1400" b="0" i="0" u="none" strike="noStrike" kern="1200" cap="none" spc="0" normalizeH="0" baseline="0" noProof="0">
              <a:ln>
                <a:noFill/>
              </a:ln>
              <a:solidFill>
                <a:srgbClr val="FF0000"/>
              </a:solidFill>
              <a:effectLst/>
              <a:uLnTx/>
              <a:uFillTx/>
              <a:latin typeface="Times New Roman" pitchFamily="18" charset="0"/>
              <a:cs typeface="Arial" charset="0"/>
              <a:sym typeface="Helvetica Neue"/>
            </a:endParaRPr>
          </a:p>
        </p:txBody>
      </p:sp>
      <p:sp>
        <p:nvSpPr>
          <p:cNvPr id="117" name="Line 167">
            <a:extLst>
              <a:ext uri="{FF2B5EF4-FFF2-40B4-BE49-F238E27FC236}">
                <a16:creationId xmlns:a16="http://schemas.microsoft.com/office/drawing/2014/main" id="{7A798BE4-B2B7-4361-ADE4-5A76165592EC}"/>
              </a:ext>
            </a:extLst>
          </p:cNvPr>
          <p:cNvSpPr>
            <a:spLocks noChangeShapeType="1"/>
          </p:cNvSpPr>
          <p:nvPr/>
        </p:nvSpPr>
        <p:spPr bwMode="auto">
          <a:xfrm flipH="1">
            <a:off x="5876367" y="3450057"/>
            <a:ext cx="9773" cy="349274"/>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118" name="Rectangle 136">
            <a:extLst>
              <a:ext uri="{FF2B5EF4-FFF2-40B4-BE49-F238E27FC236}">
                <a16:creationId xmlns:a16="http://schemas.microsoft.com/office/drawing/2014/main" id="{742EDA4F-67C1-45FC-988C-8D1E750FC703}"/>
              </a:ext>
            </a:extLst>
          </p:cNvPr>
          <p:cNvSpPr>
            <a:spLocks noChangeArrowheads="1"/>
          </p:cNvSpPr>
          <p:nvPr/>
        </p:nvSpPr>
        <p:spPr bwMode="auto">
          <a:xfrm>
            <a:off x="5234880" y="3790232"/>
            <a:ext cx="1175002" cy="215444"/>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cs typeface="Arial" charset="0"/>
                <a:sym typeface="Helvetica Neue"/>
              </a:rPr>
              <a:t>Ha</a:t>
            </a:r>
            <a:r>
              <a:rPr kumimoji="0" lang="en-US" sz="1400" b="0" i="0" u="none" strike="noStrike" kern="1200" cap="none" spc="0" normalizeH="0" baseline="0" noProof="0">
                <a:ln>
                  <a:noFill/>
                </a:ln>
                <a:solidFill>
                  <a:prstClr val="black"/>
                </a:solidFill>
                <a:effectLst/>
                <a:uLnTx/>
                <a:uFillTx/>
                <a:latin typeface="Arial" charset="0"/>
                <a:cs typeface="Arial" charset="0"/>
                <a:sym typeface="Wingdings" panose="05000000000000000000" pitchFamily="2" charset="2"/>
              </a:rPr>
              <a:t>lf cell height</a:t>
            </a:r>
            <a:endParaRPr kumimoji="0" lang="en-US" sz="14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cxnSp>
        <p:nvCxnSpPr>
          <p:cNvPr id="119" name="Straight Connector 118">
            <a:extLst>
              <a:ext uri="{FF2B5EF4-FFF2-40B4-BE49-F238E27FC236}">
                <a16:creationId xmlns:a16="http://schemas.microsoft.com/office/drawing/2014/main" id="{597D32DE-99F9-48BE-8412-4C6582A386B1}"/>
              </a:ext>
            </a:extLst>
          </p:cNvPr>
          <p:cNvCxnSpPr/>
          <p:nvPr/>
        </p:nvCxnSpPr>
        <p:spPr>
          <a:xfrm>
            <a:off x="4330514" y="2291544"/>
            <a:ext cx="6773274" cy="0"/>
          </a:xfrm>
          <a:prstGeom prst="line">
            <a:avLst/>
          </a:prstGeom>
          <a:noFill/>
          <a:ln w="15875" cap="flat" cmpd="sng" algn="ctr">
            <a:solidFill>
              <a:sysClr val="window" lastClr="FFFFFF">
                <a:lumMod val="75000"/>
              </a:sysClr>
            </a:solidFill>
            <a:prstDash val="sysDash"/>
            <a:miter lim="800000"/>
          </a:ln>
          <a:effectLst/>
        </p:spPr>
      </p:cxnSp>
      <p:cxnSp>
        <p:nvCxnSpPr>
          <p:cNvPr id="120" name="Straight Connector 119">
            <a:extLst>
              <a:ext uri="{FF2B5EF4-FFF2-40B4-BE49-F238E27FC236}">
                <a16:creationId xmlns:a16="http://schemas.microsoft.com/office/drawing/2014/main" id="{49FF08B0-A5B6-4F6B-B6CF-50B4CAD88E89}"/>
              </a:ext>
            </a:extLst>
          </p:cNvPr>
          <p:cNvCxnSpPr/>
          <p:nvPr/>
        </p:nvCxnSpPr>
        <p:spPr>
          <a:xfrm>
            <a:off x="4323707" y="2702386"/>
            <a:ext cx="6773274" cy="0"/>
          </a:xfrm>
          <a:prstGeom prst="line">
            <a:avLst/>
          </a:prstGeom>
          <a:noFill/>
          <a:ln w="15875" cap="flat" cmpd="sng" algn="ctr">
            <a:solidFill>
              <a:sysClr val="window" lastClr="FFFFFF">
                <a:lumMod val="75000"/>
              </a:sysClr>
            </a:solidFill>
            <a:prstDash val="sysDash"/>
            <a:miter lim="800000"/>
          </a:ln>
          <a:effectLst/>
        </p:spPr>
      </p:cxnSp>
      <p:cxnSp>
        <p:nvCxnSpPr>
          <p:cNvPr id="121" name="Straight Connector 120">
            <a:extLst>
              <a:ext uri="{FF2B5EF4-FFF2-40B4-BE49-F238E27FC236}">
                <a16:creationId xmlns:a16="http://schemas.microsoft.com/office/drawing/2014/main" id="{7A1C866B-C7E5-4307-846E-7D8CD474E1A4}"/>
              </a:ext>
            </a:extLst>
          </p:cNvPr>
          <p:cNvCxnSpPr/>
          <p:nvPr/>
        </p:nvCxnSpPr>
        <p:spPr>
          <a:xfrm>
            <a:off x="4341518" y="3120787"/>
            <a:ext cx="6773274" cy="0"/>
          </a:xfrm>
          <a:prstGeom prst="line">
            <a:avLst/>
          </a:prstGeom>
          <a:noFill/>
          <a:ln w="15875" cap="flat" cmpd="sng" algn="ctr">
            <a:solidFill>
              <a:sysClr val="window" lastClr="FFFFFF">
                <a:lumMod val="75000"/>
              </a:sysClr>
            </a:solidFill>
            <a:prstDash val="sysDash"/>
            <a:miter lim="800000"/>
          </a:ln>
          <a:effectLst/>
        </p:spPr>
      </p:cxnSp>
      <p:cxnSp>
        <p:nvCxnSpPr>
          <p:cNvPr id="122" name="Straight Connector 121">
            <a:extLst>
              <a:ext uri="{FF2B5EF4-FFF2-40B4-BE49-F238E27FC236}">
                <a16:creationId xmlns:a16="http://schemas.microsoft.com/office/drawing/2014/main" id="{4ABF8C0F-1FB8-4738-ADAE-3EBEE63939A6}"/>
              </a:ext>
            </a:extLst>
          </p:cNvPr>
          <p:cNvCxnSpPr/>
          <p:nvPr/>
        </p:nvCxnSpPr>
        <p:spPr>
          <a:xfrm>
            <a:off x="4310008" y="3469669"/>
            <a:ext cx="6773274" cy="0"/>
          </a:xfrm>
          <a:prstGeom prst="line">
            <a:avLst/>
          </a:prstGeom>
          <a:noFill/>
          <a:ln w="15875" cap="flat" cmpd="sng" algn="ctr">
            <a:solidFill>
              <a:sysClr val="window" lastClr="FFFFFF">
                <a:lumMod val="75000"/>
              </a:sysClr>
            </a:solidFill>
            <a:prstDash val="sysDash"/>
            <a:miter lim="800000"/>
          </a:ln>
          <a:effectLst/>
        </p:spPr>
      </p:cxnSp>
      <p:cxnSp>
        <p:nvCxnSpPr>
          <p:cNvPr id="123" name="Straight Connector 122">
            <a:extLst>
              <a:ext uri="{FF2B5EF4-FFF2-40B4-BE49-F238E27FC236}">
                <a16:creationId xmlns:a16="http://schemas.microsoft.com/office/drawing/2014/main" id="{AF5AEAB2-B703-435E-B486-926AE8123AEB}"/>
              </a:ext>
            </a:extLst>
          </p:cNvPr>
          <p:cNvCxnSpPr/>
          <p:nvPr/>
        </p:nvCxnSpPr>
        <p:spPr>
          <a:xfrm>
            <a:off x="4277128" y="3794090"/>
            <a:ext cx="6773274" cy="0"/>
          </a:xfrm>
          <a:prstGeom prst="line">
            <a:avLst/>
          </a:prstGeom>
          <a:noFill/>
          <a:ln w="15875" cap="flat" cmpd="sng" algn="ctr">
            <a:solidFill>
              <a:sysClr val="window" lastClr="FFFFFF">
                <a:lumMod val="75000"/>
              </a:sysClr>
            </a:solidFill>
            <a:prstDash val="sysDash"/>
            <a:miter lim="800000"/>
          </a:ln>
          <a:effectLst/>
        </p:spPr>
      </p:cxnSp>
      <p:cxnSp>
        <p:nvCxnSpPr>
          <p:cNvPr id="124" name="Straight Connector 123">
            <a:extLst>
              <a:ext uri="{FF2B5EF4-FFF2-40B4-BE49-F238E27FC236}">
                <a16:creationId xmlns:a16="http://schemas.microsoft.com/office/drawing/2014/main" id="{C0D981A9-CA6D-463D-9493-21A00D686969}"/>
              </a:ext>
            </a:extLst>
          </p:cNvPr>
          <p:cNvCxnSpPr/>
          <p:nvPr/>
        </p:nvCxnSpPr>
        <p:spPr>
          <a:xfrm>
            <a:off x="4278498" y="4166144"/>
            <a:ext cx="6773274" cy="0"/>
          </a:xfrm>
          <a:prstGeom prst="line">
            <a:avLst/>
          </a:prstGeom>
          <a:noFill/>
          <a:ln w="15875" cap="flat" cmpd="sng" algn="ctr">
            <a:solidFill>
              <a:sysClr val="window" lastClr="FFFFFF">
                <a:lumMod val="75000"/>
              </a:sysClr>
            </a:solidFill>
            <a:prstDash val="sysDash"/>
            <a:miter lim="800000"/>
          </a:ln>
          <a:effectLst/>
        </p:spPr>
      </p:cxnSp>
      <p:cxnSp>
        <p:nvCxnSpPr>
          <p:cNvPr id="125" name="Straight Connector 124">
            <a:extLst>
              <a:ext uri="{FF2B5EF4-FFF2-40B4-BE49-F238E27FC236}">
                <a16:creationId xmlns:a16="http://schemas.microsoft.com/office/drawing/2014/main" id="{37B4CC18-6940-4E02-9AD3-057C59868779}"/>
              </a:ext>
            </a:extLst>
          </p:cNvPr>
          <p:cNvCxnSpPr/>
          <p:nvPr/>
        </p:nvCxnSpPr>
        <p:spPr>
          <a:xfrm>
            <a:off x="4312748" y="4491853"/>
            <a:ext cx="6773274" cy="0"/>
          </a:xfrm>
          <a:prstGeom prst="line">
            <a:avLst/>
          </a:prstGeom>
          <a:noFill/>
          <a:ln w="15875" cap="flat" cmpd="sng" algn="ctr">
            <a:solidFill>
              <a:sysClr val="window" lastClr="FFFFFF">
                <a:lumMod val="75000"/>
              </a:sysClr>
            </a:solidFill>
            <a:prstDash val="sysDash"/>
            <a:miter lim="800000"/>
          </a:ln>
          <a:effectLst/>
        </p:spPr>
      </p:cxnSp>
      <p:cxnSp>
        <p:nvCxnSpPr>
          <p:cNvPr id="126" name="Straight Connector 125">
            <a:extLst>
              <a:ext uri="{FF2B5EF4-FFF2-40B4-BE49-F238E27FC236}">
                <a16:creationId xmlns:a16="http://schemas.microsoft.com/office/drawing/2014/main" id="{64095320-C8A4-40F7-87F8-A8BDBB977EE1}"/>
              </a:ext>
            </a:extLst>
          </p:cNvPr>
          <p:cNvCxnSpPr/>
          <p:nvPr/>
        </p:nvCxnSpPr>
        <p:spPr>
          <a:xfrm>
            <a:off x="4420979" y="4894805"/>
            <a:ext cx="6773274" cy="0"/>
          </a:xfrm>
          <a:prstGeom prst="line">
            <a:avLst/>
          </a:prstGeom>
          <a:noFill/>
          <a:ln w="15875" cap="flat" cmpd="sng" algn="ctr">
            <a:solidFill>
              <a:sysClr val="window" lastClr="FFFFFF">
                <a:lumMod val="75000"/>
              </a:sysClr>
            </a:solidFill>
            <a:prstDash val="sysDash"/>
            <a:miter lim="800000"/>
          </a:ln>
          <a:effectLst/>
        </p:spPr>
      </p:cxnSp>
      <p:cxnSp>
        <p:nvCxnSpPr>
          <p:cNvPr id="127" name="Straight Connector 126">
            <a:extLst>
              <a:ext uri="{FF2B5EF4-FFF2-40B4-BE49-F238E27FC236}">
                <a16:creationId xmlns:a16="http://schemas.microsoft.com/office/drawing/2014/main" id="{A926D317-330C-4CD7-9177-4D3FE2A3AA82}"/>
              </a:ext>
            </a:extLst>
          </p:cNvPr>
          <p:cNvCxnSpPr/>
          <p:nvPr/>
        </p:nvCxnSpPr>
        <p:spPr>
          <a:xfrm>
            <a:off x="4323708" y="5282308"/>
            <a:ext cx="6773274" cy="0"/>
          </a:xfrm>
          <a:prstGeom prst="line">
            <a:avLst/>
          </a:prstGeom>
          <a:noFill/>
          <a:ln w="15875" cap="flat" cmpd="sng" algn="ctr">
            <a:solidFill>
              <a:sysClr val="window" lastClr="FFFFFF">
                <a:lumMod val="75000"/>
              </a:sysClr>
            </a:solidFill>
            <a:prstDash val="sysDash"/>
            <a:miter lim="800000"/>
          </a:ln>
          <a:effectLst/>
        </p:spPr>
      </p:cxnSp>
      <p:cxnSp>
        <p:nvCxnSpPr>
          <p:cNvPr id="128" name="Straight Connector 127">
            <a:extLst>
              <a:ext uri="{FF2B5EF4-FFF2-40B4-BE49-F238E27FC236}">
                <a16:creationId xmlns:a16="http://schemas.microsoft.com/office/drawing/2014/main" id="{DF335A8A-8EBC-493D-95D5-91CBFB365423}"/>
              </a:ext>
            </a:extLst>
          </p:cNvPr>
          <p:cNvCxnSpPr/>
          <p:nvPr/>
        </p:nvCxnSpPr>
        <p:spPr>
          <a:xfrm>
            <a:off x="4333298" y="5638914"/>
            <a:ext cx="6773274" cy="0"/>
          </a:xfrm>
          <a:prstGeom prst="line">
            <a:avLst/>
          </a:prstGeom>
          <a:noFill/>
          <a:ln w="15875" cap="flat" cmpd="sng" algn="ctr">
            <a:solidFill>
              <a:sysClr val="window" lastClr="FFFFFF">
                <a:lumMod val="75000"/>
              </a:sysClr>
            </a:solidFill>
            <a:prstDash val="sysDash"/>
            <a:miter lim="800000"/>
          </a:ln>
          <a:effectLst/>
        </p:spPr>
      </p:cxnSp>
      <p:sp>
        <p:nvSpPr>
          <p:cNvPr id="132" name="Line 123">
            <a:extLst>
              <a:ext uri="{FF2B5EF4-FFF2-40B4-BE49-F238E27FC236}">
                <a16:creationId xmlns:a16="http://schemas.microsoft.com/office/drawing/2014/main" id="{543ECF38-30CE-4E18-AF78-E41A12F946F1}"/>
              </a:ext>
            </a:extLst>
          </p:cNvPr>
          <p:cNvSpPr>
            <a:spLocks noChangeShapeType="1"/>
          </p:cNvSpPr>
          <p:nvPr/>
        </p:nvSpPr>
        <p:spPr bwMode="auto">
          <a:xfrm>
            <a:off x="8320294" y="2148045"/>
            <a:ext cx="1267481" cy="0"/>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133" name="Rectangle 169">
            <a:extLst>
              <a:ext uri="{FF2B5EF4-FFF2-40B4-BE49-F238E27FC236}">
                <a16:creationId xmlns:a16="http://schemas.microsoft.com/office/drawing/2014/main" id="{CB95669F-FAE6-4F6E-A699-CF1457028311}"/>
              </a:ext>
            </a:extLst>
          </p:cNvPr>
          <p:cNvSpPr>
            <a:spLocks noChangeArrowheads="1"/>
          </p:cNvSpPr>
          <p:nvPr/>
        </p:nvSpPr>
        <p:spPr bwMode="auto">
          <a:xfrm>
            <a:off x="8398196" y="1808388"/>
            <a:ext cx="1027066" cy="215444"/>
          </a:xfrm>
          <a:prstGeom prst="rect">
            <a:avLst/>
          </a:prstGeom>
          <a:noFill/>
          <a:ln w="9525">
            <a:noFill/>
            <a:miter lim="800000"/>
            <a:headEnd/>
            <a:tailEnd/>
          </a:ln>
        </p:spPr>
        <p:txBody>
          <a:bodyPr wrap="squar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cs typeface="Arial" charset="0"/>
                <a:sym typeface="Helvetica Neue"/>
              </a:rPr>
              <a:t>= 10 x PP</a:t>
            </a:r>
            <a:endParaRPr kumimoji="0" lang="en-US" sz="14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sp>
        <p:nvSpPr>
          <p:cNvPr id="134" name="Freeform 74">
            <a:extLst>
              <a:ext uri="{FF2B5EF4-FFF2-40B4-BE49-F238E27FC236}">
                <a16:creationId xmlns:a16="http://schemas.microsoft.com/office/drawing/2014/main" id="{9C77C26A-8D59-495D-BA36-8A2BC638A36A}"/>
              </a:ext>
            </a:extLst>
          </p:cNvPr>
          <p:cNvSpPr>
            <a:spLocks/>
          </p:cNvSpPr>
          <p:nvPr/>
        </p:nvSpPr>
        <p:spPr bwMode="auto">
          <a:xfrm>
            <a:off x="8750629" y="3791312"/>
            <a:ext cx="2335323" cy="1093990"/>
          </a:xfrm>
          <a:custGeom>
            <a:avLst/>
            <a:gdLst>
              <a:gd name="T0" fmla="*/ 0 w 2635"/>
              <a:gd name="T1" fmla="*/ 0 h 2956"/>
              <a:gd name="T2" fmla="*/ 2147483647 w 2635"/>
              <a:gd name="T3" fmla="*/ 0 h 2956"/>
              <a:gd name="T4" fmla="*/ 2147483647 w 2635"/>
              <a:gd name="T5" fmla="*/ 2147483647 h 2956"/>
              <a:gd name="T6" fmla="*/ 2147483647 w 2635"/>
              <a:gd name="T7" fmla="*/ 2147483647 h 2956"/>
              <a:gd name="T8" fmla="*/ 2147483647 w 2635"/>
              <a:gd name="T9" fmla="*/ 2147483647 h 2956"/>
              <a:gd name="T10" fmla="*/ 2147483647 w 2635"/>
              <a:gd name="T11" fmla="*/ 2147483647 h 2956"/>
              <a:gd name="T12" fmla="*/ 2147483647 w 2635"/>
              <a:gd name="T13" fmla="*/ 2147483647 h 2956"/>
              <a:gd name="T14" fmla="*/ 0 w 2635"/>
              <a:gd name="T15" fmla="*/ 2147483647 h 2956"/>
              <a:gd name="T16" fmla="*/ 0 w 2635"/>
              <a:gd name="T17" fmla="*/ 0 h 29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35"/>
              <a:gd name="T28" fmla="*/ 0 h 2956"/>
              <a:gd name="T29" fmla="*/ 2635 w 2635"/>
              <a:gd name="T30" fmla="*/ 2956 h 2956"/>
              <a:gd name="connsiteX0" fmla="*/ 0 w 10000"/>
              <a:gd name="connsiteY0" fmla="*/ 0 h 10000"/>
              <a:gd name="connsiteX1" fmla="*/ 6983 w 10000"/>
              <a:gd name="connsiteY1" fmla="*/ 0 h 10000"/>
              <a:gd name="connsiteX2" fmla="*/ 6983 w 10000"/>
              <a:gd name="connsiteY2" fmla="*/ 2923 h 10000"/>
              <a:gd name="connsiteX3" fmla="*/ 10000 w 10000"/>
              <a:gd name="connsiteY3" fmla="*/ 2923 h 10000"/>
              <a:gd name="connsiteX4" fmla="*/ 9894 w 10000"/>
              <a:gd name="connsiteY4" fmla="*/ 10000 h 10000"/>
              <a:gd name="connsiteX5" fmla="*/ 5742 w 10000"/>
              <a:gd name="connsiteY5" fmla="*/ 9953 h 10000"/>
              <a:gd name="connsiteX6" fmla="*/ 5655 w 10000"/>
              <a:gd name="connsiteY6" fmla="*/ 5812 h 10000"/>
              <a:gd name="connsiteX7" fmla="*/ 0 w 10000"/>
              <a:gd name="connsiteY7" fmla="*/ 5846 h 10000"/>
              <a:gd name="connsiteX8" fmla="*/ 0 w 10000"/>
              <a:gd name="connsiteY8" fmla="*/ 0 h 10000"/>
              <a:gd name="connsiteX0" fmla="*/ 0 w 10000"/>
              <a:gd name="connsiteY0" fmla="*/ 0 h 10000"/>
              <a:gd name="connsiteX1" fmla="*/ 6983 w 10000"/>
              <a:gd name="connsiteY1" fmla="*/ 0 h 10000"/>
              <a:gd name="connsiteX2" fmla="*/ 6983 w 10000"/>
              <a:gd name="connsiteY2" fmla="*/ 2923 h 10000"/>
              <a:gd name="connsiteX3" fmla="*/ 10000 w 10000"/>
              <a:gd name="connsiteY3" fmla="*/ 2923 h 10000"/>
              <a:gd name="connsiteX4" fmla="*/ 9894 w 10000"/>
              <a:gd name="connsiteY4" fmla="*/ 10000 h 10000"/>
              <a:gd name="connsiteX5" fmla="*/ 5742 w 10000"/>
              <a:gd name="connsiteY5" fmla="*/ 9953 h 10000"/>
              <a:gd name="connsiteX6" fmla="*/ 5655 w 10000"/>
              <a:gd name="connsiteY6" fmla="*/ 5812 h 10000"/>
              <a:gd name="connsiteX7" fmla="*/ 3991 w 10000"/>
              <a:gd name="connsiteY7" fmla="*/ 5850 h 10000"/>
              <a:gd name="connsiteX8" fmla="*/ 0 w 10000"/>
              <a:gd name="connsiteY8" fmla="*/ 5846 h 10000"/>
              <a:gd name="connsiteX9" fmla="*/ 0 w 10000"/>
              <a:gd name="connsiteY9" fmla="*/ 0 h 10000"/>
              <a:gd name="connsiteX0" fmla="*/ 0 w 10000"/>
              <a:gd name="connsiteY0" fmla="*/ 0 h 10000"/>
              <a:gd name="connsiteX1" fmla="*/ 6983 w 10000"/>
              <a:gd name="connsiteY1" fmla="*/ 0 h 10000"/>
              <a:gd name="connsiteX2" fmla="*/ 6983 w 10000"/>
              <a:gd name="connsiteY2" fmla="*/ 2923 h 10000"/>
              <a:gd name="connsiteX3" fmla="*/ 10000 w 10000"/>
              <a:gd name="connsiteY3" fmla="*/ 2923 h 10000"/>
              <a:gd name="connsiteX4" fmla="*/ 9894 w 10000"/>
              <a:gd name="connsiteY4" fmla="*/ 10000 h 10000"/>
              <a:gd name="connsiteX5" fmla="*/ 5742 w 10000"/>
              <a:gd name="connsiteY5" fmla="*/ 9953 h 10000"/>
              <a:gd name="connsiteX6" fmla="*/ 4899 w 10000"/>
              <a:gd name="connsiteY6" fmla="*/ 5812 h 10000"/>
              <a:gd name="connsiteX7" fmla="*/ 3991 w 10000"/>
              <a:gd name="connsiteY7" fmla="*/ 5850 h 10000"/>
              <a:gd name="connsiteX8" fmla="*/ 0 w 10000"/>
              <a:gd name="connsiteY8" fmla="*/ 5846 h 10000"/>
              <a:gd name="connsiteX9" fmla="*/ 0 w 10000"/>
              <a:gd name="connsiteY9" fmla="*/ 0 h 10000"/>
              <a:gd name="connsiteX0" fmla="*/ 0 w 10000"/>
              <a:gd name="connsiteY0" fmla="*/ 0 h 10159"/>
              <a:gd name="connsiteX1" fmla="*/ 6983 w 10000"/>
              <a:gd name="connsiteY1" fmla="*/ 0 h 10159"/>
              <a:gd name="connsiteX2" fmla="*/ 6983 w 10000"/>
              <a:gd name="connsiteY2" fmla="*/ 2923 h 10159"/>
              <a:gd name="connsiteX3" fmla="*/ 10000 w 10000"/>
              <a:gd name="connsiteY3" fmla="*/ 2923 h 10159"/>
              <a:gd name="connsiteX4" fmla="*/ 9894 w 10000"/>
              <a:gd name="connsiteY4" fmla="*/ 10000 h 10159"/>
              <a:gd name="connsiteX5" fmla="*/ 4911 w 10000"/>
              <a:gd name="connsiteY5" fmla="*/ 10159 h 10159"/>
              <a:gd name="connsiteX6" fmla="*/ 4899 w 10000"/>
              <a:gd name="connsiteY6" fmla="*/ 5812 h 10159"/>
              <a:gd name="connsiteX7" fmla="*/ 3991 w 10000"/>
              <a:gd name="connsiteY7" fmla="*/ 5850 h 10159"/>
              <a:gd name="connsiteX8" fmla="*/ 0 w 10000"/>
              <a:gd name="connsiteY8" fmla="*/ 5846 h 10159"/>
              <a:gd name="connsiteX9" fmla="*/ 0 w 10000"/>
              <a:gd name="connsiteY9" fmla="*/ 0 h 10159"/>
              <a:gd name="connsiteX0" fmla="*/ 0 w 12308"/>
              <a:gd name="connsiteY0" fmla="*/ 0 h 10159"/>
              <a:gd name="connsiteX1" fmla="*/ 6983 w 12308"/>
              <a:gd name="connsiteY1" fmla="*/ 0 h 10159"/>
              <a:gd name="connsiteX2" fmla="*/ 6983 w 12308"/>
              <a:gd name="connsiteY2" fmla="*/ 2923 h 10159"/>
              <a:gd name="connsiteX3" fmla="*/ 12308 w 12308"/>
              <a:gd name="connsiteY3" fmla="*/ 2992 h 10159"/>
              <a:gd name="connsiteX4" fmla="*/ 9894 w 12308"/>
              <a:gd name="connsiteY4" fmla="*/ 10000 h 10159"/>
              <a:gd name="connsiteX5" fmla="*/ 4911 w 12308"/>
              <a:gd name="connsiteY5" fmla="*/ 10159 h 10159"/>
              <a:gd name="connsiteX6" fmla="*/ 4899 w 12308"/>
              <a:gd name="connsiteY6" fmla="*/ 5812 h 10159"/>
              <a:gd name="connsiteX7" fmla="*/ 3991 w 12308"/>
              <a:gd name="connsiteY7" fmla="*/ 5850 h 10159"/>
              <a:gd name="connsiteX8" fmla="*/ 0 w 12308"/>
              <a:gd name="connsiteY8" fmla="*/ 5846 h 10159"/>
              <a:gd name="connsiteX9" fmla="*/ 0 w 12308"/>
              <a:gd name="connsiteY9" fmla="*/ 0 h 10159"/>
              <a:gd name="connsiteX0" fmla="*/ 0 w 12308"/>
              <a:gd name="connsiteY0" fmla="*/ 0 h 10159"/>
              <a:gd name="connsiteX1" fmla="*/ 6983 w 12308"/>
              <a:gd name="connsiteY1" fmla="*/ 0 h 10159"/>
              <a:gd name="connsiteX2" fmla="*/ 6983 w 12308"/>
              <a:gd name="connsiteY2" fmla="*/ 2923 h 10159"/>
              <a:gd name="connsiteX3" fmla="*/ 12308 w 12308"/>
              <a:gd name="connsiteY3" fmla="*/ 2992 h 10159"/>
              <a:gd name="connsiteX4" fmla="*/ 12202 w 12308"/>
              <a:gd name="connsiteY4" fmla="*/ 10000 h 10159"/>
              <a:gd name="connsiteX5" fmla="*/ 4911 w 12308"/>
              <a:gd name="connsiteY5" fmla="*/ 10159 h 10159"/>
              <a:gd name="connsiteX6" fmla="*/ 4899 w 12308"/>
              <a:gd name="connsiteY6" fmla="*/ 5812 h 10159"/>
              <a:gd name="connsiteX7" fmla="*/ 3991 w 12308"/>
              <a:gd name="connsiteY7" fmla="*/ 5850 h 10159"/>
              <a:gd name="connsiteX8" fmla="*/ 0 w 12308"/>
              <a:gd name="connsiteY8" fmla="*/ 5846 h 10159"/>
              <a:gd name="connsiteX9" fmla="*/ 0 w 12308"/>
              <a:gd name="connsiteY9" fmla="*/ 0 h 10159"/>
              <a:gd name="connsiteX0" fmla="*/ 0 w 12207"/>
              <a:gd name="connsiteY0" fmla="*/ 0 h 10159"/>
              <a:gd name="connsiteX1" fmla="*/ 6983 w 12207"/>
              <a:gd name="connsiteY1" fmla="*/ 0 h 10159"/>
              <a:gd name="connsiteX2" fmla="*/ 6983 w 12207"/>
              <a:gd name="connsiteY2" fmla="*/ 2923 h 10159"/>
              <a:gd name="connsiteX3" fmla="*/ 12112 w 12207"/>
              <a:gd name="connsiteY3" fmla="*/ 2855 h 10159"/>
              <a:gd name="connsiteX4" fmla="*/ 12202 w 12207"/>
              <a:gd name="connsiteY4" fmla="*/ 10000 h 10159"/>
              <a:gd name="connsiteX5" fmla="*/ 4911 w 12207"/>
              <a:gd name="connsiteY5" fmla="*/ 10159 h 10159"/>
              <a:gd name="connsiteX6" fmla="*/ 4899 w 12207"/>
              <a:gd name="connsiteY6" fmla="*/ 5812 h 10159"/>
              <a:gd name="connsiteX7" fmla="*/ 3991 w 12207"/>
              <a:gd name="connsiteY7" fmla="*/ 5850 h 10159"/>
              <a:gd name="connsiteX8" fmla="*/ 0 w 12207"/>
              <a:gd name="connsiteY8" fmla="*/ 5846 h 10159"/>
              <a:gd name="connsiteX9" fmla="*/ 0 w 12207"/>
              <a:gd name="connsiteY9" fmla="*/ 0 h 10159"/>
              <a:gd name="connsiteX0" fmla="*/ 0 w 12268"/>
              <a:gd name="connsiteY0" fmla="*/ 0 h 10159"/>
              <a:gd name="connsiteX1" fmla="*/ 6983 w 12268"/>
              <a:gd name="connsiteY1" fmla="*/ 0 h 10159"/>
              <a:gd name="connsiteX2" fmla="*/ 6983 w 12268"/>
              <a:gd name="connsiteY2" fmla="*/ 2923 h 10159"/>
              <a:gd name="connsiteX3" fmla="*/ 12268 w 12268"/>
              <a:gd name="connsiteY3" fmla="*/ 2855 h 10159"/>
              <a:gd name="connsiteX4" fmla="*/ 12202 w 12268"/>
              <a:gd name="connsiteY4" fmla="*/ 10000 h 10159"/>
              <a:gd name="connsiteX5" fmla="*/ 4911 w 12268"/>
              <a:gd name="connsiteY5" fmla="*/ 10159 h 10159"/>
              <a:gd name="connsiteX6" fmla="*/ 4899 w 12268"/>
              <a:gd name="connsiteY6" fmla="*/ 5812 h 10159"/>
              <a:gd name="connsiteX7" fmla="*/ 3991 w 12268"/>
              <a:gd name="connsiteY7" fmla="*/ 5850 h 10159"/>
              <a:gd name="connsiteX8" fmla="*/ 0 w 12268"/>
              <a:gd name="connsiteY8" fmla="*/ 5846 h 10159"/>
              <a:gd name="connsiteX9" fmla="*/ 0 w 12268"/>
              <a:gd name="connsiteY9" fmla="*/ 0 h 10159"/>
              <a:gd name="connsiteX0" fmla="*/ 0 w 12268"/>
              <a:gd name="connsiteY0" fmla="*/ 0 h 10159"/>
              <a:gd name="connsiteX1" fmla="*/ 6983 w 12268"/>
              <a:gd name="connsiteY1" fmla="*/ 0 h 10159"/>
              <a:gd name="connsiteX2" fmla="*/ 6983 w 12268"/>
              <a:gd name="connsiteY2" fmla="*/ 2923 h 10159"/>
              <a:gd name="connsiteX3" fmla="*/ 12268 w 12268"/>
              <a:gd name="connsiteY3" fmla="*/ 2855 h 10159"/>
              <a:gd name="connsiteX4" fmla="*/ 12242 w 12268"/>
              <a:gd name="connsiteY4" fmla="*/ 10000 h 10159"/>
              <a:gd name="connsiteX5" fmla="*/ 4911 w 12268"/>
              <a:gd name="connsiteY5" fmla="*/ 10159 h 10159"/>
              <a:gd name="connsiteX6" fmla="*/ 4899 w 12268"/>
              <a:gd name="connsiteY6" fmla="*/ 5812 h 10159"/>
              <a:gd name="connsiteX7" fmla="*/ 3991 w 12268"/>
              <a:gd name="connsiteY7" fmla="*/ 5850 h 10159"/>
              <a:gd name="connsiteX8" fmla="*/ 0 w 12268"/>
              <a:gd name="connsiteY8" fmla="*/ 5846 h 10159"/>
              <a:gd name="connsiteX9" fmla="*/ 0 w 12268"/>
              <a:gd name="connsiteY9" fmla="*/ 0 h 10159"/>
              <a:gd name="connsiteX0" fmla="*/ 0 w 12268"/>
              <a:gd name="connsiteY0" fmla="*/ 0 h 10002"/>
              <a:gd name="connsiteX1" fmla="*/ 6983 w 12268"/>
              <a:gd name="connsiteY1" fmla="*/ 0 h 10002"/>
              <a:gd name="connsiteX2" fmla="*/ 6983 w 12268"/>
              <a:gd name="connsiteY2" fmla="*/ 2923 h 10002"/>
              <a:gd name="connsiteX3" fmla="*/ 12268 w 12268"/>
              <a:gd name="connsiteY3" fmla="*/ 2855 h 10002"/>
              <a:gd name="connsiteX4" fmla="*/ 12242 w 12268"/>
              <a:gd name="connsiteY4" fmla="*/ 10000 h 10002"/>
              <a:gd name="connsiteX5" fmla="*/ 4911 w 12268"/>
              <a:gd name="connsiteY5" fmla="*/ 9182 h 10002"/>
              <a:gd name="connsiteX6" fmla="*/ 4899 w 12268"/>
              <a:gd name="connsiteY6" fmla="*/ 5812 h 10002"/>
              <a:gd name="connsiteX7" fmla="*/ 3991 w 12268"/>
              <a:gd name="connsiteY7" fmla="*/ 5850 h 10002"/>
              <a:gd name="connsiteX8" fmla="*/ 0 w 12268"/>
              <a:gd name="connsiteY8" fmla="*/ 5846 h 10002"/>
              <a:gd name="connsiteX9" fmla="*/ 0 w 12268"/>
              <a:gd name="connsiteY9" fmla="*/ 0 h 10002"/>
              <a:gd name="connsiteX0" fmla="*/ 0 w 12268"/>
              <a:gd name="connsiteY0" fmla="*/ 0 h 9259"/>
              <a:gd name="connsiteX1" fmla="*/ 6983 w 12268"/>
              <a:gd name="connsiteY1" fmla="*/ 0 h 9259"/>
              <a:gd name="connsiteX2" fmla="*/ 6983 w 12268"/>
              <a:gd name="connsiteY2" fmla="*/ 2923 h 9259"/>
              <a:gd name="connsiteX3" fmla="*/ 12268 w 12268"/>
              <a:gd name="connsiteY3" fmla="*/ 2855 h 9259"/>
              <a:gd name="connsiteX4" fmla="*/ 12242 w 12268"/>
              <a:gd name="connsiteY4" fmla="*/ 9249 h 9259"/>
              <a:gd name="connsiteX5" fmla="*/ 4911 w 12268"/>
              <a:gd name="connsiteY5" fmla="*/ 9182 h 9259"/>
              <a:gd name="connsiteX6" fmla="*/ 4899 w 12268"/>
              <a:gd name="connsiteY6" fmla="*/ 5812 h 9259"/>
              <a:gd name="connsiteX7" fmla="*/ 3991 w 12268"/>
              <a:gd name="connsiteY7" fmla="*/ 5850 h 9259"/>
              <a:gd name="connsiteX8" fmla="*/ 0 w 12268"/>
              <a:gd name="connsiteY8" fmla="*/ 5846 h 9259"/>
              <a:gd name="connsiteX9" fmla="*/ 0 w 12268"/>
              <a:gd name="connsiteY9" fmla="*/ 0 h 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68" h="9259">
                <a:moveTo>
                  <a:pt x="0" y="0"/>
                </a:moveTo>
                <a:lnTo>
                  <a:pt x="6983" y="0"/>
                </a:lnTo>
                <a:lnTo>
                  <a:pt x="6983" y="2923"/>
                </a:lnTo>
                <a:lnTo>
                  <a:pt x="12268" y="2855"/>
                </a:lnTo>
                <a:cubicBezTo>
                  <a:pt x="12233" y="5214"/>
                  <a:pt x="12277" y="6890"/>
                  <a:pt x="12242" y="9249"/>
                </a:cubicBezTo>
                <a:cubicBezTo>
                  <a:pt x="9798" y="9302"/>
                  <a:pt x="7355" y="9129"/>
                  <a:pt x="4911" y="9182"/>
                </a:cubicBezTo>
                <a:cubicBezTo>
                  <a:pt x="4882" y="7802"/>
                  <a:pt x="4928" y="7192"/>
                  <a:pt x="4899" y="5812"/>
                </a:cubicBezTo>
                <a:lnTo>
                  <a:pt x="3991" y="5850"/>
                </a:lnTo>
                <a:lnTo>
                  <a:pt x="0" y="5846"/>
                </a:lnTo>
                <a:lnTo>
                  <a:pt x="0" y="0"/>
                </a:lnTo>
                <a:close/>
              </a:path>
            </a:pathLst>
          </a:custGeom>
          <a:noFill/>
          <a:ln w="38100" cap="flat" cmpd="sng">
            <a:solidFill>
              <a:srgbClr val="FF0000"/>
            </a:solidFill>
            <a:prstDash val="solid"/>
            <a:round/>
            <a:headEnd/>
            <a:tailEnd/>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7200" b="0" i="0" u="none" strike="noStrike" kern="0" cap="none" spc="0" normalizeH="0" baseline="0" noProof="0">
              <a:ln>
                <a:noFill/>
              </a:ln>
              <a:solidFill>
                <a:srgbClr val="000000"/>
              </a:solidFill>
              <a:effectLst/>
              <a:uLnTx/>
              <a:uFillTx/>
              <a:latin typeface="Arial" charset="0"/>
              <a:cs typeface="Arial" charset="0"/>
              <a:sym typeface="Helvetica Neue"/>
            </a:endParaRPr>
          </a:p>
        </p:txBody>
      </p:sp>
      <p:sp>
        <p:nvSpPr>
          <p:cNvPr id="135" name="TextBox 134">
            <a:extLst>
              <a:ext uri="{FF2B5EF4-FFF2-40B4-BE49-F238E27FC236}">
                <a16:creationId xmlns:a16="http://schemas.microsoft.com/office/drawing/2014/main" id="{33638814-046A-4345-BC12-AA197B8B48A9}"/>
              </a:ext>
            </a:extLst>
          </p:cNvPr>
          <p:cNvSpPr txBox="1"/>
          <p:nvPr/>
        </p:nvSpPr>
        <p:spPr>
          <a:xfrm>
            <a:off x="4717743" y="1719735"/>
            <a:ext cx="952184"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poly tracks</a:t>
            </a:r>
          </a:p>
        </p:txBody>
      </p:sp>
      <p:sp>
        <p:nvSpPr>
          <p:cNvPr id="136" name="Rectangle 135">
            <a:extLst>
              <a:ext uri="{FF2B5EF4-FFF2-40B4-BE49-F238E27FC236}">
                <a16:creationId xmlns:a16="http://schemas.microsoft.com/office/drawing/2014/main" id="{DA37FC8F-0887-423F-9370-DAF8F5B3A321}"/>
              </a:ext>
            </a:extLst>
          </p:cNvPr>
          <p:cNvSpPr/>
          <p:nvPr/>
        </p:nvSpPr>
        <p:spPr>
          <a:xfrm>
            <a:off x="9691853" y="3113103"/>
            <a:ext cx="1364173" cy="359207"/>
          </a:xfrm>
          <a:prstGeom prst="rect">
            <a:avLst/>
          </a:prstGeom>
          <a:noFill/>
          <a:ln w="38100" cap="flat" cmpd="sng" algn="ctr">
            <a:solidFill>
              <a:srgbClr val="FF0000"/>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1219169" rtl="0" eaLnBrk="1" fontAlgn="auto" latinLnBrk="0" hangingPunct="0">
              <a:lnSpc>
                <a:spcPct val="90000"/>
              </a:lnSpc>
              <a:spcBef>
                <a:spcPts val="2250"/>
              </a:spcBef>
              <a:spcAft>
                <a:spcPts val="0"/>
              </a:spcAft>
              <a:buClrTx/>
              <a:buSzTx/>
              <a:buFontTx/>
              <a:buNone/>
              <a:tabLst/>
              <a:defRPr/>
            </a:pPr>
            <a:endParaRPr kumimoji="0" lang="en-US" sz="2400" b="0" i="1" u="none" strike="noStrike" kern="0" cap="none" spc="0" normalizeH="0" baseline="0" noProof="0">
              <a:ln>
                <a:noFill/>
              </a:ln>
              <a:solidFill>
                <a:srgbClr val="FFFFFF"/>
              </a:solidFill>
              <a:effectLst/>
              <a:uLnTx/>
              <a:uFillTx/>
              <a:latin typeface="Intel Clear" panose="020B0604020203020204" pitchFamily="34" charset="0"/>
              <a:ea typeface="+mn-ea"/>
              <a:cs typeface="+mn-cs"/>
              <a:sym typeface="Helvetica Neue"/>
            </a:endParaRPr>
          </a:p>
        </p:txBody>
      </p:sp>
      <p:cxnSp>
        <p:nvCxnSpPr>
          <p:cNvPr id="137" name="Straight Arrow Connector 136">
            <a:extLst>
              <a:ext uri="{FF2B5EF4-FFF2-40B4-BE49-F238E27FC236}">
                <a16:creationId xmlns:a16="http://schemas.microsoft.com/office/drawing/2014/main" id="{FF9AD106-9351-45DB-946B-F682B4F2B9FB}"/>
              </a:ext>
            </a:extLst>
          </p:cNvPr>
          <p:cNvCxnSpPr>
            <a:cxnSpLocks/>
            <a:stCxn id="135" idx="1"/>
          </p:cNvCxnSpPr>
          <p:nvPr/>
        </p:nvCxnSpPr>
        <p:spPr>
          <a:xfrm flipH="1">
            <a:off x="4433711" y="1835151"/>
            <a:ext cx="284032" cy="329493"/>
          </a:xfrm>
          <a:prstGeom prst="straightConnector1">
            <a:avLst/>
          </a:prstGeom>
          <a:noFill/>
          <a:ln w="15875" cap="flat" cmpd="sng" algn="ctr">
            <a:solidFill>
              <a:srgbClr val="4472C4"/>
            </a:solidFill>
            <a:prstDash val="solid"/>
            <a:miter lim="800000"/>
            <a:tailEnd type="triangle"/>
          </a:ln>
          <a:effectLst/>
        </p:spPr>
      </p:cxnSp>
      <p:cxnSp>
        <p:nvCxnSpPr>
          <p:cNvPr id="138" name="Straight Arrow Connector 137">
            <a:extLst>
              <a:ext uri="{FF2B5EF4-FFF2-40B4-BE49-F238E27FC236}">
                <a16:creationId xmlns:a16="http://schemas.microsoft.com/office/drawing/2014/main" id="{9F8DFDDA-4ABA-4474-AC7B-6B10543EA2C3}"/>
              </a:ext>
            </a:extLst>
          </p:cNvPr>
          <p:cNvCxnSpPr>
            <a:cxnSpLocks/>
          </p:cNvCxnSpPr>
          <p:nvPr/>
        </p:nvCxnSpPr>
        <p:spPr>
          <a:xfrm>
            <a:off x="10881468" y="1807337"/>
            <a:ext cx="397837" cy="0"/>
          </a:xfrm>
          <a:prstGeom prst="straightConnector1">
            <a:avLst/>
          </a:prstGeom>
          <a:noFill/>
          <a:ln w="25400" cap="flat">
            <a:solidFill>
              <a:srgbClr val="000000"/>
            </a:solidFill>
            <a:prstDash val="solid"/>
            <a:miter lim="400000"/>
            <a:tailEnd type="triangle"/>
          </a:ln>
          <a:effectLst/>
          <a:sp3d/>
        </p:spPr>
      </p:cxnSp>
      <p:sp>
        <p:nvSpPr>
          <p:cNvPr id="139" name="TextBox 138">
            <a:extLst>
              <a:ext uri="{FF2B5EF4-FFF2-40B4-BE49-F238E27FC236}">
                <a16:creationId xmlns:a16="http://schemas.microsoft.com/office/drawing/2014/main" id="{E4B83690-CF5D-451D-BD57-70F850705409}"/>
              </a:ext>
            </a:extLst>
          </p:cNvPr>
          <p:cNvSpPr txBox="1"/>
          <p:nvPr/>
        </p:nvSpPr>
        <p:spPr>
          <a:xfrm>
            <a:off x="11392761" y="1895479"/>
            <a:ext cx="383118" cy="215444"/>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4A86"/>
                </a:solidFill>
                <a:effectLst/>
                <a:uLnTx/>
                <a:uFillTx/>
                <a:latin typeface="Intel Clear"/>
                <a:sym typeface="Helvetica Neue"/>
              </a:rPr>
              <a:t>OGD</a:t>
            </a:r>
          </a:p>
        </p:txBody>
      </p:sp>
      <p:cxnSp>
        <p:nvCxnSpPr>
          <p:cNvPr id="140" name="Straight Arrow Connector 139">
            <a:extLst>
              <a:ext uri="{FF2B5EF4-FFF2-40B4-BE49-F238E27FC236}">
                <a16:creationId xmlns:a16="http://schemas.microsoft.com/office/drawing/2014/main" id="{0AB45161-B483-4CD8-877D-3557C0CE1F7C}"/>
              </a:ext>
            </a:extLst>
          </p:cNvPr>
          <p:cNvCxnSpPr>
            <a:cxnSpLocks/>
          </p:cNvCxnSpPr>
          <p:nvPr/>
        </p:nvCxnSpPr>
        <p:spPr>
          <a:xfrm flipV="1">
            <a:off x="10891875" y="1409176"/>
            <a:ext cx="0" cy="398621"/>
          </a:xfrm>
          <a:prstGeom prst="straightConnector1">
            <a:avLst/>
          </a:prstGeom>
          <a:noFill/>
          <a:ln w="25400" cap="flat">
            <a:solidFill>
              <a:srgbClr val="000000"/>
            </a:solidFill>
            <a:prstDash val="solid"/>
            <a:miter lim="400000"/>
            <a:tailEnd type="triangle"/>
          </a:ln>
          <a:effectLst/>
          <a:sp3d/>
        </p:spPr>
      </p:cxnSp>
      <p:sp>
        <p:nvSpPr>
          <p:cNvPr id="141" name="TextBox 140">
            <a:extLst>
              <a:ext uri="{FF2B5EF4-FFF2-40B4-BE49-F238E27FC236}">
                <a16:creationId xmlns:a16="http://schemas.microsoft.com/office/drawing/2014/main" id="{B81BEC57-83EB-41DB-9B65-56094F35A149}"/>
              </a:ext>
            </a:extLst>
          </p:cNvPr>
          <p:cNvSpPr txBox="1"/>
          <p:nvPr/>
        </p:nvSpPr>
        <p:spPr>
          <a:xfrm>
            <a:off x="10729624" y="1126821"/>
            <a:ext cx="357470" cy="215444"/>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4A86"/>
                </a:solidFill>
                <a:effectLst/>
                <a:uLnTx/>
                <a:uFillTx/>
                <a:latin typeface="Intel Clear"/>
                <a:sym typeface="Helvetica Neue"/>
              </a:rPr>
              <a:t>PGD</a:t>
            </a:r>
          </a:p>
        </p:txBody>
      </p:sp>
      <p:sp>
        <p:nvSpPr>
          <p:cNvPr id="142" name="Line 120">
            <a:extLst>
              <a:ext uri="{FF2B5EF4-FFF2-40B4-BE49-F238E27FC236}">
                <a16:creationId xmlns:a16="http://schemas.microsoft.com/office/drawing/2014/main" id="{A6235CB0-707F-4911-90FC-A3EBD23E7AD4}"/>
              </a:ext>
            </a:extLst>
          </p:cNvPr>
          <p:cNvSpPr>
            <a:spLocks noChangeShapeType="1"/>
          </p:cNvSpPr>
          <p:nvPr/>
        </p:nvSpPr>
        <p:spPr bwMode="auto">
          <a:xfrm flipH="1">
            <a:off x="9650439" y="3116443"/>
            <a:ext cx="6295" cy="398233"/>
          </a:xfrm>
          <a:prstGeom prst="line">
            <a:avLst/>
          </a:prstGeom>
          <a:noFill/>
          <a:ln w="28575">
            <a:solidFill>
              <a:sysClr val="windowText" lastClr="000000"/>
            </a:solidFill>
            <a:round/>
            <a:headEnd type="triangle" w="med" len="med"/>
            <a:tailEnd type="triangle" w="med" len="me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143" name="Rectangle 125">
            <a:extLst>
              <a:ext uri="{FF2B5EF4-FFF2-40B4-BE49-F238E27FC236}">
                <a16:creationId xmlns:a16="http://schemas.microsoft.com/office/drawing/2014/main" id="{6FBC2CC1-3B9A-4BD4-9C8B-FFBDC5ED15B1}"/>
              </a:ext>
            </a:extLst>
          </p:cNvPr>
          <p:cNvSpPr>
            <a:spLocks noChangeArrowheads="1"/>
          </p:cNvSpPr>
          <p:nvPr/>
        </p:nvSpPr>
        <p:spPr bwMode="auto">
          <a:xfrm>
            <a:off x="4030133" y="4877482"/>
            <a:ext cx="1383376" cy="759059"/>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44" name="Rectangle 136">
            <a:extLst>
              <a:ext uri="{FF2B5EF4-FFF2-40B4-BE49-F238E27FC236}">
                <a16:creationId xmlns:a16="http://schemas.microsoft.com/office/drawing/2014/main" id="{C60B2962-A45A-4BB7-BD5C-CE3A51E92151}"/>
              </a:ext>
            </a:extLst>
          </p:cNvPr>
          <p:cNvSpPr>
            <a:spLocks noChangeArrowheads="1"/>
          </p:cNvSpPr>
          <p:nvPr/>
        </p:nvSpPr>
        <p:spPr bwMode="auto">
          <a:xfrm>
            <a:off x="10274223" y="3871982"/>
            <a:ext cx="1005082" cy="184666"/>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cs typeface="Arial" charset="0"/>
                <a:sym typeface="Wingdings" panose="05000000000000000000" pitchFamily="2" charset="2"/>
              </a:rPr>
              <a:t>Half cell height</a:t>
            </a:r>
            <a:endParaRPr kumimoji="0" lang="en-US" sz="12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graphicFrame>
        <p:nvGraphicFramePr>
          <p:cNvPr id="145" name="Table 144">
            <a:extLst>
              <a:ext uri="{FF2B5EF4-FFF2-40B4-BE49-F238E27FC236}">
                <a16:creationId xmlns:a16="http://schemas.microsoft.com/office/drawing/2014/main" id="{C55208A8-BB62-4204-9E4D-EF57B5BCCB54}"/>
              </a:ext>
            </a:extLst>
          </p:cNvPr>
          <p:cNvGraphicFramePr>
            <a:graphicFrameLocks noGrp="1"/>
          </p:cNvGraphicFramePr>
          <p:nvPr>
            <p:extLst>
              <p:ext uri="{D42A27DB-BD31-4B8C-83A1-F6EECF244321}">
                <p14:modId xmlns:p14="http://schemas.microsoft.com/office/powerpoint/2010/main" val="1098659769"/>
              </p:ext>
            </p:extLst>
          </p:nvPr>
        </p:nvGraphicFramePr>
        <p:xfrm>
          <a:off x="383822" y="1487059"/>
          <a:ext cx="3048001" cy="4631985"/>
        </p:xfrm>
        <a:graphic>
          <a:graphicData uri="http://schemas.openxmlformats.org/drawingml/2006/table">
            <a:tbl>
              <a:tblPr firstRow="1" firstCol="1" bandRow="1"/>
              <a:tblGrid>
                <a:gridCol w="1851932">
                  <a:extLst>
                    <a:ext uri="{9D8B030D-6E8A-4147-A177-3AD203B41FA5}">
                      <a16:colId xmlns:a16="http://schemas.microsoft.com/office/drawing/2014/main" val="1825368977"/>
                    </a:ext>
                  </a:extLst>
                </a:gridCol>
                <a:gridCol w="1196069">
                  <a:extLst>
                    <a:ext uri="{9D8B030D-6E8A-4147-A177-3AD203B41FA5}">
                      <a16:colId xmlns:a16="http://schemas.microsoft.com/office/drawing/2014/main" val="2946542142"/>
                    </a:ext>
                  </a:extLst>
                </a:gridCol>
              </a:tblGrid>
              <a:tr h="27823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400">
                          <a:effectLst/>
                        </a:rPr>
                        <a:t>Description</a:t>
                      </a:r>
                      <a:endParaRPr lang="en-US" sz="1400">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400">
                          <a:effectLst/>
                        </a:rPr>
                        <a:t>Spec</a:t>
                      </a:r>
                      <a:endParaRPr lang="en-US" sz="1400">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36202169"/>
                  </a:ext>
                </a:extLst>
              </a:tr>
              <a:tr h="22160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OGD space</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450 (10xPP)</a:t>
                      </a:r>
                    </a:p>
                  </a:txBody>
                  <a:tcPr marL="43104" marR="4310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1748315420"/>
                  </a:ext>
                </a:extLst>
              </a:tr>
              <a:tr h="35506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PGD &amp; diagonal space</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400" b="0" i="0" u="none" strike="noStrike" kern="1200" cap="none" spc="0" baseline="0">
                          <a:solidFill>
                            <a:schemeClr val="tx1"/>
                          </a:solidFill>
                          <a:effectLst/>
                          <a:uFillTx/>
                          <a:latin typeface="+mn-lt"/>
                          <a:ea typeface="+mn-ea"/>
                          <a:cs typeface="+mn-cs"/>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2982736449"/>
                  </a:ext>
                </a:extLst>
              </a:tr>
              <a:tr h="22160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Length [OGD]</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450 (10xPP) </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1346854441"/>
                  </a:ext>
                </a:extLst>
              </a:tr>
              <a:tr h="22160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Segment L [OGD]</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45 (1xPP)</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1943243355"/>
                  </a:ext>
                </a:extLst>
              </a:tr>
              <a:tr h="355069">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Segment L [PGD]</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400" b="0" i="0" u="none" strike="noStrike" kern="1200" cap="none" spc="0" baseline="0">
                          <a:solidFill>
                            <a:schemeClr val="tx1"/>
                          </a:solidFill>
                          <a:effectLst/>
                          <a:uFillTx/>
                          <a:latin typeface="+mn-lt"/>
                          <a:ea typeface="+mn-ea"/>
                          <a:cs typeface="+mn-cs"/>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2729208321"/>
                  </a:ext>
                </a:extLst>
              </a:tr>
              <a:tr h="443213">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Internal C2C [PGD and diagonal]</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400" b="0" i="0" u="none" strike="noStrike" kern="1200" cap="none" spc="0" baseline="0">
                          <a:solidFill>
                            <a:schemeClr val="tx1"/>
                          </a:solidFill>
                          <a:effectLst/>
                          <a:uFillTx/>
                          <a:latin typeface="+mn-lt"/>
                          <a:ea typeface="+mn-ea"/>
                          <a:cs typeface="+mn-cs"/>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798274095"/>
                  </a:ext>
                </a:extLst>
              </a:tr>
              <a:tr h="53260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C2C width/space if aligned external corners [OGD]</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400" b="0" i="0" u="none" strike="noStrike" kern="1200" cap="none" spc="0" baseline="0">
                          <a:solidFill>
                            <a:schemeClr val="tx1"/>
                          </a:solidFill>
                          <a:effectLst/>
                          <a:uFillTx/>
                          <a:latin typeface="+mn-lt"/>
                          <a:ea typeface="+mn-ea"/>
                          <a:cs typeface="+mn-cs"/>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434446547"/>
                  </a:ext>
                </a:extLst>
              </a:tr>
              <a:tr h="532602">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lgn="l">
                        <a:spcBef>
                          <a:spcPts val="0"/>
                        </a:spcBef>
                        <a:spcAft>
                          <a:spcPts val="0"/>
                        </a:spcAft>
                      </a:pPr>
                      <a:r>
                        <a:rPr lang="en-US" sz="1400" b="0">
                          <a:solidFill>
                            <a:schemeClr val="tx1"/>
                          </a:solidFill>
                          <a:effectLst/>
                        </a:rPr>
                        <a:t>C2C width/space if aligned external corners [PGD]</a:t>
                      </a:r>
                      <a:endParaRPr lang="en-US" sz="1400" b="0">
                        <a:solidFill>
                          <a:schemeClr val="tx1"/>
                        </a:solidFill>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algn="ctr">
                        <a:spcBef>
                          <a:spcPts val="0"/>
                        </a:spcBef>
                        <a:spcAft>
                          <a:spcPts val="0"/>
                        </a:spcAft>
                      </a:pPr>
                      <a:r>
                        <a:rPr lang="en-US" sz="1400" b="0" i="0" u="none" strike="noStrike" kern="1200" cap="none" spc="0" baseline="0">
                          <a:solidFill>
                            <a:schemeClr val="tx1"/>
                          </a:solidFill>
                          <a:effectLst/>
                          <a:uFillTx/>
                          <a:latin typeface="+mn-lt"/>
                          <a:ea typeface="+mn-ea"/>
                          <a:cs typeface="+mn-cs"/>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2776999582"/>
                  </a:ext>
                </a:extLst>
              </a:tr>
              <a:tr h="71647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l" defTabSz="609600" eaLnBrk="1" fontAlgn="b" latinLnBrk="0" hangingPunct="1">
                        <a:lnSpc>
                          <a:spcPct val="100000"/>
                        </a:lnSpc>
                        <a:spcBef>
                          <a:spcPts val="0"/>
                        </a:spcBef>
                        <a:spcAft>
                          <a:spcPts val="0"/>
                        </a:spcAft>
                        <a:buClrTx/>
                        <a:buSzTx/>
                        <a:buFontTx/>
                        <a:buNone/>
                        <a:tabLst/>
                      </a:pPr>
                      <a:r>
                        <a:rPr lang="en-US" sz="1400" b="0" i="0" u="none" strike="noStrike" cap="none" spc="0" baseline="0">
                          <a:solidFill>
                            <a:schemeClr val="tx1"/>
                          </a:solidFill>
                          <a:effectLst/>
                          <a:uFillTx/>
                          <a:latin typeface="+mn-lt"/>
                          <a:ea typeface="+mn-ea"/>
                          <a:cs typeface="+mn-cs"/>
                          <a:sym typeface="Intel Clear"/>
                        </a:rPr>
                        <a:t>vtID internal corner space to gate, minimum [diagonal]</a:t>
                      </a:r>
                    </a:p>
                  </a:txBody>
                  <a:tcPr marL="7620" marR="7620" marT="762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48</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4213270777"/>
                  </a:ext>
                </a:extLst>
              </a:tr>
              <a:tr h="538943">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l" defTabSz="609600" eaLnBrk="1" fontAlgn="b" latinLnBrk="0" hangingPunct="1">
                        <a:lnSpc>
                          <a:spcPct val="100000"/>
                        </a:lnSpc>
                        <a:spcBef>
                          <a:spcPts val="0"/>
                        </a:spcBef>
                        <a:spcAft>
                          <a:spcPts val="0"/>
                        </a:spcAft>
                        <a:buClrTx/>
                        <a:buSzTx/>
                        <a:buFontTx/>
                        <a:buNone/>
                        <a:tabLst/>
                      </a:pPr>
                      <a:r>
                        <a:rPr lang="en-US" sz="1400" b="0" i="0" u="none" strike="noStrike" cap="none" spc="0" baseline="0">
                          <a:solidFill>
                            <a:schemeClr val="tx1"/>
                          </a:solidFill>
                          <a:effectLst/>
                          <a:uFillTx/>
                          <a:latin typeface="+mn-lt"/>
                          <a:ea typeface="+mn-ea"/>
                          <a:cs typeface="+mn-cs"/>
                          <a:sym typeface="Intel Clear"/>
                        </a:rPr>
                        <a:t>vtID enclosure of gate, minimum</a:t>
                      </a:r>
                    </a:p>
                  </a:txBody>
                  <a:tcPr marL="7620" marR="7620" marT="762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8 (PGD)</a:t>
                      </a:r>
                    </a:p>
                    <a:p>
                      <a:pPr marL="0" marR="0" indent="0" algn="ctr" defTabSz="609600" eaLnBrk="1" latinLnBrk="0" hangingPunct="1">
                        <a:lnSpc>
                          <a:spcPct val="100000"/>
                        </a:lnSpc>
                        <a:spcBef>
                          <a:spcPts val="0"/>
                        </a:spcBef>
                        <a:spcAft>
                          <a:spcPts val="0"/>
                        </a:spcAft>
                        <a:buClrTx/>
                        <a:buSzTx/>
                        <a:buFontTx/>
                        <a:buNone/>
                        <a:tabLst/>
                      </a:pPr>
                      <a:r>
                        <a:rPr lang="en-US" sz="1400" b="0" i="0" u="none" strike="noStrike" kern="1200" cap="none" spc="0" baseline="0">
                          <a:solidFill>
                            <a:schemeClr val="tx1"/>
                          </a:solidFill>
                          <a:effectLst/>
                          <a:uFillTx/>
                          <a:latin typeface="+mn-lt"/>
                          <a:ea typeface="+mn-ea"/>
                          <a:cs typeface="+mn-cs"/>
                          <a:sym typeface="Intel Clear"/>
                        </a:rPr>
                        <a:t>84 (OGD)</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776365652"/>
                  </a:ext>
                </a:extLst>
              </a:tr>
            </a:tbl>
          </a:graphicData>
        </a:graphic>
      </p:graphicFrame>
      <p:sp>
        <p:nvSpPr>
          <p:cNvPr id="148" name="Rectangle 111">
            <a:extLst>
              <a:ext uri="{FF2B5EF4-FFF2-40B4-BE49-F238E27FC236}">
                <a16:creationId xmlns:a16="http://schemas.microsoft.com/office/drawing/2014/main" id="{E5B6515B-CF77-4E00-BEBF-CD4FD055CF93}"/>
              </a:ext>
            </a:extLst>
          </p:cNvPr>
          <p:cNvSpPr>
            <a:spLocks noChangeArrowheads="1"/>
          </p:cNvSpPr>
          <p:nvPr/>
        </p:nvSpPr>
        <p:spPr bwMode="auto">
          <a:xfrm>
            <a:off x="3971425" y="2055495"/>
            <a:ext cx="113080" cy="3589231"/>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51" name="TextBox 150">
            <a:extLst>
              <a:ext uri="{FF2B5EF4-FFF2-40B4-BE49-F238E27FC236}">
                <a16:creationId xmlns:a16="http://schemas.microsoft.com/office/drawing/2014/main" id="{20E34AF8-ACF0-4933-8BE1-8CDC1CF1F88E}"/>
              </a:ext>
            </a:extLst>
          </p:cNvPr>
          <p:cNvSpPr txBox="1"/>
          <p:nvPr/>
        </p:nvSpPr>
        <p:spPr>
          <a:xfrm>
            <a:off x="386724" y="712329"/>
            <a:ext cx="8922376" cy="461665"/>
          </a:xfrm>
          <a:prstGeom prst="rect">
            <a:avLst/>
          </a:prstGeom>
          <a:noFill/>
        </p:spPr>
        <p:txBody>
          <a:bodyPr wrap="square" rtlCol="0">
            <a:spAutoFit/>
          </a:bodyPr>
          <a:lstStyle>
            <a:defPPr>
              <a:defRPr lang="en-US"/>
            </a:defPPr>
            <a:lvl1pPr marL="285750" indent="-285750">
              <a:buFont typeface="Wingdings" panose="05000000000000000000" pitchFamily="2" charset="2"/>
              <a:buChar char="q"/>
              <a:defRPr sz="2400"/>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a:t>
            </a:r>
            <a:r>
              <a:rPr lang="en-US">
                <a:solidFill>
                  <a:prstClr val="black"/>
                </a:solidFill>
                <a:latin typeface="Calibri" panose="020F0502020204030204"/>
              </a:rPr>
              <a:t>vt</a:t>
            </a:r>
            <a:r>
              <a:rPr kumimoji="0" lang="en-US" sz="2400" b="0" i="0" u="none" strike="noStrike" kern="1200" cap="none" spc="0" normalizeH="0" baseline="0" noProof="0">
                <a:ln>
                  <a:noFill/>
                </a:ln>
                <a:solidFill>
                  <a:prstClr val="black"/>
                </a:solidFill>
                <a:effectLst/>
                <a:uLnTx/>
                <a:uFillTx/>
                <a:latin typeface="Calibri" panose="020F0502020204030204"/>
              </a:rPr>
              <a:t> ID min dimension is 10PP x 1 cell height</a:t>
            </a:r>
          </a:p>
        </p:txBody>
      </p:sp>
      <p:sp>
        <p:nvSpPr>
          <p:cNvPr id="3" name="Rectangle 136">
            <a:extLst>
              <a:ext uri="{FF2B5EF4-FFF2-40B4-BE49-F238E27FC236}">
                <a16:creationId xmlns:a16="http://schemas.microsoft.com/office/drawing/2014/main" id="{98DC0E48-AF78-40A0-02C0-91C0A52BBA0C}"/>
              </a:ext>
            </a:extLst>
          </p:cNvPr>
          <p:cNvSpPr>
            <a:spLocks noChangeArrowheads="1"/>
          </p:cNvSpPr>
          <p:nvPr/>
        </p:nvSpPr>
        <p:spPr bwMode="auto">
          <a:xfrm>
            <a:off x="8876599" y="4083868"/>
            <a:ext cx="1005082" cy="184666"/>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cs typeface="Arial" charset="0"/>
                <a:sym typeface="Wingdings" panose="05000000000000000000" pitchFamily="2" charset="2"/>
              </a:rPr>
              <a:t>Half cell height</a:t>
            </a:r>
            <a:endParaRPr kumimoji="0" lang="en-US" sz="12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sp>
        <p:nvSpPr>
          <p:cNvPr id="4" name="Rectangle 136">
            <a:extLst>
              <a:ext uri="{FF2B5EF4-FFF2-40B4-BE49-F238E27FC236}">
                <a16:creationId xmlns:a16="http://schemas.microsoft.com/office/drawing/2014/main" id="{C3B09979-1821-64DC-BB4A-46AC069BFF0C}"/>
              </a:ext>
            </a:extLst>
          </p:cNvPr>
          <p:cNvSpPr>
            <a:spLocks noChangeArrowheads="1"/>
          </p:cNvSpPr>
          <p:nvPr/>
        </p:nvSpPr>
        <p:spPr bwMode="auto">
          <a:xfrm>
            <a:off x="7474187" y="4454460"/>
            <a:ext cx="1005082" cy="184666"/>
          </a:xfrm>
          <a:prstGeom prst="rect">
            <a:avLst/>
          </a:prstGeom>
          <a:noFill/>
          <a:ln w="9525">
            <a:noFill/>
            <a:miter lim="800000"/>
            <a:headEnd/>
            <a:tailEnd/>
          </a:ln>
        </p:spPr>
        <p:txBody>
          <a:bodyPr wrap="none" lIns="0" tIns="0" rIns="0" bIns="0">
            <a:spAutoFit/>
          </a:bodyPr>
          <a:lstStyle/>
          <a:p>
            <a:pPr marL="0" marR="0" lvl="0" indent="0" algn="ctr" defTabSz="1646238"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charset="0"/>
                <a:cs typeface="Arial" charset="0"/>
                <a:sym typeface="Wingdings" panose="05000000000000000000" pitchFamily="2" charset="2"/>
              </a:rPr>
              <a:t>Half cell height</a:t>
            </a:r>
            <a:endParaRPr kumimoji="0" lang="en-US" sz="1200" b="0" i="0" u="none" strike="noStrike" kern="1200" cap="none" spc="0" normalizeH="0" baseline="0" noProof="0">
              <a:ln>
                <a:noFill/>
              </a:ln>
              <a:solidFill>
                <a:prstClr val="black"/>
              </a:solidFill>
              <a:effectLst/>
              <a:uLnTx/>
              <a:uFillTx/>
              <a:latin typeface="Times New Roman" pitchFamily="18" charset="0"/>
              <a:cs typeface="Arial" charset="0"/>
              <a:sym typeface="Helvetica Neue"/>
            </a:endParaRPr>
          </a:p>
        </p:txBody>
      </p:sp>
      <p:sp>
        <p:nvSpPr>
          <p:cNvPr id="5" name="TextBox 4">
            <a:extLst>
              <a:ext uri="{FF2B5EF4-FFF2-40B4-BE49-F238E27FC236}">
                <a16:creationId xmlns:a16="http://schemas.microsoft.com/office/drawing/2014/main" id="{0E5D6D7C-ECF8-64D2-1DDF-2D962621DF04}"/>
              </a:ext>
            </a:extLst>
          </p:cNvPr>
          <p:cNvSpPr txBox="1"/>
          <p:nvPr/>
        </p:nvSpPr>
        <p:spPr>
          <a:xfrm>
            <a:off x="3676498" y="2579530"/>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6" name="TextBox 5">
            <a:extLst>
              <a:ext uri="{FF2B5EF4-FFF2-40B4-BE49-F238E27FC236}">
                <a16:creationId xmlns:a16="http://schemas.microsoft.com/office/drawing/2014/main" id="{8F024E13-89FF-6E7E-58BA-9812FE37674D}"/>
              </a:ext>
            </a:extLst>
          </p:cNvPr>
          <p:cNvSpPr txBox="1"/>
          <p:nvPr/>
        </p:nvSpPr>
        <p:spPr>
          <a:xfrm>
            <a:off x="3668773" y="3004367"/>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7" name="TextBox 6">
            <a:extLst>
              <a:ext uri="{FF2B5EF4-FFF2-40B4-BE49-F238E27FC236}">
                <a16:creationId xmlns:a16="http://schemas.microsoft.com/office/drawing/2014/main" id="{C126A9DC-39A6-21F6-861C-2FF9A587403B}"/>
              </a:ext>
            </a:extLst>
          </p:cNvPr>
          <p:cNvSpPr txBox="1"/>
          <p:nvPr/>
        </p:nvSpPr>
        <p:spPr>
          <a:xfrm>
            <a:off x="3646175" y="3320751"/>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8" name="TextBox 7">
            <a:extLst>
              <a:ext uri="{FF2B5EF4-FFF2-40B4-BE49-F238E27FC236}">
                <a16:creationId xmlns:a16="http://schemas.microsoft.com/office/drawing/2014/main" id="{28D3CBC9-1C5F-E320-1773-1D3EBF2DCE0F}"/>
              </a:ext>
            </a:extLst>
          </p:cNvPr>
          <p:cNvSpPr txBox="1"/>
          <p:nvPr/>
        </p:nvSpPr>
        <p:spPr>
          <a:xfrm>
            <a:off x="3647062" y="2146202"/>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9" name="TextBox 8">
            <a:extLst>
              <a:ext uri="{FF2B5EF4-FFF2-40B4-BE49-F238E27FC236}">
                <a16:creationId xmlns:a16="http://schemas.microsoft.com/office/drawing/2014/main" id="{00E9E4B7-950C-6A2B-8B61-40A78BED63A5}"/>
              </a:ext>
            </a:extLst>
          </p:cNvPr>
          <p:cNvSpPr txBox="1"/>
          <p:nvPr/>
        </p:nvSpPr>
        <p:spPr>
          <a:xfrm>
            <a:off x="3647646" y="3997489"/>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0" name="TextBox 9">
            <a:extLst>
              <a:ext uri="{FF2B5EF4-FFF2-40B4-BE49-F238E27FC236}">
                <a16:creationId xmlns:a16="http://schemas.microsoft.com/office/drawing/2014/main" id="{CB56FD3C-3A6B-098A-58AD-780C878DD8A7}"/>
              </a:ext>
            </a:extLst>
          </p:cNvPr>
          <p:cNvSpPr txBox="1"/>
          <p:nvPr/>
        </p:nvSpPr>
        <p:spPr>
          <a:xfrm>
            <a:off x="3647615" y="4365551"/>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1" name="TextBox 10">
            <a:extLst>
              <a:ext uri="{FF2B5EF4-FFF2-40B4-BE49-F238E27FC236}">
                <a16:creationId xmlns:a16="http://schemas.microsoft.com/office/drawing/2014/main" id="{F24CD7AA-7166-0696-B849-10C07B588D52}"/>
              </a:ext>
            </a:extLst>
          </p:cNvPr>
          <p:cNvSpPr txBox="1"/>
          <p:nvPr/>
        </p:nvSpPr>
        <p:spPr>
          <a:xfrm>
            <a:off x="3651684" y="3667122"/>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2" name="TextBox 11">
            <a:extLst>
              <a:ext uri="{FF2B5EF4-FFF2-40B4-BE49-F238E27FC236}">
                <a16:creationId xmlns:a16="http://schemas.microsoft.com/office/drawing/2014/main" id="{38676D97-F9A0-962B-20D5-B2C8CFB0A298}"/>
              </a:ext>
            </a:extLst>
          </p:cNvPr>
          <p:cNvSpPr txBox="1"/>
          <p:nvPr/>
        </p:nvSpPr>
        <p:spPr>
          <a:xfrm>
            <a:off x="3616576" y="4793482"/>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3" name="Rectangle 114">
            <a:extLst>
              <a:ext uri="{FF2B5EF4-FFF2-40B4-BE49-F238E27FC236}">
                <a16:creationId xmlns:a16="http://schemas.microsoft.com/office/drawing/2014/main" id="{E9B05B7F-A7A1-7775-C4EC-BAABDD3D5E2B}"/>
              </a:ext>
            </a:extLst>
          </p:cNvPr>
          <p:cNvSpPr>
            <a:spLocks noChangeArrowheads="1"/>
          </p:cNvSpPr>
          <p:nvPr/>
        </p:nvSpPr>
        <p:spPr bwMode="auto">
          <a:xfrm>
            <a:off x="10067808" y="6006736"/>
            <a:ext cx="340993" cy="266556"/>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14" name="TextBox 13">
            <a:extLst>
              <a:ext uri="{FF2B5EF4-FFF2-40B4-BE49-F238E27FC236}">
                <a16:creationId xmlns:a16="http://schemas.microsoft.com/office/drawing/2014/main" id="{132DFDBF-0F09-9E8F-99A9-C197539B10B8}"/>
              </a:ext>
            </a:extLst>
          </p:cNvPr>
          <p:cNvSpPr txBox="1"/>
          <p:nvPr/>
        </p:nvSpPr>
        <p:spPr>
          <a:xfrm>
            <a:off x="10544909" y="5999257"/>
            <a:ext cx="38311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Vt ID</a:t>
            </a:r>
          </a:p>
        </p:txBody>
      </p:sp>
      <p:sp>
        <p:nvSpPr>
          <p:cNvPr id="16" name="TextBox 15">
            <a:extLst>
              <a:ext uri="{FF2B5EF4-FFF2-40B4-BE49-F238E27FC236}">
                <a16:creationId xmlns:a16="http://schemas.microsoft.com/office/drawing/2014/main" id="{31B15641-1444-4ACD-E35C-A57A2CAB712C}"/>
              </a:ext>
            </a:extLst>
          </p:cNvPr>
          <p:cNvSpPr txBox="1"/>
          <p:nvPr/>
        </p:nvSpPr>
        <p:spPr>
          <a:xfrm>
            <a:off x="3615517" y="5166596"/>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Tree>
    <p:extLst>
      <p:ext uri="{BB962C8B-B14F-4D97-AF65-F5344CB8AC3E}">
        <p14:creationId xmlns:p14="http://schemas.microsoft.com/office/powerpoint/2010/main" val="60711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itle 2">
            <a:extLst>
              <a:ext uri="{FF2B5EF4-FFF2-40B4-BE49-F238E27FC236}">
                <a16:creationId xmlns:a16="http://schemas.microsoft.com/office/drawing/2014/main" id="{3652856E-ADF1-41FC-A3B7-9E9E02DB9659}"/>
              </a:ext>
            </a:extLst>
          </p:cNvPr>
          <p:cNvSpPr txBox="1">
            <a:spLocks/>
          </p:cNvSpPr>
          <p:nvPr/>
        </p:nvSpPr>
        <p:spPr>
          <a:xfrm>
            <a:off x="269701" y="0"/>
            <a:ext cx="10977032" cy="7518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a:ln>
                  <a:noFill/>
                </a:ln>
                <a:solidFill>
                  <a:prstClr val="black"/>
                </a:solidFill>
                <a:effectLst/>
                <a:uLnTx/>
                <a:uFillTx/>
                <a:latin typeface="Calibri Light" panose="020F0302020204030204"/>
                <a:ea typeface="+mj-ea"/>
                <a:cs typeface="+mj-cs"/>
              </a:rPr>
              <a:t>Current - Vt ID Design Rules – Cont’d</a:t>
            </a:r>
            <a:endParaRPr kumimoji="0" lang="en-US" sz="3600" b="1" i="0" u="none" strike="noStrike" kern="1200" cap="none" spc="0" normalizeH="0" baseline="0" noProof="0">
              <a:ln>
                <a:noFill/>
              </a:ln>
              <a:solidFill>
                <a:sysClr val="windowText" lastClr="000000"/>
              </a:solidFill>
              <a:effectLst/>
              <a:uLnTx/>
              <a:uFillTx/>
              <a:latin typeface="Calibri Light" panose="020F0302020204030204"/>
              <a:ea typeface="+mj-ea"/>
              <a:cs typeface="+mj-cs"/>
            </a:endParaRPr>
          </a:p>
        </p:txBody>
      </p:sp>
      <p:grpSp>
        <p:nvGrpSpPr>
          <p:cNvPr id="64" name="Group 63">
            <a:extLst>
              <a:ext uri="{FF2B5EF4-FFF2-40B4-BE49-F238E27FC236}">
                <a16:creationId xmlns:a16="http://schemas.microsoft.com/office/drawing/2014/main" id="{1D5EB37A-4D20-4D98-ADD8-47B1373D4BEE}"/>
              </a:ext>
            </a:extLst>
          </p:cNvPr>
          <p:cNvGrpSpPr/>
          <p:nvPr/>
        </p:nvGrpSpPr>
        <p:grpSpPr>
          <a:xfrm>
            <a:off x="4603469" y="2130090"/>
            <a:ext cx="6230524" cy="3720371"/>
            <a:chOff x="57052" y="1973151"/>
            <a:chExt cx="8394399" cy="3684815"/>
          </a:xfrm>
        </p:grpSpPr>
        <p:grpSp>
          <p:nvGrpSpPr>
            <p:cNvPr id="65" name="Group 64">
              <a:extLst>
                <a:ext uri="{FF2B5EF4-FFF2-40B4-BE49-F238E27FC236}">
                  <a16:creationId xmlns:a16="http://schemas.microsoft.com/office/drawing/2014/main" id="{57AB868A-7481-47E2-AAB8-5CFB0980CA0A}"/>
                </a:ext>
              </a:extLst>
            </p:cNvPr>
            <p:cNvGrpSpPr/>
            <p:nvPr/>
          </p:nvGrpSpPr>
          <p:grpSpPr>
            <a:xfrm>
              <a:off x="57052" y="1973151"/>
              <a:ext cx="6527290" cy="3596208"/>
              <a:chOff x="1236663" y="1431925"/>
              <a:chExt cx="10406062" cy="14106526"/>
            </a:xfrm>
          </p:grpSpPr>
          <p:sp>
            <p:nvSpPr>
              <p:cNvPr id="69" name="Rectangle 101">
                <a:extLst>
                  <a:ext uri="{FF2B5EF4-FFF2-40B4-BE49-F238E27FC236}">
                    <a16:creationId xmlns:a16="http://schemas.microsoft.com/office/drawing/2014/main" id="{C3A9A3F4-3A31-4F54-AA61-976398E68396}"/>
                  </a:ext>
                </a:extLst>
              </p:cNvPr>
              <p:cNvSpPr>
                <a:spLocks noChangeArrowheads="1"/>
              </p:cNvSpPr>
              <p:nvPr/>
            </p:nvSpPr>
            <p:spPr bwMode="auto">
              <a:xfrm>
                <a:off x="8342313" y="1522413"/>
                <a:ext cx="242887" cy="1401603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0" name="Rectangle 102">
                <a:extLst>
                  <a:ext uri="{FF2B5EF4-FFF2-40B4-BE49-F238E27FC236}">
                    <a16:creationId xmlns:a16="http://schemas.microsoft.com/office/drawing/2014/main" id="{3654D3A5-B26D-4E45-B743-D124A7380583}"/>
                  </a:ext>
                </a:extLst>
              </p:cNvPr>
              <p:cNvSpPr>
                <a:spLocks noChangeArrowheads="1"/>
              </p:cNvSpPr>
              <p:nvPr/>
            </p:nvSpPr>
            <p:spPr bwMode="auto">
              <a:xfrm>
                <a:off x="7318375" y="1536700"/>
                <a:ext cx="241300" cy="1397476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1" name="Rectangle 103">
                <a:extLst>
                  <a:ext uri="{FF2B5EF4-FFF2-40B4-BE49-F238E27FC236}">
                    <a16:creationId xmlns:a16="http://schemas.microsoft.com/office/drawing/2014/main" id="{05DA3762-8DFB-459C-83D5-3686B0BE5D4F}"/>
                  </a:ext>
                </a:extLst>
              </p:cNvPr>
              <p:cNvSpPr>
                <a:spLocks noChangeArrowheads="1"/>
              </p:cNvSpPr>
              <p:nvPr/>
            </p:nvSpPr>
            <p:spPr bwMode="auto">
              <a:xfrm>
                <a:off x="6316663" y="1539875"/>
                <a:ext cx="241300" cy="1397476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2" name="Rectangle 104">
                <a:extLst>
                  <a:ext uri="{FF2B5EF4-FFF2-40B4-BE49-F238E27FC236}">
                    <a16:creationId xmlns:a16="http://schemas.microsoft.com/office/drawing/2014/main" id="{99D0ABE8-184B-4329-B4DB-AEBDB941C07D}"/>
                  </a:ext>
                </a:extLst>
              </p:cNvPr>
              <p:cNvSpPr>
                <a:spLocks noChangeArrowheads="1"/>
              </p:cNvSpPr>
              <p:nvPr/>
            </p:nvSpPr>
            <p:spPr bwMode="auto">
              <a:xfrm>
                <a:off x="5287964" y="1539873"/>
                <a:ext cx="236203" cy="13984292"/>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3" name="Rectangle 105">
                <a:extLst>
                  <a:ext uri="{FF2B5EF4-FFF2-40B4-BE49-F238E27FC236}">
                    <a16:creationId xmlns:a16="http://schemas.microsoft.com/office/drawing/2014/main" id="{F570205D-4F48-48BF-86DF-8D1C16FB3A2A}"/>
                  </a:ext>
                </a:extLst>
              </p:cNvPr>
              <p:cNvSpPr>
                <a:spLocks noChangeArrowheads="1"/>
              </p:cNvSpPr>
              <p:nvPr/>
            </p:nvSpPr>
            <p:spPr bwMode="auto">
              <a:xfrm>
                <a:off x="4273550" y="1533525"/>
                <a:ext cx="242887" cy="139938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4" name="Rectangle 106">
                <a:extLst>
                  <a:ext uri="{FF2B5EF4-FFF2-40B4-BE49-F238E27FC236}">
                    <a16:creationId xmlns:a16="http://schemas.microsoft.com/office/drawing/2014/main" id="{2C130682-C96C-41E7-B2B9-C9AE7FDDFD27}"/>
                  </a:ext>
                </a:extLst>
              </p:cNvPr>
              <p:cNvSpPr>
                <a:spLocks noChangeArrowheads="1"/>
              </p:cNvSpPr>
              <p:nvPr/>
            </p:nvSpPr>
            <p:spPr bwMode="auto">
              <a:xfrm>
                <a:off x="3249613" y="1431925"/>
                <a:ext cx="244475" cy="140827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5" name="Rectangle 107">
                <a:extLst>
                  <a:ext uri="{FF2B5EF4-FFF2-40B4-BE49-F238E27FC236}">
                    <a16:creationId xmlns:a16="http://schemas.microsoft.com/office/drawing/2014/main" id="{760E128F-FFAB-4761-88F7-8718FEB066C4}"/>
                  </a:ext>
                </a:extLst>
              </p:cNvPr>
              <p:cNvSpPr>
                <a:spLocks noChangeArrowheads="1"/>
              </p:cNvSpPr>
              <p:nvPr/>
            </p:nvSpPr>
            <p:spPr bwMode="auto">
              <a:xfrm>
                <a:off x="2235200" y="1485900"/>
                <a:ext cx="228600" cy="140065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6" name="Rectangle 108">
                <a:extLst>
                  <a:ext uri="{FF2B5EF4-FFF2-40B4-BE49-F238E27FC236}">
                    <a16:creationId xmlns:a16="http://schemas.microsoft.com/office/drawing/2014/main" id="{F21A55CD-664A-4F2B-82BD-09F1DC1D3464}"/>
                  </a:ext>
                </a:extLst>
              </p:cNvPr>
              <p:cNvSpPr>
                <a:spLocks noChangeArrowheads="1"/>
              </p:cNvSpPr>
              <p:nvPr/>
            </p:nvSpPr>
            <p:spPr bwMode="auto">
              <a:xfrm>
                <a:off x="11398250" y="1511300"/>
                <a:ext cx="244475" cy="1401603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7" name="Rectangle 109">
                <a:extLst>
                  <a:ext uri="{FF2B5EF4-FFF2-40B4-BE49-F238E27FC236}">
                    <a16:creationId xmlns:a16="http://schemas.microsoft.com/office/drawing/2014/main" id="{0C0AA6F9-6F9D-45EE-870C-F9881D803E5A}"/>
                  </a:ext>
                </a:extLst>
              </p:cNvPr>
              <p:cNvSpPr>
                <a:spLocks noChangeArrowheads="1"/>
              </p:cNvSpPr>
              <p:nvPr/>
            </p:nvSpPr>
            <p:spPr bwMode="auto">
              <a:xfrm>
                <a:off x="10372725" y="1522413"/>
                <a:ext cx="241300" cy="139811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8" name="Rectangle 110">
                <a:extLst>
                  <a:ext uri="{FF2B5EF4-FFF2-40B4-BE49-F238E27FC236}">
                    <a16:creationId xmlns:a16="http://schemas.microsoft.com/office/drawing/2014/main" id="{CC8B7487-8BB8-44A3-97B3-8A2B178B802A}"/>
                  </a:ext>
                </a:extLst>
              </p:cNvPr>
              <p:cNvSpPr>
                <a:spLocks noChangeArrowheads="1"/>
              </p:cNvSpPr>
              <p:nvPr/>
            </p:nvSpPr>
            <p:spPr bwMode="auto">
              <a:xfrm>
                <a:off x="9371013" y="1525588"/>
                <a:ext cx="244475" cy="13981113"/>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79" name="Rectangle 111">
                <a:extLst>
                  <a:ext uri="{FF2B5EF4-FFF2-40B4-BE49-F238E27FC236}">
                    <a16:creationId xmlns:a16="http://schemas.microsoft.com/office/drawing/2014/main" id="{E4B48BD8-04D5-46BD-88CF-B86FCF413E34}"/>
                  </a:ext>
                </a:extLst>
              </p:cNvPr>
              <p:cNvSpPr>
                <a:spLocks noChangeArrowheads="1"/>
              </p:cNvSpPr>
              <p:nvPr/>
            </p:nvSpPr>
            <p:spPr bwMode="auto">
              <a:xfrm>
                <a:off x="1236663" y="1539875"/>
                <a:ext cx="242887" cy="13944600"/>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grpSp>
        <p:sp>
          <p:nvSpPr>
            <p:cNvPr id="66" name="Rectangle 108">
              <a:extLst>
                <a:ext uri="{FF2B5EF4-FFF2-40B4-BE49-F238E27FC236}">
                  <a16:creationId xmlns:a16="http://schemas.microsoft.com/office/drawing/2014/main" id="{577797B4-E966-430A-8737-2086312D391C}"/>
                </a:ext>
              </a:extLst>
            </p:cNvPr>
            <p:cNvSpPr>
              <a:spLocks noChangeArrowheads="1"/>
            </p:cNvSpPr>
            <p:nvPr/>
          </p:nvSpPr>
          <p:spPr bwMode="auto">
            <a:xfrm>
              <a:off x="7665433" y="1993387"/>
              <a:ext cx="171163" cy="363409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67" name="Rectangle 109">
              <a:extLst>
                <a:ext uri="{FF2B5EF4-FFF2-40B4-BE49-F238E27FC236}">
                  <a16:creationId xmlns:a16="http://schemas.microsoft.com/office/drawing/2014/main" id="{9E7AB27B-546B-471B-82B6-EFD7FC207B48}"/>
                </a:ext>
              </a:extLst>
            </p:cNvPr>
            <p:cNvSpPr>
              <a:spLocks noChangeArrowheads="1"/>
            </p:cNvSpPr>
            <p:nvPr/>
          </p:nvSpPr>
          <p:spPr bwMode="auto">
            <a:xfrm>
              <a:off x="7007838" y="1993387"/>
              <a:ext cx="146262" cy="3628028"/>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sp>
          <p:nvSpPr>
            <p:cNvPr id="68" name="Rectangle 108">
              <a:extLst>
                <a:ext uri="{FF2B5EF4-FFF2-40B4-BE49-F238E27FC236}">
                  <a16:creationId xmlns:a16="http://schemas.microsoft.com/office/drawing/2014/main" id="{3164D54E-9B8C-4916-8D50-B1DEE9F541E9}"/>
                </a:ext>
              </a:extLst>
            </p:cNvPr>
            <p:cNvSpPr>
              <a:spLocks noChangeArrowheads="1"/>
            </p:cNvSpPr>
            <p:nvPr/>
          </p:nvSpPr>
          <p:spPr bwMode="auto">
            <a:xfrm>
              <a:off x="8305513" y="1993387"/>
              <a:ext cx="145938" cy="3664579"/>
            </a:xfrm>
            <a:prstGeom prst="rect">
              <a:avLst/>
            </a:prstGeom>
            <a:noFill/>
            <a:ln w="12700">
              <a:solidFill>
                <a:srgbClr val="006600"/>
              </a:solidFill>
              <a:prstDash val="sysDot"/>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0" cap="none" spc="0" normalizeH="0" baseline="0" noProof="0">
                <a:ln>
                  <a:noFill/>
                </a:ln>
                <a:solidFill>
                  <a:prstClr val="black"/>
                </a:solidFill>
                <a:effectLst/>
                <a:uLnTx/>
                <a:uFillTx/>
                <a:latin typeface="Arial" charset="0"/>
                <a:cs typeface="Arial" charset="0"/>
                <a:sym typeface="Helvetica Neue"/>
              </a:endParaRPr>
            </a:p>
          </p:txBody>
        </p:sp>
      </p:grpSp>
      <p:sp>
        <p:nvSpPr>
          <p:cNvPr id="80" name="Rectangle 79">
            <a:extLst>
              <a:ext uri="{FF2B5EF4-FFF2-40B4-BE49-F238E27FC236}">
                <a16:creationId xmlns:a16="http://schemas.microsoft.com/office/drawing/2014/main" id="{8C782B0F-91EF-456F-87A1-0A92F96A4F5C}"/>
              </a:ext>
            </a:extLst>
          </p:cNvPr>
          <p:cNvSpPr/>
          <p:nvPr/>
        </p:nvSpPr>
        <p:spPr>
          <a:xfrm>
            <a:off x="5584260" y="3300323"/>
            <a:ext cx="1466710" cy="794480"/>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81" name="Rectangle 80">
            <a:extLst>
              <a:ext uri="{FF2B5EF4-FFF2-40B4-BE49-F238E27FC236}">
                <a16:creationId xmlns:a16="http://schemas.microsoft.com/office/drawing/2014/main" id="{5F241449-9E55-47C7-BCB3-91852CF02441}"/>
              </a:ext>
            </a:extLst>
          </p:cNvPr>
          <p:cNvSpPr/>
          <p:nvPr/>
        </p:nvSpPr>
        <p:spPr>
          <a:xfrm>
            <a:off x="8447601" y="3311979"/>
            <a:ext cx="1408825" cy="794480"/>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82" name="Rectangle 81">
            <a:extLst>
              <a:ext uri="{FF2B5EF4-FFF2-40B4-BE49-F238E27FC236}">
                <a16:creationId xmlns:a16="http://schemas.microsoft.com/office/drawing/2014/main" id="{71C2C256-FF23-4623-9C0E-E0360A259142}"/>
              </a:ext>
            </a:extLst>
          </p:cNvPr>
          <p:cNvSpPr/>
          <p:nvPr/>
        </p:nvSpPr>
        <p:spPr>
          <a:xfrm>
            <a:off x="8528780" y="4870013"/>
            <a:ext cx="1353701" cy="1148850"/>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83" name="Rectangle 82">
            <a:extLst>
              <a:ext uri="{FF2B5EF4-FFF2-40B4-BE49-F238E27FC236}">
                <a16:creationId xmlns:a16="http://schemas.microsoft.com/office/drawing/2014/main" id="{C05D6555-8C6A-4F00-BEAF-C25E80977594}"/>
              </a:ext>
            </a:extLst>
          </p:cNvPr>
          <p:cNvSpPr/>
          <p:nvPr/>
        </p:nvSpPr>
        <p:spPr>
          <a:xfrm>
            <a:off x="9856426" y="4076858"/>
            <a:ext cx="1408825" cy="794480"/>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cxnSp>
        <p:nvCxnSpPr>
          <p:cNvPr id="84" name="Straight Arrow Connector 83">
            <a:extLst>
              <a:ext uri="{FF2B5EF4-FFF2-40B4-BE49-F238E27FC236}">
                <a16:creationId xmlns:a16="http://schemas.microsoft.com/office/drawing/2014/main" id="{465C7A6F-BC43-4085-925C-6ABDC332C145}"/>
              </a:ext>
            </a:extLst>
          </p:cNvPr>
          <p:cNvCxnSpPr>
            <a:cxnSpLocks/>
          </p:cNvCxnSpPr>
          <p:nvPr/>
        </p:nvCxnSpPr>
        <p:spPr>
          <a:xfrm>
            <a:off x="9559781" y="4158641"/>
            <a:ext cx="0" cy="714898"/>
          </a:xfrm>
          <a:prstGeom prst="straightConnector1">
            <a:avLst/>
          </a:prstGeom>
          <a:noFill/>
          <a:ln w="25400" cap="flat">
            <a:solidFill>
              <a:srgbClr val="000000"/>
            </a:solidFill>
            <a:prstDash val="solid"/>
            <a:miter lim="400000"/>
            <a:headEnd type="triangle"/>
            <a:tailEnd type="triangle"/>
          </a:ln>
          <a:effectLst/>
          <a:sp3d/>
        </p:spPr>
      </p:cxnSp>
      <p:sp>
        <p:nvSpPr>
          <p:cNvPr id="85" name="Rectangle 84">
            <a:extLst>
              <a:ext uri="{FF2B5EF4-FFF2-40B4-BE49-F238E27FC236}">
                <a16:creationId xmlns:a16="http://schemas.microsoft.com/office/drawing/2014/main" id="{810CBD96-DCE5-471D-A594-D0963E547A2D}"/>
              </a:ext>
            </a:extLst>
          </p:cNvPr>
          <p:cNvSpPr/>
          <p:nvPr/>
        </p:nvSpPr>
        <p:spPr>
          <a:xfrm>
            <a:off x="4644670" y="4076858"/>
            <a:ext cx="1393474" cy="389895"/>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cxnSp>
        <p:nvCxnSpPr>
          <p:cNvPr id="86" name="Straight Arrow Connector 85">
            <a:extLst>
              <a:ext uri="{FF2B5EF4-FFF2-40B4-BE49-F238E27FC236}">
                <a16:creationId xmlns:a16="http://schemas.microsoft.com/office/drawing/2014/main" id="{EF728F98-BEBD-488A-9D86-FF8E7ED940E2}"/>
              </a:ext>
            </a:extLst>
          </p:cNvPr>
          <p:cNvCxnSpPr/>
          <p:nvPr/>
        </p:nvCxnSpPr>
        <p:spPr>
          <a:xfrm flipV="1">
            <a:off x="4902642" y="3341773"/>
            <a:ext cx="0" cy="1124980"/>
          </a:xfrm>
          <a:prstGeom prst="straightConnector1">
            <a:avLst/>
          </a:prstGeom>
          <a:noFill/>
          <a:ln w="25400" cap="flat">
            <a:solidFill>
              <a:srgbClr val="000000"/>
            </a:solidFill>
            <a:prstDash val="solid"/>
            <a:miter lim="400000"/>
            <a:headEnd type="triangle"/>
            <a:tailEnd type="triangle"/>
          </a:ln>
          <a:effectLst/>
          <a:sp3d/>
        </p:spPr>
      </p:cxnSp>
      <p:cxnSp>
        <p:nvCxnSpPr>
          <p:cNvPr id="87" name="Straight Arrow Connector 86">
            <a:extLst>
              <a:ext uri="{FF2B5EF4-FFF2-40B4-BE49-F238E27FC236}">
                <a16:creationId xmlns:a16="http://schemas.microsoft.com/office/drawing/2014/main" id="{A787929F-4205-4A86-8562-60C7166BA35D}"/>
              </a:ext>
            </a:extLst>
          </p:cNvPr>
          <p:cNvCxnSpPr>
            <a:cxnSpLocks/>
          </p:cNvCxnSpPr>
          <p:nvPr/>
        </p:nvCxnSpPr>
        <p:spPr>
          <a:xfrm flipV="1">
            <a:off x="5174782" y="4076858"/>
            <a:ext cx="0" cy="389895"/>
          </a:xfrm>
          <a:prstGeom prst="straightConnector1">
            <a:avLst/>
          </a:prstGeom>
          <a:noFill/>
          <a:ln w="25400" cap="flat">
            <a:solidFill>
              <a:srgbClr val="000000"/>
            </a:solidFill>
            <a:prstDash val="solid"/>
            <a:miter lim="400000"/>
            <a:headEnd type="triangle"/>
            <a:tailEnd type="triangle"/>
          </a:ln>
          <a:effectLst/>
          <a:sp3d/>
        </p:spPr>
      </p:cxnSp>
      <p:sp>
        <p:nvSpPr>
          <p:cNvPr id="88" name="Rectangle 87">
            <a:extLst>
              <a:ext uri="{FF2B5EF4-FFF2-40B4-BE49-F238E27FC236}">
                <a16:creationId xmlns:a16="http://schemas.microsoft.com/office/drawing/2014/main" id="{571B7DE0-828A-4434-80B0-A60368240416}"/>
              </a:ext>
            </a:extLst>
          </p:cNvPr>
          <p:cNvSpPr/>
          <p:nvPr/>
        </p:nvSpPr>
        <p:spPr>
          <a:xfrm>
            <a:off x="4647025" y="2482701"/>
            <a:ext cx="1430182" cy="794480"/>
          </a:xfrm>
          <a:prstGeom prst="rect">
            <a:avLst/>
          </a:prstGeom>
          <a:noFill/>
          <a:ln w="38100" cap="flat">
            <a:solidFill>
              <a:srgbClr val="FF0000"/>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89" name="Oval 88">
            <a:extLst>
              <a:ext uri="{FF2B5EF4-FFF2-40B4-BE49-F238E27FC236}">
                <a16:creationId xmlns:a16="http://schemas.microsoft.com/office/drawing/2014/main" id="{C772ECFA-76C3-470A-8C80-B9B2E7FDB0CC}"/>
              </a:ext>
            </a:extLst>
          </p:cNvPr>
          <p:cNvSpPr/>
          <p:nvPr/>
        </p:nvSpPr>
        <p:spPr>
          <a:xfrm>
            <a:off x="9762509" y="3972726"/>
            <a:ext cx="171419" cy="217028"/>
          </a:xfrm>
          <a:prstGeom prst="ellipse">
            <a:avLst/>
          </a:prstGeom>
          <a:noFill/>
          <a:ln w="12700" cap="flat">
            <a:solidFill>
              <a:srgbClr val="004A86">
                <a:lumMod val="60000"/>
                <a:lumOff val="40000"/>
              </a:srgbClr>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90" name="Oval 89">
            <a:extLst>
              <a:ext uri="{FF2B5EF4-FFF2-40B4-BE49-F238E27FC236}">
                <a16:creationId xmlns:a16="http://schemas.microsoft.com/office/drawing/2014/main" id="{C6853CD7-9D06-4BB8-B9CC-4561E1D64A0B}"/>
              </a:ext>
            </a:extLst>
          </p:cNvPr>
          <p:cNvSpPr/>
          <p:nvPr/>
        </p:nvSpPr>
        <p:spPr>
          <a:xfrm>
            <a:off x="9775439" y="4731828"/>
            <a:ext cx="171419" cy="217028"/>
          </a:xfrm>
          <a:prstGeom prst="ellipse">
            <a:avLst/>
          </a:prstGeom>
          <a:noFill/>
          <a:ln w="12700" cap="flat">
            <a:solidFill>
              <a:srgbClr val="004A86">
                <a:lumMod val="60000"/>
                <a:lumOff val="40000"/>
              </a:srgbClr>
            </a:solidFill>
            <a:miter lim="400000"/>
          </a:ln>
          <a:effectLst/>
          <a:sp3d/>
        </p:spPr>
        <p:txBody>
          <a:bodyPr rot="0" spcFirstLastPara="1" vertOverflow="overflow" horzOverflow="overflow" vert="horz" wrap="square" lIns="50800" tIns="50800" rIns="50800" bIns="50800" numCol="1" spcCol="38100" rtlCol="0" anchor="ctr">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3200" b="0" i="0" u="none" strike="noStrike" kern="0" cap="none" spc="0" normalizeH="0" baseline="0" noProof="0">
              <a:ln>
                <a:noFill/>
              </a:ln>
              <a:solidFill>
                <a:srgbClr val="FFFFFF"/>
              </a:solidFill>
              <a:effectLst/>
              <a:uLnTx/>
              <a:uFillTx/>
              <a:latin typeface="Helvetica Neue Medium"/>
              <a:ea typeface="Helvetica Neue Medium"/>
              <a:cs typeface="Helvetica Neue Medium"/>
              <a:sym typeface="Helvetica Neue Medium"/>
            </a:endParaRPr>
          </a:p>
        </p:txBody>
      </p:sp>
      <p:sp>
        <p:nvSpPr>
          <p:cNvPr id="91" name="TextBox 90">
            <a:extLst>
              <a:ext uri="{FF2B5EF4-FFF2-40B4-BE49-F238E27FC236}">
                <a16:creationId xmlns:a16="http://schemas.microsoft.com/office/drawing/2014/main" id="{D0BEDB25-BEEA-47A7-9AEA-2715A162E983}"/>
              </a:ext>
            </a:extLst>
          </p:cNvPr>
          <p:cNvSpPr txBox="1"/>
          <p:nvPr/>
        </p:nvSpPr>
        <p:spPr>
          <a:xfrm>
            <a:off x="5206823" y="4209553"/>
            <a:ext cx="1210268" cy="215444"/>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Intel Clear"/>
                <a:sym typeface="Helvetica Neue"/>
              </a:rPr>
              <a:t>Half cell height</a:t>
            </a:r>
          </a:p>
        </p:txBody>
      </p:sp>
      <p:cxnSp>
        <p:nvCxnSpPr>
          <p:cNvPr id="92" name="Straight Arrow Connector 91">
            <a:extLst>
              <a:ext uri="{FF2B5EF4-FFF2-40B4-BE49-F238E27FC236}">
                <a16:creationId xmlns:a16="http://schemas.microsoft.com/office/drawing/2014/main" id="{7D8725BA-42AE-4244-8B4B-56D450AD6159}"/>
              </a:ext>
            </a:extLst>
          </p:cNvPr>
          <p:cNvCxnSpPr>
            <a:stCxn id="89" idx="7"/>
          </p:cNvCxnSpPr>
          <p:nvPr/>
        </p:nvCxnSpPr>
        <p:spPr>
          <a:xfrm flipV="1">
            <a:off x="9908824" y="3759444"/>
            <a:ext cx="405288" cy="245065"/>
          </a:xfrm>
          <a:prstGeom prst="straightConnector1">
            <a:avLst/>
          </a:prstGeom>
          <a:noFill/>
          <a:ln w="25400" cap="flat">
            <a:solidFill>
              <a:srgbClr val="000000"/>
            </a:solidFill>
            <a:prstDash val="solid"/>
            <a:miter lim="400000"/>
            <a:tailEnd type="triangle"/>
          </a:ln>
          <a:effectLst/>
          <a:sp3d/>
        </p:spPr>
      </p:cxnSp>
      <p:sp>
        <p:nvSpPr>
          <p:cNvPr id="93" name="TextBox 92">
            <a:extLst>
              <a:ext uri="{FF2B5EF4-FFF2-40B4-BE49-F238E27FC236}">
                <a16:creationId xmlns:a16="http://schemas.microsoft.com/office/drawing/2014/main" id="{28E424BB-2B44-4067-B6FD-B86697CC225E}"/>
              </a:ext>
            </a:extLst>
          </p:cNvPr>
          <p:cNvSpPr txBox="1"/>
          <p:nvPr/>
        </p:nvSpPr>
        <p:spPr>
          <a:xfrm>
            <a:off x="10036923" y="3466360"/>
            <a:ext cx="1686359" cy="215444"/>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004A86"/>
                </a:solidFill>
                <a:effectLst/>
                <a:uLnTx/>
                <a:uFillTx/>
                <a:latin typeface="Intel Clear"/>
                <a:sym typeface="Helvetica Neue"/>
              </a:rPr>
              <a:t>2-point touch corner</a:t>
            </a:r>
          </a:p>
        </p:txBody>
      </p:sp>
      <p:cxnSp>
        <p:nvCxnSpPr>
          <p:cNvPr id="94" name="Straight Arrow Connector 93">
            <a:extLst>
              <a:ext uri="{FF2B5EF4-FFF2-40B4-BE49-F238E27FC236}">
                <a16:creationId xmlns:a16="http://schemas.microsoft.com/office/drawing/2014/main" id="{26689173-8491-4EC8-B6E2-7C7B1878A27F}"/>
              </a:ext>
            </a:extLst>
          </p:cNvPr>
          <p:cNvCxnSpPr>
            <a:cxnSpLocks/>
          </p:cNvCxnSpPr>
          <p:nvPr/>
        </p:nvCxnSpPr>
        <p:spPr>
          <a:xfrm flipV="1">
            <a:off x="9922695" y="3747733"/>
            <a:ext cx="442820" cy="1056136"/>
          </a:xfrm>
          <a:prstGeom prst="straightConnector1">
            <a:avLst/>
          </a:prstGeom>
          <a:noFill/>
          <a:ln w="25400" cap="flat">
            <a:solidFill>
              <a:srgbClr val="000000"/>
            </a:solidFill>
            <a:prstDash val="solid"/>
            <a:miter lim="400000"/>
            <a:tailEnd type="triangle"/>
          </a:ln>
          <a:effectLst/>
          <a:sp3d/>
        </p:spPr>
      </p:cxnSp>
      <p:sp>
        <p:nvSpPr>
          <p:cNvPr id="95" name="TextBox 94">
            <a:extLst>
              <a:ext uri="{FF2B5EF4-FFF2-40B4-BE49-F238E27FC236}">
                <a16:creationId xmlns:a16="http://schemas.microsoft.com/office/drawing/2014/main" id="{E5215EAE-0B22-4E5F-9708-85185117632D}"/>
              </a:ext>
            </a:extLst>
          </p:cNvPr>
          <p:cNvSpPr txBox="1"/>
          <p:nvPr/>
        </p:nvSpPr>
        <p:spPr>
          <a:xfrm>
            <a:off x="8440653" y="4433317"/>
            <a:ext cx="1118896" cy="215444"/>
          </a:xfrm>
          <a:prstGeom prst="rect">
            <a:avLst/>
          </a:prstGeom>
          <a:noFill/>
          <a:ln w="12700" cap="flat">
            <a:noFill/>
            <a:miter lim="400000"/>
          </a:ln>
          <a:effectLst/>
          <a:sp3d/>
        </p:spPr>
        <p:txBody>
          <a:bodyPr rot="0" spcFirstLastPara="1" vertOverflow="overflow" horzOverflow="overflow" vert="horz" wrap="none" lIns="0" tIns="0" rIns="0" bIns="0" numCol="1" spcCol="38100" rtlCol="0" anchor="t" anchorCtr="0">
            <a:spAutoFit/>
          </a:bodyPr>
          <a:lstStyle/>
          <a:p>
            <a:pPr marL="0" marR="0" lvl="0" indent="0" algn="l" defTabSz="2438338" rtl="0" eaLnBrk="1" fontAlgn="auto" latinLnBrk="0" hangingPunct="0">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black"/>
                </a:solidFill>
                <a:effectLst/>
                <a:uLnTx/>
                <a:uFillTx/>
                <a:latin typeface="Intel Clear"/>
                <a:sym typeface="Helvetica Neue"/>
              </a:rPr>
              <a:t>1 x cell height</a:t>
            </a:r>
          </a:p>
        </p:txBody>
      </p:sp>
      <p:cxnSp>
        <p:nvCxnSpPr>
          <p:cNvPr id="96" name="Straight Connector 95">
            <a:extLst>
              <a:ext uri="{FF2B5EF4-FFF2-40B4-BE49-F238E27FC236}">
                <a16:creationId xmlns:a16="http://schemas.microsoft.com/office/drawing/2014/main" id="{938248C9-C7C1-46A1-9016-2B261D56E0E5}"/>
              </a:ext>
            </a:extLst>
          </p:cNvPr>
          <p:cNvCxnSpPr>
            <a:cxnSpLocks/>
          </p:cNvCxnSpPr>
          <p:nvPr/>
        </p:nvCxnSpPr>
        <p:spPr>
          <a:xfrm>
            <a:off x="4213967" y="3278419"/>
            <a:ext cx="7355890" cy="0"/>
          </a:xfrm>
          <a:prstGeom prst="line">
            <a:avLst/>
          </a:prstGeom>
          <a:noFill/>
          <a:ln w="15875" cap="flat" cmpd="sng" algn="ctr">
            <a:solidFill>
              <a:schemeClr val="bg2">
                <a:lumMod val="50000"/>
              </a:schemeClr>
            </a:solidFill>
            <a:prstDash val="sysDash"/>
          </a:ln>
          <a:effectLst/>
        </p:spPr>
      </p:cxnSp>
      <p:cxnSp>
        <p:nvCxnSpPr>
          <p:cNvPr id="97" name="Straight Connector 96">
            <a:extLst>
              <a:ext uri="{FF2B5EF4-FFF2-40B4-BE49-F238E27FC236}">
                <a16:creationId xmlns:a16="http://schemas.microsoft.com/office/drawing/2014/main" id="{DB0802A2-5FC4-4D4D-B329-506A054F067F}"/>
              </a:ext>
            </a:extLst>
          </p:cNvPr>
          <p:cNvCxnSpPr>
            <a:cxnSpLocks/>
          </p:cNvCxnSpPr>
          <p:nvPr/>
        </p:nvCxnSpPr>
        <p:spPr>
          <a:xfrm>
            <a:off x="4204325" y="2481695"/>
            <a:ext cx="7355890" cy="0"/>
          </a:xfrm>
          <a:prstGeom prst="line">
            <a:avLst/>
          </a:prstGeom>
          <a:noFill/>
          <a:ln w="15875" cap="flat" cmpd="sng" algn="ctr">
            <a:solidFill>
              <a:schemeClr val="bg2">
                <a:lumMod val="50000"/>
              </a:schemeClr>
            </a:solidFill>
            <a:prstDash val="sysDash"/>
          </a:ln>
          <a:effectLst/>
        </p:spPr>
      </p:cxnSp>
      <p:cxnSp>
        <p:nvCxnSpPr>
          <p:cNvPr id="98" name="Straight Connector 97">
            <a:extLst>
              <a:ext uri="{FF2B5EF4-FFF2-40B4-BE49-F238E27FC236}">
                <a16:creationId xmlns:a16="http://schemas.microsoft.com/office/drawing/2014/main" id="{8B35EEE0-9E1A-4325-A252-79FF67C319F1}"/>
              </a:ext>
            </a:extLst>
          </p:cNvPr>
          <p:cNvCxnSpPr>
            <a:cxnSpLocks/>
          </p:cNvCxnSpPr>
          <p:nvPr/>
        </p:nvCxnSpPr>
        <p:spPr>
          <a:xfrm>
            <a:off x="4183104" y="2101660"/>
            <a:ext cx="7355890" cy="0"/>
          </a:xfrm>
          <a:prstGeom prst="line">
            <a:avLst/>
          </a:prstGeom>
          <a:noFill/>
          <a:ln w="15875" cap="flat" cmpd="sng" algn="ctr">
            <a:solidFill>
              <a:schemeClr val="bg2">
                <a:lumMod val="50000"/>
              </a:schemeClr>
            </a:solidFill>
            <a:prstDash val="sysDash"/>
          </a:ln>
          <a:effectLst/>
        </p:spPr>
      </p:cxnSp>
      <p:cxnSp>
        <p:nvCxnSpPr>
          <p:cNvPr id="99" name="Straight Connector 98">
            <a:extLst>
              <a:ext uri="{FF2B5EF4-FFF2-40B4-BE49-F238E27FC236}">
                <a16:creationId xmlns:a16="http://schemas.microsoft.com/office/drawing/2014/main" id="{0EB1AC6D-8AFD-4E5B-B714-30305E903176}"/>
              </a:ext>
            </a:extLst>
          </p:cNvPr>
          <p:cNvCxnSpPr>
            <a:cxnSpLocks/>
          </p:cNvCxnSpPr>
          <p:nvPr/>
        </p:nvCxnSpPr>
        <p:spPr>
          <a:xfrm>
            <a:off x="4158023" y="2898383"/>
            <a:ext cx="7355890" cy="0"/>
          </a:xfrm>
          <a:prstGeom prst="line">
            <a:avLst/>
          </a:prstGeom>
          <a:noFill/>
          <a:ln w="15875" cap="flat" cmpd="sng" algn="ctr">
            <a:solidFill>
              <a:schemeClr val="bg2">
                <a:lumMod val="50000"/>
              </a:schemeClr>
            </a:solidFill>
            <a:prstDash val="sysDash"/>
          </a:ln>
          <a:effectLst/>
        </p:spPr>
      </p:cxnSp>
      <p:cxnSp>
        <p:nvCxnSpPr>
          <p:cNvPr id="100" name="Straight Connector 99">
            <a:extLst>
              <a:ext uri="{FF2B5EF4-FFF2-40B4-BE49-F238E27FC236}">
                <a16:creationId xmlns:a16="http://schemas.microsoft.com/office/drawing/2014/main" id="{C22896E4-736B-4802-86CB-1F6C5FA59D89}"/>
              </a:ext>
            </a:extLst>
          </p:cNvPr>
          <p:cNvCxnSpPr>
            <a:cxnSpLocks/>
          </p:cNvCxnSpPr>
          <p:nvPr/>
        </p:nvCxnSpPr>
        <p:spPr>
          <a:xfrm>
            <a:off x="4229400" y="3710540"/>
            <a:ext cx="7355890" cy="0"/>
          </a:xfrm>
          <a:prstGeom prst="line">
            <a:avLst/>
          </a:prstGeom>
          <a:noFill/>
          <a:ln w="15875" cap="flat" cmpd="sng" algn="ctr">
            <a:solidFill>
              <a:schemeClr val="bg2">
                <a:lumMod val="50000"/>
              </a:schemeClr>
            </a:solidFill>
            <a:prstDash val="sysDash"/>
          </a:ln>
          <a:effectLst/>
        </p:spPr>
      </p:cxnSp>
      <p:cxnSp>
        <p:nvCxnSpPr>
          <p:cNvPr id="101" name="Straight Connector 100">
            <a:extLst>
              <a:ext uri="{FF2B5EF4-FFF2-40B4-BE49-F238E27FC236}">
                <a16:creationId xmlns:a16="http://schemas.microsoft.com/office/drawing/2014/main" id="{EC94CB28-AD0F-4D01-BD70-E53F2BD1B0AE}"/>
              </a:ext>
            </a:extLst>
          </p:cNvPr>
          <p:cNvCxnSpPr>
            <a:cxnSpLocks/>
          </p:cNvCxnSpPr>
          <p:nvPr/>
        </p:nvCxnSpPr>
        <p:spPr>
          <a:xfrm>
            <a:off x="4242903" y="4106008"/>
            <a:ext cx="7355890" cy="0"/>
          </a:xfrm>
          <a:prstGeom prst="line">
            <a:avLst/>
          </a:prstGeom>
          <a:noFill/>
          <a:ln w="15875" cap="flat" cmpd="sng" algn="ctr">
            <a:solidFill>
              <a:schemeClr val="bg2">
                <a:lumMod val="50000"/>
              </a:schemeClr>
            </a:solidFill>
            <a:prstDash val="sysDash"/>
          </a:ln>
          <a:effectLst/>
        </p:spPr>
      </p:cxnSp>
      <p:cxnSp>
        <p:nvCxnSpPr>
          <p:cNvPr id="102" name="Straight Connector 101">
            <a:extLst>
              <a:ext uri="{FF2B5EF4-FFF2-40B4-BE49-F238E27FC236}">
                <a16:creationId xmlns:a16="http://schemas.microsoft.com/office/drawing/2014/main" id="{10D2FCBA-3989-40FF-AB1F-1CA59B25BA12}"/>
              </a:ext>
            </a:extLst>
          </p:cNvPr>
          <p:cNvCxnSpPr>
            <a:cxnSpLocks/>
          </p:cNvCxnSpPr>
          <p:nvPr/>
        </p:nvCxnSpPr>
        <p:spPr>
          <a:xfrm>
            <a:off x="4186958" y="4455177"/>
            <a:ext cx="7355890" cy="0"/>
          </a:xfrm>
          <a:prstGeom prst="line">
            <a:avLst/>
          </a:prstGeom>
          <a:noFill/>
          <a:ln w="15875" cap="flat" cmpd="sng" algn="ctr">
            <a:solidFill>
              <a:schemeClr val="bg2">
                <a:lumMod val="50000"/>
              </a:schemeClr>
            </a:solidFill>
            <a:prstDash val="sysDash"/>
          </a:ln>
          <a:effectLst/>
        </p:spPr>
      </p:cxnSp>
      <p:cxnSp>
        <p:nvCxnSpPr>
          <p:cNvPr id="103" name="Straight Connector 102">
            <a:extLst>
              <a:ext uri="{FF2B5EF4-FFF2-40B4-BE49-F238E27FC236}">
                <a16:creationId xmlns:a16="http://schemas.microsoft.com/office/drawing/2014/main" id="{E60C7E20-9F47-4A37-A05E-64C68C3EB3D7}"/>
              </a:ext>
            </a:extLst>
          </p:cNvPr>
          <p:cNvCxnSpPr>
            <a:cxnSpLocks/>
          </p:cNvCxnSpPr>
          <p:nvPr/>
        </p:nvCxnSpPr>
        <p:spPr>
          <a:xfrm>
            <a:off x="4188887" y="4873796"/>
            <a:ext cx="7355890" cy="0"/>
          </a:xfrm>
          <a:prstGeom prst="line">
            <a:avLst/>
          </a:prstGeom>
          <a:noFill/>
          <a:ln w="15875" cap="flat" cmpd="sng" algn="ctr">
            <a:solidFill>
              <a:schemeClr val="bg2">
                <a:lumMod val="50000"/>
              </a:schemeClr>
            </a:solidFill>
            <a:prstDash val="sysDash"/>
          </a:ln>
          <a:effectLst/>
        </p:spPr>
      </p:cxnSp>
      <p:graphicFrame>
        <p:nvGraphicFramePr>
          <p:cNvPr id="104" name="Table 103">
            <a:extLst>
              <a:ext uri="{FF2B5EF4-FFF2-40B4-BE49-F238E27FC236}">
                <a16:creationId xmlns:a16="http://schemas.microsoft.com/office/drawing/2014/main" id="{B19AFD11-96B0-4AB4-9C2B-41EC27D8E723}"/>
              </a:ext>
            </a:extLst>
          </p:cNvPr>
          <p:cNvGraphicFramePr>
            <a:graphicFrameLocks noGrp="1"/>
          </p:cNvGraphicFramePr>
          <p:nvPr/>
        </p:nvGraphicFramePr>
        <p:xfrm>
          <a:off x="215900" y="2074080"/>
          <a:ext cx="3022600" cy="1416423"/>
        </p:xfrm>
        <a:graphic>
          <a:graphicData uri="http://schemas.openxmlformats.org/drawingml/2006/table">
            <a:tbl>
              <a:tblPr firstRow="1" firstCol="1" bandRow="1"/>
              <a:tblGrid>
                <a:gridCol w="1700400">
                  <a:extLst>
                    <a:ext uri="{9D8B030D-6E8A-4147-A177-3AD203B41FA5}">
                      <a16:colId xmlns:a16="http://schemas.microsoft.com/office/drawing/2014/main" val="1825368977"/>
                    </a:ext>
                  </a:extLst>
                </a:gridCol>
                <a:gridCol w="1322200">
                  <a:extLst>
                    <a:ext uri="{9D8B030D-6E8A-4147-A177-3AD203B41FA5}">
                      <a16:colId xmlns:a16="http://schemas.microsoft.com/office/drawing/2014/main" val="2946542142"/>
                    </a:ext>
                  </a:extLst>
                </a:gridCol>
              </a:tblGrid>
              <a:tr h="334383">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400">
                          <a:effectLst/>
                        </a:rPr>
                        <a:t>Description</a:t>
                      </a:r>
                      <a:endParaRPr lang="en-US" sz="1400">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a:spcBef>
                          <a:spcPts val="0"/>
                        </a:spcBef>
                        <a:spcAft>
                          <a:spcPts val="0"/>
                        </a:spcAft>
                      </a:pPr>
                      <a:r>
                        <a:rPr lang="en-US" sz="1400">
                          <a:effectLst/>
                        </a:rPr>
                        <a:t>Spec</a:t>
                      </a:r>
                      <a:endParaRPr lang="en-US" sz="1400">
                        <a:effectLst/>
                        <a:latin typeface="Calibri" panose="020F0502020204030204" pitchFamily="34" charset="0"/>
                        <a:ea typeface="Calibri" panose="020F0502020204030204" pitchFamily="34" charset="0"/>
                      </a:endParaRP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36202169"/>
                  </a:ext>
                </a:extLst>
              </a:tr>
              <a:tr h="11317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l" defTabSz="609600" eaLnBrk="1" fontAlgn="b" latinLnBrk="0" hangingPunct="1">
                        <a:lnSpc>
                          <a:spcPct val="100000"/>
                        </a:lnSpc>
                        <a:spcBef>
                          <a:spcPts val="0"/>
                        </a:spcBef>
                        <a:spcAft>
                          <a:spcPts val="0"/>
                        </a:spcAft>
                        <a:buClrTx/>
                        <a:buSzTx/>
                        <a:buFontTx/>
                        <a:buNone/>
                        <a:tabLst/>
                      </a:pPr>
                      <a:r>
                        <a:rPr lang="en-US" sz="1400" b="0" u="none" strike="noStrike" cap="none" spc="0" baseline="0">
                          <a:solidFill>
                            <a:sysClr val="windowText" lastClr="000000"/>
                          </a:solidFill>
                          <a:effectLst/>
                          <a:uFillTx/>
                          <a:sym typeface="Intel Clear"/>
                        </a:rPr>
                        <a:t>segment length between 2 point-touch corners, minimum [PGD and OGD]</a:t>
                      </a:r>
                      <a:endParaRPr lang="en-US" sz="1400" b="0" i="0" u="none" strike="noStrike" cap="none" spc="0" baseline="0">
                        <a:solidFill>
                          <a:sysClr val="windowText" lastClr="000000"/>
                        </a:solidFill>
                        <a:effectLst/>
                        <a:uFillTx/>
                        <a:latin typeface="+mn-lt"/>
                        <a:ea typeface="+mn-ea"/>
                        <a:cs typeface="+mn-cs"/>
                        <a:sym typeface="Intel Clear"/>
                      </a:endParaRPr>
                    </a:p>
                  </a:txBody>
                  <a:tcPr marL="7620" marR="7620" marT="762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u="none" strike="noStrike" cap="none" spc="0" baseline="0">
                          <a:solidFill>
                            <a:schemeClr val="tx1"/>
                          </a:solidFill>
                          <a:effectLst/>
                          <a:uFillTx/>
                          <a:sym typeface="Intel Clear"/>
                        </a:rPr>
                        <a:t>96</a:t>
                      </a:r>
                      <a:endParaRPr lang="en-US" sz="1400" b="0" i="0" u="none" strike="noStrike" cap="none" spc="0" baseline="0">
                        <a:solidFill>
                          <a:schemeClr val="tx1"/>
                        </a:solidFill>
                        <a:effectLst/>
                        <a:uFillTx/>
                        <a:latin typeface="+mn-lt"/>
                        <a:ea typeface="+mn-ea"/>
                        <a:cs typeface="+mn-cs"/>
                        <a:sym typeface="Intel Clear"/>
                      </a:endParaRPr>
                    </a:p>
                  </a:txBody>
                  <a:tcPr marL="43104" marR="43104"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2982736449"/>
                  </a:ext>
                </a:extLst>
              </a:tr>
              <a:tr h="20064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indent="0" algn="l" defTabSz="609600" eaLnBrk="1" fontAlgn="b" latinLnBrk="0" hangingPunct="1">
                        <a:lnSpc>
                          <a:spcPct val="100000"/>
                        </a:lnSpc>
                        <a:spcBef>
                          <a:spcPts val="0"/>
                        </a:spcBef>
                        <a:spcAft>
                          <a:spcPts val="0"/>
                        </a:spcAft>
                        <a:buClrTx/>
                        <a:buSzTx/>
                        <a:buFontTx/>
                        <a:buNone/>
                        <a:tabLst/>
                      </a:pPr>
                      <a:r>
                        <a:rPr lang="en-US" sz="1400" b="0" u="none" strike="noStrike" cap="none" spc="0" baseline="0">
                          <a:solidFill>
                            <a:sysClr val="windowText" lastClr="000000"/>
                          </a:solidFill>
                          <a:effectLst/>
                          <a:uFillTx/>
                          <a:sym typeface="Intel Clear"/>
                        </a:rPr>
                        <a:t>Min. devflavID pitch</a:t>
                      </a:r>
                      <a:endParaRPr lang="en-US" sz="1400" b="0" i="0" u="none" strike="noStrike" cap="none" spc="0" baseline="0">
                        <a:solidFill>
                          <a:sysClr val="windowText" lastClr="000000"/>
                        </a:solidFill>
                        <a:effectLst/>
                        <a:uFillTx/>
                        <a:latin typeface="+mn-lt"/>
                        <a:ea typeface="+mn-ea"/>
                        <a:cs typeface="+mn-cs"/>
                        <a:sym typeface="Intel Clear"/>
                      </a:endParaRPr>
                    </a:p>
                  </a:txBody>
                  <a:tcPr marL="7620" marR="7620" marT="762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indent="0" algn="ctr" defTabSz="609600" eaLnBrk="1" latinLnBrk="0" hangingPunct="1">
                        <a:lnSpc>
                          <a:spcPct val="100000"/>
                        </a:lnSpc>
                        <a:spcBef>
                          <a:spcPts val="0"/>
                        </a:spcBef>
                        <a:spcAft>
                          <a:spcPts val="0"/>
                        </a:spcAft>
                        <a:buClrTx/>
                        <a:buSzTx/>
                        <a:buFontTx/>
                        <a:buNone/>
                        <a:tabLst/>
                      </a:pPr>
                      <a:r>
                        <a:rPr lang="en-US" sz="1400" b="0" u="none" strike="noStrike" cap="none" spc="0" baseline="0">
                          <a:solidFill>
                            <a:schemeClr val="tx1"/>
                          </a:solidFill>
                          <a:effectLst/>
                          <a:uFillTx/>
                          <a:sym typeface="Intel Clear"/>
                        </a:rPr>
                        <a:t>144</a:t>
                      </a:r>
                    </a:p>
                  </a:txBody>
                  <a:tcPr marL="43104" marR="43104"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lumMod val="20000"/>
                        <a:lumOff val="80000"/>
                      </a:srgbClr>
                    </a:solidFill>
                  </a:tcPr>
                </a:tc>
                <a:extLst>
                  <a:ext uri="{0D108BD9-81ED-4DB2-BD59-A6C34878D82A}">
                    <a16:rowId xmlns:a16="http://schemas.microsoft.com/office/drawing/2014/main" val="1346854441"/>
                  </a:ext>
                </a:extLst>
              </a:tr>
            </a:tbl>
          </a:graphicData>
        </a:graphic>
      </p:graphicFrame>
      <p:sp>
        <p:nvSpPr>
          <p:cNvPr id="105" name="TextBox 104">
            <a:extLst>
              <a:ext uri="{FF2B5EF4-FFF2-40B4-BE49-F238E27FC236}">
                <a16:creationId xmlns:a16="http://schemas.microsoft.com/office/drawing/2014/main" id="{CAC2D48A-A85A-4674-B3BE-F923323C5962}"/>
              </a:ext>
            </a:extLst>
          </p:cNvPr>
          <p:cNvSpPr txBox="1"/>
          <p:nvPr/>
        </p:nvSpPr>
        <p:spPr>
          <a:xfrm>
            <a:off x="178895" y="809042"/>
            <a:ext cx="9409605" cy="830997"/>
          </a:xfrm>
          <a:prstGeom prst="rect">
            <a:avLst/>
          </a:prstGeom>
          <a:noFill/>
        </p:spPr>
        <p:txBody>
          <a:bodyPr wrap="square" rtlCol="0">
            <a:spAutoFit/>
          </a:bodyPr>
          <a:lstStyle>
            <a:defPPr>
              <a:defRPr lang="en-US"/>
            </a:defPPr>
            <a:lvl1pPr marL="285750" indent="-285750">
              <a:buFont typeface="Wingdings" panose="05000000000000000000" pitchFamily="2" charset="2"/>
              <a:buChar char="q"/>
              <a:defRPr sz="2400"/>
            </a:lvl1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PGD pitch of 1.5 x cell height required</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a:ln>
                  <a:noFill/>
                </a:ln>
                <a:solidFill>
                  <a:prstClr val="black"/>
                </a:solidFill>
                <a:effectLst/>
                <a:uLnTx/>
                <a:uFillTx/>
                <a:latin typeface="Calibri" panose="020F0502020204030204"/>
              </a:rPr>
              <a:t> No vt transition at DKA (other than nlvt</a:t>
            </a:r>
            <a:r>
              <a:rPr lang="en-US">
                <a:solidFill>
                  <a:prstClr val="black"/>
                </a:solidFill>
                <a:latin typeface="Calibri" panose="020F0502020204030204"/>
              </a:rPr>
              <a:t>-</a:t>
            </a:r>
            <a:r>
              <a:rPr kumimoji="0" lang="en-US" sz="2400" b="0" i="0" u="none" strike="noStrike" kern="1200" cap="none" spc="0" normalizeH="0" baseline="0" noProof="0">
                <a:ln>
                  <a:noFill/>
                </a:ln>
                <a:solidFill>
                  <a:prstClr val="black"/>
                </a:solidFill>
                <a:effectLst/>
                <a:uLnTx/>
                <a:uFillTx/>
                <a:latin typeface="Calibri" panose="020F0502020204030204"/>
              </a:rPr>
              <a:t>plvt, nsvt-psvt) </a:t>
            </a:r>
          </a:p>
        </p:txBody>
      </p:sp>
      <p:sp>
        <p:nvSpPr>
          <p:cNvPr id="106" name="TextBox 105">
            <a:extLst>
              <a:ext uri="{FF2B5EF4-FFF2-40B4-BE49-F238E27FC236}">
                <a16:creationId xmlns:a16="http://schemas.microsoft.com/office/drawing/2014/main" id="{DCFA5B9A-4668-48E1-A9D2-834AE260B067}"/>
              </a:ext>
            </a:extLst>
          </p:cNvPr>
          <p:cNvSpPr txBox="1"/>
          <p:nvPr/>
        </p:nvSpPr>
        <p:spPr>
          <a:xfrm>
            <a:off x="5073343" y="3472335"/>
            <a:ext cx="1356140" cy="461665"/>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PGD pitch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1.5 x cell height</a:t>
            </a:r>
          </a:p>
        </p:txBody>
      </p:sp>
      <p:sp>
        <p:nvSpPr>
          <p:cNvPr id="107" name="TextBox 106">
            <a:extLst>
              <a:ext uri="{FF2B5EF4-FFF2-40B4-BE49-F238E27FC236}">
                <a16:creationId xmlns:a16="http://schemas.microsoft.com/office/drawing/2014/main" id="{D7F7A566-B7D4-4E9B-A8F2-E6165BE9DA74}"/>
              </a:ext>
            </a:extLst>
          </p:cNvPr>
          <p:cNvSpPr txBox="1"/>
          <p:nvPr/>
        </p:nvSpPr>
        <p:spPr>
          <a:xfrm>
            <a:off x="3776662" y="2390524"/>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08" name="TextBox 107">
            <a:extLst>
              <a:ext uri="{FF2B5EF4-FFF2-40B4-BE49-F238E27FC236}">
                <a16:creationId xmlns:a16="http://schemas.microsoft.com/office/drawing/2014/main" id="{D1E6D2E1-0442-4793-85C7-61C8E7AA71FF}"/>
              </a:ext>
            </a:extLst>
          </p:cNvPr>
          <p:cNvSpPr txBox="1"/>
          <p:nvPr/>
        </p:nvSpPr>
        <p:spPr>
          <a:xfrm>
            <a:off x="3768937" y="2815361"/>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09" name="TextBox 108">
            <a:extLst>
              <a:ext uri="{FF2B5EF4-FFF2-40B4-BE49-F238E27FC236}">
                <a16:creationId xmlns:a16="http://schemas.microsoft.com/office/drawing/2014/main" id="{474509FA-D680-4A3C-B507-4F2C032B5142}"/>
              </a:ext>
            </a:extLst>
          </p:cNvPr>
          <p:cNvSpPr txBox="1"/>
          <p:nvPr/>
        </p:nvSpPr>
        <p:spPr>
          <a:xfrm>
            <a:off x="3763962" y="3241424"/>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10" name="TextBox 109">
            <a:extLst>
              <a:ext uri="{FF2B5EF4-FFF2-40B4-BE49-F238E27FC236}">
                <a16:creationId xmlns:a16="http://schemas.microsoft.com/office/drawing/2014/main" id="{15A88CA3-DA88-4648-9CD8-50B4B530D509}"/>
              </a:ext>
            </a:extLst>
          </p:cNvPr>
          <p:cNvSpPr txBox="1"/>
          <p:nvPr/>
        </p:nvSpPr>
        <p:spPr>
          <a:xfrm>
            <a:off x="3747226" y="1957196"/>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11" name="TextBox 110">
            <a:extLst>
              <a:ext uri="{FF2B5EF4-FFF2-40B4-BE49-F238E27FC236}">
                <a16:creationId xmlns:a16="http://schemas.microsoft.com/office/drawing/2014/main" id="{4AA303D1-AE23-49D9-A457-25B450616E1E}"/>
              </a:ext>
            </a:extLst>
          </p:cNvPr>
          <p:cNvSpPr txBox="1"/>
          <p:nvPr/>
        </p:nvSpPr>
        <p:spPr>
          <a:xfrm>
            <a:off x="3738562" y="3939924"/>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12" name="TextBox 111">
            <a:extLst>
              <a:ext uri="{FF2B5EF4-FFF2-40B4-BE49-F238E27FC236}">
                <a16:creationId xmlns:a16="http://schemas.microsoft.com/office/drawing/2014/main" id="{344B62A2-31BC-4637-9D64-1ADDA84B1F94}"/>
              </a:ext>
            </a:extLst>
          </p:cNvPr>
          <p:cNvSpPr txBox="1"/>
          <p:nvPr/>
        </p:nvSpPr>
        <p:spPr>
          <a:xfrm>
            <a:off x="3730837" y="4364761"/>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13" name="TextBox 112">
            <a:extLst>
              <a:ext uri="{FF2B5EF4-FFF2-40B4-BE49-F238E27FC236}">
                <a16:creationId xmlns:a16="http://schemas.microsoft.com/office/drawing/2014/main" id="{55911D60-3D65-4804-BBA5-D11D3CC8F57B}"/>
              </a:ext>
            </a:extLst>
          </p:cNvPr>
          <p:cNvSpPr txBox="1"/>
          <p:nvPr/>
        </p:nvSpPr>
        <p:spPr>
          <a:xfrm>
            <a:off x="3743537" y="3577361"/>
            <a:ext cx="28693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CRL</a:t>
            </a:r>
          </a:p>
        </p:txBody>
      </p:sp>
      <p:sp>
        <p:nvSpPr>
          <p:cNvPr id="114" name="TextBox 113">
            <a:extLst>
              <a:ext uri="{FF2B5EF4-FFF2-40B4-BE49-F238E27FC236}">
                <a16:creationId xmlns:a16="http://schemas.microsoft.com/office/drawing/2014/main" id="{091E2E2C-1439-4E09-A0E2-97470D3CEE3C}"/>
              </a:ext>
            </a:extLst>
          </p:cNvPr>
          <p:cNvSpPr txBox="1"/>
          <p:nvPr/>
        </p:nvSpPr>
        <p:spPr>
          <a:xfrm>
            <a:off x="3763962" y="4803524"/>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sp>
        <p:nvSpPr>
          <p:cNvPr id="115" name="Rectangle 114">
            <a:extLst>
              <a:ext uri="{FF2B5EF4-FFF2-40B4-BE49-F238E27FC236}">
                <a16:creationId xmlns:a16="http://schemas.microsoft.com/office/drawing/2014/main" id="{7FB7803F-3B03-4361-A008-0E2819AC6A4E}"/>
              </a:ext>
            </a:extLst>
          </p:cNvPr>
          <p:cNvSpPr/>
          <p:nvPr/>
        </p:nvSpPr>
        <p:spPr>
          <a:xfrm>
            <a:off x="457200" y="4887129"/>
            <a:ext cx="829733" cy="382185"/>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nlvt</a:t>
            </a:r>
          </a:p>
        </p:txBody>
      </p:sp>
      <p:sp>
        <p:nvSpPr>
          <p:cNvPr id="116" name="Rectangle 115">
            <a:extLst>
              <a:ext uri="{FF2B5EF4-FFF2-40B4-BE49-F238E27FC236}">
                <a16:creationId xmlns:a16="http://schemas.microsoft.com/office/drawing/2014/main" id="{8DA0BE89-C743-4D6B-A9A1-4A3908B3344D}"/>
              </a:ext>
            </a:extLst>
          </p:cNvPr>
          <p:cNvSpPr/>
          <p:nvPr/>
        </p:nvSpPr>
        <p:spPr>
          <a:xfrm>
            <a:off x="457200" y="5269315"/>
            <a:ext cx="829733" cy="382185"/>
          </a:xfrm>
          <a:prstGeom prst="rect">
            <a:avLst/>
          </a:prstGeom>
          <a:solidFill>
            <a:srgbClr val="FF9933"/>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Calibri" panose="020F0502020204030204"/>
                <a:ea typeface="+mn-ea"/>
                <a:cs typeface="+mn-cs"/>
              </a:rPr>
              <a:t>psvt</a:t>
            </a:r>
          </a:p>
        </p:txBody>
      </p:sp>
      <p:sp>
        <p:nvSpPr>
          <p:cNvPr id="117" name="Rectangle 116">
            <a:extLst>
              <a:ext uri="{FF2B5EF4-FFF2-40B4-BE49-F238E27FC236}">
                <a16:creationId xmlns:a16="http://schemas.microsoft.com/office/drawing/2014/main" id="{94896C6C-1921-4837-B6D6-83E899C52124}"/>
              </a:ext>
            </a:extLst>
          </p:cNvPr>
          <p:cNvSpPr/>
          <p:nvPr/>
        </p:nvSpPr>
        <p:spPr>
          <a:xfrm>
            <a:off x="2116667" y="4876800"/>
            <a:ext cx="829733" cy="382185"/>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ea typeface="+mn-ea"/>
                <a:cs typeface="+mn-cs"/>
              </a:rPr>
              <a:t>nlvt</a:t>
            </a:r>
          </a:p>
        </p:txBody>
      </p:sp>
      <p:sp>
        <p:nvSpPr>
          <p:cNvPr id="118" name="Rectangle 117">
            <a:extLst>
              <a:ext uri="{FF2B5EF4-FFF2-40B4-BE49-F238E27FC236}">
                <a16:creationId xmlns:a16="http://schemas.microsoft.com/office/drawing/2014/main" id="{43BD3CDC-604F-44FE-AF69-9B8B857B5101}"/>
              </a:ext>
            </a:extLst>
          </p:cNvPr>
          <p:cNvSpPr/>
          <p:nvPr/>
        </p:nvSpPr>
        <p:spPr>
          <a:xfrm>
            <a:off x="2116667" y="5258985"/>
            <a:ext cx="829733" cy="382185"/>
          </a:xfrm>
          <a:prstGeom prst="rect">
            <a:avLst/>
          </a:prstGeom>
          <a:solidFill>
            <a:srgbClr val="FF9933"/>
          </a:solidFill>
          <a:ln w="12700" cap="flat" cmpd="sng" algn="ctr">
            <a:solidFill>
              <a:srgbClr val="4472C4">
                <a:shade val="5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Calibri" panose="020F0502020204030204"/>
                <a:ea typeface="+mn-ea"/>
                <a:cs typeface="+mn-cs"/>
              </a:rPr>
              <a:t>plvt</a:t>
            </a:r>
          </a:p>
        </p:txBody>
      </p:sp>
      <p:cxnSp>
        <p:nvCxnSpPr>
          <p:cNvPr id="119" name="Straight Connector 118">
            <a:extLst>
              <a:ext uri="{FF2B5EF4-FFF2-40B4-BE49-F238E27FC236}">
                <a16:creationId xmlns:a16="http://schemas.microsoft.com/office/drawing/2014/main" id="{2115E25D-4D50-44F6-8D6C-99F4D3DECE3D}"/>
              </a:ext>
            </a:extLst>
          </p:cNvPr>
          <p:cNvCxnSpPr>
            <a:cxnSpLocks/>
          </p:cNvCxnSpPr>
          <p:nvPr/>
        </p:nvCxnSpPr>
        <p:spPr>
          <a:xfrm>
            <a:off x="162987" y="5267496"/>
            <a:ext cx="3177113" cy="0"/>
          </a:xfrm>
          <a:prstGeom prst="line">
            <a:avLst/>
          </a:prstGeom>
          <a:noFill/>
          <a:ln w="15875" cap="flat" cmpd="sng" algn="ctr">
            <a:solidFill>
              <a:srgbClr val="FF0000"/>
            </a:solidFill>
            <a:prstDash val="sysDash"/>
          </a:ln>
          <a:effectLst/>
        </p:spPr>
      </p:cxnSp>
      <p:sp>
        <p:nvSpPr>
          <p:cNvPr id="120" name="TextBox 119">
            <a:extLst>
              <a:ext uri="{FF2B5EF4-FFF2-40B4-BE49-F238E27FC236}">
                <a16:creationId xmlns:a16="http://schemas.microsoft.com/office/drawing/2014/main" id="{CC8F6B62-322B-4BD0-B452-37239B451005}"/>
              </a:ext>
            </a:extLst>
          </p:cNvPr>
          <p:cNvSpPr txBox="1"/>
          <p:nvPr/>
        </p:nvSpPr>
        <p:spPr>
          <a:xfrm>
            <a:off x="3484562" y="5171824"/>
            <a:ext cx="315792"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dka</a:t>
            </a:r>
          </a:p>
        </p:txBody>
      </p:sp>
      <p:grpSp>
        <p:nvGrpSpPr>
          <p:cNvPr id="121" name="Group 120">
            <a:extLst>
              <a:ext uri="{FF2B5EF4-FFF2-40B4-BE49-F238E27FC236}">
                <a16:creationId xmlns:a16="http://schemas.microsoft.com/office/drawing/2014/main" id="{CE4B6AAF-5B73-44CB-A7D8-960C7B4C6353}"/>
              </a:ext>
            </a:extLst>
          </p:cNvPr>
          <p:cNvGrpSpPr/>
          <p:nvPr/>
        </p:nvGrpSpPr>
        <p:grpSpPr>
          <a:xfrm>
            <a:off x="411704" y="4590342"/>
            <a:ext cx="919981" cy="1188158"/>
            <a:chOff x="7989775" y="3086100"/>
            <a:chExt cx="316026" cy="432018"/>
          </a:xfrm>
        </p:grpSpPr>
        <p:cxnSp>
          <p:nvCxnSpPr>
            <p:cNvPr id="122" name="Straight Connector 121">
              <a:extLst>
                <a:ext uri="{FF2B5EF4-FFF2-40B4-BE49-F238E27FC236}">
                  <a16:creationId xmlns:a16="http://schemas.microsoft.com/office/drawing/2014/main" id="{1F248AD5-A3A4-4719-B7C8-1952DDC5CD20}"/>
                </a:ext>
              </a:extLst>
            </p:cNvPr>
            <p:cNvCxnSpPr>
              <a:cxnSpLocks/>
            </p:cNvCxnSpPr>
            <p:nvPr/>
          </p:nvCxnSpPr>
          <p:spPr>
            <a:xfrm>
              <a:off x="7989775" y="3125920"/>
              <a:ext cx="303325" cy="391980"/>
            </a:xfrm>
            <a:prstGeom prst="line">
              <a:avLst/>
            </a:prstGeom>
            <a:noFill/>
            <a:ln w="38100" cap="flat" cmpd="sng" algn="ctr">
              <a:solidFill>
                <a:srgbClr val="FF0000"/>
              </a:solidFill>
              <a:prstDash val="solid"/>
              <a:miter lim="800000"/>
            </a:ln>
            <a:effectLst/>
          </p:spPr>
        </p:cxnSp>
        <p:cxnSp>
          <p:nvCxnSpPr>
            <p:cNvPr id="123" name="Straight Connector 122">
              <a:extLst>
                <a:ext uri="{FF2B5EF4-FFF2-40B4-BE49-F238E27FC236}">
                  <a16:creationId xmlns:a16="http://schemas.microsoft.com/office/drawing/2014/main" id="{AFD6AD6C-4B59-4477-8A9E-87F6AFF1CE85}"/>
                </a:ext>
              </a:extLst>
            </p:cNvPr>
            <p:cNvCxnSpPr>
              <a:cxnSpLocks/>
            </p:cNvCxnSpPr>
            <p:nvPr/>
          </p:nvCxnSpPr>
          <p:spPr>
            <a:xfrm flipH="1">
              <a:off x="7989775" y="3086100"/>
              <a:ext cx="316026" cy="432018"/>
            </a:xfrm>
            <a:prstGeom prst="line">
              <a:avLst/>
            </a:prstGeom>
            <a:noFill/>
            <a:ln w="38100" cap="flat" cmpd="sng" algn="ctr">
              <a:solidFill>
                <a:srgbClr val="FF0000"/>
              </a:solidFill>
              <a:prstDash val="solid"/>
              <a:miter lim="800000"/>
            </a:ln>
            <a:effectLst/>
          </p:spPr>
        </p:cxnSp>
      </p:grpSp>
      <p:sp>
        <p:nvSpPr>
          <p:cNvPr id="2" name="Rectangle 114">
            <a:extLst>
              <a:ext uri="{FF2B5EF4-FFF2-40B4-BE49-F238E27FC236}">
                <a16:creationId xmlns:a16="http://schemas.microsoft.com/office/drawing/2014/main" id="{BDC86750-87DC-1223-FFB1-CD7EC717DAB7}"/>
              </a:ext>
            </a:extLst>
          </p:cNvPr>
          <p:cNvSpPr>
            <a:spLocks noChangeArrowheads="1"/>
          </p:cNvSpPr>
          <p:nvPr/>
        </p:nvSpPr>
        <p:spPr bwMode="auto">
          <a:xfrm>
            <a:off x="10314112" y="6135953"/>
            <a:ext cx="340993" cy="266556"/>
          </a:xfrm>
          <a:prstGeom prst="rect">
            <a:avLst/>
          </a:prstGeom>
          <a:noFill/>
          <a:ln w="50800">
            <a:solidFill>
              <a:srgbClr val="FF0000"/>
            </a:solidFill>
            <a:miter lim="800000"/>
            <a:headEnd/>
            <a:tailEnd/>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black"/>
              </a:solidFill>
              <a:effectLst/>
              <a:uLnTx/>
              <a:uFillTx/>
              <a:latin typeface="Arial" charset="0"/>
              <a:cs typeface="Arial" charset="0"/>
              <a:sym typeface="Helvetica Neue"/>
            </a:endParaRPr>
          </a:p>
        </p:txBody>
      </p:sp>
      <p:sp>
        <p:nvSpPr>
          <p:cNvPr id="3" name="TextBox 2">
            <a:extLst>
              <a:ext uri="{FF2B5EF4-FFF2-40B4-BE49-F238E27FC236}">
                <a16:creationId xmlns:a16="http://schemas.microsoft.com/office/drawing/2014/main" id="{51B3512A-CC06-7578-74DE-0B6C5C2A9CC2}"/>
              </a:ext>
            </a:extLst>
          </p:cNvPr>
          <p:cNvSpPr txBox="1"/>
          <p:nvPr/>
        </p:nvSpPr>
        <p:spPr>
          <a:xfrm>
            <a:off x="10791213" y="6128474"/>
            <a:ext cx="383118" cy="230832"/>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black"/>
                </a:solidFill>
                <a:effectLst/>
                <a:uLnTx/>
                <a:uFillTx/>
                <a:latin typeface="Intel Clear"/>
                <a:sym typeface="Helvetica Neue"/>
              </a:rPr>
              <a:t>Vt ID</a:t>
            </a:r>
          </a:p>
        </p:txBody>
      </p:sp>
    </p:spTree>
    <p:extLst>
      <p:ext uri="{BB962C8B-B14F-4D97-AF65-F5344CB8AC3E}">
        <p14:creationId xmlns:p14="http://schemas.microsoft.com/office/powerpoint/2010/main" val="21745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85422-53F6-D1E5-ADFD-1F52B5E3A320}"/>
              </a:ext>
            </a:extLst>
          </p:cNvPr>
          <p:cNvSpPr>
            <a:spLocks noGrp="1"/>
          </p:cNvSpPr>
          <p:nvPr>
            <p:ph type="title"/>
          </p:nvPr>
        </p:nvSpPr>
        <p:spPr>
          <a:xfrm>
            <a:off x="326572" y="136525"/>
            <a:ext cx="10515600" cy="1325563"/>
          </a:xfrm>
        </p:spPr>
        <p:txBody>
          <a:bodyPr/>
          <a:lstStyle/>
          <a:p>
            <a:r>
              <a:rPr lang="en-US"/>
              <a:t>Drawn Tap Ids/ Usages in X81A</a:t>
            </a:r>
          </a:p>
        </p:txBody>
      </p:sp>
      <p:graphicFrame>
        <p:nvGraphicFramePr>
          <p:cNvPr id="8" name="Table 7">
            <a:extLst>
              <a:ext uri="{FF2B5EF4-FFF2-40B4-BE49-F238E27FC236}">
                <a16:creationId xmlns:a16="http://schemas.microsoft.com/office/drawing/2014/main" id="{D23A9815-AD83-B4C7-0210-D17586436A3D}"/>
              </a:ext>
            </a:extLst>
          </p:cNvPr>
          <p:cNvGraphicFramePr>
            <a:graphicFrameLocks noGrp="1"/>
          </p:cNvGraphicFramePr>
          <p:nvPr>
            <p:extLst>
              <p:ext uri="{D42A27DB-BD31-4B8C-83A1-F6EECF244321}">
                <p14:modId xmlns:p14="http://schemas.microsoft.com/office/powerpoint/2010/main" val="3290964116"/>
              </p:ext>
            </p:extLst>
          </p:nvPr>
        </p:nvGraphicFramePr>
        <p:xfrm>
          <a:off x="530676" y="1453896"/>
          <a:ext cx="10736037" cy="3324935"/>
        </p:xfrm>
        <a:graphic>
          <a:graphicData uri="http://schemas.openxmlformats.org/drawingml/2006/table">
            <a:tbl>
              <a:tblPr/>
              <a:tblGrid>
                <a:gridCol w="3823610">
                  <a:extLst>
                    <a:ext uri="{9D8B030D-6E8A-4147-A177-3AD203B41FA5}">
                      <a16:colId xmlns:a16="http://schemas.microsoft.com/office/drawing/2014/main" val="2949459662"/>
                    </a:ext>
                  </a:extLst>
                </a:gridCol>
                <a:gridCol w="1167895">
                  <a:extLst>
                    <a:ext uri="{9D8B030D-6E8A-4147-A177-3AD203B41FA5}">
                      <a16:colId xmlns:a16="http://schemas.microsoft.com/office/drawing/2014/main" val="3101716030"/>
                    </a:ext>
                  </a:extLst>
                </a:gridCol>
                <a:gridCol w="1914844">
                  <a:extLst>
                    <a:ext uri="{9D8B030D-6E8A-4147-A177-3AD203B41FA5}">
                      <a16:colId xmlns:a16="http://schemas.microsoft.com/office/drawing/2014/main" val="1368258909"/>
                    </a:ext>
                  </a:extLst>
                </a:gridCol>
                <a:gridCol w="1914844">
                  <a:extLst>
                    <a:ext uri="{9D8B030D-6E8A-4147-A177-3AD203B41FA5}">
                      <a16:colId xmlns:a16="http://schemas.microsoft.com/office/drawing/2014/main" val="138282428"/>
                    </a:ext>
                  </a:extLst>
                </a:gridCol>
                <a:gridCol w="1914844">
                  <a:extLst>
                    <a:ext uri="{9D8B030D-6E8A-4147-A177-3AD203B41FA5}">
                      <a16:colId xmlns:a16="http://schemas.microsoft.com/office/drawing/2014/main" val="3757060518"/>
                    </a:ext>
                  </a:extLst>
                </a:gridCol>
              </a:tblGrid>
              <a:tr h="404718">
                <a:tc>
                  <a:txBody>
                    <a:bodyPr/>
                    <a:lstStyle/>
                    <a:p>
                      <a:pPr algn="l" fontAlgn="b">
                        <a:buNone/>
                      </a:pPr>
                      <a:r>
                        <a:rPr lang="en-US" sz="1800" b="1" i="0" u="none" strike="noStrike">
                          <a:solidFill>
                            <a:srgbClr val="000000"/>
                          </a:solidFill>
                          <a:effectLst/>
                          <a:latin typeface="Aptos Narrow" panose="020B0004020202020204" pitchFamily="34" charset="0"/>
                        </a:rPr>
                        <a:t>Tap ID name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2000" b="1" i="0" u="none" strike="noStrike">
                          <a:solidFill>
                            <a:srgbClr val="000000"/>
                          </a:solidFill>
                          <a:effectLst/>
                          <a:latin typeface="Aptos Narrow" panose="020B0004020202020204" pitchFamily="34" charset="0"/>
                        </a:rPr>
                        <a:t>Tap Type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800" b="1" i="0" u="none" strike="noStrike">
                          <a:solidFill>
                            <a:srgbClr val="000000"/>
                          </a:solidFill>
                          <a:effectLst/>
                          <a:latin typeface="Aptos Narrow" panose="020B0004020202020204" pitchFamily="34" charset="0"/>
                        </a:rPr>
                        <a:t>Usage Goal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800" b="1" i="0" u="none" strike="noStrike">
                          <a:solidFill>
                            <a:srgbClr val="000000"/>
                          </a:solidFill>
                          <a:effectLst/>
                          <a:latin typeface="Aptos Narrow" panose="020B0004020202020204" pitchFamily="34" charset="0"/>
                        </a:rPr>
                        <a:t>DBI Mask</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800" b="1" i="0" u="none" strike="noStrike">
                          <a:solidFill>
                            <a:srgbClr val="000000"/>
                          </a:solidFill>
                          <a:effectLst/>
                          <a:latin typeface="Aptos Narrow" panose="020B0004020202020204" pitchFamily="34" charset="0"/>
                        </a:rPr>
                        <a:t>PDK offering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6250854"/>
                  </a:ext>
                </a:extLst>
              </a:tr>
              <a:tr h="396526">
                <a:tc>
                  <a:txBody>
                    <a:bodyPr/>
                    <a:lstStyle/>
                    <a:p>
                      <a:pPr algn="l" fontAlgn="b">
                        <a:buNone/>
                      </a:pPr>
                      <a:r>
                        <a:rPr lang="en-US" sz="1800" b="0" i="0" u="none" strike="noStrike" err="1">
                          <a:solidFill>
                            <a:srgbClr val="000000"/>
                          </a:solidFill>
                          <a:effectLst/>
                          <a:latin typeface="Aptos Narrow" panose="020B0004020202020204" pitchFamily="34" charset="0"/>
                        </a:rPr>
                        <a:t>pdiff;tapID</a:t>
                      </a:r>
                      <a:endParaRPr lang="en-US" sz="18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ptapA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Closed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17614696"/>
                  </a:ext>
                </a:extLst>
              </a:tr>
              <a:tr h="396526">
                <a:tc>
                  <a:txBody>
                    <a:bodyPr/>
                    <a:lstStyle/>
                    <a:p>
                      <a:pPr algn="l" fontAlgn="b">
                        <a:buNone/>
                      </a:pPr>
                      <a:r>
                        <a:rPr lang="en-US" sz="1800" b="0" i="0" u="none" strike="noStrike" err="1">
                          <a:solidFill>
                            <a:srgbClr val="000000"/>
                          </a:solidFill>
                          <a:effectLst/>
                          <a:latin typeface="Aptos Narrow" panose="020B0004020202020204" pitchFamily="34" charset="0"/>
                        </a:rPr>
                        <a:t>ndiff;tapID</a:t>
                      </a:r>
                      <a:endParaRPr lang="en-US" sz="18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ntapA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Closed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ptos Narrow" panose="020B0004020202020204" pitchFamily="34" charset="0"/>
                        </a:rPr>
                        <a:t>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89617078"/>
                  </a:ext>
                </a:extLst>
              </a:tr>
              <a:tr h="396526">
                <a:tc>
                  <a:txBody>
                    <a:bodyPr/>
                    <a:lstStyle/>
                    <a:p>
                      <a:pPr algn="l" fontAlgn="b">
                        <a:buNone/>
                      </a:pPr>
                      <a:r>
                        <a:rPr lang="en-US" sz="1800" b="0" i="0" u="none" strike="noStrike" err="1">
                          <a:solidFill>
                            <a:srgbClr val="000000"/>
                          </a:solidFill>
                          <a:effectLst/>
                          <a:latin typeface="Aptos Narrow" panose="020B0004020202020204" pitchFamily="34" charset="0"/>
                        </a:rPr>
                        <a:t>pdiff;tapID</a:t>
                      </a:r>
                      <a:r>
                        <a:rPr lang="en-US" sz="1800" b="0" i="0" u="none" strike="noStrike">
                          <a:solidFill>
                            <a:srgbClr val="000000"/>
                          </a:solidFill>
                          <a:effectLst/>
                          <a:latin typeface="Aptos Narrow" panose="020B0004020202020204" pitchFamily="34" charset="0"/>
                        </a:rPr>
                        <a:t> (inside </a:t>
                      </a:r>
                      <a:r>
                        <a:rPr lang="en-US" sz="1800" b="0" i="0" u="none" strike="noStrike" err="1">
                          <a:solidFill>
                            <a:srgbClr val="000000"/>
                          </a:solidFill>
                          <a:effectLst/>
                          <a:latin typeface="Aptos Narrow" panose="020B0004020202020204" pitchFamily="34" charset="0"/>
                        </a:rPr>
                        <a:t>Memory_block</a:t>
                      </a:r>
                      <a:r>
                        <a:rPr lang="en-US" sz="1800" b="0" i="0" u="none" strike="noStrike">
                          <a:solidFill>
                            <a:srgbClr val="000000"/>
                          </a:solidFill>
                          <a:effectLst/>
                          <a:latin typeface="Aptos Narrow" panose="020B00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ptapB1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Closed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ptos Narrow" panose="020B0004020202020204" pitchFamily="34" charset="0"/>
                        </a:rPr>
                        <a:t>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726451419"/>
                  </a:ext>
                </a:extLst>
              </a:tr>
              <a:tr h="396526">
                <a:tc>
                  <a:txBody>
                    <a:bodyPr/>
                    <a:lstStyle/>
                    <a:p>
                      <a:pPr algn="l" fontAlgn="b">
                        <a:buNone/>
                      </a:pPr>
                      <a:r>
                        <a:rPr lang="en-US" sz="1800" b="0" i="0" u="none" strike="noStrike" err="1">
                          <a:solidFill>
                            <a:srgbClr val="000000"/>
                          </a:solidFill>
                          <a:effectLst/>
                          <a:latin typeface="Aptos Narrow" panose="020B0004020202020204" pitchFamily="34" charset="0"/>
                        </a:rPr>
                        <a:t>ndiff;tapID</a:t>
                      </a:r>
                      <a:r>
                        <a:rPr lang="en-US" sz="1800" b="0" i="0" u="none" strike="noStrike">
                          <a:solidFill>
                            <a:srgbClr val="000000"/>
                          </a:solidFill>
                          <a:effectLst/>
                          <a:latin typeface="Aptos Narrow" panose="020B0004020202020204" pitchFamily="34" charset="0"/>
                        </a:rPr>
                        <a:t> in (inside </a:t>
                      </a:r>
                      <a:r>
                        <a:rPr lang="en-US" sz="1800" b="0" i="0" u="none" strike="noStrike" err="1">
                          <a:solidFill>
                            <a:srgbClr val="000000"/>
                          </a:solidFill>
                          <a:effectLst/>
                          <a:latin typeface="Aptos Narrow" panose="020B0004020202020204" pitchFamily="34" charset="0"/>
                        </a:rPr>
                        <a:t>Memory_block</a:t>
                      </a:r>
                      <a:r>
                        <a:rPr lang="en-US" sz="1800" b="0" i="0" u="none" strike="noStrike">
                          <a:solidFill>
                            <a:srgbClr val="000000"/>
                          </a:solidFill>
                          <a:effectLst/>
                          <a:latin typeface="Aptos Narrow" panose="020B00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ntapB</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LU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Closed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800" b="0" i="0" u="none" strike="noStrike">
                          <a:solidFill>
                            <a:srgbClr val="000000"/>
                          </a:solidFill>
                          <a:effectLst/>
                          <a:latin typeface="Aptos Narrow" panose="020B0004020202020204" pitchFamily="34" charset="0"/>
                        </a:rPr>
                        <a:t>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130101093"/>
                  </a:ext>
                </a:extLst>
              </a:tr>
              <a:tr h="396526">
                <a:tc>
                  <a:txBody>
                    <a:bodyPr/>
                    <a:lstStyle/>
                    <a:p>
                      <a:pPr algn="l" fontAlgn="b">
                        <a:buNone/>
                      </a:pPr>
                      <a:r>
                        <a:rPr lang="en-US" sz="1800" b="0" i="0" u="none" strike="noStrike" err="1">
                          <a:solidFill>
                            <a:srgbClr val="000000"/>
                          </a:solidFill>
                          <a:effectLst/>
                          <a:latin typeface="Aptos Narrow" panose="020B0004020202020204" pitchFamily="34" charset="0"/>
                        </a:rPr>
                        <a:t>pid;tapID</a:t>
                      </a:r>
                      <a:r>
                        <a:rPr lang="en-US" sz="1800" b="0" i="0" u="none" strike="noStrike">
                          <a:solidFill>
                            <a:srgbClr val="000000"/>
                          </a:solidFill>
                          <a:effectLst/>
                          <a:latin typeface="Aptos Narrow" panose="020B0004020202020204" pitchFamily="34" charset="0"/>
                        </a:rPr>
                        <a:t> (inside </a:t>
                      </a:r>
                      <a:r>
                        <a:rPr lang="en-US" sz="1800" b="0" i="0" u="none" strike="noStrike" err="1">
                          <a:solidFill>
                            <a:srgbClr val="000000"/>
                          </a:solidFill>
                          <a:effectLst/>
                          <a:latin typeface="Aptos Narrow" panose="020B0004020202020204" pitchFamily="34" charset="0"/>
                        </a:rPr>
                        <a:t>HaloID</a:t>
                      </a:r>
                      <a:r>
                        <a:rPr lang="en-US" sz="1800" b="0" i="0" u="none" strike="noStrike">
                          <a:solidFill>
                            <a:srgbClr val="000000"/>
                          </a:solidFill>
                          <a:effectLst/>
                          <a:latin typeface="Aptos Narrow" panose="020B0004020202020204" pitchFamily="34" charset="0"/>
                        </a:rPr>
                        <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ptapB2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PID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Open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38577390"/>
                  </a:ext>
                </a:extLst>
              </a:tr>
              <a:tr h="541061">
                <a:tc>
                  <a:txBody>
                    <a:bodyPr/>
                    <a:lstStyle/>
                    <a:p>
                      <a:pPr algn="l" fontAlgn="b">
                        <a:buNone/>
                      </a:pPr>
                      <a:r>
                        <a:rPr lang="en-US" sz="1800" b="0" i="0" u="none" strike="noStrike" err="1">
                          <a:solidFill>
                            <a:srgbClr val="000000"/>
                          </a:solidFill>
                          <a:effectLst/>
                          <a:latin typeface="Aptos Narrow" panose="020B0004020202020204" pitchFamily="34" charset="0"/>
                        </a:rPr>
                        <a:t>pid;tapID</a:t>
                      </a:r>
                      <a:r>
                        <a:rPr lang="en-US" sz="1800" b="0" i="0" u="none" strike="noStrike">
                          <a:solidFill>
                            <a:srgbClr val="000000"/>
                          </a:solidFill>
                          <a:effectLst/>
                          <a:latin typeface="Aptos Narrow" panose="020B0004020202020204" pitchFamily="34" charset="0"/>
                        </a:rPr>
                        <a:t> (inside active design)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ptapB1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PID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Open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198386462"/>
                  </a:ext>
                </a:extLst>
              </a:tr>
              <a:tr h="396526">
                <a:tc>
                  <a:txBody>
                    <a:bodyPr/>
                    <a:lstStyle/>
                    <a:p>
                      <a:pPr algn="l" fontAlgn="b">
                        <a:buNone/>
                      </a:pPr>
                      <a:r>
                        <a:rPr lang="en-US" sz="1800" b="0" i="0" u="none" strike="noStrike">
                          <a:solidFill>
                            <a:srgbClr val="000000"/>
                          </a:solidFill>
                          <a:effectLst/>
                          <a:latin typeface="Aptos Narrow" panose="020B0004020202020204" pitchFamily="34" charset="0"/>
                        </a:rPr>
                        <a:t>ndiffHV;tapID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2000" b="0" i="0" u="none" strike="noStrike">
                          <a:solidFill>
                            <a:srgbClr val="000000"/>
                          </a:solidFill>
                          <a:effectLst/>
                          <a:latin typeface="Aptos Narrow" panose="020B0004020202020204" pitchFamily="34" charset="0"/>
                        </a:rPr>
                        <a:t>ntapB</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ISO BD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Open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1800" b="0" i="0" u="none" strike="noStrike">
                          <a:solidFill>
                            <a:srgbClr val="000000"/>
                          </a:solidFill>
                          <a:effectLst/>
                          <a:latin typeface="Aptos Narrow" panose="020B0004020202020204" pitchFamily="34" charset="0"/>
                        </a:rPr>
                        <a:t>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10849521"/>
                  </a:ext>
                </a:extLst>
              </a:tr>
            </a:tbl>
          </a:graphicData>
        </a:graphic>
      </p:graphicFrame>
      <p:sp>
        <p:nvSpPr>
          <p:cNvPr id="10" name="TextBox 9">
            <a:extLst>
              <a:ext uri="{FF2B5EF4-FFF2-40B4-BE49-F238E27FC236}">
                <a16:creationId xmlns:a16="http://schemas.microsoft.com/office/drawing/2014/main" id="{8315424A-89A8-F1E8-C47A-9B976721697A}"/>
              </a:ext>
            </a:extLst>
          </p:cNvPr>
          <p:cNvSpPr txBox="1"/>
          <p:nvPr/>
        </p:nvSpPr>
        <p:spPr>
          <a:xfrm>
            <a:off x="326572" y="5268685"/>
            <a:ext cx="10736036" cy="646331"/>
          </a:xfrm>
          <a:prstGeom prst="rect">
            <a:avLst/>
          </a:prstGeom>
          <a:noFill/>
        </p:spPr>
        <p:txBody>
          <a:bodyPr wrap="square" rtlCol="0">
            <a:spAutoFit/>
          </a:bodyPr>
          <a:lstStyle/>
          <a:p>
            <a:pPr marL="285750" indent="-285750">
              <a:buFontTx/>
              <a:buChar char="-"/>
            </a:pPr>
            <a:r>
              <a:rPr lang="en-US"/>
              <a:t>These will be the full list of ids and occurrences in X81A</a:t>
            </a:r>
          </a:p>
          <a:p>
            <a:pPr marL="285750" indent="-285750">
              <a:buFontTx/>
              <a:buChar char="-"/>
            </a:pPr>
            <a:r>
              <a:rPr lang="en-US"/>
              <a:t>Designers own correctly marking the taps to get substrate connection </a:t>
            </a:r>
          </a:p>
        </p:txBody>
      </p:sp>
    </p:spTree>
    <p:extLst>
      <p:ext uri="{BB962C8B-B14F-4D97-AF65-F5344CB8AC3E}">
        <p14:creationId xmlns:p14="http://schemas.microsoft.com/office/powerpoint/2010/main" val="1151763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7851-DCDD-A7CF-74F5-BDE5905AC6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FD7DD55-52E3-823F-F536-9931A6B43A26}"/>
              </a:ext>
            </a:extLst>
          </p:cNvPr>
          <p:cNvSpPr/>
          <p:nvPr/>
        </p:nvSpPr>
        <p:spPr>
          <a:xfrm>
            <a:off x="407333" y="1634974"/>
            <a:ext cx="2893294" cy="137221"/>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A66535D-C8BB-5190-7F59-193F014BEA5B}"/>
              </a:ext>
            </a:extLst>
          </p:cNvPr>
          <p:cNvSpPr/>
          <p:nvPr/>
        </p:nvSpPr>
        <p:spPr>
          <a:xfrm>
            <a:off x="412340" y="2194191"/>
            <a:ext cx="2893294" cy="137221"/>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7BDA9D8-4953-BEBA-4FEC-EAF74A2E804E}"/>
              </a:ext>
            </a:extLst>
          </p:cNvPr>
          <p:cNvSpPr/>
          <p:nvPr/>
        </p:nvSpPr>
        <p:spPr>
          <a:xfrm>
            <a:off x="407333" y="2640710"/>
            <a:ext cx="2893294" cy="137221"/>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47BAED2-9502-C67A-1869-5CFD4113D92B}"/>
              </a:ext>
            </a:extLst>
          </p:cNvPr>
          <p:cNvSpPr/>
          <p:nvPr/>
        </p:nvSpPr>
        <p:spPr>
          <a:xfrm>
            <a:off x="412340" y="3241766"/>
            <a:ext cx="2893294" cy="137221"/>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C70D10E-EB00-8005-0794-288876EE5E38}"/>
              </a:ext>
            </a:extLst>
          </p:cNvPr>
          <p:cNvSpPr/>
          <p:nvPr/>
        </p:nvSpPr>
        <p:spPr>
          <a:xfrm>
            <a:off x="407336" y="4373188"/>
            <a:ext cx="3027407" cy="136727"/>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29F192-6E18-BB12-8C4C-1D4DBB0DD174}"/>
              </a:ext>
            </a:extLst>
          </p:cNvPr>
          <p:cNvSpPr/>
          <p:nvPr/>
        </p:nvSpPr>
        <p:spPr>
          <a:xfrm>
            <a:off x="407336" y="4944250"/>
            <a:ext cx="3027407" cy="136727"/>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9843372-00A3-30AA-1EEA-9D4D8CBF6644}"/>
              </a:ext>
            </a:extLst>
          </p:cNvPr>
          <p:cNvSpPr/>
          <p:nvPr/>
        </p:nvSpPr>
        <p:spPr>
          <a:xfrm>
            <a:off x="407333" y="5491130"/>
            <a:ext cx="3027407" cy="136727"/>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C27B35-C161-CEF6-1438-6AD0684F4FBA}"/>
              </a:ext>
            </a:extLst>
          </p:cNvPr>
          <p:cNvSpPr/>
          <p:nvPr/>
        </p:nvSpPr>
        <p:spPr>
          <a:xfrm>
            <a:off x="407333" y="6057426"/>
            <a:ext cx="3027407" cy="136727"/>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8D8B5D39-C11A-8B32-619A-F47A56E4ED8B}"/>
              </a:ext>
            </a:extLst>
          </p:cNvPr>
          <p:cNvGrpSpPr/>
          <p:nvPr/>
        </p:nvGrpSpPr>
        <p:grpSpPr>
          <a:xfrm>
            <a:off x="10324678" y="2428858"/>
            <a:ext cx="1601910" cy="2675132"/>
            <a:chOff x="10157096" y="787400"/>
            <a:chExt cx="1601910" cy="2675132"/>
          </a:xfrm>
        </p:grpSpPr>
        <p:sp>
          <p:nvSpPr>
            <p:cNvPr id="41" name="Rectangle 40">
              <a:extLst>
                <a:ext uri="{FF2B5EF4-FFF2-40B4-BE49-F238E27FC236}">
                  <a16:creationId xmlns:a16="http://schemas.microsoft.com/office/drawing/2014/main" id="{46839CE4-CC25-8E81-261F-8763F85A8289}"/>
                </a:ext>
              </a:extLst>
            </p:cNvPr>
            <p:cNvSpPr/>
            <p:nvPr/>
          </p:nvSpPr>
          <p:spPr>
            <a:xfrm>
              <a:off x="10157096" y="787400"/>
              <a:ext cx="460104" cy="349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BEE9790-91B0-48A3-CCAC-E0A87B9E604A}"/>
                </a:ext>
              </a:extLst>
            </p:cNvPr>
            <p:cNvSpPr/>
            <p:nvPr/>
          </p:nvSpPr>
          <p:spPr>
            <a:xfrm>
              <a:off x="10193381" y="2416680"/>
              <a:ext cx="405675" cy="43170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1878EEAB-AAE2-E1C8-2845-F261BE144B55}"/>
                </a:ext>
              </a:extLst>
            </p:cNvPr>
            <p:cNvSpPr txBox="1"/>
            <p:nvPr/>
          </p:nvSpPr>
          <p:spPr>
            <a:xfrm>
              <a:off x="10784839" y="2373219"/>
              <a:ext cx="974167" cy="369332"/>
            </a:xfrm>
            <a:prstGeom prst="rect">
              <a:avLst/>
            </a:prstGeom>
            <a:noFill/>
          </p:spPr>
          <p:txBody>
            <a:bodyPr wrap="square" rtlCol="0">
              <a:spAutoFit/>
            </a:bodyPr>
            <a:lstStyle/>
            <a:p>
              <a:r>
                <a:rPr lang="en-US" err="1"/>
                <a:t>Ntap</a:t>
              </a:r>
              <a:endParaRPr lang="en-US"/>
            </a:p>
          </p:txBody>
        </p:sp>
        <p:sp>
          <p:nvSpPr>
            <p:cNvPr id="47" name="Rectangle 46">
              <a:extLst>
                <a:ext uri="{FF2B5EF4-FFF2-40B4-BE49-F238E27FC236}">
                  <a16:creationId xmlns:a16="http://schemas.microsoft.com/office/drawing/2014/main" id="{570E2578-7968-01A3-46DE-44D34DC62507}"/>
                </a:ext>
              </a:extLst>
            </p:cNvPr>
            <p:cNvSpPr/>
            <p:nvPr/>
          </p:nvSpPr>
          <p:spPr>
            <a:xfrm>
              <a:off x="10220596" y="3030823"/>
              <a:ext cx="405675" cy="431709"/>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11602D56-06DC-DA28-9A7A-1C346380FB2D}"/>
                </a:ext>
              </a:extLst>
            </p:cNvPr>
            <p:cNvSpPr txBox="1"/>
            <p:nvPr/>
          </p:nvSpPr>
          <p:spPr>
            <a:xfrm>
              <a:off x="10798499" y="2937595"/>
              <a:ext cx="941503" cy="369332"/>
            </a:xfrm>
            <a:prstGeom prst="rect">
              <a:avLst/>
            </a:prstGeom>
            <a:noFill/>
          </p:spPr>
          <p:txBody>
            <a:bodyPr wrap="square" rtlCol="0">
              <a:spAutoFit/>
            </a:bodyPr>
            <a:lstStyle/>
            <a:p>
              <a:r>
                <a:rPr lang="en-US"/>
                <a:t>Ptap</a:t>
              </a:r>
            </a:p>
          </p:txBody>
        </p:sp>
        <p:sp>
          <p:nvSpPr>
            <p:cNvPr id="49" name="Rectangle 48">
              <a:extLst>
                <a:ext uri="{FF2B5EF4-FFF2-40B4-BE49-F238E27FC236}">
                  <a16:creationId xmlns:a16="http://schemas.microsoft.com/office/drawing/2014/main" id="{7C9DC2FD-6A7B-230E-2800-53437C6F416B}"/>
                </a:ext>
              </a:extLst>
            </p:cNvPr>
            <p:cNvSpPr/>
            <p:nvPr/>
          </p:nvSpPr>
          <p:spPr>
            <a:xfrm>
              <a:off x="10166167" y="1372454"/>
              <a:ext cx="460104" cy="34925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2BB6449-897B-0D1C-4DAA-DE5B81720874}"/>
                </a:ext>
              </a:extLst>
            </p:cNvPr>
            <p:cNvSpPr/>
            <p:nvPr/>
          </p:nvSpPr>
          <p:spPr>
            <a:xfrm>
              <a:off x="10166167" y="1884557"/>
              <a:ext cx="460104" cy="34925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E6B20607-BF84-BE7C-1955-86A5D34FEE73}"/>
                </a:ext>
              </a:extLst>
            </p:cNvPr>
            <p:cNvSpPr txBox="1"/>
            <p:nvPr/>
          </p:nvSpPr>
          <p:spPr>
            <a:xfrm>
              <a:off x="10760167" y="807482"/>
              <a:ext cx="849085" cy="369332"/>
            </a:xfrm>
            <a:prstGeom prst="rect">
              <a:avLst/>
            </a:prstGeom>
            <a:noFill/>
          </p:spPr>
          <p:txBody>
            <a:bodyPr wrap="square" rtlCol="0">
              <a:spAutoFit/>
            </a:bodyPr>
            <a:lstStyle/>
            <a:p>
              <a:r>
                <a:rPr lang="en-US" err="1"/>
                <a:t>Sdgen</a:t>
              </a:r>
              <a:endParaRPr lang="en-US"/>
            </a:p>
          </p:txBody>
        </p:sp>
        <p:sp>
          <p:nvSpPr>
            <p:cNvPr id="52" name="TextBox 51">
              <a:extLst>
                <a:ext uri="{FF2B5EF4-FFF2-40B4-BE49-F238E27FC236}">
                  <a16:creationId xmlns:a16="http://schemas.microsoft.com/office/drawing/2014/main" id="{84BB8AC7-22E0-6785-3F23-40200486809F}"/>
                </a:ext>
              </a:extLst>
            </p:cNvPr>
            <p:cNvSpPr txBox="1"/>
            <p:nvPr/>
          </p:nvSpPr>
          <p:spPr>
            <a:xfrm>
              <a:off x="10753635" y="1332825"/>
              <a:ext cx="849085" cy="369332"/>
            </a:xfrm>
            <a:prstGeom prst="rect">
              <a:avLst/>
            </a:prstGeom>
            <a:noFill/>
          </p:spPr>
          <p:txBody>
            <a:bodyPr wrap="square" rtlCol="0">
              <a:spAutoFit/>
            </a:bodyPr>
            <a:lstStyle/>
            <a:p>
              <a:r>
                <a:rPr lang="en-US" err="1"/>
                <a:t>ndiff</a:t>
              </a:r>
              <a:endParaRPr lang="en-US"/>
            </a:p>
          </p:txBody>
        </p:sp>
        <p:sp>
          <p:nvSpPr>
            <p:cNvPr id="54" name="TextBox 53">
              <a:extLst>
                <a:ext uri="{FF2B5EF4-FFF2-40B4-BE49-F238E27FC236}">
                  <a16:creationId xmlns:a16="http://schemas.microsoft.com/office/drawing/2014/main" id="{3AFF2E25-AC99-48D3-9F5D-3B16AEB2A0A1}"/>
                </a:ext>
              </a:extLst>
            </p:cNvPr>
            <p:cNvSpPr txBox="1"/>
            <p:nvPr/>
          </p:nvSpPr>
          <p:spPr>
            <a:xfrm>
              <a:off x="10792563" y="1794614"/>
              <a:ext cx="849085" cy="369332"/>
            </a:xfrm>
            <a:prstGeom prst="rect">
              <a:avLst/>
            </a:prstGeom>
            <a:noFill/>
          </p:spPr>
          <p:txBody>
            <a:bodyPr wrap="square" rtlCol="0">
              <a:spAutoFit/>
            </a:bodyPr>
            <a:lstStyle/>
            <a:p>
              <a:r>
                <a:rPr lang="en-US" err="1"/>
                <a:t>pdiff</a:t>
              </a:r>
              <a:endParaRPr lang="en-US"/>
            </a:p>
          </p:txBody>
        </p:sp>
      </p:grpSp>
      <p:sp>
        <p:nvSpPr>
          <p:cNvPr id="57" name="Rectangle 56">
            <a:extLst>
              <a:ext uri="{FF2B5EF4-FFF2-40B4-BE49-F238E27FC236}">
                <a16:creationId xmlns:a16="http://schemas.microsoft.com/office/drawing/2014/main" id="{7259955E-4D79-A4AF-5C9F-5F0D4A9FF809}"/>
              </a:ext>
            </a:extLst>
          </p:cNvPr>
          <p:cNvSpPr/>
          <p:nvPr/>
        </p:nvSpPr>
        <p:spPr>
          <a:xfrm>
            <a:off x="10373016" y="1978032"/>
            <a:ext cx="361458" cy="232250"/>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8" name="TextBox 57">
            <a:extLst>
              <a:ext uri="{FF2B5EF4-FFF2-40B4-BE49-F238E27FC236}">
                <a16:creationId xmlns:a16="http://schemas.microsoft.com/office/drawing/2014/main" id="{5003699E-F836-9F5A-26F1-D3EE6A016BDB}"/>
              </a:ext>
            </a:extLst>
          </p:cNvPr>
          <p:cNvSpPr txBox="1"/>
          <p:nvPr/>
        </p:nvSpPr>
        <p:spPr>
          <a:xfrm>
            <a:off x="10859045" y="1984792"/>
            <a:ext cx="911257" cy="369332"/>
          </a:xfrm>
          <a:prstGeom prst="rect">
            <a:avLst/>
          </a:prstGeom>
          <a:noFill/>
        </p:spPr>
        <p:txBody>
          <a:bodyPr wrap="square" rtlCol="0">
            <a:spAutoFit/>
          </a:bodyPr>
          <a:lstStyle/>
          <a:p>
            <a:r>
              <a:rPr lang="en-US"/>
              <a:t>Fin</a:t>
            </a:r>
          </a:p>
        </p:txBody>
      </p:sp>
      <p:grpSp>
        <p:nvGrpSpPr>
          <p:cNvPr id="87" name="Group 86">
            <a:extLst>
              <a:ext uri="{FF2B5EF4-FFF2-40B4-BE49-F238E27FC236}">
                <a16:creationId xmlns:a16="http://schemas.microsoft.com/office/drawing/2014/main" id="{7B2E6B39-BE46-9462-8923-E47FB8E04B97}"/>
              </a:ext>
            </a:extLst>
          </p:cNvPr>
          <p:cNvGrpSpPr/>
          <p:nvPr/>
        </p:nvGrpSpPr>
        <p:grpSpPr>
          <a:xfrm>
            <a:off x="397318" y="1360189"/>
            <a:ext cx="2913324" cy="2278044"/>
            <a:chOff x="411169" y="771429"/>
            <a:chExt cx="2913324" cy="2278044"/>
          </a:xfrm>
        </p:grpSpPr>
        <p:sp>
          <p:nvSpPr>
            <p:cNvPr id="89" name="Rectangle 88">
              <a:extLst>
                <a:ext uri="{FF2B5EF4-FFF2-40B4-BE49-F238E27FC236}">
                  <a16:creationId xmlns:a16="http://schemas.microsoft.com/office/drawing/2014/main" id="{3797858C-8630-B3D1-5C6D-EAF503C6962E}"/>
                </a:ext>
              </a:extLst>
            </p:cNvPr>
            <p:cNvSpPr/>
            <p:nvPr/>
          </p:nvSpPr>
          <p:spPr>
            <a:xfrm>
              <a:off x="421184" y="986955"/>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8C37336B-5C76-C213-3624-EF2637B46F66}"/>
                </a:ext>
              </a:extLst>
            </p:cNvPr>
            <p:cNvSpPr/>
            <p:nvPr/>
          </p:nvSpPr>
          <p:spPr>
            <a:xfrm>
              <a:off x="411169" y="1551073"/>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0EC4766D-66A9-F966-0DE1-0375FA84BC71}"/>
                </a:ext>
              </a:extLst>
            </p:cNvPr>
            <p:cNvSpPr/>
            <p:nvPr/>
          </p:nvSpPr>
          <p:spPr>
            <a:xfrm>
              <a:off x="421184" y="1994449"/>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4A07CFC0-01EA-C06A-60E9-36A7E7E4EE7B}"/>
                </a:ext>
              </a:extLst>
            </p:cNvPr>
            <p:cNvSpPr/>
            <p:nvPr/>
          </p:nvSpPr>
          <p:spPr>
            <a:xfrm>
              <a:off x="421184" y="2587312"/>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6097813F-0380-AA2D-D1CD-4C91A354924B}"/>
                </a:ext>
              </a:extLst>
            </p:cNvPr>
            <p:cNvSpPr/>
            <p:nvPr/>
          </p:nvSpPr>
          <p:spPr>
            <a:xfrm>
              <a:off x="421184" y="2353195"/>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A926FCDC-54B8-7708-BA29-27F871549534}"/>
                </a:ext>
              </a:extLst>
            </p:cNvPr>
            <p:cNvSpPr/>
            <p:nvPr/>
          </p:nvSpPr>
          <p:spPr>
            <a:xfrm>
              <a:off x="1355157" y="1473767"/>
              <a:ext cx="1018109" cy="913004"/>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08553EBD-8C65-CA5A-73D4-C5BBCC17ACEB}"/>
                </a:ext>
              </a:extLst>
            </p:cNvPr>
            <p:cNvSpPr/>
            <p:nvPr/>
          </p:nvSpPr>
          <p:spPr>
            <a:xfrm>
              <a:off x="421184" y="771429"/>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B814908F-6A38-A78F-9157-5D6A5A2F058A}"/>
              </a:ext>
            </a:extLst>
          </p:cNvPr>
          <p:cNvGrpSpPr/>
          <p:nvPr/>
        </p:nvGrpSpPr>
        <p:grpSpPr>
          <a:xfrm>
            <a:off x="394407" y="4295027"/>
            <a:ext cx="3027411" cy="1955251"/>
            <a:chOff x="381994" y="4275731"/>
            <a:chExt cx="3027411" cy="1955251"/>
          </a:xfrm>
        </p:grpSpPr>
        <p:sp>
          <p:nvSpPr>
            <p:cNvPr id="35" name="Rectangle 34">
              <a:extLst>
                <a:ext uri="{FF2B5EF4-FFF2-40B4-BE49-F238E27FC236}">
                  <a16:creationId xmlns:a16="http://schemas.microsoft.com/office/drawing/2014/main" id="{70FBA5C7-5538-5B1C-DF82-3DCF4A2DE3BD}"/>
                </a:ext>
              </a:extLst>
            </p:cNvPr>
            <p:cNvSpPr/>
            <p:nvPr/>
          </p:nvSpPr>
          <p:spPr>
            <a:xfrm>
              <a:off x="381997" y="4860935"/>
              <a:ext cx="3027405"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0E9C9690-5320-D3B5-D38C-69FF428859EB}"/>
                </a:ext>
              </a:extLst>
            </p:cNvPr>
            <p:cNvGrpSpPr/>
            <p:nvPr/>
          </p:nvGrpSpPr>
          <p:grpSpPr>
            <a:xfrm>
              <a:off x="381994" y="4275731"/>
              <a:ext cx="3027411" cy="1955251"/>
              <a:chOff x="381995" y="4275732"/>
              <a:chExt cx="2903312" cy="1777228"/>
            </a:xfrm>
          </p:grpSpPr>
          <p:sp>
            <p:nvSpPr>
              <p:cNvPr id="36" name="Rectangle 35">
                <a:extLst>
                  <a:ext uri="{FF2B5EF4-FFF2-40B4-BE49-F238E27FC236}">
                    <a16:creationId xmlns:a16="http://schemas.microsoft.com/office/drawing/2014/main" id="{806404C9-9BB6-2EF1-A3D9-50892276D3FD}"/>
                  </a:ext>
                </a:extLst>
              </p:cNvPr>
              <p:cNvSpPr/>
              <p:nvPr/>
            </p:nvSpPr>
            <p:spPr>
              <a:xfrm>
                <a:off x="381996" y="5287534"/>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D20893F9-AE6D-4832-D145-6909CEA06F0D}"/>
                  </a:ext>
                </a:extLst>
              </p:cNvPr>
              <p:cNvGrpSpPr/>
              <p:nvPr/>
            </p:nvGrpSpPr>
            <p:grpSpPr>
              <a:xfrm>
                <a:off x="381995" y="4275732"/>
                <a:ext cx="2903312" cy="1777228"/>
                <a:chOff x="381995" y="4275732"/>
                <a:chExt cx="2903312" cy="1777228"/>
              </a:xfrm>
            </p:grpSpPr>
            <p:sp>
              <p:nvSpPr>
                <p:cNvPr id="34" name="Rectangle 33">
                  <a:extLst>
                    <a:ext uri="{FF2B5EF4-FFF2-40B4-BE49-F238E27FC236}">
                      <a16:creationId xmlns:a16="http://schemas.microsoft.com/office/drawing/2014/main" id="{589CD430-AA0F-94FB-2FE9-4F15EDEA3369}"/>
                    </a:ext>
                  </a:extLst>
                </p:cNvPr>
                <p:cNvSpPr/>
                <p:nvPr/>
              </p:nvSpPr>
              <p:spPr>
                <a:xfrm>
                  <a:off x="381998" y="4275732"/>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C403903-9E77-2747-58BD-08A1999B2E51}"/>
                    </a:ext>
                  </a:extLst>
                </p:cNvPr>
                <p:cNvSpPr/>
                <p:nvPr/>
              </p:nvSpPr>
              <p:spPr>
                <a:xfrm>
                  <a:off x="381995" y="5805250"/>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75B33AB-12E7-D32E-5918-5FCBA214086E}"/>
                    </a:ext>
                  </a:extLst>
                </p:cNvPr>
                <p:cNvSpPr/>
                <p:nvPr/>
              </p:nvSpPr>
              <p:spPr>
                <a:xfrm>
                  <a:off x="1215231" y="4723304"/>
                  <a:ext cx="1249354" cy="884687"/>
                </a:xfrm>
                <a:prstGeom prst="rect">
                  <a:avLst/>
                </a:prstGeom>
                <a:noFill/>
                <a:ln w="381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33" name="Rectangle 32">
            <a:extLst>
              <a:ext uri="{FF2B5EF4-FFF2-40B4-BE49-F238E27FC236}">
                <a16:creationId xmlns:a16="http://schemas.microsoft.com/office/drawing/2014/main" id="{04B4476C-12DF-53BC-7A0D-F9A6D35EDE81}"/>
              </a:ext>
            </a:extLst>
          </p:cNvPr>
          <p:cNvSpPr/>
          <p:nvPr/>
        </p:nvSpPr>
        <p:spPr>
          <a:xfrm>
            <a:off x="1326338" y="2070461"/>
            <a:ext cx="1018109" cy="915873"/>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8DDF1D5D-7983-13C3-3C6F-DCBEC26ACCF4}"/>
              </a:ext>
            </a:extLst>
          </p:cNvPr>
          <p:cNvSpPr txBox="1"/>
          <p:nvPr/>
        </p:nvSpPr>
        <p:spPr>
          <a:xfrm>
            <a:off x="1005759" y="3830074"/>
            <a:ext cx="2281942" cy="369332"/>
          </a:xfrm>
          <a:prstGeom prst="rect">
            <a:avLst/>
          </a:prstGeom>
          <a:noFill/>
        </p:spPr>
        <p:txBody>
          <a:bodyPr wrap="square" rtlCol="0">
            <a:spAutoFit/>
          </a:bodyPr>
          <a:lstStyle/>
          <a:p>
            <a:r>
              <a:rPr lang="en-US"/>
              <a:t>Tap(</a:t>
            </a:r>
            <a:r>
              <a:rPr lang="en-US" err="1"/>
              <a:t>Sdgen</a:t>
            </a:r>
            <a:r>
              <a:rPr lang="en-US"/>
              <a:t> Jog)</a:t>
            </a:r>
          </a:p>
        </p:txBody>
      </p:sp>
      <p:sp>
        <p:nvSpPr>
          <p:cNvPr id="129" name="TextBox 128">
            <a:extLst>
              <a:ext uri="{FF2B5EF4-FFF2-40B4-BE49-F238E27FC236}">
                <a16:creationId xmlns:a16="http://schemas.microsoft.com/office/drawing/2014/main" id="{FF711AFA-3340-E4ED-557F-13D7AACB7E42}"/>
              </a:ext>
            </a:extLst>
          </p:cNvPr>
          <p:cNvSpPr txBox="1"/>
          <p:nvPr/>
        </p:nvSpPr>
        <p:spPr>
          <a:xfrm>
            <a:off x="4247062" y="3830074"/>
            <a:ext cx="2281942" cy="369332"/>
          </a:xfrm>
          <a:prstGeom prst="rect">
            <a:avLst/>
          </a:prstGeom>
          <a:noFill/>
        </p:spPr>
        <p:txBody>
          <a:bodyPr wrap="square" rtlCol="0">
            <a:spAutoFit/>
          </a:bodyPr>
          <a:lstStyle/>
          <a:p>
            <a:r>
              <a:rPr lang="en-US"/>
              <a:t>Tap(</a:t>
            </a:r>
            <a:r>
              <a:rPr lang="en-US" err="1"/>
              <a:t>NPtrans</a:t>
            </a:r>
            <a:r>
              <a:rPr lang="en-US"/>
              <a:t>)</a:t>
            </a:r>
          </a:p>
        </p:txBody>
      </p:sp>
      <p:cxnSp>
        <p:nvCxnSpPr>
          <p:cNvPr id="141" name="Straight Arrow Connector 140">
            <a:extLst>
              <a:ext uri="{FF2B5EF4-FFF2-40B4-BE49-F238E27FC236}">
                <a16:creationId xmlns:a16="http://schemas.microsoft.com/office/drawing/2014/main" id="{C730A0E6-1F4E-70DD-F3B1-23A15C07D282}"/>
              </a:ext>
            </a:extLst>
          </p:cNvPr>
          <p:cNvCxnSpPr>
            <a:cxnSpLocks/>
            <a:stCxn id="33" idx="1"/>
          </p:cNvCxnSpPr>
          <p:nvPr/>
        </p:nvCxnSpPr>
        <p:spPr>
          <a:xfrm flipV="1">
            <a:off x="1326338" y="2448940"/>
            <a:ext cx="1051345"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56" name="TextBox 155">
            <a:extLst>
              <a:ext uri="{FF2B5EF4-FFF2-40B4-BE49-F238E27FC236}">
                <a16:creationId xmlns:a16="http://schemas.microsoft.com/office/drawing/2014/main" id="{94FA503F-020F-5833-08EA-0B0E60259E1E}"/>
              </a:ext>
            </a:extLst>
          </p:cNvPr>
          <p:cNvSpPr txBox="1"/>
          <p:nvPr/>
        </p:nvSpPr>
        <p:spPr>
          <a:xfrm>
            <a:off x="916269" y="3589192"/>
            <a:ext cx="2399220" cy="369332"/>
          </a:xfrm>
          <a:prstGeom prst="rect">
            <a:avLst/>
          </a:prstGeom>
          <a:noFill/>
        </p:spPr>
        <p:txBody>
          <a:bodyPr wrap="square" rtlCol="0">
            <a:spAutoFit/>
          </a:bodyPr>
          <a:lstStyle/>
          <a:p>
            <a:r>
              <a:rPr lang="en-US" err="1"/>
              <a:t>ntapA</a:t>
            </a:r>
            <a:r>
              <a:rPr lang="en-US"/>
              <a:t> (Logic LU)</a:t>
            </a:r>
          </a:p>
        </p:txBody>
      </p:sp>
      <p:sp>
        <p:nvSpPr>
          <p:cNvPr id="158" name="TextBox 157">
            <a:extLst>
              <a:ext uri="{FF2B5EF4-FFF2-40B4-BE49-F238E27FC236}">
                <a16:creationId xmlns:a16="http://schemas.microsoft.com/office/drawing/2014/main" id="{018023EA-A78F-9CC9-55BF-B3C576670B7D}"/>
              </a:ext>
            </a:extLst>
          </p:cNvPr>
          <p:cNvSpPr txBox="1"/>
          <p:nvPr/>
        </p:nvSpPr>
        <p:spPr>
          <a:xfrm>
            <a:off x="58947" y="6246605"/>
            <a:ext cx="4690564" cy="369332"/>
          </a:xfrm>
          <a:prstGeom prst="rect">
            <a:avLst/>
          </a:prstGeom>
          <a:noFill/>
        </p:spPr>
        <p:txBody>
          <a:bodyPr wrap="square" rtlCol="0">
            <a:spAutoFit/>
          </a:bodyPr>
          <a:lstStyle/>
          <a:p>
            <a:r>
              <a:rPr lang="en-US" err="1"/>
              <a:t>ptapA</a:t>
            </a:r>
            <a:r>
              <a:rPr lang="en-US"/>
              <a:t> (Logic LU (5PP), active </a:t>
            </a:r>
            <a:r>
              <a:rPr lang="en-US" err="1"/>
              <a:t>pidTap</a:t>
            </a:r>
            <a:r>
              <a:rPr lang="en-US"/>
              <a:t> (7PP))</a:t>
            </a:r>
          </a:p>
        </p:txBody>
      </p:sp>
      <p:sp>
        <p:nvSpPr>
          <p:cNvPr id="159" name="TextBox 158">
            <a:extLst>
              <a:ext uri="{FF2B5EF4-FFF2-40B4-BE49-F238E27FC236}">
                <a16:creationId xmlns:a16="http://schemas.microsoft.com/office/drawing/2014/main" id="{66DA43F5-7464-DC9E-67F9-73E846542928}"/>
              </a:ext>
            </a:extLst>
          </p:cNvPr>
          <p:cNvSpPr txBox="1"/>
          <p:nvPr/>
        </p:nvSpPr>
        <p:spPr>
          <a:xfrm>
            <a:off x="3667230" y="3566097"/>
            <a:ext cx="3341603" cy="369332"/>
          </a:xfrm>
          <a:prstGeom prst="rect">
            <a:avLst/>
          </a:prstGeom>
          <a:noFill/>
        </p:spPr>
        <p:txBody>
          <a:bodyPr wrap="square" rtlCol="0">
            <a:spAutoFit/>
          </a:bodyPr>
          <a:lstStyle/>
          <a:p>
            <a:r>
              <a:rPr lang="en-US"/>
              <a:t>ptapB1 (</a:t>
            </a:r>
            <a:r>
              <a:rPr lang="en-US" err="1"/>
              <a:t>Memorybit</a:t>
            </a:r>
            <a:r>
              <a:rPr lang="en-US"/>
              <a:t>/col LU)</a:t>
            </a:r>
          </a:p>
        </p:txBody>
      </p:sp>
      <p:sp>
        <p:nvSpPr>
          <p:cNvPr id="4" name="TextBox 3">
            <a:extLst>
              <a:ext uri="{FF2B5EF4-FFF2-40B4-BE49-F238E27FC236}">
                <a16:creationId xmlns:a16="http://schemas.microsoft.com/office/drawing/2014/main" id="{79F93257-37C3-489A-3E77-C1E6EDED24E3}"/>
              </a:ext>
            </a:extLst>
          </p:cNvPr>
          <p:cNvSpPr txBox="1"/>
          <p:nvPr/>
        </p:nvSpPr>
        <p:spPr>
          <a:xfrm>
            <a:off x="1628053" y="2381827"/>
            <a:ext cx="717227" cy="369332"/>
          </a:xfrm>
          <a:prstGeom prst="rect">
            <a:avLst/>
          </a:prstGeom>
          <a:noFill/>
        </p:spPr>
        <p:txBody>
          <a:bodyPr wrap="square" rtlCol="0">
            <a:spAutoFit/>
          </a:bodyPr>
          <a:lstStyle/>
          <a:p>
            <a:r>
              <a:rPr lang="en-US"/>
              <a:t>5PP</a:t>
            </a:r>
          </a:p>
        </p:txBody>
      </p:sp>
      <p:sp>
        <p:nvSpPr>
          <p:cNvPr id="5" name="TextBox 4">
            <a:extLst>
              <a:ext uri="{FF2B5EF4-FFF2-40B4-BE49-F238E27FC236}">
                <a16:creationId xmlns:a16="http://schemas.microsoft.com/office/drawing/2014/main" id="{F7165179-0912-ED11-E9B3-CC5480209998}"/>
              </a:ext>
            </a:extLst>
          </p:cNvPr>
          <p:cNvSpPr txBox="1"/>
          <p:nvPr/>
        </p:nvSpPr>
        <p:spPr>
          <a:xfrm>
            <a:off x="1628053" y="5002883"/>
            <a:ext cx="994497" cy="369332"/>
          </a:xfrm>
          <a:prstGeom prst="rect">
            <a:avLst/>
          </a:prstGeom>
          <a:noFill/>
        </p:spPr>
        <p:txBody>
          <a:bodyPr wrap="square" rtlCol="0">
            <a:spAutoFit/>
          </a:bodyPr>
          <a:lstStyle/>
          <a:p>
            <a:r>
              <a:rPr lang="en-US"/>
              <a:t>5/7PP</a:t>
            </a:r>
          </a:p>
        </p:txBody>
      </p:sp>
      <p:cxnSp>
        <p:nvCxnSpPr>
          <p:cNvPr id="7" name="Straight Arrow Connector 6">
            <a:extLst>
              <a:ext uri="{FF2B5EF4-FFF2-40B4-BE49-F238E27FC236}">
                <a16:creationId xmlns:a16="http://schemas.microsoft.com/office/drawing/2014/main" id="{3238480F-5058-62E7-5CBD-7E46B721666E}"/>
              </a:ext>
            </a:extLst>
          </p:cNvPr>
          <p:cNvCxnSpPr>
            <a:cxnSpLocks/>
            <a:stCxn id="39" idx="1"/>
            <a:endCxn id="78" idx="1"/>
          </p:cNvCxnSpPr>
          <p:nvPr/>
        </p:nvCxnSpPr>
        <p:spPr>
          <a:xfrm>
            <a:off x="1263259" y="5274085"/>
            <a:ext cx="1302761" cy="204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grpSp>
        <p:nvGrpSpPr>
          <p:cNvPr id="10" name="Group 9">
            <a:extLst>
              <a:ext uri="{FF2B5EF4-FFF2-40B4-BE49-F238E27FC236}">
                <a16:creationId xmlns:a16="http://schemas.microsoft.com/office/drawing/2014/main" id="{9CCABF38-7C4F-4111-D85A-509CE1F19567}"/>
              </a:ext>
            </a:extLst>
          </p:cNvPr>
          <p:cNvGrpSpPr/>
          <p:nvPr/>
        </p:nvGrpSpPr>
        <p:grpSpPr>
          <a:xfrm>
            <a:off x="6961878" y="2070540"/>
            <a:ext cx="2913324" cy="1498400"/>
            <a:chOff x="411169" y="1551073"/>
            <a:chExt cx="2913324" cy="1498400"/>
          </a:xfrm>
        </p:grpSpPr>
        <p:sp>
          <p:nvSpPr>
            <p:cNvPr id="15" name="Rectangle 14">
              <a:extLst>
                <a:ext uri="{FF2B5EF4-FFF2-40B4-BE49-F238E27FC236}">
                  <a16:creationId xmlns:a16="http://schemas.microsoft.com/office/drawing/2014/main" id="{4C53372C-58C4-2E45-2859-94390E08FBA2}"/>
                </a:ext>
              </a:extLst>
            </p:cNvPr>
            <p:cNvSpPr/>
            <p:nvPr/>
          </p:nvSpPr>
          <p:spPr>
            <a:xfrm>
              <a:off x="411169" y="1551073"/>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907B38-9E0E-1747-5076-5573DCE04609}"/>
                </a:ext>
              </a:extLst>
            </p:cNvPr>
            <p:cNvSpPr/>
            <p:nvPr/>
          </p:nvSpPr>
          <p:spPr>
            <a:xfrm>
              <a:off x="421184" y="1994449"/>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4E1B5F-E0F0-5350-9045-7F4D0BF622A0}"/>
                </a:ext>
              </a:extLst>
            </p:cNvPr>
            <p:cNvSpPr/>
            <p:nvPr/>
          </p:nvSpPr>
          <p:spPr>
            <a:xfrm>
              <a:off x="421184" y="2587312"/>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D39486F-4289-05A9-1AAA-57EBFAB24B6E}"/>
                </a:ext>
              </a:extLst>
            </p:cNvPr>
            <p:cNvSpPr/>
            <p:nvPr/>
          </p:nvSpPr>
          <p:spPr>
            <a:xfrm>
              <a:off x="421184" y="2353195"/>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D744BE8C-4858-B57A-83F8-6F17308C8D59}"/>
              </a:ext>
            </a:extLst>
          </p:cNvPr>
          <p:cNvSpPr/>
          <p:nvPr/>
        </p:nvSpPr>
        <p:spPr>
          <a:xfrm>
            <a:off x="7777374" y="2070540"/>
            <a:ext cx="1187972" cy="247708"/>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012F3EF-D0B0-7A13-3553-30CFF4D6CC44}"/>
              </a:ext>
            </a:extLst>
          </p:cNvPr>
          <p:cNvSpPr/>
          <p:nvPr/>
        </p:nvSpPr>
        <p:spPr>
          <a:xfrm>
            <a:off x="7761555" y="2508732"/>
            <a:ext cx="1203791" cy="269195"/>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85EE1FD-2AF2-24F5-5D8A-00EF3B028A56}"/>
              </a:ext>
            </a:extLst>
          </p:cNvPr>
          <p:cNvSpPr/>
          <p:nvPr/>
        </p:nvSpPr>
        <p:spPr>
          <a:xfrm>
            <a:off x="7732063" y="1963293"/>
            <a:ext cx="1246656" cy="909366"/>
          </a:xfrm>
          <a:prstGeom prst="rect">
            <a:avLst/>
          </a:prstGeom>
          <a:noFill/>
          <a:ln w="381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A8560E17-0C24-1DC7-81D7-F86EB043A108}"/>
              </a:ext>
            </a:extLst>
          </p:cNvPr>
          <p:cNvSpPr txBox="1"/>
          <p:nvPr/>
        </p:nvSpPr>
        <p:spPr>
          <a:xfrm>
            <a:off x="7665325" y="3819010"/>
            <a:ext cx="1652846" cy="369332"/>
          </a:xfrm>
          <a:prstGeom prst="rect">
            <a:avLst/>
          </a:prstGeom>
          <a:noFill/>
        </p:spPr>
        <p:txBody>
          <a:bodyPr wrap="square" rtlCol="0">
            <a:spAutoFit/>
          </a:bodyPr>
          <a:lstStyle/>
          <a:p>
            <a:r>
              <a:rPr lang="en-US"/>
              <a:t>Tap(</a:t>
            </a:r>
            <a:r>
              <a:rPr lang="en-US" err="1"/>
              <a:t>NPtrans</a:t>
            </a:r>
            <a:r>
              <a:rPr lang="en-US"/>
              <a:t>)</a:t>
            </a:r>
          </a:p>
        </p:txBody>
      </p:sp>
      <p:sp>
        <p:nvSpPr>
          <p:cNvPr id="59" name="Rectangle 58">
            <a:extLst>
              <a:ext uri="{FF2B5EF4-FFF2-40B4-BE49-F238E27FC236}">
                <a16:creationId xmlns:a16="http://schemas.microsoft.com/office/drawing/2014/main" id="{2E10EB66-5056-B1BA-0F56-21DE6164D4C7}"/>
              </a:ext>
            </a:extLst>
          </p:cNvPr>
          <p:cNvSpPr/>
          <p:nvPr/>
        </p:nvSpPr>
        <p:spPr>
          <a:xfrm>
            <a:off x="9002239" y="1963293"/>
            <a:ext cx="405675" cy="8891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F1169E69-ACBF-A7B9-8FF3-9D37B98BE975}"/>
              </a:ext>
            </a:extLst>
          </p:cNvPr>
          <p:cNvSpPr/>
          <p:nvPr/>
        </p:nvSpPr>
        <p:spPr>
          <a:xfrm>
            <a:off x="7355880" y="1952177"/>
            <a:ext cx="405675" cy="9405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32F05E44-1315-5FC5-73D7-6C4500F24E95}"/>
              </a:ext>
            </a:extLst>
          </p:cNvPr>
          <p:cNvSpPr txBox="1"/>
          <p:nvPr/>
        </p:nvSpPr>
        <p:spPr>
          <a:xfrm>
            <a:off x="7439150" y="3536318"/>
            <a:ext cx="2579423" cy="369332"/>
          </a:xfrm>
          <a:prstGeom prst="rect">
            <a:avLst/>
          </a:prstGeom>
          <a:noFill/>
        </p:spPr>
        <p:txBody>
          <a:bodyPr wrap="square" rtlCol="0">
            <a:spAutoFit/>
          </a:bodyPr>
          <a:lstStyle/>
          <a:p>
            <a:r>
              <a:rPr lang="en-US"/>
              <a:t>ptapB2 (Halo </a:t>
            </a:r>
            <a:r>
              <a:rPr lang="en-US" err="1"/>
              <a:t>pidTap</a:t>
            </a:r>
            <a:r>
              <a:rPr lang="en-US"/>
              <a:t>)</a:t>
            </a:r>
          </a:p>
        </p:txBody>
      </p:sp>
      <p:cxnSp>
        <p:nvCxnSpPr>
          <p:cNvPr id="67" name="Straight Arrow Connector 66">
            <a:extLst>
              <a:ext uri="{FF2B5EF4-FFF2-40B4-BE49-F238E27FC236}">
                <a16:creationId xmlns:a16="http://schemas.microsoft.com/office/drawing/2014/main" id="{A8B17EED-011B-F3F7-401E-BAF54495D6EF}"/>
              </a:ext>
            </a:extLst>
          </p:cNvPr>
          <p:cNvCxnSpPr>
            <a:cxnSpLocks/>
            <a:stCxn id="60" idx="3"/>
          </p:cNvCxnSpPr>
          <p:nvPr/>
        </p:nvCxnSpPr>
        <p:spPr>
          <a:xfrm flipV="1">
            <a:off x="7761555" y="2409110"/>
            <a:ext cx="1224865" cy="1335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2D753E56-155C-DF23-3861-31810C75B8D5}"/>
              </a:ext>
            </a:extLst>
          </p:cNvPr>
          <p:cNvSpPr txBox="1"/>
          <p:nvPr/>
        </p:nvSpPr>
        <p:spPr>
          <a:xfrm>
            <a:off x="8208459" y="2354637"/>
            <a:ext cx="717227" cy="369332"/>
          </a:xfrm>
          <a:prstGeom prst="rect">
            <a:avLst/>
          </a:prstGeom>
          <a:noFill/>
        </p:spPr>
        <p:txBody>
          <a:bodyPr wrap="square" rtlCol="0">
            <a:spAutoFit/>
          </a:bodyPr>
          <a:lstStyle/>
          <a:p>
            <a:r>
              <a:rPr lang="en-US"/>
              <a:t>7PP</a:t>
            </a:r>
          </a:p>
        </p:txBody>
      </p:sp>
      <p:sp>
        <p:nvSpPr>
          <p:cNvPr id="71" name="Rectangle 70">
            <a:extLst>
              <a:ext uri="{FF2B5EF4-FFF2-40B4-BE49-F238E27FC236}">
                <a16:creationId xmlns:a16="http://schemas.microsoft.com/office/drawing/2014/main" id="{308F5775-67B5-CB31-C364-1C32DB3B31AD}"/>
              </a:ext>
            </a:extLst>
          </p:cNvPr>
          <p:cNvSpPr/>
          <p:nvPr/>
        </p:nvSpPr>
        <p:spPr>
          <a:xfrm>
            <a:off x="6974805" y="2587161"/>
            <a:ext cx="2903309"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2" name="Rectangle 71">
            <a:extLst>
              <a:ext uri="{FF2B5EF4-FFF2-40B4-BE49-F238E27FC236}">
                <a16:creationId xmlns:a16="http://schemas.microsoft.com/office/drawing/2014/main" id="{6FE699FF-6EF8-E583-50B9-256D1CC3936C}"/>
              </a:ext>
            </a:extLst>
          </p:cNvPr>
          <p:cNvSpPr/>
          <p:nvPr/>
        </p:nvSpPr>
        <p:spPr>
          <a:xfrm>
            <a:off x="6974805" y="2130944"/>
            <a:ext cx="2903309"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75" name="Rectangle 74">
            <a:extLst>
              <a:ext uri="{FF2B5EF4-FFF2-40B4-BE49-F238E27FC236}">
                <a16:creationId xmlns:a16="http://schemas.microsoft.com/office/drawing/2014/main" id="{EC8B4A49-7EDD-E702-927C-5502C82A7421}"/>
              </a:ext>
            </a:extLst>
          </p:cNvPr>
          <p:cNvSpPr/>
          <p:nvPr/>
        </p:nvSpPr>
        <p:spPr>
          <a:xfrm>
            <a:off x="419146" y="5486421"/>
            <a:ext cx="3015594" cy="100906"/>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5C27AC8-FAEB-AC1E-B3EF-D4E284108A02}"/>
              </a:ext>
            </a:extLst>
          </p:cNvPr>
          <p:cNvSpPr/>
          <p:nvPr/>
        </p:nvSpPr>
        <p:spPr>
          <a:xfrm>
            <a:off x="419146" y="4967600"/>
            <a:ext cx="3015594" cy="82334"/>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6D48D34-2485-59BF-E33D-E05C2D893246}"/>
              </a:ext>
            </a:extLst>
          </p:cNvPr>
          <p:cNvSpPr/>
          <p:nvPr/>
        </p:nvSpPr>
        <p:spPr>
          <a:xfrm>
            <a:off x="407337" y="4817475"/>
            <a:ext cx="855921" cy="973305"/>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423A656-F354-FFDC-CB94-B19D4E6B16B7}"/>
              </a:ext>
            </a:extLst>
          </p:cNvPr>
          <p:cNvSpPr/>
          <p:nvPr/>
        </p:nvSpPr>
        <p:spPr>
          <a:xfrm>
            <a:off x="2566020" y="4807839"/>
            <a:ext cx="868726" cy="973305"/>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8B9D1A43-0150-050F-6AA7-B63058CBEA9C}"/>
              </a:ext>
            </a:extLst>
          </p:cNvPr>
          <p:cNvGrpSpPr/>
          <p:nvPr/>
        </p:nvGrpSpPr>
        <p:grpSpPr>
          <a:xfrm>
            <a:off x="3545200" y="1267015"/>
            <a:ext cx="3305034" cy="2323414"/>
            <a:chOff x="3719590" y="1267015"/>
            <a:chExt cx="3130644" cy="2323414"/>
          </a:xfrm>
        </p:grpSpPr>
        <p:grpSp>
          <p:nvGrpSpPr>
            <p:cNvPr id="66" name="Group 65">
              <a:extLst>
                <a:ext uri="{FF2B5EF4-FFF2-40B4-BE49-F238E27FC236}">
                  <a16:creationId xmlns:a16="http://schemas.microsoft.com/office/drawing/2014/main" id="{4774DDB3-E4C1-5B45-216C-17D8F03F89C8}"/>
                </a:ext>
              </a:extLst>
            </p:cNvPr>
            <p:cNvGrpSpPr/>
            <p:nvPr/>
          </p:nvGrpSpPr>
          <p:grpSpPr>
            <a:xfrm>
              <a:off x="3719590" y="1527911"/>
              <a:ext cx="3130644" cy="2062518"/>
              <a:chOff x="411169" y="986955"/>
              <a:chExt cx="2913324" cy="2062518"/>
            </a:xfrm>
          </p:grpSpPr>
          <p:sp>
            <p:nvSpPr>
              <p:cNvPr id="18" name="Rectangle 17">
                <a:extLst>
                  <a:ext uri="{FF2B5EF4-FFF2-40B4-BE49-F238E27FC236}">
                    <a16:creationId xmlns:a16="http://schemas.microsoft.com/office/drawing/2014/main" id="{2F6906CE-146A-B9A5-F753-5E98D6D9D09A}"/>
                  </a:ext>
                </a:extLst>
              </p:cNvPr>
              <p:cNvSpPr/>
              <p:nvPr/>
            </p:nvSpPr>
            <p:spPr>
              <a:xfrm>
                <a:off x="421184" y="986955"/>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800DA8B-7A78-B88E-CB3A-56ADDFCDE18F}"/>
                  </a:ext>
                </a:extLst>
              </p:cNvPr>
              <p:cNvSpPr/>
              <p:nvPr/>
            </p:nvSpPr>
            <p:spPr>
              <a:xfrm>
                <a:off x="411169" y="1551073"/>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C80386F-8D37-D707-1061-7A1A17FB00AC}"/>
                  </a:ext>
                </a:extLst>
              </p:cNvPr>
              <p:cNvSpPr/>
              <p:nvPr/>
            </p:nvSpPr>
            <p:spPr>
              <a:xfrm>
                <a:off x="421184" y="1994449"/>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F8C8FE4-0C7E-9954-563B-A947BFA1D8DD}"/>
                  </a:ext>
                </a:extLst>
              </p:cNvPr>
              <p:cNvSpPr/>
              <p:nvPr/>
            </p:nvSpPr>
            <p:spPr>
              <a:xfrm>
                <a:off x="421184" y="2587312"/>
                <a:ext cx="2903309"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F866633-92D5-A597-F1A2-640CEB38E1B7}"/>
                  </a:ext>
                </a:extLst>
              </p:cNvPr>
              <p:cNvSpPr/>
              <p:nvPr/>
            </p:nvSpPr>
            <p:spPr>
              <a:xfrm>
                <a:off x="421184" y="2353195"/>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Rectangle 97">
              <a:extLst>
                <a:ext uri="{FF2B5EF4-FFF2-40B4-BE49-F238E27FC236}">
                  <a16:creationId xmlns:a16="http://schemas.microsoft.com/office/drawing/2014/main" id="{64555B3B-0D16-2096-8D99-A6447F70181E}"/>
                </a:ext>
              </a:extLst>
            </p:cNvPr>
            <p:cNvSpPr/>
            <p:nvPr/>
          </p:nvSpPr>
          <p:spPr>
            <a:xfrm>
              <a:off x="3729605" y="1267015"/>
              <a:ext cx="3119882"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87B0D6CE-FB33-DD72-DE62-9FACD07492C9}"/>
                </a:ext>
              </a:extLst>
            </p:cNvPr>
            <p:cNvSpPr/>
            <p:nvPr/>
          </p:nvSpPr>
          <p:spPr>
            <a:xfrm>
              <a:off x="4681657" y="2092029"/>
              <a:ext cx="1206304"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74F2CD9A-C03C-2EA0-1444-0D9F393CC728}"/>
                </a:ext>
              </a:extLst>
            </p:cNvPr>
            <p:cNvSpPr/>
            <p:nvPr/>
          </p:nvSpPr>
          <p:spPr>
            <a:xfrm>
              <a:off x="4676914" y="2540700"/>
              <a:ext cx="1277723"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3E6C57B4-8B33-A3E1-75F2-B5B669183784}"/>
                </a:ext>
              </a:extLst>
            </p:cNvPr>
            <p:cNvSpPr/>
            <p:nvPr/>
          </p:nvSpPr>
          <p:spPr>
            <a:xfrm>
              <a:off x="4671719" y="1952177"/>
              <a:ext cx="1282917" cy="941971"/>
            </a:xfrm>
            <a:prstGeom prst="rect">
              <a:avLst/>
            </a:prstGeom>
            <a:noFill/>
            <a:ln w="38100">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1EDC1B05-D267-4F01-541A-1BA0F07C1AEE}"/>
                </a:ext>
              </a:extLst>
            </p:cNvPr>
            <p:cNvSpPr/>
            <p:nvPr/>
          </p:nvSpPr>
          <p:spPr>
            <a:xfrm>
              <a:off x="5902971" y="1977194"/>
              <a:ext cx="435936" cy="9405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CB12DBB9-9511-DEFC-6E13-6EB3B18EBFF1}"/>
                </a:ext>
              </a:extLst>
            </p:cNvPr>
            <p:cNvSpPr/>
            <p:nvPr/>
          </p:nvSpPr>
          <p:spPr>
            <a:xfrm>
              <a:off x="4255127" y="1952177"/>
              <a:ext cx="435936" cy="9405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D772A28A-38FC-C066-2DBA-03A17A5BEF83}"/>
                </a:ext>
              </a:extLst>
            </p:cNvPr>
            <p:cNvSpPr/>
            <p:nvPr/>
          </p:nvSpPr>
          <p:spPr>
            <a:xfrm>
              <a:off x="3729605" y="2613075"/>
              <a:ext cx="3119882"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1A173AB5-6FD8-D1E6-BA16-45AAE1742602}"/>
                </a:ext>
              </a:extLst>
            </p:cNvPr>
            <p:cNvCxnSpPr>
              <a:cxnSpLocks/>
              <a:stCxn id="145" idx="3"/>
              <a:endCxn id="144" idx="1"/>
            </p:cNvCxnSpPr>
            <p:nvPr/>
          </p:nvCxnSpPr>
          <p:spPr>
            <a:xfrm>
              <a:off x="4691063" y="2422469"/>
              <a:ext cx="121190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0" name="Rectangle 69">
              <a:extLst>
                <a:ext uri="{FF2B5EF4-FFF2-40B4-BE49-F238E27FC236}">
                  <a16:creationId xmlns:a16="http://schemas.microsoft.com/office/drawing/2014/main" id="{A5C2B608-2D0D-64B7-C44E-CB174B456341}"/>
                </a:ext>
              </a:extLst>
            </p:cNvPr>
            <p:cNvSpPr/>
            <p:nvPr/>
          </p:nvSpPr>
          <p:spPr>
            <a:xfrm>
              <a:off x="3729605" y="2156858"/>
              <a:ext cx="3119882"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A43AC48F-21EF-9818-C504-5D052C67EF1E}"/>
                </a:ext>
              </a:extLst>
            </p:cNvPr>
            <p:cNvSpPr/>
            <p:nvPr/>
          </p:nvSpPr>
          <p:spPr>
            <a:xfrm>
              <a:off x="3729605" y="1597788"/>
              <a:ext cx="3119882"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BD813035-7727-53E4-F240-B759B61A39CA}"/>
                </a:ext>
              </a:extLst>
            </p:cNvPr>
            <p:cNvSpPr/>
            <p:nvPr/>
          </p:nvSpPr>
          <p:spPr>
            <a:xfrm>
              <a:off x="3719590" y="3199112"/>
              <a:ext cx="3119882"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C9B7508B-ED75-1F02-2B8D-7756E23131E9}"/>
              </a:ext>
            </a:extLst>
          </p:cNvPr>
          <p:cNvGrpSpPr/>
          <p:nvPr/>
        </p:nvGrpSpPr>
        <p:grpSpPr>
          <a:xfrm>
            <a:off x="6961879" y="1466268"/>
            <a:ext cx="2916236" cy="275212"/>
            <a:chOff x="6961878" y="1454496"/>
            <a:chExt cx="2998315" cy="240766"/>
          </a:xfrm>
        </p:grpSpPr>
        <p:sp>
          <p:nvSpPr>
            <p:cNvPr id="69" name="Rectangle 68">
              <a:extLst>
                <a:ext uri="{FF2B5EF4-FFF2-40B4-BE49-F238E27FC236}">
                  <a16:creationId xmlns:a16="http://schemas.microsoft.com/office/drawing/2014/main" id="{FB588FC7-1A67-8FBE-C7C2-9E8E48BCB7BB}"/>
                </a:ext>
              </a:extLst>
            </p:cNvPr>
            <p:cNvSpPr/>
            <p:nvPr/>
          </p:nvSpPr>
          <p:spPr>
            <a:xfrm>
              <a:off x="6961878" y="1454496"/>
              <a:ext cx="2985389" cy="24076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494918D0-5048-5FC1-DFF8-FAEDC7C35875}"/>
                </a:ext>
              </a:extLst>
            </p:cNvPr>
            <p:cNvSpPr/>
            <p:nvPr/>
          </p:nvSpPr>
          <p:spPr>
            <a:xfrm>
              <a:off x="6961878" y="1525985"/>
              <a:ext cx="2998315" cy="9638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4" name="Rectangle 83">
            <a:extLst>
              <a:ext uri="{FF2B5EF4-FFF2-40B4-BE49-F238E27FC236}">
                <a16:creationId xmlns:a16="http://schemas.microsoft.com/office/drawing/2014/main" id="{F3170B8D-F39F-1057-D3D5-AA38777ACF7B}"/>
              </a:ext>
            </a:extLst>
          </p:cNvPr>
          <p:cNvSpPr/>
          <p:nvPr/>
        </p:nvSpPr>
        <p:spPr>
          <a:xfrm>
            <a:off x="6961878" y="3180186"/>
            <a:ext cx="2903309" cy="88958"/>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BCD70092-040E-D729-C08E-DB9F3C3390CF}"/>
              </a:ext>
            </a:extLst>
          </p:cNvPr>
          <p:cNvGrpSpPr/>
          <p:nvPr/>
        </p:nvGrpSpPr>
        <p:grpSpPr>
          <a:xfrm>
            <a:off x="3890567" y="4238904"/>
            <a:ext cx="4495756" cy="2251390"/>
            <a:chOff x="3890567" y="4238904"/>
            <a:chExt cx="3416798" cy="2251390"/>
          </a:xfrm>
        </p:grpSpPr>
        <p:grpSp>
          <p:nvGrpSpPr>
            <p:cNvPr id="160" name="Group 159">
              <a:extLst>
                <a:ext uri="{FF2B5EF4-FFF2-40B4-BE49-F238E27FC236}">
                  <a16:creationId xmlns:a16="http://schemas.microsoft.com/office/drawing/2014/main" id="{51B2A3EA-EC13-7421-3499-EF5A3D7F1B76}"/>
                </a:ext>
              </a:extLst>
            </p:cNvPr>
            <p:cNvGrpSpPr/>
            <p:nvPr/>
          </p:nvGrpSpPr>
          <p:grpSpPr>
            <a:xfrm>
              <a:off x="3913224" y="4238904"/>
              <a:ext cx="3394141" cy="1955252"/>
              <a:chOff x="4972987" y="4316867"/>
              <a:chExt cx="3027411" cy="1955252"/>
            </a:xfrm>
          </p:grpSpPr>
          <p:grpSp>
            <p:nvGrpSpPr>
              <p:cNvPr id="113" name="Group 112">
                <a:extLst>
                  <a:ext uri="{FF2B5EF4-FFF2-40B4-BE49-F238E27FC236}">
                    <a16:creationId xmlns:a16="http://schemas.microsoft.com/office/drawing/2014/main" id="{5A034A7C-EE76-9D68-528E-F2287439C5A8}"/>
                  </a:ext>
                </a:extLst>
              </p:cNvPr>
              <p:cNvGrpSpPr/>
              <p:nvPr/>
            </p:nvGrpSpPr>
            <p:grpSpPr>
              <a:xfrm>
                <a:off x="4972987" y="4316867"/>
                <a:ext cx="3027411" cy="1955252"/>
                <a:chOff x="381994" y="4275733"/>
                <a:chExt cx="3027411" cy="1955252"/>
              </a:xfrm>
            </p:grpSpPr>
            <p:sp>
              <p:nvSpPr>
                <p:cNvPr id="114" name="Rectangle 113">
                  <a:extLst>
                    <a:ext uri="{FF2B5EF4-FFF2-40B4-BE49-F238E27FC236}">
                      <a16:creationId xmlns:a16="http://schemas.microsoft.com/office/drawing/2014/main" id="{AE3EEB81-76F8-E24B-AE80-012EEECFB84F}"/>
                    </a:ext>
                  </a:extLst>
                </p:cNvPr>
                <p:cNvSpPr/>
                <p:nvPr/>
              </p:nvSpPr>
              <p:spPr>
                <a:xfrm>
                  <a:off x="381998" y="4860935"/>
                  <a:ext cx="2928852"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 name="Group 114">
                  <a:extLst>
                    <a:ext uri="{FF2B5EF4-FFF2-40B4-BE49-F238E27FC236}">
                      <a16:creationId xmlns:a16="http://schemas.microsoft.com/office/drawing/2014/main" id="{8B777CD0-7448-E29A-E319-DDEE60898BCF}"/>
                    </a:ext>
                  </a:extLst>
                </p:cNvPr>
                <p:cNvGrpSpPr/>
                <p:nvPr/>
              </p:nvGrpSpPr>
              <p:grpSpPr>
                <a:xfrm>
                  <a:off x="381994" y="4275733"/>
                  <a:ext cx="3027411" cy="1955252"/>
                  <a:chOff x="381995" y="4275732"/>
                  <a:chExt cx="2903312" cy="1777228"/>
                </a:xfrm>
              </p:grpSpPr>
              <p:sp>
                <p:nvSpPr>
                  <p:cNvPr id="116" name="Rectangle 115">
                    <a:extLst>
                      <a:ext uri="{FF2B5EF4-FFF2-40B4-BE49-F238E27FC236}">
                        <a16:creationId xmlns:a16="http://schemas.microsoft.com/office/drawing/2014/main" id="{0E853A27-2221-ED79-64A7-3EEAE57CA922}"/>
                      </a:ext>
                    </a:extLst>
                  </p:cNvPr>
                  <p:cNvSpPr/>
                  <p:nvPr/>
                </p:nvSpPr>
                <p:spPr>
                  <a:xfrm>
                    <a:off x="381996" y="5287534"/>
                    <a:ext cx="2808795" cy="24771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7" name="Group 116">
                    <a:extLst>
                      <a:ext uri="{FF2B5EF4-FFF2-40B4-BE49-F238E27FC236}">
                        <a16:creationId xmlns:a16="http://schemas.microsoft.com/office/drawing/2014/main" id="{050E597C-22A2-120A-BF67-BD844DA7773D}"/>
                      </a:ext>
                    </a:extLst>
                  </p:cNvPr>
                  <p:cNvGrpSpPr/>
                  <p:nvPr/>
                </p:nvGrpSpPr>
                <p:grpSpPr>
                  <a:xfrm>
                    <a:off x="381995" y="4275732"/>
                    <a:ext cx="2903312" cy="1777228"/>
                    <a:chOff x="381995" y="4275732"/>
                    <a:chExt cx="2903312" cy="1777228"/>
                  </a:xfrm>
                </p:grpSpPr>
                <p:sp>
                  <p:nvSpPr>
                    <p:cNvPr id="118" name="Rectangle 117">
                      <a:extLst>
                        <a:ext uri="{FF2B5EF4-FFF2-40B4-BE49-F238E27FC236}">
                          <a16:creationId xmlns:a16="http://schemas.microsoft.com/office/drawing/2014/main" id="{DED6009B-7545-A23E-A24B-D973D536CFDF}"/>
                        </a:ext>
                      </a:extLst>
                    </p:cNvPr>
                    <p:cNvSpPr/>
                    <p:nvPr/>
                  </p:nvSpPr>
                  <p:spPr>
                    <a:xfrm>
                      <a:off x="381998" y="4275732"/>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DC2FC15F-655E-D489-6B61-54EE9C99093B}"/>
                        </a:ext>
                      </a:extLst>
                    </p:cNvPr>
                    <p:cNvSpPr/>
                    <p:nvPr/>
                  </p:nvSpPr>
                  <p:spPr>
                    <a:xfrm>
                      <a:off x="381995" y="5805250"/>
                      <a:ext cx="2903309"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123" name="Rectangle 122">
                <a:extLst>
                  <a:ext uri="{FF2B5EF4-FFF2-40B4-BE49-F238E27FC236}">
                    <a16:creationId xmlns:a16="http://schemas.microsoft.com/office/drawing/2014/main" id="{6C721127-B84E-3CE1-315A-3B178ADEDE76}"/>
                  </a:ext>
                </a:extLst>
              </p:cNvPr>
              <p:cNvSpPr/>
              <p:nvPr/>
            </p:nvSpPr>
            <p:spPr>
              <a:xfrm>
                <a:off x="5971433" y="4902069"/>
                <a:ext cx="972454"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C9F2FB37-CD5C-3D3D-9F7D-E89DE642949B}"/>
                  </a:ext>
                </a:extLst>
              </p:cNvPr>
              <p:cNvSpPr/>
              <p:nvPr/>
            </p:nvSpPr>
            <p:spPr>
              <a:xfrm>
                <a:off x="5971433" y="5442424"/>
                <a:ext cx="972454" cy="24771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B8D2879-A884-13E6-4292-4A938BA71A10}"/>
                  </a:ext>
                </a:extLst>
              </p:cNvPr>
              <p:cNvSpPr/>
              <p:nvPr/>
            </p:nvSpPr>
            <p:spPr>
              <a:xfrm>
                <a:off x="5953471" y="4788150"/>
                <a:ext cx="990619" cy="97635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598F65EF-CABD-508F-AE91-FFA9EF21E945}"/>
                  </a:ext>
                </a:extLst>
              </p:cNvPr>
              <p:cNvSpPr/>
              <p:nvPr/>
            </p:nvSpPr>
            <p:spPr>
              <a:xfrm>
                <a:off x="6943887" y="4788149"/>
                <a:ext cx="405675" cy="9733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2660834C-4EC0-F611-A9B8-5F2D69CBE9B0}"/>
                  </a:ext>
                </a:extLst>
              </p:cNvPr>
              <p:cNvSpPr/>
              <p:nvPr/>
            </p:nvSpPr>
            <p:spPr>
              <a:xfrm>
                <a:off x="5554420" y="4781709"/>
                <a:ext cx="405675" cy="9733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7" name="TextBox 156">
              <a:extLst>
                <a:ext uri="{FF2B5EF4-FFF2-40B4-BE49-F238E27FC236}">
                  <a16:creationId xmlns:a16="http://schemas.microsoft.com/office/drawing/2014/main" id="{A5B3BC9E-D01D-C38B-F74B-4204C4F1FB25}"/>
                </a:ext>
              </a:extLst>
            </p:cNvPr>
            <p:cNvSpPr txBox="1"/>
            <p:nvPr/>
          </p:nvSpPr>
          <p:spPr>
            <a:xfrm>
              <a:off x="4483389" y="6120962"/>
              <a:ext cx="2539636" cy="369332"/>
            </a:xfrm>
            <a:prstGeom prst="rect">
              <a:avLst/>
            </a:prstGeom>
            <a:noFill/>
          </p:spPr>
          <p:txBody>
            <a:bodyPr wrap="square" rtlCol="0">
              <a:spAutoFit/>
            </a:bodyPr>
            <a:lstStyle/>
            <a:p>
              <a:r>
                <a:rPr lang="en-US" err="1"/>
                <a:t>ntapB</a:t>
              </a:r>
              <a:r>
                <a:rPr lang="en-US"/>
                <a:t> ( </a:t>
              </a:r>
              <a:r>
                <a:rPr lang="en-US" err="1"/>
                <a:t>Memorybit</a:t>
              </a:r>
              <a:r>
                <a:rPr lang="en-US"/>
                <a:t>/Col LU)</a:t>
              </a:r>
            </a:p>
          </p:txBody>
        </p:sp>
        <p:sp>
          <p:nvSpPr>
            <p:cNvPr id="8" name="TextBox 7">
              <a:extLst>
                <a:ext uri="{FF2B5EF4-FFF2-40B4-BE49-F238E27FC236}">
                  <a16:creationId xmlns:a16="http://schemas.microsoft.com/office/drawing/2014/main" id="{B3F117CD-FCD3-371A-ABA0-96D4ADCE85CA}"/>
                </a:ext>
              </a:extLst>
            </p:cNvPr>
            <p:cNvSpPr txBox="1"/>
            <p:nvPr/>
          </p:nvSpPr>
          <p:spPr>
            <a:xfrm>
              <a:off x="5267534" y="4897806"/>
              <a:ext cx="717227" cy="369332"/>
            </a:xfrm>
            <a:prstGeom prst="rect">
              <a:avLst/>
            </a:prstGeom>
            <a:noFill/>
          </p:spPr>
          <p:txBody>
            <a:bodyPr wrap="square" rtlCol="0">
              <a:spAutoFit/>
            </a:bodyPr>
            <a:lstStyle/>
            <a:p>
              <a:r>
                <a:rPr lang="en-US"/>
                <a:t>7PP</a:t>
              </a:r>
            </a:p>
          </p:txBody>
        </p:sp>
        <p:cxnSp>
          <p:nvCxnSpPr>
            <p:cNvPr id="11" name="Straight Arrow Connector 10">
              <a:extLst>
                <a:ext uri="{FF2B5EF4-FFF2-40B4-BE49-F238E27FC236}">
                  <a16:creationId xmlns:a16="http://schemas.microsoft.com/office/drawing/2014/main" id="{C26E2DB4-FD60-FF62-B12A-4BBED17A3F2E}"/>
                </a:ext>
              </a:extLst>
            </p:cNvPr>
            <p:cNvCxnSpPr>
              <a:cxnSpLocks/>
              <a:stCxn id="139" idx="1"/>
              <a:endCxn id="139" idx="3"/>
            </p:cNvCxnSpPr>
            <p:nvPr/>
          </p:nvCxnSpPr>
          <p:spPr>
            <a:xfrm>
              <a:off x="5012481" y="5198364"/>
              <a:ext cx="111061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73" name="Rectangle 72">
              <a:extLst>
                <a:ext uri="{FF2B5EF4-FFF2-40B4-BE49-F238E27FC236}">
                  <a16:creationId xmlns:a16="http://schemas.microsoft.com/office/drawing/2014/main" id="{41363237-D3EF-5851-DDCC-213758506C7B}"/>
                </a:ext>
              </a:extLst>
            </p:cNvPr>
            <p:cNvSpPr/>
            <p:nvPr/>
          </p:nvSpPr>
          <p:spPr>
            <a:xfrm>
              <a:off x="3911591" y="5429479"/>
              <a:ext cx="3295238" cy="88940"/>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AE917239-2EF4-189F-4C05-1D4B56CCEFCC}"/>
                </a:ext>
              </a:extLst>
            </p:cNvPr>
            <p:cNvSpPr/>
            <p:nvPr/>
          </p:nvSpPr>
          <p:spPr>
            <a:xfrm>
              <a:off x="3930531" y="4902771"/>
              <a:ext cx="3276298" cy="81206"/>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415ECDF-8B05-8028-24B8-8B91E36CE4B3}"/>
                </a:ext>
              </a:extLst>
            </p:cNvPr>
            <p:cNvSpPr/>
            <p:nvPr/>
          </p:nvSpPr>
          <p:spPr>
            <a:xfrm>
              <a:off x="3896899" y="4710045"/>
              <a:ext cx="3325138" cy="991503"/>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692EF732-6B3C-6E75-47F2-ACC2856520C4}"/>
                </a:ext>
              </a:extLst>
            </p:cNvPr>
            <p:cNvSpPr/>
            <p:nvPr/>
          </p:nvSpPr>
          <p:spPr>
            <a:xfrm>
              <a:off x="3911591" y="4347409"/>
              <a:ext cx="3375159" cy="81206"/>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3194161E-EC80-50F6-AAF2-A156E98784C8}"/>
                </a:ext>
              </a:extLst>
            </p:cNvPr>
            <p:cNvSpPr/>
            <p:nvPr/>
          </p:nvSpPr>
          <p:spPr>
            <a:xfrm>
              <a:off x="3890567" y="6011516"/>
              <a:ext cx="3375159" cy="81206"/>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Rectangle 87">
            <a:extLst>
              <a:ext uri="{FF2B5EF4-FFF2-40B4-BE49-F238E27FC236}">
                <a16:creationId xmlns:a16="http://schemas.microsoft.com/office/drawing/2014/main" id="{EFC7FE53-DB65-CC6F-3CD6-02ACB67288F4}"/>
              </a:ext>
            </a:extLst>
          </p:cNvPr>
          <p:cNvSpPr/>
          <p:nvPr/>
        </p:nvSpPr>
        <p:spPr>
          <a:xfrm>
            <a:off x="394407" y="1657764"/>
            <a:ext cx="2893294" cy="6722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6DA0EE33-72C1-C424-3219-5B02FB90CF07}"/>
              </a:ext>
            </a:extLst>
          </p:cNvPr>
          <p:cNvSpPr/>
          <p:nvPr/>
        </p:nvSpPr>
        <p:spPr>
          <a:xfrm>
            <a:off x="394407" y="2240770"/>
            <a:ext cx="2893294" cy="6722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BCAE86A4-933F-11A4-49B3-BF497DEF216B}"/>
              </a:ext>
            </a:extLst>
          </p:cNvPr>
          <p:cNvSpPr/>
          <p:nvPr/>
        </p:nvSpPr>
        <p:spPr>
          <a:xfrm>
            <a:off x="407333" y="2668422"/>
            <a:ext cx="2893294" cy="6722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A18C9313-9CDA-367C-63BF-1167CA9CCF89}"/>
              </a:ext>
            </a:extLst>
          </p:cNvPr>
          <p:cNvSpPr/>
          <p:nvPr/>
        </p:nvSpPr>
        <p:spPr>
          <a:xfrm>
            <a:off x="407333" y="3289207"/>
            <a:ext cx="2893294" cy="6722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38300AB3-7829-1782-FB46-EEAAAD1D0289}"/>
              </a:ext>
            </a:extLst>
          </p:cNvPr>
          <p:cNvSpPr/>
          <p:nvPr/>
        </p:nvSpPr>
        <p:spPr>
          <a:xfrm>
            <a:off x="419146" y="4401069"/>
            <a:ext cx="3014167" cy="67222"/>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2A9BD557-FACA-FDD0-23D8-FF2A32F02480}"/>
              </a:ext>
            </a:extLst>
          </p:cNvPr>
          <p:cNvSpPr/>
          <p:nvPr/>
        </p:nvSpPr>
        <p:spPr>
          <a:xfrm>
            <a:off x="405906" y="6079067"/>
            <a:ext cx="3027407" cy="68391"/>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F0F702D-11D0-9454-9D4F-CEF7A5C70103}"/>
              </a:ext>
            </a:extLst>
          </p:cNvPr>
          <p:cNvSpPr/>
          <p:nvPr/>
        </p:nvSpPr>
        <p:spPr>
          <a:xfrm>
            <a:off x="10383217" y="5379768"/>
            <a:ext cx="361459" cy="4423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E6976AB-2E12-D058-C433-8C45392E3C28}"/>
              </a:ext>
            </a:extLst>
          </p:cNvPr>
          <p:cNvSpPr txBox="1"/>
          <p:nvPr/>
        </p:nvSpPr>
        <p:spPr>
          <a:xfrm>
            <a:off x="10734474" y="5405741"/>
            <a:ext cx="1619815" cy="369332"/>
          </a:xfrm>
          <a:prstGeom prst="rect">
            <a:avLst/>
          </a:prstGeom>
          <a:noFill/>
        </p:spPr>
        <p:txBody>
          <a:bodyPr wrap="square" rtlCol="0">
            <a:spAutoFit/>
          </a:bodyPr>
          <a:lstStyle/>
          <a:p>
            <a:r>
              <a:rPr lang="en-US" err="1"/>
              <a:t>epiblocking;id</a:t>
            </a:r>
            <a:endParaRPr lang="en-US"/>
          </a:p>
        </p:txBody>
      </p:sp>
      <p:sp>
        <p:nvSpPr>
          <p:cNvPr id="37" name="Title 1">
            <a:extLst>
              <a:ext uri="{FF2B5EF4-FFF2-40B4-BE49-F238E27FC236}">
                <a16:creationId xmlns:a16="http://schemas.microsoft.com/office/drawing/2014/main" id="{22A4D5A3-AACF-CBCA-AD3A-7A772723AB00}"/>
              </a:ext>
            </a:extLst>
          </p:cNvPr>
          <p:cNvSpPr>
            <a:spLocks noGrp="1"/>
          </p:cNvSpPr>
          <p:nvPr>
            <p:ph type="title"/>
          </p:nvPr>
        </p:nvSpPr>
        <p:spPr>
          <a:xfrm>
            <a:off x="218874" y="37339"/>
            <a:ext cx="10515600" cy="1325563"/>
          </a:xfrm>
        </p:spPr>
        <p:txBody>
          <a:bodyPr/>
          <a:lstStyle/>
          <a:p>
            <a:r>
              <a:rPr lang="en-US"/>
              <a:t>Drawn Tap Styles in X81A (NOM CMOS area)</a:t>
            </a:r>
          </a:p>
        </p:txBody>
      </p:sp>
      <p:sp>
        <p:nvSpPr>
          <p:cNvPr id="61" name="TextBox 60">
            <a:extLst>
              <a:ext uri="{FF2B5EF4-FFF2-40B4-BE49-F238E27FC236}">
                <a16:creationId xmlns:a16="http://schemas.microsoft.com/office/drawing/2014/main" id="{5ED19941-8E2A-11B0-F3EA-FB5B62B16184}"/>
              </a:ext>
            </a:extLst>
          </p:cNvPr>
          <p:cNvSpPr txBox="1"/>
          <p:nvPr/>
        </p:nvSpPr>
        <p:spPr>
          <a:xfrm>
            <a:off x="1263258" y="6496986"/>
            <a:ext cx="2281942" cy="369332"/>
          </a:xfrm>
          <a:prstGeom prst="rect">
            <a:avLst/>
          </a:prstGeom>
          <a:noFill/>
        </p:spPr>
        <p:txBody>
          <a:bodyPr wrap="square" rtlCol="0">
            <a:spAutoFit/>
          </a:bodyPr>
          <a:lstStyle/>
          <a:p>
            <a:r>
              <a:rPr lang="en-US"/>
              <a:t>Tap(</a:t>
            </a:r>
            <a:r>
              <a:rPr lang="en-US" err="1"/>
              <a:t>SdGen</a:t>
            </a:r>
            <a:r>
              <a:rPr lang="en-US"/>
              <a:t> Cut)</a:t>
            </a:r>
          </a:p>
        </p:txBody>
      </p:sp>
      <p:sp>
        <p:nvSpPr>
          <p:cNvPr id="63" name="TextBox 62">
            <a:extLst>
              <a:ext uri="{FF2B5EF4-FFF2-40B4-BE49-F238E27FC236}">
                <a16:creationId xmlns:a16="http://schemas.microsoft.com/office/drawing/2014/main" id="{EFFCDA92-8DA2-607C-D697-CEFFC93998D8}"/>
              </a:ext>
            </a:extLst>
          </p:cNvPr>
          <p:cNvSpPr txBox="1"/>
          <p:nvPr/>
        </p:nvSpPr>
        <p:spPr>
          <a:xfrm>
            <a:off x="4845287" y="6364089"/>
            <a:ext cx="1652846" cy="369332"/>
          </a:xfrm>
          <a:prstGeom prst="rect">
            <a:avLst/>
          </a:prstGeom>
          <a:noFill/>
        </p:spPr>
        <p:txBody>
          <a:bodyPr wrap="square" rtlCol="0">
            <a:spAutoFit/>
          </a:bodyPr>
          <a:lstStyle/>
          <a:p>
            <a:r>
              <a:rPr lang="en-US"/>
              <a:t>Tap(</a:t>
            </a:r>
            <a:r>
              <a:rPr lang="en-US" err="1"/>
              <a:t>NPtrans</a:t>
            </a:r>
            <a:r>
              <a:rPr lang="en-US"/>
              <a:t>)</a:t>
            </a:r>
          </a:p>
        </p:txBody>
      </p:sp>
      <p:sp>
        <p:nvSpPr>
          <p:cNvPr id="90" name="TextBox 89">
            <a:extLst>
              <a:ext uri="{FF2B5EF4-FFF2-40B4-BE49-F238E27FC236}">
                <a16:creationId xmlns:a16="http://schemas.microsoft.com/office/drawing/2014/main" id="{8AF24D40-9A1C-F362-A216-435D831A26A4}"/>
              </a:ext>
            </a:extLst>
          </p:cNvPr>
          <p:cNvSpPr txBox="1"/>
          <p:nvPr/>
        </p:nvSpPr>
        <p:spPr>
          <a:xfrm>
            <a:off x="4905993" y="2299090"/>
            <a:ext cx="813662" cy="369332"/>
          </a:xfrm>
          <a:prstGeom prst="rect">
            <a:avLst/>
          </a:prstGeom>
          <a:noFill/>
        </p:spPr>
        <p:txBody>
          <a:bodyPr wrap="square" rtlCol="0">
            <a:spAutoFit/>
          </a:bodyPr>
          <a:lstStyle/>
          <a:p>
            <a:r>
              <a:rPr lang="en-US"/>
              <a:t>7PP</a:t>
            </a:r>
          </a:p>
        </p:txBody>
      </p:sp>
    </p:spTree>
    <p:extLst>
      <p:ext uri="{BB962C8B-B14F-4D97-AF65-F5344CB8AC3E}">
        <p14:creationId xmlns:p14="http://schemas.microsoft.com/office/powerpoint/2010/main" val="2822309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32BF1-DBB7-51CA-C18A-F4C9D85210B2}"/>
            </a:ext>
          </a:extLst>
        </p:cNvPr>
        <p:cNvGrpSpPr/>
        <p:nvPr/>
      </p:nvGrpSpPr>
      <p:grpSpPr>
        <a:xfrm>
          <a:off x="0" y="0"/>
          <a:ext cx="0" cy="0"/>
          <a:chOff x="0" y="0"/>
          <a:chExt cx="0" cy="0"/>
        </a:xfrm>
      </p:grpSpPr>
      <p:grpSp>
        <p:nvGrpSpPr>
          <p:cNvPr id="90" name="Group 89">
            <a:extLst>
              <a:ext uri="{FF2B5EF4-FFF2-40B4-BE49-F238E27FC236}">
                <a16:creationId xmlns:a16="http://schemas.microsoft.com/office/drawing/2014/main" id="{EA741A8A-C8A3-D516-2174-03AC9F8DFA3F}"/>
              </a:ext>
            </a:extLst>
          </p:cNvPr>
          <p:cNvGrpSpPr/>
          <p:nvPr/>
        </p:nvGrpSpPr>
        <p:grpSpPr>
          <a:xfrm>
            <a:off x="10362939" y="123379"/>
            <a:ext cx="1749698" cy="3175588"/>
            <a:chOff x="10157096" y="287383"/>
            <a:chExt cx="1749698" cy="3175588"/>
          </a:xfrm>
        </p:grpSpPr>
        <p:sp>
          <p:nvSpPr>
            <p:cNvPr id="5" name="Rectangle 4">
              <a:extLst>
                <a:ext uri="{FF2B5EF4-FFF2-40B4-BE49-F238E27FC236}">
                  <a16:creationId xmlns:a16="http://schemas.microsoft.com/office/drawing/2014/main" id="{889A79AA-9D86-8E40-1416-472AAFF380EA}"/>
                </a:ext>
              </a:extLst>
            </p:cNvPr>
            <p:cNvSpPr/>
            <p:nvPr/>
          </p:nvSpPr>
          <p:spPr>
            <a:xfrm>
              <a:off x="10157096" y="787400"/>
              <a:ext cx="460104" cy="349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A04708-7BC7-A875-1D94-7112BCEB9D87}"/>
                </a:ext>
              </a:extLst>
            </p:cNvPr>
            <p:cNvSpPr/>
            <p:nvPr/>
          </p:nvSpPr>
          <p:spPr>
            <a:xfrm>
              <a:off x="10193381" y="2416680"/>
              <a:ext cx="405675" cy="43170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143FDFC3-BFEF-C8B7-0E30-056107E97A3F}"/>
                </a:ext>
              </a:extLst>
            </p:cNvPr>
            <p:cNvSpPr txBox="1"/>
            <p:nvPr/>
          </p:nvSpPr>
          <p:spPr>
            <a:xfrm>
              <a:off x="10784839" y="2373219"/>
              <a:ext cx="974167" cy="369332"/>
            </a:xfrm>
            <a:prstGeom prst="rect">
              <a:avLst/>
            </a:prstGeom>
            <a:noFill/>
          </p:spPr>
          <p:txBody>
            <a:bodyPr wrap="square" rtlCol="0">
              <a:spAutoFit/>
            </a:bodyPr>
            <a:lstStyle/>
            <a:p>
              <a:r>
                <a:rPr lang="en-US" err="1"/>
                <a:t>Ntap;id</a:t>
              </a:r>
              <a:endParaRPr lang="en-US"/>
            </a:p>
          </p:txBody>
        </p:sp>
        <p:sp>
          <p:nvSpPr>
            <p:cNvPr id="77" name="Rectangle 76">
              <a:extLst>
                <a:ext uri="{FF2B5EF4-FFF2-40B4-BE49-F238E27FC236}">
                  <a16:creationId xmlns:a16="http://schemas.microsoft.com/office/drawing/2014/main" id="{3E03B1F5-2C0A-A43E-C161-3D8E1DDE41DB}"/>
                </a:ext>
              </a:extLst>
            </p:cNvPr>
            <p:cNvSpPr/>
            <p:nvPr/>
          </p:nvSpPr>
          <p:spPr>
            <a:xfrm>
              <a:off x="10211525" y="3031262"/>
              <a:ext cx="405675" cy="431709"/>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C17C9F0-59D5-62C9-049C-6F0C2072FECA}"/>
                </a:ext>
              </a:extLst>
            </p:cNvPr>
            <p:cNvSpPr txBox="1"/>
            <p:nvPr/>
          </p:nvSpPr>
          <p:spPr>
            <a:xfrm>
              <a:off x="10798499" y="2937595"/>
              <a:ext cx="941503" cy="369332"/>
            </a:xfrm>
            <a:prstGeom prst="rect">
              <a:avLst/>
            </a:prstGeom>
            <a:noFill/>
          </p:spPr>
          <p:txBody>
            <a:bodyPr wrap="square" rtlCol="0">
              <a:spAutoFit/>
            </a:bodyPr>
            <a:lstStyle/>
            <a:p>
              <a:r>
                <a:rPr lang="en-US" err="1"/>
                <a:t>Ptap;id</a:t>
              </a:r>
              <a:endParaRPr lang="en-US"/>
            </a:p>
          </p:txBody>
        </p:sp>
        <p:sp>
          <p:nvSpPr>
            <p:cNvPr id="79" name="Rectangle 78">
              <a:extLst>
                <a:ext uri="{FF2B5EF4-FFF2-40B4-BE49-F238E27FC236}">
                  <a16:creationId xmlns:a16="http://schemas.microsoft.com/office/drawing/2014/main" id="{B41CD03D-A99D-735B-E977-364DC7BD82FA}"/>
                </a:ext>
              </a:extLst>
            </p:cNvPr>
            <p:cNvSpPr/>
            <p:nvPr/>
          </p:nvSpPr>
          <p:spPr>
            <a:xfrm>
              <a:off x="10166167" y="1372454"/>
              <a:ext cx="460104" cy="34925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2085199-037B-05A3-6369-B1C3C1B75FD0}"/>
                </a:ext>
              </a:extLst>
            </p:cNvPr>
            <p:cNvSpPr/>
            <p:nvPr/>
          </p:nvSpPr>
          <p:spPr>
            <a:xfrm>
              <a:off x="10166167" y="1884557"/>
              <a:ext cx="460104" cy="34925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00332978-E107-85F0-EEE1-2AD17CF7E32F}"/>
                </a:ext>
              </a:extLst>
            </p:cNvPr>
            <p:cNvSpPr txBox="1"/>
            <p:nvPr/>
          </p:nvSpPr>
          <p:spPr>
            <a:xfrm>
              <a:off x="10760167" y="807482"/>
              <a:ext cx="849085" cy="369332"/>
            </a:xfrm>
            <a:prstGeom prst="rect">
              <a:avLst/>
            </a:prstGeom>
            <a:noFill/>
          </p:spPr>
          <p:txBody>
            <a:bodyPr wrap="square" rtlCol="0">
              <a:spAutoFit/>
            </a:bodyPr>
            <a:lstStyle/>
            <a:p>
              <a:r>
                <a:rPr lang="en-US" err="1"/>
                <a:t>sdGen</a:t>
              </a:r>
              <a:endParaRPr lang="en-US"/>
            </a:p>
          </p:txBody>
        </p:sp>
        <p:sp>
          <p:nvSpPr>
            <p:cNvPr id="82" name="TextBox 81">
              <a:extLst>
                <a:ext uri="{FF2B5EF4-FFF2-40B4-BE49-F238E27FC236}">
                  <a16:creationId xmlns:a16="http://schemas.microsoft.com/office/drawing/2014/main" id="{59DE50FE-3B68-75B4-74B9-E09235E23AA4}"/>
                </a:ext>
              </a:extLst>
            </p:cNvPr>
            <p:cNvSpPr txBox="1"/>
            <p:nvPr/>
          </p:nvSpPr>
          <p:spPr>
            <a:xfrm>
              <a:off x="10753635" y="1332825"/>
              <a:ext cx="849085" cy="369332"/>
            </a:xfrm>
            <a:prstGeom prst="rect">
              <a:avLst/>
            </a:prstGeom>
            <a:noFill/>
          </p:spPr>
          <p:txBody>
            <a:bodyPr wrap="square" rtlCol="0">
              <a:spAutoFit/>
            </a:bodyPr>
            <a:lstStyle/>
            <a:p>
              <a:r>
                <a:rPr lang="en-US" err="1"/>
                <a:t>ndiff</a:t>
              </a:r>
              <a:endParaRPr lang="en-US"/>
            </a:p>
          </p:txBody>
        </p:sp>
        <p:sp>
          <p:nvSpPr>
            <p:cNvPr id="83" name="TextBox 82">
              <a:extLst>
                <a:ext uri="{FF2B5EF4-FFF2-40B4-BE49-F238E27FC236}">
                  <a16:creationId xmlns:a16="http://schemas.microsoft.com/office/drawing/2014/main" id="{A2B70A46-5CE8-4435-0CA0-24618EA96456}"/>
                </a:ext>
              </a:extLst>
            </p:cNvPr>
            <p:cNvSpPr txBox="1"/>
            <p:nvPr/>
          </p:nvSpPr>
          <p:spPr>
            <a:xfrm>
              <a:off x="10792563" y="1794614"/>
              <a:ext cx="849085" cy="369332"/>
            </a:xfrm>
            <a:prstGeom prst="rect">
              <a:avLst/>
            </a:prstGeom>
            <a:noFill/>
          </p:spPr>
          <p:txBody>
            <a:bodyPr wrap="square" rtlCol="0">
              <a:spAutoFit/>
            </a:bodyPr>
            <a:lstStyle/>
            <a:p>
              <a:r>
                <a:rPr lang="en-US" err="1"/>
                <a:t>pdiff</a:t>
              </a:r>
              <a:endParaRPr lang="en-US"/>
            </a:p>
          </p:txBody>
        </p:sp>
        <p:sp>
          <p:nvSpPr>
            <p:cNvPr id="84" name="Rectangle 83">
              <a:extLst>
                <a:ext uri="{FF2B5EF4-FFF2-40B4-BE49-F238E27FC236}">
                  <a16:creationId xmlns:a16="http://schemas.microsoft.com/office/drawing/2014/main" id="{943B6756-2ADB-B879-1F62-3BD619B30A76}"/>
                </a:ext>
              </a:extLst>
            </p:cNvPr>
            <p:cNvSpPr/>
            <p:nvPr/>
          </p:nvSpPr>
          <p:spPr>
            <a:xfrm>
              <a:off x="10166167" y="303286"/>
              <a:ext cx="460104" cy="349250"/>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E29BA654-91D5-59DC-4A9B-E854D6D60B80}"/>
                </a:ext>
              </a:extLst>
            </p:cNvPr>
            <p:cNvSpPr txBox="1"/>
            <p:nvPr/>
          </p:nvSpPr>
          <p:spPr>
            <a:xfrm>
              <a:off x="10746843" y="287383"/>
              <a:ext cx="1159951" cy="369332"/>
            </a:xfrm>
            <a:prstGeom prst="rect">
              <a:avLst/>
            </a:prstGeom>
            <a:noFill/>
          </p:spPr>
          <p:txBody>
            <a:bodyPr wrap="square" rtlCol="0">
              <a:spAutoFit/>
            </a:bodyPr>
            <a:lstStyle/>
            <a:p>
              <a:r>
                <a:rPr lang="en-US"/>
                <a:t>VCR/nub</a:t>
              </a:r>
            </a:p>
          </p:txBody>
        </p:sp>
      </p:grpSp>
      <p:sp>
        <p:nvSpPr>
          <p:cNvPr id="8" name="Rectangle 7">
            <a:extLst>
              <a:ext uri="{FF2B5EF4-FFF2-40B4-BE49-F238E27FC236}">
                <a16:creationId xmlns:a16="http://schemas.microsoft.com/office/drawing/2014/main" id="{7F001906-F70C-C4CB-AEA3-D2B5A40850A1}"/>
              </a:ext>
            </a:extLst>
          </p:cNvPr>
          <p:cNvSpPr/>
          <p:nvPr/>
        </p:nvSpPr>
        <p:spPr>
          <a:xfrm>
            <a:off x="207424" y="275257"/>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BCD82EC-9E72-C0A8-33C6-67AD7635BAFA}"/>
              </a:ext>
            </a:extLst>
          </p:cNvPr>
          <p:cNvSpPr/>
          <p:nvPr/>
        </p:nvSpPr>
        <p:spPr>
          <a:xfrm>
            <a:off x="207424" y="1846137"/>
            <a:ext cx="2903309" cy="696278"/>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DD0E614-C860-B6BC-F428-BFB1AE9C12C0}"/>
              </a:ext>
            </a:extLst>
          </p:cNvPr>
          <p:cNvSpPr/>
          <p:nvPr/>
        </p:nvSpPr>
        <p:spPr>
          <a:xfrm>
            <a:off x="1195690" y="970752"/>
            <a:ext cx="999257" cy="884687"/>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17E5FF54-EF83-0715-0330-20789BB47D29}"/>
              </a:ext>
            </a:extLst>
          </p:cNvPr>
          <p:cNvCxnSpPr/>
          <p:nvPr/>
        </p:nvCxnSpPr>
        <p:spPr>
          <a:xfrm>
            <a:off x="1726863" y="968642"/>
            <a:ext cx="0" cy="88468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93633C12-60EC-F6F7-5732-79EBCF90C487}"/>
              </a:ext>
            </a:extLst>
          </p:cNvPr>
          <p:cNvSpPr/>
          <p:nvPr/>
        </p:nvSpPr>
        <p:spPr>
          <a:xfrm>
            <a:off x="218981" y="3212790"/>
            <a:ext cx="999257" cy="884687"/>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10245A6-9AC5-7187-61F6-0187B84FCF77}"/>
              </a:ext>
            </a:extLst>
          </p:cNvPr>
          <p:cNvSpPr/>
          <p:nvPr/>
        </p:nvSpPr>
        <p:spPr>
          <a:xfrm>
            <a:off x="2217487" y="3190777"/>
            <a:ext cx="2256058" cy="884687"/>
          </a:xfrm>
          <a:prstGeom prst="rect">
            <a:avLst/>
          </a:prstGeom>
          <a:solidFill>
            <a:srgbClr val="D9E1C9">
              <a:alpha val="7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B32F32-F5C0-224B-8111-A7EA7D52E3C6}"/>
              </a:ext>
            </a:extLst>
          </p:cNvPr>
          <p:cNvSpPr/>
          <p:nvPr/>
        </p:nvSpPr>
        <p:spPr>
          <a:xfrm>
            <a:off x="1195690" y="968642"/>
            <a:ext cx="999249" cy="884687"/>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3F0CE5C-ACE0-1C95-E244-40DDEC00DF55}"/>
              </a:ext>
            </a:extLst>
          </p:cNvPr>
          <p:cNvSpPr/>
          <p:nvPr/>
        </p:nvSpPr>
        <p:spPr>
          <a:xfrm>
            <a:off x="1218230" y="3212790"/>
            <a:ext cx="999257" cy="884687"/>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AD8D3B39-83CD-1010-3EE3-39993A97040B}"/>
              </a:ext>
            </a:extLst>
          </p:cNvPr>
          <p:cNvCxnSpPr>
            <a:stCxn id="14" idx="1"/>
            <a:endCxn id="14" idx="3"/>
          </p:cNvCxnSpPr>
          <p:nvPr/>
        </p:nvCxnSpPr>
        <p:spPr>
          <a:xfrm>
            <a:off x="1195690" y="1410986"/>
            <a:ext cx="99924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D4D48E6-0D62-B781-77F8-9100A77E460F}"/>
              </a:ext>
            </a:extLst>
          </p:cNvPr>
          <p:cNvCxnSpPr/>
          <p:nvPr/>
        </p:nvCxnSpPr>
        <p:spPr>
          <a:xfrm>
            <a:off x="1218238" y="3699096"/>
            <a:ext cx="99924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E3410673-F5CC-1FDA-BBBA-02CD84CD6328}"/>
              </a:ext>
            </a:extLst>
          </p:cNvPr>
          <p:cNvCxnSpPr/>
          <p:nvPr/>
        </p:nvCxnSpPr>
        <p:spPr>
          <a:xfrm>
            <a:off x="1705480" y="3212790"/>
            <a:ext cx="0" cy="88468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itle 1">
            <a:extLst>
              <a:ext uri="{FF2B5EF4-FFF2-40B4-BE49-F238E27FC236}">
                <a16:creationId xmlns:a16="http://schemas.microsoft.com/office/drawing/2014/main" id="{7373361C-28D9-B7FD-20D5-723086C25922}"/>
              </a:ext>
            </a:extLst>
          </p:cNvPr>
          <p:cNvSpPr txBox="1">
            <a:spLocks/>
          </p:cNvSpPr>
          <p:nvPr/>
        </p:nvSpPr>
        <p:spPr>
          <a:xfrm>
            <a:off x="3684661" y="65579"/>
            <a:ext cx="5808621" cy="690226"/>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err="1"/>
              <a:t>tapID</a:t>
            </a:r>
            <a:r>
              <a:rPr lang="en-US"/>
              <a:t> Width/ Max Tap-</a:t>
            </a:r>
            <a:r>
              <a:rPr lang="en-US" err="1"/>
              <a:t>DiffSpace</a:t>
            </a:r>
            <a:r>
              <a:rPr lang="en-US"/>
              <a:t> rules</a:t>
            </a:r>
          </a:p>
        </p:txBody>
      </p:sp>
      <p:cxnSp>
        <p:nvCxnSpPr>
          <p:cNvPr id="33" name="Straight Arrow Connector 32">
            <a:extLst>
              <a:ext uri="{FF2B5EF4-FFF2-40B4-BE49-F238E27FC236}">
                <a16:creationId xmlns:a16="http://schemas.microsoft.com/office/drawing/2014/main" id="{9FBF81C2-041E-F2DF-6814-75910DAC160D}"/>
              </a:ext>
            </a:extLst>
          </p:cNvPr>
          <p:cNvCxnSpPr>
            <a:cxnSpLocks/>
          </p:cNvCxnSpPr>
          <p:nvPr/>
        </p:nvCxnSpPr>
        <p:spPr>
          <a:xfrm flipH="1">
            <a:off x="2206213" y="1012810"/>
            <a:ext cx="11274" cy="84051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4263AD1-E6F2-0038-FBF1-6F015AB8A64B}"/>
              </a:ext>
            </a:extLst>
          </p:cNvPr>
          <p:cNvSpPr txBox="1"/>
          <p:nvPr/>
        </p:nvSpPr>
        <p:spPr>
          <a:xfrm>
            <a:off x="1287935" y="3742669"/>
            <a:ext cx="1034368" cy="369332"/>
          </a:xfrm>
          <a:prstGeom prst="rect">
            <a:avLst/>
          </a:prstGeom>
          <a:noFill/>
        </p:spPr>
        <p:txBody>
          <a:bodyPr wrap="square" rtlCol="0">
            <a:spAutoFit/>
          </a:bodyPr>
          <a:lstStyle/>
          <a:p>
            <a:r>
              <a:rPr lang="en-US"/>
              <a:t>5/7PP</a:t>
            </a:r>
          </a:p>
        </p:txBody>
      </p:sp>
      <p:sp>
        <p:nvSpPr>
          <p:cNvPr id="19" name="TextBox 18">
            <a:extLst>
              <a:ext uri="{FF2B5EF4-FFF2-40B4-BE49-F238E27FC236}">
                <a16:creationId xmlns:a16="http://schemas.microsoft.com/office/drawing/2014/main" id="{0090BDE3-01C1-551A-2E44-57F3FB52F11B}"/>
              </a:ext>
            </a:extLst>
          </p:cNvPr>
          <p:cNvSpPr txBox="1"/>
          <p:nvPr/>
        </p:nvSpPr>
        <p:spPr>
          <a:xfrm rot="16200000">
            <a:off x="1247159" y="3229412"/>
            <a:ext cx="678713" cy="369332"/>
          </a:xfrm>
          <a:prstGeom prst="rect">
            <a:avLst/>
          </a:prstGeom>
          <a:noFill/>
        </p:spPr>
        <p:txBody>
          <a:bodyPr wrap="square" rtlCol="0">
            <a:spAutoFit/>
          </a:bodyPr>
          <a:lstStyle/>
          <a:p>
            <a:r>
              <a:rPr lang="en-US"/>
              <a:t>1CH</a:t>
            </a:r>
          </a:p>
        </p:txBody>
      </p:sp>
      <p:sp>
        <p:nvSpPr>
          <p:cNvPr id="20" name="TextBox 19">
            <a:extLst>
              <a:ext uri="{FF2B5EF4-FFF2-40B4-BE49-F238E27FC236}">
                <a16:creationId xmlns:a16="http://schemas.microsoft.com/office/drawing/2014/main" id="{3FD91074-ACBE-037F-44C5-7C95FBF0739A}"/>
              </a:ext>
            </a:extLst>
          </p:cNvPr>
          <p:cNvSpPr txBox="1"/>
          <p:nvPr/>
        </p:nvSpPr>
        <p:spPr>
          <a:xfrm>
            <a:off x="1323054" y="1440176"/>
            <a:ext cx="999249" cy="369332"/>
          </a:xfrm>
          <a:prstGeom prst="rect">
            <a:avLst/>
          </a:prstGeom>
          <a:noFill/>
        </p:spPr>
        <p:txBody>
          <a:bodyPr wrap="square" rtlCol="0">
            <a:spAutoFit/>
          </a:bodyPr>
          <a:lstStyle/>
          <a:p>
            <a:r>
              <a:rPr lang="en-US"/>
              <a:t>5/7PP</a:t>
            </a:r>
          </a:p>
        </p:txBody>
      </p:sp>
      <p:sp>
        <p:nvSpPr>
          <p:cNvPr id="21" name="TextBox 20">
            <a:extLst>
              <a:ext uri="{FF2B5EF4-FFF2-40B4-BE49-F238E27FC236}">
                <a16:creationId xmlns:a16="http://schemas.microsoft.com/office/drawing/2014/main" id="{12708BDA-2F51-B379-322C-075864928FE2}"/>
              </a:ext>
            </a:extLst>
          </p:cNvPr>
          <p:cNvSpPr txBox="1"/>
          <p:nvPr/>
        </p:nvSpPr>
        <p:spPr>
          <a:xfrm rot="16200000">
            <a:off x="1202841" y="937579"/>
            <a:ext cx="678713" cy="369332"/>
          </a:xfrm>
          <a:prstGeom prst="rect">
            <a:avLst/>
          </a:prstGeom>
          <a:noFill/>
        </p:spPr>
        <p:txBody>
          <a:bodyPr wrap="square" rtlCol="0">
            <a:spAutoFit/>
          </a:bodyPr>
          <a:lstStyle/>
          <a:p>
            <a:r>
              <a:rPr lang="en-US"/>
              <a:t>1CH</a:t>
            </a:r>
          </a:p>
        </p:txBody>
      </p:sp>
      <p:sp>
        <p:nvSpPr>
          <p:cNvPr id="10" name="TextBox 9">
            <a:extLst>
              <a:ext uri="{FF2B5EF4-FFF2-40B4-BE49-F238E27FC236}">
                <a16:creationId xmlns:a16="http://schemas.microsoft.com/office/drawing/2014/main" id="{13C32740-9C23-B4FA-F7A3-631B571FFF00}"/>
              </a:ext>
            </a:extLst>
          </p:cNvPr>
          <p:cNvSpPr txBox="1"/>
          <p:nvPr/>
        </p:nvSpPr>
        <p:spPr>
          <a:xfrm>
            <a:off x="4081156" y="798021"/>
            <a:ext cx="6096000" cy="2308324"/>
          </a:xfrm>
          <a:prstGeom prst="rect">
            <a:avLst/>
          </a:prstGeom>
          <a:noFill/>
        </p:spPr>
        <p:txBody>
          <a:bodyPr wrap="square">
            <a:spAutoFit/>
          </a:bodyPr>
          <a:lstStyle/>
          <a:p>
            <a:r>
              <a:rPr lang="en-US"/>
              <a:t>,TAP_W_01,"{</a:t>
            </a:r>
            <a:r>
              <a:rPr lang="en-US" err="1"/>
              <a:t>ndiff;tapID</a:t>
            </a:r>
            <a:r>
              <a:rPr lang="en-US"/>
              <a:t>, </a:t>
            </a:r>
            <a:r>
              <a:rPr lang="en-US" err="1"/>
              <a:t>hv;tapID</a:t>
            </a:r>
            <a:r>
              <a:rPr lang="en-US"/>
              <a:t>, </a:t>
            </a:r>
            <a:r>
              <a:rPr lang="en-US" err="1"/>
              <a:t>pdiff;tapID</a:t>
            </a:r>
            <a:r>
              <a:rPr lang="en-US"/>
              <a:t>, </a:t>
            </a:r>
            <a:r>
              <a:rPr lang="en-US" err="1"/>
              <a:t>pid;tapID</a:t>
            </a:r>
            <a:r>
              <a:rPr lang="en-US"/>
              <a:t>} width, minimum [OGD]",&gt;=,0.220,,"811",,</a:t>
            </a:r>
          </a:p>
          <a:p>
            <a:r>
              <a:rPr lang="en-US"/>
              <a:t>,TAP_W_02,"{</a:t>
            </a:r>
            <a:r>
              <a:rPr lang="en-US" err="1"/>
              <a:t>ndiff;tapID</a:t>
            </a:r>
            <a:r>
              <a:rPr lang="en-US"/>
              <a:t>, </a:t>
            </a:r>
            <a:r>
              <a:rPr lang="en-US" err="1"/>
              <a:t>hv;tapID</a:t>
            </a:r>
            <a:r>
              <a:rPr lang="en-US"/>
              <a:t>, </a:t>
            </a:r>
            <a:r>
              <a:rPr lang="en-US" err="1"/>
              <a:t>pdiff;tapID</a:t>
            </a:r>
            <a:r>
              <a:rPr lang="en-US"/>
              <a:t>, </a:t>
            </a:r>
            <a:r>
              <a:rPr lang="en-US" err="1"/>
              <a:t>pid;tapID</a:t>
            </a:r>
            <a:r>
              <a:rPr lang="en-US"/>
              <a:t>} width, minimum [PGD] :: exception: TAP_W_02_1",&gt;=,0.132,,"811",,</a:t>
            </a:r>
          </a:p>
          <a:p>
            <a:r>
              <a:rPr lang="en-US"/>
              <a:t>,TAP_W_02_1,"{{</a:t>
            </a:r>
            <a:r>
              <a:rPr lang="en-US" err="1"/>
              <a:t>ndiff;tapID</a:t>
            </a:r>
            <a:r>
              <a:rPr lang="en-US"/>
              <a:t>, </a:t>
            </a:r>
            <a:r>
              <a:rPr lang="en-US" err="1"/>
              <a:t>pdiff;tapID</a:t>
            </a:r>
            <a:r>
              <a:rPr lang="en-US"/>
              <a:t>, </a:t>
            </a:r>
            <a:r>
              <a:rPr lang="en-US" err="1"/>
              <a:t>pid;tapID</a:t>
            </a:r>
            <a:r>
              <a:rPr lang="en-US"/>
              <a:t>} inside b110h_44ppBaseRegion;id} width, minimum [PGD]",&gt;=,0.11,,"811",,</a:t>
            </a:r>
          </a:p>
        </p:txBody>
      </p:sp>
      <p:graphicFrame>
        <p:nvGraphicFramePr>
          <p:cNvPr id="2" name="Table 1">
            <a:extLst>
              <a:ext uri="{FF2B5EF4-FFF2-40B4-BE49-F238E27FC236}">
                <a16:creationId xmlns:a16="http://schemas.microsoft.com/office/drawing/2014/main" id="{338D9638-D85C-8746-A2DD-41CA34FFC376}"/>
              </a:ext>
            </a:extLst>
          </p:cNvPr>
          <p:cNvGraphicFramePr>
            <a:graphicFrameLocks noGrp="1"/>
          </p:cNvGraphicFramePr>
          <p:nvPr>
            <p:extLst>
              <p:ext uri="{D42A27DB-BD31-4B8C-83A1-F6EECF244321}">
                <p14:modId xmlns:p14="http://schemas.microsoft.com/office/powerpoint/2010/main" val="3401993913"/>
              </p:ext>
            </p:extLst>
          </p:nvPr>
        </p:nvGraphicFramePr>
        <p:xfrm>
          <a:off x="231819" y="4847244"/>
          <a:ext cx="4064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634306431"/>
                    </a:ext>
                  </a:extLst>
                </a:gridCol>
                <a:gridCol w="2032000">
                  <a:extLst>
                    <a:ext uri="{9D8B030D-6E8A-4147-A177-3AD203B41FA5}">
                      <a16:colId xmlns:a16="http://schemas.microsoft.com/office/drawing/2014/main" val="2041634855"/>
                    </a:ext>
                  </a:extLst>
                </a:gridCol>
              </a:tblGrid>
              <a:tr h="370840">
                <a:tc>
                  <a:txBody>
                    <a:bodyPr/>
                    <a:lstStyle/>
                    <a:p>
                      <a:r>
                        <a:rPr lang="en-US"/>
                        <a:t>Area</a:t>
                      </a:r>
                    </a:p>
                  </a:txBody>
                  <a:tcPr/>
                </a:tc>
                <a:tc>
                  <a:txBody>
                    <a:bodyPr/>
                    <a:lstStyle/>
                    <a:p>
                      <a:r>
                        <a:rPr lang="en-US"/>
                        <a:t>Max </a:t>
                      </a:r>
                      <a:r>
                        <a:rPr lang="en-US" err="1"/>
                        <a:t>Spcing</a:t>
                      </a:r>
                      <a:endParaRPr lang="en-US"/>
                    </a:p>
                  </a:txBody>
                  <a:tcPr/>
                </a:tc>
                <a:extLst>
                  <a:ext uri="{0D108BD9-81ED-4DB2-BD59-A6C34878D82A}">
                    <a16:rowId xmlns:a16="http://schemas.microsoft.com/office/drawing/2014/main" val="495257603"/>
                  </a:ext>
                </a:extLst>
              </a:tr>
              <a:tr h="370840">
                <a:tc>
                  <a:txBody>
                    <a:bodyPr/>
                    <a:lstStyle/>
                    <a:p>
                      <a:r>
                        <a:rPr lang="en-US"/>
                        <a:t>Logic</a:t>
                      </a:r>
                    </a:p>
                  </a:txBody>
                  <a:tcPr/>
                </a:tc>
                <a:tc>
                  <a:txBody>
                    <a:bodyPr/>
                    <a:lstStyle/>
                    <a:p>
                      <a:r>
                        <a:rPr lang="en-US"/>
                        <a:t>10</a:t>
                      </a:r>
                    </a:p>
                  </a:txBody>
                  <a:tcPr/>
                </a:tc>
                <a:extLst>
                  <a:ext uri="{0D108BD9-81ED-4DB2-BD59-A6C34878D82A}">
                    <a16:rowId xmlns:a16="http://schemas.microsoft.com/office/drawing/2014/main" val="382931006"/>
                  </a:ext>
                </a:extLst>
              </a:tr>
              <a:tr h="370840">
                <a:tc>
                  <a:txBody>
                    <a:bodyPr/>
                    <a:lstStyle/>
                    <a:p>
                      <a:r>
                        <a:rPr lang="en-US" err="1"/>
                        <a:t>RF_Block</a:t>
                      </a:r>
                      <a:endParaRPr lang="en-US"/>
                    </a:p>
                  </a:txBody>
                  <a:tcPr/>
                </a:tc>
                <a:tc>
                  <a:txBody>
                    <a:bodyPr/>
                    <a:lstStyle/>
                    <a:p>
                      <a:r>
                        <a:rPr lang="en-US"/>
                        <a:t>25</a:t>
                      </a:r>
                    </a:p>
                  </a:txBody>
                  <a:tcPr/>
                </a:tc>
                <a:extLst>
                  <a:ext uri="{0D108BD9-81ED-4DB2-BD59-A6C34878D82A}">
                    <a16:rowId xmlns:a16="http://schemas.microsoft.com/office/drawing/2014/main" val="4235028628"/>
                  </a:ext>
                </a:extLst>
              </a:tr>
              <a:tr h="370840">
                <a:tc>
                  <a:txBody>
                    <a:bodyPr/>
                    <a:lstStyle/>
                    <a:p>
                      <a:r>
                        <a:rPr lang="en-US" err="1"/>
                        <a:t>SRAM_Block</a:t>
                      </a:r>
                      <a:endParaRPr lang="en-US"/>
                    </a:p>
                  </a:txBody>
                  <a:tcPr/>
                </a:tc>
                <a:tc>
                  <a:txBody>
                    <a:bodyPr/>
                    <a:lstStyle/>
                    <a:p>
                      <a:r>
                        <a:rPr lang="en-US"/>
                        <a:t>25</a:t>
                      </a:r>
                    </a:p>
                  </a:txBody>
                  <a:tcPr/>
                </a:tc>
                <a:extLst>
                  <a:ext uri="{0D108BD9-81ED-4DB2-BD59-A6C34878D82A}">
                    <a16:rowId xmlns:a16="http://schemas.microsoft.com/office/drawing/2014/main" val="4189478167"/>
                  </a:ext>
                </a:extLst>
              </a:tr>
              <a:tr h="370840">
                <a:tc>
                  <a:txBody>
                    <a:bodyPr/>
                    <a:lstStyle/>
                    <a:p>
                      <a:r>
                        <a:rPr lang="en-US"/>
                        <a:t>HV/EHV</a:t>
                      </a:r>
                    </a:p>
                  </a:txBody>
                  <a:tcPr/>
                </a:tc>
                <a:tc>
                  <a:txBody>
                    <a:bodyPr/>
                    <a:lstStyle/>
                    <a:p>
                      <a:r>
                        <a:rPr lang="en-US"/>
                        <a:t>10</a:t>
                      </a:r>
                    </a:p>
                  </a:txBody>
                  <a:tcPr/>
                </a:tc>
                <a:extLst>
                  <a:ext uri="{0D108BD9-81ED-4DB2-BD59-A6C34878D82A}">
                    <a16:rowId xmlns:a16="http://schemas.microsoft.com/office/drawing/2014/main" val="3805900415"/>
                  </a:ext>
                </a:extLst>
              </a:tr>
            </a:tbl>
          </a:graphicData>
        </a:graphic>
      </p:graphicFrame>
      <p:sp>
        <p:nvSpPr>
          <p:cNvPr id="11" name="TextBox 10">
            <a:extLst>
              <a:ext uri="{FF2B5EF4-FFF2-40B4-BE49-F238E27FC236}">
                <a16:creationId xmlns:a16="http://schemas.microsoft.com/office/drawing/2014/main" id="{58546D20-F697-C818-DC1D-A291232D65CB}"/>
              </a:ext>
            </a:extLst>
          </p:cNvPr>
          <p:cNvSpPr txBox="1"/>
          <p:nvPr/>
        </p:nvSpPr>
        <p:spPr>
          <a:xfrm>
            <a:off x="218981" y="4392325"/>
            <a:ext cx="2838449" cy="369332"/>
          </a:xfrm>
          <a:prstGeom prst="rect">
            <a:avLst/>
          </a:prstGeom>
          <a:noFill/>
        </p:spPr>
        <p:txBody>
          <a:bodyPr wrap="square" rtlCol="0">
            <a:spAutoFit/>
          </a:bodyPr>
          <a:lstStyle/>
          <a:p>
            <a:r>
              <a:rPr lang="en-US" b="1" u="sng"/>
              <a:t>Tap to Diff Space</a:t>
            </a:r>
          </a:p>
        </p:txBody>
      </p:sp>
    </p:spTree>
    <p:extLst>
      <p:ext uri="{BB962C8B-B14F-4D97-AF65-F5344CB8AC3E}">
        <p14:creationId xmlns:p14="http://schemas.microsoft.com/office/powerpoint/2010/main" val="3884873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A4A98-F155-644D-5CC4-73070C6451D8}"/>
            </a:ext>
          </a:extLst>
        </p:cNvPr>
        <p:cNvGrpSpPr/>
        <p:nvPr/>
      </p:nvGrpSpPr>
      <p:grpSpPr>
        <a:xfrm>
          <a:off x="0" y="0"/>
          <a:ext cx="0" cy="0"/>
          <a:chOff x="0" y="0"/>
          <a:chExt cx="0" cy="0"/>
        </a:xfrm>
      </p:grpSpPr>
      <p:sp>
        <p:nvSpPr>
          <p:cNvPr id="53" name="Rectangle 52">
            <a:extLst>
              <a:ext uri="{FF2B5EF4-FFF2-40B4-BE49-F238E27FC236}">
                <a16:creationId xmlns:a16="http://schemas.microsoft.com/office/drawing/2014/main" id="{0285FF81-8D0D-8AE1-CA56-F16BB5178F47}"/>
              </a:ext>
            </a:extLst>
          </p:cNvPr>
          <p:cNvSpPr/>
          <p:nvPr/>
        </p:nvSpPr>
        <p:spPr>
          <a:xfrm>
            <a:off x="254271" y="4202961"/>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a:extLst>
              <a:ext uri="{FF2B5EF4-FFF2-40B4-BE49-F238E27FC236}">
                <a16:creationId xmlns:a16="http://schemas.microsoft.com/office/drawing/2014/main" id="{5AAECD68-F066-0949-697B-27387F16F937}"/>
              </a:ext>
            </a:extLst>
          </p:cNvPr>
          <p:cNvGrpSpPr/>
          <p:nvPr/>
        </p:nvGrpSpPr>
        <p:grpSpPr>
          <a:xfrm>
            <a:off x="10362939" y="123379"/>
            <a:ext cx="1749698" cy="3175588"/>
            <a:chOff x="10157096" y="287383"/>
            <a:chExt cx="1749698" cy="3175588"/>
          </a:xfrm>
        </p:grpSpPr>
        <p:sp>
          <p:nvSpPr>
            <p:cNvPr id="5" name="Rectangle 4">
              <a:extLst>
                <a:ext uri="{FF2B5EF4-FFF2-40B4-BE49-F238E27FC236}">
                  <a16:creationId xmlns:a16="http://schemas.microsoft.com/office/drawing/2014/main" id="{4ED3CB20-6D6E-52C3-412A-527325B236B1}"/>
                </a:ext>
              </a:extLst>
            </p:cNvPr>
            <p:cNvSpPr/>
            <p:nvPr/>
          </p:nvSpPr>
          <p:spPr>
            <a:xfrm>
              <a:off x="10157096" y="787400"/>
              <a:ext cx="460104" cy="349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E0E820-A95C-2D47-0408-06E32E21CBD3}"/>
                </a:ext>
              </a:extLst>
            </p:cNvPr>
            <p:cNvSpPr/>
            <p:nvPr/>
          </p:nvSpPr>
          <p:spPr>
            <a:xfrm>
              <a:off x="10193381" y="2416680"/>
              <a:ext cx="405675" cy="43170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8E49D868-6711-0775-C0E1-5CC7249C2952}"/>
                </a:ext>
              </a:extLst>
            </p:cNvPr>
            <p:cNvSpPr txBox="1"/>
            <p:nvPr/>
          </p:nvSpPr>
          <p:spPr>
            <a:xfrm>
              <a:off x="10784839" y="2373219"/>
              <a:ext cx="974167" cy="369332"/>
            </a:xfrm>
            <a:prstGeom prst="rect">
              <a:avLst/>
            </a:prstGeom>
            <a:noFill/>
          </p:spPr>
          <p:txBody>
            <a:bodyPr wrap="square" rtlCol="0">
              <a:spAutoFit/>
            </a:bodyPr>
            <a:lstStyle/>
            <a:p>
              <a:r>
                <a:rPr lang="en-US" err="1"/>
                <a:t>Ntap;id</a:t>
              </a:r>
              <a:endParaRPr lang="en-US"/>
            </a:p>
          </p:txBody>
        </p:sp>
        <p:sp>
          <p:nvSpPr>
            <p:cNvPr id="77" name="Rectangle 76">
              <a:extLst>
                <a:ext uri="{FF2B5EF4-FFF2-40B4-BE49-F238E27FC236}">
                  <a16:creationId xmlns:a16="http://schemas.microsoft.com/office/drawing/2014/main" id="{16B2AD46-D138-0DF2-DF5D-24E227275D57}"/>
                </a:ext>
              </a:extLst>
            </p:cNvPr>
            <p:cNvSpPr/>
            <p:nvPr/>
          </p:nvSpPr>
          <p:spPr>
            <a:xfrm>
              <a:off x="10211525" y="3031262"/>
              <a:ext cx="405675" cy="431709"/>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B1DD8B10-2202-6A07-F06E-B57D06624D79}"/>
                </a:ext>
              </a:extLst>
            </p:cNvPr>
            <p:cNvSpPr txBox="1"/>
            <p:nvPr/>
          </p:nvSpPr>
          <p:spPr>
            <a:xfrm>
              <a:off x="10798499" y="2937595"/>
              <a:ext cx="941503" cy="369332"/>
            </a:xfrm>
            <a:prstGeom prst="rect">
              <a:avLst/>
            </a:prstGeom>
            <a:noFill/>
          </p:spPr>
          <p:txBody>
            <a:bodyPr wrap="square" rtlCol="0">
              <a:spAutoFit/>
            </a:bodyPr>
            <a:lstStyle/>
            <a:p>
              <a:r>
                <a:rPr lang="en-US" err="1"/>
                <a:t>Ptap;id</a:t>
              </a:r>
              <a:endParaRPr lang="en-US"/>
            </a:p>
          </p:txBody>
        </p:sp>
        <p:sp>
          <p:nvSpPr>
            <p:cNvPr id="79" name="Rectangle 78">
              <a:extLst>
                <a:ext uri="{FF2B5EF4-FFF2-40B4-BE49-F238E27FC236}">
                  <a16:creationId xmlns:a16="http://schemas.microsoft.com/office/drawing/2014/main" id="{9329849D-C523-0B3D-04C8-D610CEC6816E}"/>
                </a:ext>
              </a:extLst>
            </p:cNvPr>
            <p:cNvSpPr/>
            <p:nvPr/>
          </p:nvSpPr>
          <p:spPr>
            <a:xfrm>
              <a:off x="10166167" y="1372454"/>
              <a:ext cx="460104" cy="34925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F7370782-DF54-2EF9-191A-40DF4C0E33DC}"/>
                </a:ext>
              </a:extLst>
            </p:cNvPr>
            <p:cNvSpPr/>
            <p:nvPr/>
          </p:nvSpPr>
          <p:spPr>
            <a:xfrm>
              <a:off x="10166167" y="1884557"/>
              <a:ext cx="460104" cy="34925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a:extLst>
                <a:ext uri="{FF2B5EF4-FFF2-40B4-BE49-F238E27FC236}">
                  <a16:creationId xmlns:a16="http://schemas.microsoft.com/office/drawing/2014/main" id="{87814731-D0B8-1FA5-A608-B5FA5B7E3F28}"/>
                </a:ext>
              </a:extLst>
            </p:cNvPr>
            <p:cNvSpPr txBox="1"/>
            <p:nvPr/>
          </p:nvSpPr>
          <p:spPr>
            <a:xfrm>
              <a:off x="10760167" y="807482"/>
              <a:ext cx="849085" cy="369332"/>
            </a:xfrm>
            <a:prstGeom prst="rect">
              <a:avLst/>
            </a:prstGeom>
            <a:noFill/>
          </p:spPr>
          <p:txBody>
            <a:bodyPr wrap="square" rtlCol="0">
              <a:spAutoFit/>
            </a:bodyPr>
            <a:lstStyle/>
            <a:p>
              <a:r>
                <a:rPr lang="en-US" err="1"/>
                <a:t>nwell</a:t>
              </a:r>
              <a:endParaRPr lang="en-US"/>
            </a:p>
          </p:txBody>
        </p:sp>
        <p:sp>
          <p:nvSpPr>
            <p:cNvPr id="82" name="TextBox 81">
              <a:extLst>
                <a:ext uri="{FF2B5EF4-FFF2-40B4-BE49-F238E27FC236}">
                  <a16:creationId xmlns:a16="http://schemas.microsoft.com/office/drawing/2014/main" id="{7AD62ACD-D316-22EF-06AE-9C11000F222D}"/>
                </a:ext>
              </a:extLst>
            </p:cNvPr>
            <p:cNvSpPr txBox="1"/>
            <p:nvPr/>
          </p:nvSpPr>
          <p:spPr>
            <a:xfrm>
              <a:off x="10753635" y="1332825"/>
              <a:ext cx="849085" cy="369332"/>
            </a:xfrm>
            <a:prstGeom prst="rect">
              <a:avLst/>
            </a:prstGeom>
            <a:noFill/>
          </p:spPr>
          <p:txBody>
            <a:bodyPr wrap="square" rtlCol="0">
              <a:spAutoFit/>
            </a:bodyPr>
            <a:lstStyle/>
            <a:p>
              <a:r>
                <a:rPr lang="en-US" err="1"/>
                <a:t>ndiff</a:t>
              </a:r>
              <a:endParaRPr lang="en-US"/>
            </a:p>
          </p:txBody>
        </p:sp>
        <p:sp>
          <p:nvSpPr>
            <p:cNvPr id="83" name="TextBox 82">
              <a:extLst>
                <a:ext uri="{FF2B5EF4-FFF2-40B4-BE49-F238E27FC236}">
                  <a16:creationId xmlns:a16="http://schemas.microsoft.com/office/drawing/2014/main" id="{6BE6D129-F24A-B688-468B-47F0841C0349}"/>
                </a:ext>
              </a:extLst>
            </p:cNvPr>
            <p:cNvSpPr txBox="1"/>
            <p:nvPr/>
          </p:nvSpPr>
          <p:spPr>
            <a:xfrm>
              <a:off x="10792563" y="1794614"/>
              <a:ext cx="849085" cy="369332"/>
            </a:xfrm>
            <a:prstGeom prst="rect">
              <a:avLst/>
            </a:prstGeom>
            <a:noFill/>
          </p:spPr>
          <p:txBody>
            <a:bodyPr wrap="square" rtlCol="0">
              <a:spAutoFit/>
            </a:bodyPr>
            <a:lstStyle/>
            <a:p>
              <a:r>
                <a:rPr lang="en-US" err="1"/>
                <a:t>pdiff</a:t>
              </a:r>
              <a:endParaRPr lang="en-US"/>
            </a:p>
          </p:txBody>
        </p:sp>
        <p:sp>
          <p:nvSpPr>
            <p:cNvPr id="84" name="Rectangle 83">
              <a:extLst>
                <a:ext uri="{FF2B5EF4-FFF2-40B4-BE49-F238E27FC236}">
                  <a16:creationId xmlns:a16="http://schemas.microsoft.com/office/drawing/2014/main" id="{2C9E29FB-D0E5-2F10-2008-AF532947C47A}"/>
                </a:ext>
              </a:extLst>
            </p:cNvPr>
            <p:cNvSpPr/>
            <p:nvPr/>
          </p:nvSpPr>
          <p:spPr>
            <a:xfrm>
              <a:off x="10166167" y="303286"/>
              <a:ext cx="460104" cy="349250"/>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TextBox 84">
              <a:extLst>
                <a:ext uri="{FF2B5EF4-FFF2-40B4-BE49-F238E27FC236}">
                  <a16:creationId xmlns:a16="http://schemas.microsoft.com/office/drawing/2014/main" id="{5C5121A5-988F-8427-0319-9E070467DD44}"/>
                </a:ext>
              </a:extLst>
            </p:cNvPr>
            <p:cNvSpPr txBox="1"/>
            <p:nvPr/>
          </p:nvSpPr>
          <p:spPr>
            <a:xfrm>
              <a:off x="10746843" y="287383"/>
              <a:ext cx="1159951" cy="369332"/>
            </a:xfrm>
            <a:prstGeom prst="rect">
              <a:avLst/>
            </a:prstGeom>
            <a:noFill/>
          </p:spPr>
          <p:txBody>
            <a:bodyPr wrap="square" rtlCol="0">
              <a:spAutoFit/>
            </a:bodyPr>
            <a:lstStyle/>
            <a:p>
              <a:r>
                <a:rPr lang="en-US"/>
                <a:t>VCR/nub</a:t>
              </a:r>
            </a:p>
          </p:txBody>
        </p:sp>
      </p:grpSp>
      <p:sp>
        <p:nvSpPr>
          <p:cNvPr id="30" name="Title 1">
            <a:extLst>
              <a:ext uri="{FF2B5EF4-FFF2-40B4-BE49-F238E27FC236}">
                <a16:creationId xmlns:a16="http://schemas.microsoft.com/office/drawing/2014/main" id="{F897FED1-4C8C-C878-8011-FEFCD47FC20E}"/>
              </a:ext>
            </a:extLst>
          </p:cNvPr>
          <p:cNvSpPr txBox="1">
            <a:spLocks/>
          </p:cNvSpPr>
          <p:nvPr/>
        </p:nvSpPr>
        <p:spPr>
          <a:xfrm>
            <a:off x="3021907" y="42792"/>
            <a:ext cx="5808621" cy="69022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Tap 2 tap Space rules</a:t>
            </a:r>
          </a:p>
        </p:txBody>
      </p:sp>
      <p:sp>
        <p:nvSpPr>
          <p:cNvPr id="35" name="Rectangle 34">
            <a:extLst>
              <a:ext uri="{FF2B5EF4-FFF2-40B4-BE49-F238E27FC236}">
                <a16:creationId xmlns:a16="http://schemas.microsoft.com/office/drawing/2014/main" id="{015018B4-4E93-1903-6B2E-B4A334EE1C10}"/>
              </a:ext>
            </a:extLst>
          </p:cNvPr>
          <p:cNvSpPr/>
          <p:nvPr/>
        </p:nvSpPr>
        <p:spPr>
          <a:xfrm>
            <a:off x="3922493" y="4171731"/>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300544D-0C42-8F67-337B-2D03595AA5E5}"/>
              </a:ext>
            </a:extLst>
          </p:cNvPr>
          <p:cNvSpPr/>
          <p:nvPr/>
        </p:nvSpPr>
        <p:spPr>
          <a:xfrm>
            <a:off x="245513" y="4177126"/>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1B15D83-91A5-4E8A-461F-F7F8B3950AEF}"/>
              </a:ext>
            </a:extLst>
          </p:cNvPr>
          <p:cNvSpPr/>
          <p:nvPr/>
        </p:nvSpPr>
        <p:spPr>
          <a:xfrm>
            <a:off x="386017" y="359351"/>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92246C8-BFBE-FFC0-0570-84DFB50A1390}"/>
              </a:ext>
            </a:extLst>
          </p:cNvPr>
          <p:cNvSpPr/>
          <p:nvPr/>
        </p:nvSpPr>
        <p:spPr>
          <a:xfrm>
            <a:off x="386017" y="2773591"/>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3F4AD04-77C2-2B1D-0809-8FA2CF618405}"/>
              </a:ext>
            </a:extLst>
          </p:cNvPr>
          <p:cNvSpPr/>
          <p:nvPr/>
        </p:nvSpPr>
        <p:spPr>
          <a:xfrm>
            <a:off x="376905" y="359351"/>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78EB690-5246-1C9B-C6D9-6AA1087DEE7E}"/>
              </a:ext>
            </a:extLst>
          </p:cNvPr>
          <p:cNvSpPr/>
          <p:nvPr/>
        </p:nvSpPr>
        <p:spPr>
          <a:xfrm>
            <a:off x="386017" y="2773591"/>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2C368081-6E06-74C0-70C5-927A42EB81C3}"/>
              </a:ext>
            </a:extLst>
          </p:cNvPr>
          <p:cNvSpPr/>
          <p:nvPr/>
        </p:nvSpPr>
        <p:spPr>
          <a:xfrm>
            <a:off x="3920249" y="4171731"/>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BE48AE2F-B14A-90F7-A217-7A57A7F15922}"/>
              </a:ext>
            </a:extLst>
          </p:cNvPr>
          <p:cNvCxnSpPr/>
          <p:nvPr/>
        </p:nvCxnSpPr>
        <p:spPr>
          <a:xfrm>
            <a:off x="1756499" y="5025270"/>
            <a:ext cx="216375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BDB4A7F9-12AE-1076-E478-3E5F9330AC64}"/>
              </a:ext>
            </a:extLst>
          </p:cNvPr>
          <p:cNvSpPr txBox="1"/>
          <p:nvPr/>
        </p:nvSpPr>
        <p:spPr>
          <a:xfrm>
            <a:off x="2369803" y="4618425"/>
            <a:ext cx="937142" cy="369332"/>
          </a:xfrm>
          <a:prstGeom prst="rect">
            <a:avLst/>
          </a:prstGeom>
          <a:noFill/>
        </p:spPr>
        <p:txBody>
          <a:bodyPr wrap="square" rtlCol="0">
            <a:spAutoFit/>
          </a:bodyPr>
          <a:lstStyle/>
          <a:p>
            <a:r>
              <a:rPr lang="en-US"/>
              <a:t>10*PP</a:t>
            </a:r>
          </a:p>
        </p:txBody>
      </p:sp>
      <p:cxnSp>
        <p:nvCxnSpPr>
          <p:cNvPr id="10" name="Straight Arrow Connector 9">
            <a:extLst>
              <a:ext uri="{FF2B5EF4-FFF2-40B4-BE49-F238E27FC236}">
                <a16:creationId xmlns:a16="http://schemas.microsoft.com/office/drawing/2014/main" id="{7C14C1A9-DE17-D6CF-326F-21794A678D05}"/>
              </a:ext>
            </a:extLst>
          </p:cNvPr>
          <p:cNvCxnSpPr>
            <a:stCxn id="46" idx="2"/>
            <a:endCxn id="47" idx="0"/>
          </p:cNvCxnSpPr>
          <p:nvPr/>
        </p:nvCxnSpPr>
        <p:spPr>
          <a:xfrm>
            <a:off x="1126897" y="1507195"/>
            <a:ext cx="9112" cy="126639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A8D6C10-3AEF-0753-4287-F55FCC108336}"/>
              </a:ext>
            </a:extLst>
          </p:cNvPr>
          <p:cNvSpPr/>
          <p:nvPr/>
        </p:nvSpPr>
        <p:spPr>
          <a:xfrm>
            <a:off x="6176957" y="3272023"/>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6E3282-8DB3-0C39-0A0A-41E6A8A42494}"/>
              </a:ext>
            </a:extLst>
          </p:cNvPr>
          <p:cNvSpPr/>
          <p:nvPr/>
        </p:nvSpPr>
        <p:spPr>
          <a:xfrm>
            <a:off x="6174713" y="3272023"/>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1FB5DA-53DC-C0EB-FADD-0166C6BED897}"/>
              </a:ext>
            </a:extLst>
          </p:cNvPr>
          <p:cNvSpPr/>
          <p:nvPr/>
        </p:nvSpPr>
        <p:spPr>
          <a:xfrm>
            <a:off x="9041009" y="5418666"/>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DCE7F6-AA5B-10B6-CEDF-F4008AFF44C1}"/>
              </a:ext>
            </a:extLst>
          </p:cNvPr>
          <p:cNvSpPr/>
          <p:nvPr/>
        </p:nvSpPr>
        <p:spPr>
          <a:xfrm>
            <a:off x="9030007" y="5419613"/>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1BFF3E1-B03A-02C5-5C1E-9C8D08ED763E}"/>
              </a:ext>
            </a:extLst>
          </p:cNvPr>
          <p:cNvCxnSpPr>
            <a:cxnSpLocks/>
          </p:cNvCxnSpPr>
          <p:nvPr/>
        </p:nvCxnSpPr>
        <p:spPr>
          <a:xfrm>
            <a:off x="7691310" y="4419867"/>
            <a:ext cx="1349699"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C66D7593-B4FB-FAF2-9549-57B756D1011E}"/>
              </a:ext>
            </a:extLst>
          </p:cNvPr>
          <p:cNvSpPr txBox="1"/>
          <p:nvPr/>
        </p:nvSpPr>
        <p:spPr>
          <a:xfrm>
            <a:off x="1200637" y="2017534"/>
            <a:ext cx="1621972" cy="646331"/>
          </a:xfrm>
          <a:prstGeom prst="rect">
            <a:avLst/>
          </a:prstGeom>
          <a:noFill/>
        </p:spPr>
        <p:txBody>
          <a:bodyPr wrap="square" rtlCol="0">
            <a:spAutoFit/>
          </a:bodyPr>
          <a:lstStyle/>
          <a:p>
            <a:r>
              <a:rPr lang="en-US"/>
              <a:t>1*CH (min 110nm)</a:t>
            </a:r>
          </a:p>
        </p:txBody>
      </p:sp>
      <p:sp>
        <p:nvSpPr>
          <p:cNvPr id="25" name="TextBox 24">
            <a:extLst>
              <a:ext uri="{FF2B5EF4-FFF2-40B4-BE49-F238E27FC236}">
                <a16:creationId xmlns:a16="http://schemas.microsoft.com/office/drawing/2014/main" id="{780F05B7-4954-1FF0-440F-57ED84774071}"/>
              </a:ext>
            </a:extLst>
          </p:cNvPr>
          <p:cNvSpPr txBox="1"/>
          <p:nvPr/>
        </p:nvSpPr>
        <p:spPr>
          <a:xfrm>
            <a:off x="7831397" y="4043142"/>
            <a:ext cx="937142" cy="369332"/>
          </a:xfrm>
          <a:prstGeom prst="rect">
            <a:avLst/>
          </a:prstGeom>
          <a:noFill/>
        </p:spPr>
        <p:txBody>
          <a:bodyPr wrap="square" rtlCol="0">
            <a:spAutoFit/>
          </a:bodyPr>
          <a:lstStyle/>
          <a:p>
            <a:r>
              <a:rPr lang="en-US"/>
              <a:t>5*PP</a:t>
            </a:r>
          </a:p>
        </p:txBody>
      </p:sp>
      <p:cxnSp>
        <p:nvCxnSpPr>
          <p:cNvPr id="3" name="Straight Connector 2">
            <a:extLst>
              <a:ext uri="{FF2B5EF4-FFF2-40B4-BE49-F238E27FC236}">
                <a16:creationId xmlns:a16="http://schemas.microsoft.com/office/drawing/2014/main" id="{A569E955-672E-D7AD-F31D-222CC065DDD6}"/>
              </a:ext>
            </a:extLst>
          </p:cNvPr>
          <p:cNvCxnSpPr>
            <a:cxnSpLocks/>
          </p:cNvCxnSpPr>
          <p:nvPr/>
        </p:nvCxnSpPr>
        <p:spPr>
          <a:xfrm flipH="1">
            <a:off x="9022846" y="3083112"/>
            <a:ext cx="18163" cy="2375743"/>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044D61AE-4076-F4CA-96BB-3C067FAFD4DD}"/>
              </a:ext>
            </a:extLst>
          </p:cNvPr>
          <p:cNvCxnSpPr>
            <a:cxnSpLocks/>
          </p:cNvCxnSpPr>
          <p:nvPr/>
        </p:nvCxnSpPr>
        <p:spPr>
          <a:xfrm>
            <a:off x="7674697" y="4412474"/>
            <a:ext cx="2244" cy="104638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6A872AB8-E73F-147A-B5C4-C6DFC93FAEA0}"/>
              </a:ext>
            </a:extLst>
          </p:cNvPr>
          <p:cNvCxnSpPr>
            <a:cxnSpLocks/>
          </p:cNvCxnSpPr>
          <p:nvPr/>
        </p:nvCxnSpPr>
        <p:spPr>
          <a:xfrm flipV="1">
            <a:off x="6648450" y="5418666"/>
            <a:ext cx="2475996" cy="30768"/>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2C1CB2D3-F385-E918-5A95-8E6D771EC67C}"/>
              </a:ext>
            </a:extLst>
          </p:cNvPr>
          <p:cNvSpPr txBox="1"/>
          <p:nvPr/>
        </p:nvSpPr>
        <p:spPr>
          <a:xfrm rot="16200000">
            <a:off x="6885419" y="4620707"/>
            <a:ext cx="1270398" cy="369332"/>
          </a:xfrm>
          <a:prstGeom prst="rect">
            <a:avLst/>
          </a:prstGeom>
          <a:noFill/>
        </p:spPr>
        <p:txBody>
          <a:bodyPr wrap="square" rtlCol="0">
            <a:spAutoFit/>
          </a:bodyPr>
          <a:lstStyle/>
          <a:p>
            <a:r>
              <a:rPr lang="en-US"/>
              <a:t>1CH</a:t>
            </a:r>
          </a:p>
        </p:txBody>
      </p:sp>
      <p:cxnSp>
        <p:nvCxnSpPr>
          <p:cNvPr id="26" name="Straight Arrow Connector 25">
            <a:extLst>
              <a:ext uri="{FF2B5EF4-FFF2-40B4-BE49-F238E27FC236}">
                <a16:creationId xmlns:a16="http://schemas.microsoft.com/office/drawing/2014/main" id="{36533516-A996-E971-43EC-A548FAEC7270}"/>
              </a:ext>
            </a:extLst>
          </p:cNvPr>
          <p:cNvCxnSpPr/>
          <p:nvPr/>
        </p:nvCxnSpPr>
        <p:spPr>
          <a:xfrm>
            <a:off x="7691310" y="4419867"/>
            <a:ext cx="1349699" cy="9987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C3AD9C75-6EE1-539D-15E2-7E8771B8C090}"/>
              </a:ext>
            </a:extLst>
          </p:cNvPr>
          <p:cNvSpPr/>
          <p:nvPr/>
        </p:nvSpPr>
        <p:spPr>
          <a:xfrm>
            <a:off x="254271" y="5555184"/>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4EB4FE1-722C-9A35-0400-593651D69249}"/>
              </a:ext>
            </a:extLst>
          </p:cNvPr>
          <p:cNvSpPr/>
          <p:nvPr/>
        </p:nvSpPr>
        <p:spPr>
          <a:xfrm>
            <a:off x="245513" y="5529349"/>
            <a:ext cx="1499984" cy="1147844"/>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3294AE-CF9E-B58C-E37C-C7FDEDCD7476}"/>
              </a:ext>
            </a:extLst>
          </p:cNvPr>
          <p:cNvSpPr/>
          <p:nvPr/>
        </p:nvSpPr>
        <p:spPr>
          <a:xfrm>
            <a:off x="2927621" y="5610726"/>
            <a:ext cx="1502228" cy="114784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71654C-9337-E3AA-C329-1E025BC0DC17}"/>
              </a:ext>
            </a:extLst>
          </p:cNvPr>
          <p:cNvSpPr/>
          <p:nvPr/>
        </p:nvSpPr>
        <p:spPr>
          <a:xfrm>
            <a:off x="2918863" y="5584891"/>
            <a:ext cx="1499984" cy="1147844"/>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8F01B18-58D7-5B8E-C0E1-04EF21009E4D}"/>
              </a:ext>
            </a:extLst>
          </p:cNvPr>
          <p:cNvCxnSpPr>
            <a:cxnSpLocks/>
          </p:cNvCxnSpPr>
          <p:nvPr/>
        </p:nvCxnSpPr>
        <p:spPr>
          <a:xfrm>
            <a:off x="1756499" y="6022220"/>
            <a:ext cx="117112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498D466-542F-931E-1413-B52687426050}"/>
              </a:ext>
            </a:extLst>
          </p:cNvPr>
          <p:cNvSpPr txBox="1"/>
          <p:nvPr/>
        </p:nvSpPr>
        <p:spPr>
          <a:xfrm>
            <a:off x="2033541" y="5652888"/>
            <a:ext cx="937142" cy="369332"/>
          </a:xfrm>
          <a:prstGeom prst="rect">
            <a:avLst/>
          </a:prstGeom>
          <a:noFill/>
        </p:spPr>
        <p:txBody>
          <a:bodyPr wrap="square" rtlCol="0">
            <a:spAutoFit/>
          </a:bodyPr>
          <a:lstStyle/>
          <a:p>
            <a:r>
              <a:rPr lang="en-US"/>
              <a:t>5*PP</a:t>
            </a:r>
          </a:p>
        </p:txBody>
      </p:sp>
      <p:sp>
        <p:nvSpPr>
          <p:cNvPr id="27" name="TextBox 26">
            <a:extLst>
              <a:ext uri="{FF2B5EF4-FFF2-40B4-BE49-F238E27FC236}">
                <a16:creationId xmlns:a16="http://schemas.microsoft.com/office/drawing/2014/main" id="{E94207D5-7678-9AAB-75A7-84AB0BC2AED1}"/>
              </a:ext>
            </a:extLst>
          </p:cNvPr>
          <p:cNvSpPr txBox="1"/>
          <p:nvPr/>
        </p:nvSpPr>
        <p:spPr>
          <a:xfrm>
            <a:off x="3010551" y="689877"/>
            <a:ext cx="6617132" cy="2462213"/>
          </a:xfrm>
          <a:prstGeom prst="rect">
            <a:avLst/>
          </a:prstGeom>
          <a:noFill/>
        </p:spPr>
        <p:txBody>
          <a:bodyPr wrap="square">
            <a:spAutoFit/>
          </a:bodyPr>
          <a:lstStyle/>
          <a:p>
            <a:r>
              <a:rPr lang="en-US" sz="1400"/>
              <a:t>,TAP_S_33,"{</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space to {</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minimum [OGD]",&gt;=,0.22,,"811",,</a:t>
            </a:r>
          </a:p>
          <a:p>
            <a:r>
              <a:rPr lang="en-US" sz="1400"/>
              <a:t>,TAP_S_02,"{</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space to {</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minimum [PGD] :: exception: TAP_S_02_1",&gt;=,0.132,,"811",,</a:t>
            </a:r>
          </a:p>
          <a:p>
            <a:r>
              <a:rPr lang="en-US" sz="1400"/>
              <a:t>,TAP_S_02_1,"{{</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inside b110h_44ppBaseRegion;id} space to {</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minimum [PGD]",&gt;=,0.11,,"811",,</a:t>
            </a:r>
          </a:p>
          <a:p>
            <a:r>
              <a:rPr lang="en-US" sz="1400"/>
              <a:t>,TAP_S_03,"{</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corner-to-corner space to {</a:t>
            </a:r>
            <a:r>
              <a:rPr lang="en-US" sz="1400" err="1"/>
              <a:t>ndiff;tapID</a:t>
            </a:r>
            <a:r>
              <a:rPr lang="en-US" sz="1400"/>
              <a:t>, </a:t>
            </a:r>
            <a:r>
              <a:rPr lang="en-US" sz="1400" err="1"/>
              <a:t>hv;tapID</a:t>
            </a:r>
            <a:r>
              <a:rPr lang="en-US" sz="1400"/>
              <a:t>, </a:t>
            </a:r>
            <a:r>
              <a:rPr lang="en-US" sz="1400" err="1"/>
              <a:t>pdiff;tapID</a:t>
            </a:r>
            <a:r>
              <a:rPr lang="en-US" sz="1400"/>
              <a:t>, </a:t>
            </a:r>
            <a:r>
              <a:rPr lang="en-US" sz="1400" err="1"/>
              <a:t>pid;tapID</a:t>
            </a:r>
            <a:r>
              <a:rPr lang="en-US" sz="1400"/>
              <a:t>}, minimum ## corner touch not allowed",&gt;=,0.245,,"811",,</a:t>
            </a:r>
          </a:p>
        </p:txBody>
      </p:sp>
    </p:spTree>
    <p:extLst>
      <p:ext uri="{BB962C8B-B14F-4D97-AF65-F5344CB8AC3E}">
        <p14:creationId xmlns:p14="http://schemas.microsoft.com/office/powerpoint/2010/main" val="3390367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26E6C-5F76-7E40-6C95-DBB9BDA0B78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E6A8AA-2706-E2FA-9CE4-ECF1C66D4859}"/>
              </a:ext>
            </a:extLst>
          </p:cNvPr>
          <p:cNvSpPr txBox="1">
            <a:spLocks/>
          </p:cNvSpPr>
          <p:nvPr/>
        </p:nvSpPr>
        <p:spPr>
          <a:xfrm>
            <a:off x="2077354" y="243315"/>
            <a:ext cx="6800309" cy="690226"/>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err="1"/>
              <a:t>sdGen</a:t>
            </a:r>
            <a:r>
              <a:rPr lang="en-US"/>
              <a:t> Width and Space Rules</a:t>
            </a:r>
          </a:p>
        </p:txBody>
      </p:sp>
      <p:sp>
        <p:nvSpPr>
          <p:cNvPr id="12" name="Freeform: Shape 11">
            <a:extLst>
              <a:ext uri="{FF2B5EF4-FFF2-40B4-BE49-F238E27FC236}">
                <a16:creationId xmlns:a16="http://schemas.microsoft.com/office/drawing/2014/main" id="{6B36FEFA-8A85-D996-B074-CC6D6BA45E6D}"/>
              </a:ext>
            </a:extLst>
          </p:cNvPr>
          <p:cNvSpPr/>
          <p:nvPr/>
        </p:nvSpPr>
        <p:spPr>
          <a:xfrm>
            <a:off x="6495506" y="3670663"/>
            <a:ext cx="3066778" cy="2147098"/>
          </a:xfrm>
          <a:custGeom>
            <a:avLst/>
            <a:gdLst>
              <a:gd name="connsiteX0" fmla="*/ 0 w 2906485"/>
              <a:gd name="connsiteY0" fmla="*/ 0 h 2552046"/>
              <a:gd name="connsiteX1" fmla="*/ 1939835 w 2906485"/>
              <a:gd name="connsiteY1" fmla="*/ 0 h 2552046"/>
              <a:gd name="connsiteX2" fmla="*/ 1939835 w 2906485"/>
              <a:gd name="connsiteY2" fmla="*/ 492034 h 2552046"/>
              <a:gd name="connsiteX3" fmla="*/ 2906485 w 2906485"/>
              <a:gd name="connsiteY3" fmla="*/ 492034 h 2552046"/>
              <a:gd name="connsiteX4" fmla="*/ 2906485 w 2906485"/>
              <a:gd name="connsiteY4" fmla="*/ 2552046 h 2552046"/>
              <a:gd name="connsiteX5" fmla="*/ 1482634 w 2906485"/>
              <a:gd name="connsiteY5" fmla="*/ 2552046 h 2552046"/>
              <a:gd name="connsiteX6" fmla="*/ 1482634 w 2906485"/>
              <a:gd name="connsiteY6" fmla="*/ 1593668 h 2552046"/>
              <a:gd name="connsiteX7" fmla="*/ 0 w 2906485"/>
              <a:gd name="connsiteY7" fmla="*/ 1593668 h 255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6485" h="2552046">
                <a:moveTo>
                  <a:pt x="0" y="0"/>
                </a:moveTo>
                <a:lnTo>
                  <a:pt x="1939835" y="0"/>
                </a:lnTo>
                <a:lnTo>
                  <a:pt x="1939835" y="492034"/>
                </a:lnTo>
                <a:lnTo>
                  <a:pt x="2906485" y="492034"/>
                </a:lnTo>
                <a:lnTo>
                  <a:pt x="2906485" y="2552046"/>
                </a:lnTo>
                <a:lnTo>
                  <a:pt x="1482634" y="2552046"/>
                </a:lnTo>
                <a:lnTo>
                  <a:pt x="1482634" y="1593668"/>
                </a:lnTo>
                <a:lnTo>
                  <a:pt x="0" y="1593668"/>
                </a:lnTo>
                <a:close/>
              </a:path>
            </a:pathLst>
          </a:cu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4" name="Straight Arrow Connector 13">
            <a:extLst>
              <a:ext uri="{FF2B5EF4-FFF2-40B4-BE49-F238E27FC236}">
                <a16:creationId xmlns:a16="http://schemas.microsoft.com/office/drawing/2014/main" id="{0F8730B0-EBAB-BFD4-2655-596604D0A96B}"/>
              </a:ext>
            </a:extLst>
          </p:cNvPr>
          <p:cNvCxnSpPr>
            <a:cxnSpLocks/>
            <a:stCxn id="12" idx="6"/>
            <a:endCxn id="12" idx="2"/>
          </p:cNvCxnSpPr>
          <p:nvPr/>
        </p:nvCxnSpPr>
        <p:spPr>
          <a:xfrm flipV="1">
            <a:off x="8059907" y="4084623"/>
            <a:ext cx="482416" cy="9268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55333C02-492E-46FC-9540-8D9B284B0EF8}"/>
              </a:ext>
            </a:extLst>
          </p:cNvPr>
          <p:cNvSpPr/>
          <p:nvPr/>
        </p:nvSpPr>
        <p:spPr>
          <a:xfrm>
            <a:off x="6449785" y="1125148"/>
            <a:ext cx="1819003"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540D6A-DCB2-E081-36EB-3DCFD76761B7}"/>
              </a:ext>
            </a:extLst>
          </p:cNvPr>
          <p:cNvSpPr/>
          <p:nvPr/>
        </p:nvSpPr>
        <p:spPr>
          <a:xfrm>
            <a:off x="3506831" y="5429794"/>
            <a:ext cx="1819003"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FAE4ADE-63A3-BC19-12DF-7E8F2EC798F8}"/>
              </a:ext>
            </a:extLst>
          </p:cNvPr>
          <p:cNvSpPr/>
          <p:nvPr/>
        </p:nvSpPr>
        <p:spPr>
          <a:xfrm>
            <a:off x="10672840" y="4444072"/>
            <a:ext cx="1461405"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213B0C13-F26E-2054-8851-044D44D7DC71}"/>
              </a:ext>
            </a:extLst>
          </p:cNvPr>
          <p:cNvCxnSpPr>
            <a:cxnSpLocks/>
          </p:cNvCxnSpPr>
          <p:nvPr/>
        </p:nvCxnSpPr>
        <p:spPr>
          <a:xfrm>
            <a:off x="7210697" y="2464091"/>
            <a:ext cx="0" cy="254736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AE14186-80D6-9A54-F1CF-46F06C245F53}"/>
              </a:ext>
            </a:extLst>
          </p:cNvPr>
          <p:cNvCxnSpPr>
            <a:cxnSpLocks/>
            <a:endCxn id="12" idx="7"/>
          </p:cNvCxnSpPr>
          <p:nvPr/>
        </p:nvCxnSpPr>
        <p:spPr>
          <a:xfrm flipV="1">
            <a:off x="5325834" y="5011454"/>
            <a:ext cx="1169672" cy="41834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A9EF453-9C9B-E43B-16D2-394C62F9E3E9}"/>
              </a:ext>
            </a:extLst>
          </p:cNvPr>
          <p:cNvCxnSpPr/>
          <p:nvPr/>
        </p:nvCxnSpPr>
        <p:spPr>
          <a:xfrm>
            <a:off x="8059907" y="5336177"/>
            <a:ext cx="150237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FC4E9440-2AFE-FBC8-8751-176F00223C27}"/>
              </a:ext>
            </a:extLst>
          </p:cNvPr>
          <p:cNvCxnSpPr>
            <a:cxnSpLocks/>
          </p:cNvCxnSpPr>
          <p:nvPr/>
        </p:nvCxnSpPr>
        <p:spPr>
          <a:xfrm flipV="1">
            <a:off x="6618639" y="3670663"/>
            <a:ext cx="0" cy="13407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AD7B651C-4593-5DE4-034E-32B72895E958}"/>
              </a:ext>
            </a:extLst>
          </p:cNvPr>
          <p:cNvCxnSpPr>
            <a:cxnSpLocks/>
          </p:cNvCxnSpPr>
          <p:nvPr/>
        </p:nvCxnSpPr>
        <p:spPr>
          <a:xfrm flipV="1">
            <a:off x="10745016" y="1182082"/>
            <a:ext cx="0" cy="7914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8CD511D-1AA8-ED0F-D3CC-463A3D17C2C7}"/>
              </a:ext>
            </a:extLst>
          </p:cNvPr>
          <p:cNvSpPr/>
          <p:nvPr/>
        </p:nvSpPr>
        <p:spPr>
          <a:xfrm>
            <a:off x="10866992" y="3616697"/>
            <a:ext cx="361458" cy="232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TextBox 40">
            <a:extLst>
              <a:ext uri="{FF2B5EF4-FFF2-40B4-BE49-F238E27FC236}">
                <a16:creationId xmlns:a16="http://schemas.microsoft.com/office/drawing/2014/main" id="{70615292-5879-FD3F-2EDE-E590E985DE33}"/>
              </a:ext>
            </a:extLst>
          </p:cNvPr>
          <p:cNvSpPr txBox="1"/>
          <p:nvPr/>
        </p:nvSpPr>
        <p:spPr>
          <a:xfrm>
            <a:off x="11228450" y="3578561"/>
            <a:ext cx="667041" cy="276999"/>
          </a:xfrm>
          <a:prstGeom prst="rect">
            <a:avLst/>
          </a:prstGeom>
          <a:noFill/>
        </p:spPr>
        <p:txBody>
          <a:bodyPr wrap="square" rtlCol="0">
            <a:spAutoFit/>
          </a:bodyPr>
          <a:lstStyle/>
          <a:p>
            <a:r>
              <a:rPr lang="en-US" sz="1200" err="1"/>
              <a:t>sdGen</a:t>
            </a:r>
            <a:endParaRPr lang="en-US" sz="1200"/>
          </a:p>
        </p:txBody>
      </p:sp>
      <p:cxnSp>
        <p:nvCxnSpPr>
          <p:cNvPr id="42" name="Straight Arrow Connector 41">
            <a:extLst>
              <a:ext uri="{FF2B5EF4-FFF2-40B4-BE49-F238E27FC236}">
                <a16:creationId xmlns:a16="http://schemas.microsoft.com/office/drawing/2014/main" id="{810EFBB4-7390-D530-F160-DCB1C663E7AA}"/>
              </a:ext>
            </a:extLst>
          </p:cNvPr>
          <p:cNvCxnSpPr>
            <a:cxnSpLocks/>
          </p:cNvCxnSpPr>
          <p:nvPr/>
        </p:nvCxnSpPr>
        <p:spPr>
          <a:xfrm>
            <a:off x="8542323" y="4143469"/>
            <a:ext cx="101996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0599B476-10EA-6CD0-97AE-8A60310F8492}"/>
              </a:ext>
            </a:extLst>
          </p:cNvPr>
          <p:cNvSpPr txBox="1"/>
          <p:nvPr/>
        </p:nvSpPr>
        <p:spPr>
          <a:xfrm rot="16200000">
            <a:off x="6428497" y="4058195"/>
            <a:ext cx="715192" cy="369332"/>
          </a:xfrm>
          <a:prstGeom prst="rect">
            <a:avLst/>
          </a:prstGeom>
          <a:noFill/>
        </p:spPr>
        <p:txBody>
          <a:bodyPr wrap="square" rtlCol="0">
            <a:spAutoFit/>
          </a:bodyPr>
          <a:lstStyle/>
          <a:p>
            <a:r>
              <a:rPr lang="en-US"/>
              <a:t>132</a:t>
            </a:r>
          </a:p>
        </p:txBody>
      </p:sp>
      <p:grpSp>
        <p:nvGrpSpPr>
          <p:cNvPr id="11" name="Group 10">
            <a:extLst>
              <a:ext uri="{FF2B5EF4-FFF2-40B4-BE49-F238E27FC236}">
                <a16:creationId xmlns:a16="http://schemas.microsoft.com/office/drawing/2014/main" id="{D99562D9-8257-3D83-0D30-ED4C909508CD}"/>
              </a:ext>
            </a:extLst>
          </p:cNvPr>
          <p:cNvGrpSpPr/>
          <p:nvPr/>
        </p:nvGrpSpPr>
        <p:grpSpPr>
          <a:xfrm>
            <a:off x="9562284" y="526090"/>
            <a:ext cx="2365463" cy="2097368"/>
            <a:chOff x="9562284" y="526090"/>
            <a:chExt cx="2365463" cy="2097368"/>
          </a:xfrm>
        </p:grpSpPr>
        <p:sp>
          <p:nvSpPr>
            <p:cNvPr id="25" name="Rectangle 24">
              <a:extLst>
                <a:ext uri="{FF2B5EF4-FFF2-40B4-BE49-F238E27FC236}">
                  <a16:creationId xmlns:a16="http://schemas.microsoft.com/office/drawing/2014/main" id="{C079AB9F-F5C9-F549-A6BB-2A4F5CD7580A}"/>
                </a:ext>
              </a:extLst>
            </p:cNvPr>
            <p:cNvSpPr/>
            <p:nvPr/>
          </p:nvSpPr>
          <p:spPr>
            <a:xfrm>
              <a:off x="9562284" y="1175966"/>
              <a:ext cx="1182731" cy="1447492"/>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50D2B89-8D69-372D-7496-89EB8CEC98E0}"/>
                </a:ext>
              </a:extLst>
            </p:cNvPr>
            <p:cNvSpPr/>
            <p:nvPr/>
          </p:nvSpPr>
          <p:spPr>
            <a:xfrm>
              <a:off x="10745016" y="526090"/>
              <a:ext cx="1182731" cy="1447491"/>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372936E0-44C5-A2A0-4D36-37157A05BC01}"/>
                </a:ext>
              </a:extLst>
            </p:cNvPr>
            <p:cNvSpPr txBox="1"/>
            <p:nvPr/>
          </p:nvSpPr>
          <p:spPr>
            <a:xfrm rot="16200000">
              <a:off x="10577256" y="1373901"/>
              <a:ext cx="704850" cy="369332"/>
            </a:xfrm>
            <a:prstGeom prst="rect">
              <a:avLst/>
            </a:prstGeom>
            <a:noFill/>
          </p:spPr>
          <p:txBody>
            <a:bodyPr wrap="square" rtlCol="0">
              <a:spAutoFit/>
            </a:bodyPr>
            <a:lstStyle/>
            <a:p>
              <a:r>
                <a:rPr lang="en-US"/>
                <a:t>132</a:t>
              </a:r>
            </a:p>
          </p:txBody>
        </p:sp>
      </p:grpSp>
      <p:sp>
        <p:nvSpPr>
          <p:cNvPr id="50" name="TextBox 49">
            <a:extLst>
              <a:ext uri="{FF2B5EF4-FFF2-40B4-BE49-F238E27FC236}">
                <a16:creationId xmlns:a16="http://schemas.microsoft.com/office/drawing/2014/main" id="{96DFA425-FE4B-7C52-A065-59C33FF8EA17}"/>
              </a:ext>
            </a:extLst>
          </p:cNvPr>
          <p:cNvSpPr txBox="1"/>
          <p:nvPr/>
        </p:nvSpPr>
        <p:spPr>
          <a:xfrm>
            <a:off x="8453499" y="4976521"/>
            <a:ext cx="715192" cy="369332"/>
          </a:xfrm>
          <a:prstGeom prst="rect">
            <a:avLst/>
          </a:prstGeom>
          <a:noFill/>
        </p:spPr>
        <p:txBody>
          <a:bodyPr wrap="square" rtlCol="0">
            <a:spAutoFit/>
          </a:bodyPr>
          <a:lstStyle/>
          <a:p>
            <a:r>
              <a:rPr lang="en-US"/>
              <a:t>396</a:t>
            </a:r>
          </a:p>
        </p:txBody>
      </p:sp>
      <p:sp>
        <p:nvSpPr>
          <p:cNvPr id="51" name="TextBox 50">
            <a:extLst>
              <a:ext uri="{FF2B5EF4-FFF2-40B4-BE49-F238E27FC236}">
                <a16:creationId xmlns:a16="http://schemas.microsoft.com/office/drawing/2014/main" id="{328EB901-7BC1-DD51-EAC3-EA76C8F1CBFD}"/>
              </a:ext>
            </a:extLst>
          </p:cNvPr>
          <p:cNvSpPr txBox="1"/>
          <p:nvPr/>
        </p:nvSpPr>
        <p:spPr>
          <a:xfrm rot="17869543">
            <a:off x="7864361" y="4238972"/>
            <a:ext cx="715192" cy="369332"/>
          </a:xfrm>
          <a:prstGeom prst="rect">
            <a:avLst/>
          </a:prstGeom>
          <a:noFill/>
        </p:spPr>
        <p:txBody>
          <a:bodyPr wrap="square" rtlCol="0">
            <a:spAutoFit/>
          </a:bodyPr>
          <a:lstStyle/>
          <a:p>
            <a:r>
              <a:rPr lang="en-US">
                <a:solidFill>
                  <a:srgbClr val="FF0000"/>
                </a:solidFill>
              </a:rPr>
              <a:t>165</a:t>
            </a:r>
          </a:p>
        </p:txBody>
      </p:sp>
      <p:sp>
        <p:nvSpPr>
          <p:cNvPr id="53" name="TextBox 52">
            <a:extLst>
              <a:ext uri="{FF2B5EF4-FFF2-40B4-BE49-F238E27FC236}">
                <a16:creationId xmlns:a16="http://schemas.microsoft.com/office/drawing/2014/main" id="{CA317CA0-2079-D3C4-CEB1-8E3F54E0864B}"/>
              </a:ext>
            </a:extLst>
          </p:cNvPr>
          <p:cNvSpPr txBox="1"/>
          <p:nvPr/>
        </p:nvSpPr>
        <p:spPr>
          <a:xfrm rot="16200000">
            <a:off x="7012815" y="2912102"/>
            <a:ext cx="715192" cy="369332"/>
          </a:xfrm>
          <a:prstGeom prst="rect">
            <a:avLst/>
          </a:prstGeom>
          <a:noFill/>
        </p:spPr>
        <p:txBody>
          <a:bodyPr wrap="square" rtlCol="0">
            <a:spAutoFit/>
          </a:bodyPr>
          <a:lstStyle/>
          <a:p>
            <a:r>
              <a:rPr lang="en-US"/>
              <a:t>264</a:t>
            </a:r>
          </a:p>
        </p:txBody>
      </p:sp>
      <p:cxnSp>
        <p:nvCxnSpPr>
          <p:cNvPr id="54" name="Straight Arrow Connector 53">
            <a:extLst>
              <a:ext uri="{FF2B5EF4-FFF2-40B4-BE49-F238E27FC236}">
                <a16:creationId xmlns:a16="http://schemas.microsoft.com/office/drawing/2014/main" id="{24C41733-1479-B497-3DC6-F38956314C18}"/>
              </a:ext>
            </a:extLst>
          </p:cNvPr>
          <p:cNvCxnSpPr>
            <a:cxnSpLocks/>
          </p:cNvCxnSpPr>
          <p:nvPr/>
        </p:nvCxnSpPr>
        <p:spPr>
          <a:xfrm flipV="1">
            <a:off x="9568405" y="5062475"/>
            <a:ext cx="1097418" cy="128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6CA17935-1638-C5CE-E884-1CE70DB262E9}"/>
              </a:ext>
            </a:extLst>
          </p:cNvPr>
          <p:cNvSpPr txBox="1"/>
          <p:nvPr/>
        </p:nvSpPr>
        <p:spPr>
          <a:xfrm>
            <a:off x="9759518" y="4744212"/>
            <a:ext cx="715192" cy="369332"/>
          </a:xfrm>
          <a:prstGeom prst="rect">
            <a:avLst/>
          </a:prstGeom>
          <a:noFill/>
        </p:spPr>
        <p:txBody>
          <a:bodyPr wrap="square" rtlCol="0">
            <a:spAutoFit/>
          </a:bodyPr>
          <a:lstStyle/>
          <a:p>
            <a:r>
              <a:rPr lang="en-US"/>
              <a:t>220</a:t>
            </a:r>
          </a:p>
        </p:txBody>
      </p:sp>
      <p:sp>
        <p:nvSpPr>
          <p:cNvPr id="57" name="TextBox 56">
            <a:extLst>
              <a:ext uri="{FF2B5EF4-FFF2-40B4-BE49-F238E27FC236}">
                <a16:creationId xmlns:a16="http://schemas.microsoft.com/office/drawing/2014/main" id="{B910CD89-1A83-E6BD-2E8B-0F7784457D95}"/>
              </a:ext>
            </a:extLst>
          </p:cNvPr>
          <p:cNvSpPr txBox="1"/>
          <p:nvPr/>
        </p:nvSpPr>
        <p:spPr>
          <a:xfrm rot="16200000">
            <a:off x="6422794" y="2986843"/>
            <a:ext cx="715192" cy="369332"/>
          </a:xfrm>
          <a:prstGeom prst="rect">
            <a:avLst/>
          </a:prstGeom>
          <a:noFill/>
        </p:spPr>
        <p:txBody>
          <a:bodyPr wrap="square" rtlCol="0">
            <a:spAutoFit/>
          </a:bodyPr>
          <a:lstStyle/>
          <a:p>
            <a:r>
              <a:rPr lang="en-US"/>
              <a:t>132</a:t>
            </a:r>
          </a:p>
        </p:txBody>
      </p:sp>
      <p:cxnSp>
        <p:nvCxnSpPr>
          <p:cNvPr id="58" name="Straight Arrow Connector 57">
            <a:extLst>
              <a:ext uri="{FF2B5EF4-FFF2-40B4-BE49-F238E27FC236}">
                <a16:creationId xmlns:a16="http://schemas.microsoft.com/office/drawing/2014/main" id="{CDED30D6-C8D0-BD1F-6550-E10688C52D72}"/>
              </a:ext>
            </a:extLst>
          </p:cNvPr>
          <p:cNvCxnSpPr>
            <a:cxnSpLocks/>
          </p:cNvCxnSpPr>
          <p:nvPr/>
        </p:nvCxnSpPr>
        <p:spPr>
          <a:xfrm flipH="1" flipV="1">
            <a:off x="6595724" y="2464091"/>
            <a:ext cx="22915" cy="1206572"/>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96D66E1-E1BB-A685-98F2-C17E55A36895}"/>
              </a:ext>
            </a:extLst>
          </p:cNvPr>
          <p:cNvSpPr txBox="1"/>
          <p:nvPr/>
        </p:nvSpPr>
        <p:spPr>
          <a:xfrm>
            <a:off x="10429" y="869722"/>
            <a:ext cx="6174341" cy="4616648"/>
          </a:xfrm>
          <a:prstGeom prst="rect">
            <a:avLst/>
          </a:prstGeom>
          <a:noFill/>
        </p:spPr>
        <p:txBody>
          <a:bodyPr wrap="square">
            <a:spAutoFit/>
          </a:bodyPr>
          <a:lstStyle/>
          <a:p>
            <a:r>
              <a:rPr lang="en-US" sz="1400"/>
              <a:t>,SDG_W_12,"sdGen width, minimum [PGD]",&gt;=,0.132,,811,,</a:t>
            </a:r>
          </a:p>
          <a:p>
            <a:r>
              <a:rPr lang="en-US" sz="1400"/>
              <a:t>,SDG_W_212,"sdGen parallel point projection width between two internal corners, minimum [PGD]",&gt;=,0.132,,811,,</a:t>
            </a:r>
          </a:p>
          <a:p>
            <a:r>
              <a:rPr lang="en-US" sz="1400"/>
              <a:t>,SDG_W_113,"sdGen internal corner-to-corner width, minimum [diagonal]",&gt;=,0.165,,811</a:t>
            </a:r>
          </a:p>
          <a:p>
            <a:r>
              <a:rPr lang="en-US" sz="1400"/>
              <a:t>,SDG_S_14,"sdGen space, minimum [PGD]",&gt;=,0.132,,811,,</a:t>
            </a:r>
          </a:p>
          <a:p>
            <a:r>
              <a:rPr lang="en-US" sz="1400"/>
              <a:t>,SDG_S_114,"sdGen space, minimum [OGD]:: exception: </a:t>
            </a:r>
            <a:r>
              <a:rPr lang="en-US" sz="1400" err="1"/>
              <a:t>sdGen</a:t>
            </a:r>
            <a:r>
              <a:rPr lang="en-US" sz="1400"/>
              <a:t> abutting </a:t>
            </a:r>
            <a:r>
              <a:rPr lang="en-US" sz="1400" err="1"/>
              <a:t>ptap;id</a:t>
            </a:r>
            <a:r>
              <a:rPr lang="en-US" sz="1400"/>
              <a:t>",&gt;=,0.220,,811,,</a:t>
            </a:r>
          </a:p>
          <a:p>
            <a:r>
              <a:rPr lang="en-US" sz="1400"/>
              <a:t>,SDG_S_115,"sdGen corner-to-corner space to </a:t>
            </a:r>
            <a:r>
              <a:rPr lang="en-US" sz="1400" err="1"/>
              <a:t>sdGen</a:t>
            </a:r>
            <a:r>
              <a:rPr lang="en-US" sz="1400"/>
              <a:t>, minimum",&gt;=,0.165,,811,,,</a:t>
            </a:r>
          </a:p>
          <a:p>
            <a:r>
              <a:rPr lang="en-US" sz="1400"/>
              <a:t>,SDG_L_25,"sdGen edge length, when adjacent to an edge &lt; SDG_L_25_1, minimum",&gt;=,0.264,,811,,</a:t>
            </a:r>
          </a:p>
          <a:p>
            <a:r>
              <a:rPr lang="en-US" sz="1400"/>
              <a:t>,SDG_L_25_1,"Parameter for SDG_L_25",,0.264,,811,,</a:t>
            </a:r>
          </a:p>
          <a:p>
            <a:r>
              <a:rPr lang="en-US" sz="1400">
                <a:highlight>
                  <a:srgbClr val="FFFF00"/>
                </a:highlight>
              </a:rPr>
              <a:t>,SDG_L_130,"{</a:t>
            </a:r>
            <a:r>
              <a:rPr lang="en-US" sz="1400" err="1">
                <a:highlight>
                  <a:srgbClr val="FFFF00"/>
                </a:highlight>
              </a:rPr>
              <a:t>sdGen</a:t>
            </a:r>
            <a:r>
              <a:rPr lang="en-US" sz="1400">
                <a:highlight>
                  <a:srgbClr val="FFFF00"/>
                </a:highlight>
              </a:rPr>
              <a:t> edge} length, minimum [OGD] :: exception: (1) SDG_L_130_1",&gt;=,0.308,,"811",,</a:t>
            </a:r>
          </a:p>
          <a:p>
            <a:r>
              <a:rPr lang="en-US" sz="1400"/>
              <a:t>,SDG_L_130_1,"{</a:t>
            </a:r>
            <a:r>
              <a:rPr lang="en-US" sz="1400" err="1"/>
              <a:t>sdGen</a:t>
            </a:r>
            <a:r>
              <a:rPr lang="en-US" sz="1400"/>
              <a:t> edge inside </a:t>
            </a:r>
            <a:r>
              <a:rPr lang="en-US" sz="1400" err="1"/>
              <a:t>Digital;id</a:t>
            </a:r>
            <a:r>
              <a:rPr lang="en-US" sz="1400"/>
              <a:t>} length, minimum [OGD] ",&gt;=,0.264,,"811",,</a:t>
            </a:r>
            <a:endParaRPr lang="en-US" sz="1400">
              <a:highlight>
                <a:srgbClr val="FFFF00"/>
              </a:highlight>
            </a:endParaRPr>
          </a:p>
          <a:p>
            <a:r>
              <a:rPr lang="en-US" sz="1400">
                <a:highlight>
                  <a:srgbClr val="FFFF00"/>
                </a:highlight>
              </a:rPr>
              <a:t>,SDG_L_131,"{</a:t>
            </a:r>
            <a:r>
              <a:rPr lang="en-US" sz="1400" err="1">
                <a:highlight>
                  <a:srgbClr val="FFFF00"/>
                </a:highlight>
              </a:rPr>
              <a:t>sdGen</a:t>
            </a:r>
            <a:r>
              <a:rPr lang="en-US" sz="1400">
                <a:highlight>
                  <a:srgbClr val="FFFF00"/>
                </a:highlight>
              </a:rPr>
              <a:t> edge} length, minimum [PGD] :: exception: (1) SDG_L_131_1 (2) SDG_L_131_2 (3) SDG_131_3",&gt;=,0.264,,"811",,</a:t>
            </a:r>
          </a:p>
          <a:p>
            <a:endParaRPr lang="en-US" sz="1400">
              <a:highlight>
                <a:srgbClr val="FFFF00"/>
              </a:highlight>
            </a:endParaRPr>
          </a:p>
          <a:p>
            <a:r>
              <a:rPr lang="en-US" sz="1400"/>
              <a:t>,SDG_P_30,"sdGen pitch, minimum",&gt;=,0.22,,811,,</a:t>
            </a:r>
          </a:p>
        </p:txBody>
      </p:sp>
      <p:cxnSp>
        <p:nvCxnSpPr>
          <p:cNvPr id="9" name="Straight Arrow Connector 8">
            <a:extLst>
              <a:ext uri="{FF2B5EF4-FFF2-40B4-BE49-F238E27FC236}">
                <a16:creationId xmlns:a16="http://schemas.microsoft.com/office/drawing/2014/main" id="{F0E61898-F4B8-423C-2D8C-9320EDBB494D}"/>
              </a:ext>
            </a:extLst>
          </p:cNvPr>
          <p:cNvCxnSpPr/>
          <p:nvPr/>
        </p:nvCxnSpPr>
        <p:spPr>
          <a:xfrm>
            <a:off x="10665823" y="527050"/>
            <a:ext cx="0" cy="64891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F09280F2-A748-0C39-6E1E-F81AAD3E9D7C}"/>
              </a:ext>
            </a:extLst>
          </p:cNvPr>
          <p:cNvSpPr txBox="1"/>
          <p:nvPr/>
        </p:nvSpPr>
        <p:spPr>
          <a:xfrm rot="5400000">
            <a:off x="10191291" y="701434"/>
            <a:ext cx="579732" cy="369332"/>
          </a:xfrm>
          <a:prstGeom prst="rect">
            <a:avLst/>
          </a:prstGeom>
          <a:noFill/>
        </p:spPr>
        <p:txBody>
          <a:bodyPr wrap="square" rtlCol="0">
            <a:spAutoFit/>
          </a:bodyPr>
          <a:lstStyle/>
          <a:p>
            <a:r>
              <a:rPr lang="en-US">
                <a:highlight>
                  <a:srgbClr val="FFFF00"/>
                </a:highlight>
              </a:rPr>
              <a:t>264</a:t>
            </a:r>
          </a:p>
        </p:txBody>
      </p:sp>
      <p:sp>
        <p:nvSpPr>
          <p:cNvPr id="19" name="TextBox 18">
            <a:extLst>
              <a:ext uri="{FF2B5EF4-FFF2-40B4-BE49-F238E27FC236}">
                <a16:creationId xmlns:a16="http://schemas.microsoft.com/office/drawing/2014/main" id="{473B0AC7-EEBC-DFB7-8A97-64D811D0CA25}"/>
              </a:ext>
            </a:extLst>
          </p:cNvPr>
          <p:cNvSpPr txBox="1"/>
          <p:nvPr/>
        </p:nvSpPr>
        <p:spPr>
          <a:xfrm rot="20277611">
            <a:off x="5508142" y="4878941"/>
            <a:ext cx="789997" cy="369332"/>
          </a:xfrm>
          <a:prstGeom prst="rect">
            <a:avLst/>
          </a:prstGeom>
          <a:noFill/>
        </p:spPr>
        <p:txBody>
          <a:bodyPr wrap="square" rtlCol="0">
            <a:spAutoFit/>
          </a:bodyPr>
          <a:lstStyle/>
          <a:p>
            <a:r>
              <a:rPr lang="en-US">
                <a:solidFill>
                  <a:srgbClr val="FF0000"/>
                </a:solidFill>
              </a:rPr>
              <a:t>165</a:t>
            </a:r>
          </a:p>
        </p:txBody>
      </p:sp>
      <p:sp>
        <p:nvSpPr>
          <p:cNvPr id="2" name="TextBox 1">
            <a:extLst>
              <a:ext uri="{FF2B5EF4-FFF2-40B4-BE49-F238E27FC236}">
                <a16:creationId xmlns:a16="http://schemas.microsoft.com/office/drawing/2014/main" id="{1247AE64-9140-7BAC-653D-35519C3B5735}"/>
              </a:ext>
            </a:extLst>
          </p:cNvPr>
          <p:cNvSpPr txBox="1"/>
          <p:nvPr/>
        </p:nvSpPr>
        <p:spPr>
          <a:xfrm>
            <a:off x="8667750" y="3762765"/>
            <a:ext cx="894534" cy="369332"/>
          </a:xfrm>
          <a:prstGeom prst="rect">
            <a:avLst/>
          </a:prstGeom>
          <a:noFill/>
        </p:spPr>
        <p:txBody>
          <a:bodyPr wrap="square" rtlCol="0">
            <a:spAutoFit/>
          </a:bodyPr>
          <a:lstStyle/>
          <a:p>
            <a:r>
              <a:rPr lang="en-US">
                <a:highlight>
                  <a:srgbClr val="FFFF00"/>
                </a:highlight>
              </a:rPr>
              <a:t>308</a:t>
            </a:r>
          </a:p>
        </p:txBody>
      </p:sp>
      <p:sp>
        <p:nvSpPr>
          <p:cNvPr id="3" name="TextBox 2">
            <a:extLst>
              <a:ext uri="{FF2B5EF4-FFF2-40B4-BE49-F238E27FC236}">
                <a16:creationId xmlns:a16="http://schemas.microsoft.com/office/drawing/2014/main" id="{28581138-C174-08FF-7CCF-E106440FA5AD}"/>
              </a:ext>
            </a:extLst>
          </p:cNvPr>
          <p:cNvSpPr txBox="1"/>
          <p:nvPr/>
        </p:nvSpPr>
        <p:spPr>
          <a:xfrm>
            <a:off x="5539027" y="5637704"/>
            <a:ext cx="2352696" cy="646331"/>
          </a:xfrm>
          <a:prstGeom prst="rect">
            <a:avLst/>
          </a:prstGeom>
          <a:noFill/>
        </p:spPr>
        <p:txBody>
          <a:bodyPr wrap="square" rtlCol="0">
            <a:spAutoFit/>
          </a:bodyPr>
          <a:lstStyle/>
          <a:p>
            <a:r>
              <a:rPr lang="en-US">
                <a:solidFill>
                  <a:srgbClr val="FF0000"/>
                </a:solidFill>
              </a:rPr>
              <a:t>Corner touch not allowed</a:t>
            </a:r>
          </a:p>
        </p:txBody>
      </p:sp>
      <p:sp>
        <p:nvSpPr>
          <p:cNvPr id="27" name="Rectangle 26">
            <a:extLst>
              <a:ext uri="{FF2B5EF4-FFF2-40B4-BE49-F238E27FC236}">
                <a16:creationId xmlns:a16="http://schemas.microsoft.com/office/drawing/2014/main" id="{A4EC7854-8A2A-693B-1B97-91F668695F19}"/>
              </a:ext>
            </a:extLst>
          </p:cNvPr>
          <p:cNvSpPr/>
          <p:nvPr/>
        </p:nvSpPr>
        <p:spPr>
          <a:xfrm>
            <a:off x="9045324" y="92098"/>
            <a:ext cx="3088921" cy="32140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B8CF9E34-22EB-7638-1778-DDE4DAD917D4}"/>
              </a:ext>
            </a:extLst>
          </p:cNvPr>
          <p:cNvCxnSpPr>
            <a:cxnSpLocks/>
          </p:cNvCxnSpPr>
          <p:nvPr/>
        </p:nvCxnSpPr>
        <p:spPr>
          <a:xfrm>
            <a:off x="10665823" y="1175966"/>
            <a:ext cx="0" cy="79761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5006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18481-C0CA-892D-1354-3B7F88D00CD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A499B4D-72AD-3F6B-24BE-64D79EB07AFA}"/>
              </a:ext>
            </a:extLst>
          </p:cNvPr>
          <p:cNvSpPr txBox="1">
            <a:spLocks/>
          </p:cNvSpPr>
          <p:nvPr/>
        </p:nvSpPr>
        <p:spPr>
          <a:xfrm>
            <a:off x="2077354" y="243315"/>
            <a:ext cx="6800309" cy="690226"/>
          </a:xfrm>
          <a:prstGeom prst="rect">
            <a:avLst/>
          </a:prstGeom>
        </p:spPr>
        <p:txBody>
          <a:bodyPr vert="horz" lIns="91440" tIns="45720" rIns="91440" bIns="4572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err="1"/>
              <a:t>sdGen</a:t>
            </a:r>
            <a:r>
              <a:rPr lang="en-US"/>
              <a:t> Width and Space Rules (110h logic)</a:t>
            </a:r>
          </a:p>
        </p:txBody>
      </p:sp>
      <p:sp>
        <p:nvSpPr>
          <p:cNvPr id="12" name="Freeform: Shape 11">
            <a:extLst>
              <a:ext uri="{FF2B5EF4-FFF2-40B4-BE49-F238E27FC236}">
                <a16:creationId xmlns:a16="http://schemas.microsoft.com/office/drawing/2014/main" id="{732B26F3-24A2-E36D-0849-0B268E89CEE8}"/>
              </a:ext>
            </a:extLst>
          </p:cNvPr>
          <p:cNvSpPr/>
          <p:nvPr/>
        </p:nvSpPr>
        <p:spPr>
          <a:xfrm>
            <a:off x="6495506" y="3739235"/>
            <a:ext cx="3066778" cy="2078526"/>
          </a:xfrm>
          <a:custGeom>
            <a:avLst/>
            <a:gdLst>
              <a:gd name="connsiteX0" fmla="*/ 0 w 2906485"/>
              <a:gd name="connsiteY0" fmla="*/ 0 h 2552046"/>
              <a:gd name="connsiteX1" fmla="*/ 1939835 w 2906485"/>
              <a:gd name="connsiteY1" fmla="*/ 0 h 2552046"/>
              <a:gd name="connsiteX2" fmla="*/ 1939835 w 2906485"/>
              <a:gd name="connsiteY2" fmla="*/ 492034 h 2552046"/>
              <a:gd name="connsiteX3" fmla="*/ 2906485 w 2906485"/>
              <a:gd name="connsiteY3" fmla="*/ 492034 h 2552046"/>
              <a:gd name="connsiteX4" fmla="*/ 2906485 w 2906485"/>
              <a:gd name="connsiteY4" fmla="*/ 2552046 h 2552046"/>
              <a:gd name="connsiteX5" fmla="*/ 1482634 w 2906485"/>
              <a:gd name="connsiteY5" fmla="*/ 2552046 h 2552046"/>
              <a:gd name="connsiteX6" fmla="*/ 1482634 w 2906485"/>
              <a:gd name="connsiteY6" fmla="*/ 1593668 h 2552046"/>
              <a:gd name="connsiteX7" fmla="*/ 0 w 2906485"/>
              <a:gd name="connsiteY7" fmla="*/ 1593668 h 2552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06485" h="2552046">
                <a:moveTo>
                  <a:pt x="0" y="0"/>
                </a:moveTo>
                <a:lnTo>
                  <a:pt x="1939835" y="0"/>
                </a:lnTo>
                <a:lnTo>
                  <a:pt x="1939835" y="492034"/>
                </a:lnTo>
                <a:lnTo>
                  <a:pt x="2906485" y="492034"/>
                </a:lnTo>
                <a:lnTo>
                  <a:pt x="2906485" y="2552046"/>
                </a:lnTo>
                <a:lnTo>
                  <a:pt x="1482634" y="2552046"/>
                </a:lnTo>
                <a:lnTo>
                  <a:pt x="1482634" y="1593668"/>
                </a:lnTo>
                <a:lnTo>
                  <a:pt x="0" y="1593668"/>
                </a:lnTo>
                <a:close/>
              </a:path>
            </a:pathLst>
          </a:cu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4" name="Straight Arrow Connector 13">
            <a:extLst>
              <a:ext uri="{FF2B5EF4-FFF2-40B4-BE49-F238E27FC236}">
                <a16:creationId xmlns:a16="http://schemas.microsoft.com/office/drawing/2014/main" id="{14782B37-0E45-CBDB-74A4-C48519E3F829}"/>
              </a:ext>
            </a:extLst>
          </p:cNvPr>
          <p:cNvCxnSpPr>
            <a:cxnSpLocks/>
            <a:stCxn id="12" idx="6"/>
            <a:endCxn id="12" idx="2"/>
          </p:cNvCxnSpPr>
          <p:nvPr/>
        </p:nvCxnSpPr>
        <p:spPr>
          <a:xfrm flipV="1">
            <a:off x="8059907" y="4139974"/>
            <a:ext cx="482416" cy="89723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554E5426-0F6F-830C-6B61-A22C07E01C05}"/>
              </a:ext>
            </a:extLst>
          </p:cNvPr>
          <p:cNvSpPr/>
          <p:nvPr/>
        </p:nvSpPr>
        <p:spPr>
          <a:xfrm>
            <a:off x="6506300" y="1443923"/>
            <a:ext cx="1819003"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CCC171D-BCAF-6E12-B53C-2047B3908970}"/>
              </a:ext>
            </a:extLst>
          </p:cNvPr>
          <p:cNvSpPr/>
          <p:nvPr/>
        </p:nvSpPr>
        <p:spPr>
          <a:xfrm>
            <a:off x="3506831" y="5429794"/>
            <a:ext cx="1819003"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99FD950-AE76-808B-8EF1-4FB5E16124A3}"/>
              </a:ext>
            </a:extLst>
          </p:cNvPr>
          <p:cNvSpPr/>
          <p:nvPr/>
        </p:nvSpPr>
        <p:spPr>
          <a:xfrm>
            <a:off x="10665823" y="4884419"/>
            <a:ext cx="1461405" cy="1338943"/>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01D9BD02-C7A9-9C4C-CC6A-6EEF55617EAF}"/>
              </a:ext>
            </a:extLst>
          </p:cNvPr>
          <p:cNvCxnSpPr>
            <a:cxnSpLocks/>
          </p:cNvCxnSpPr>
          <p:nvPr/>
        </p:nvCxnSpPr>
        <p:spPr>
          <a:xfrm>
            <a:off x="7210697" y="2782866"/>
            <a:ext cx="0" cy="222858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3104C2A-AD85-2ECB-1FCF-A6BDBF62C588}"/>
              </a:ext>
            </a:extLst>
          </p:cNvPr>
          <p:cNvCxnSpPr>
            <a:cxnSpLocks/>
            <a:endCxn id="12" idx="7"/>
          </p:cNvCxnSpPr>
          <p:nvPr/>
        </p:nvCxnSpPr>
        <p:spPr>
          <a:xfrm flipV="1">
            <a:off x="5325834" y="5037205"/>
            <a:ext cx="1169672" cy="39258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4B644D85-8E91-3F0B-8A83-419400F5A04A}"/>
              </a:ext>
            </a:extLst>
          </p:cNvPr>
          <p:cNvSpPr/>
          <p:nvPr/>
        </p:nvSpPr>
        <p:spPr>
          <a:xfrm>
            <a:off x="9562284" y="1175966"/>
            <a:ext cx="1182731" cy="1447492"/>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4F88185-F973-B51A-7ABB-3CABEBAEDC49}"/>
              </a:ext>
            </a:extLst>
          </p:cNvPr>
          <p:cNvSpPr/>
          <p:nvPr/>
        </p:nvSpPr>
        <p:spPr>
          <a:xfrm>
            <a:off x="10745016" y="526090"/>
            <a:ext cx="1182731" cy="1447491"/>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25475020-0557-BFFF-C2CE-E4B1935BCA98}"/>
              </a:ext>
            </a:extLst>
          </p:cNvPr>
          <p:cNvCxnSpPr/>
          <p:nvPr/>
        </p:nvCxnSpPr>
        <p:spPr>
          <a:xfrm>
            <a:off x="8059907" y="5336177"/>
            <a:ext cx="150237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5AE0A773-2529-B925-5FA3-0CDB52C62E31}"/>
              </a:ext>
            </a:extLst>
          </p:cNvPr>
          <p:cNvCxnSpPr>
            <a:cxnSpLocks/>
          </p:cNvCxnSpPr>
          <p:nvPr/>
        </p:nvCxnSpPr>
        <p:spPr>
          <a:xfrm flipV="1">
            <a:off x="6618639" y="3670663"/>
            <a:ext cx="0" cy="13407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CEBC7E8-1131-FD1C-0D4F-79AB38834D6F}"/>
              </a:ext>
            </a:extLst>
          </p:cNvPr>
          <p:cNvCxnSpPr>
            <a:cxnSpLocks/>
          </p:cNvCxnSpPr>
          <p:nvPr/>
        </p:nvCxnSpPr>
        <p:spPr>
          <a:xfrm flipV="1">
            <a:off x="10745016" y="1182082"/>
            <a:ext cx="0" cy="7914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A78656B4-592B-D4C5-3C0A-E7E1FB373294}"/>
              </a:ext>
            </a:extLst>
          </p:cNvPr>
          <p:cNvSpPr/>
          <p:nvPr/>
        </p:nvSpPr>
        <p:spPr>
          <a:xfrm>
            <a:off x="10866992" y="3616697"/>
            <a:ext cx="361458" cy="232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1" name="TextBox 40">
            <a:extLst>
              <a:ext uri="{FF2B5EF4-FFF2-40B4-BE49-F238E27FC236}">
                <a16:creationId xmlns:a16="http://schemas.microsoft.com/office/drawing/2014/main" id="{C8FFAA86-4238-E2E8-3F8B-C47F5C0EA96D}"/>
              </a:ext>
            </a:extLst>
          </p:cNvPr>
          <p:cNvSpPr txBox="1"/>
          <p:nvPr/>
        </p:nvSpPr>
        <p:spPr>
          <a:xfrm>
            <a:off x="11228450" y="3578561"/>
            <a:ext cx="667041" cy="276999"/>
          </a:xfrm>
          <a:prstGeom prst="rect">
            <a:avLst/>
          </a:prstGeom>
          <a:noFill/>
        </p:spPr>
        <p:txBody>
          <a:bodyPr wrap="square" rtlCol="0">
            <a:spAutoFit/>
          </a:bodyPr>
          <a:lstStyle/>
          <a:p>
            <a:r>
              <a:rPr lang="en-US" sz="1200" err="1"/>
              <a:t>sdGen</a:t>
            </a:r>
            <a:endParaRPr lang="en-US" sz="1200"/>
          </a:p>
        </p:txBody>
      </p:sp>
      <p:cxnSp>
        <p:nvCxnSpPr>
          <p:cNvPr id="42" name="Straight Arrow Connector 41">
            <a:extLst>
              <a:ext uri="{FF2B5EF4-FFF2-40B4-BE49-F238E27FC236}">
                <a16:creationId xmlns:a16="http://schemas.microsoft.com/office/drawing/2014/main" id="{BF037534-8A3B-C8DC-8B0C-A3BB7129FB19}"/>
              </a:ext>
            </a:extLst>
          </p:cNvPr>
          <p:cNvCxnSpPr>
            <a:cxnSpLocks/>
          </p:cNvCxnSpPr>
          <p:nvPr/>
        </p:nvCxnSpPr>
        <p:spPr>
          <a:xfrm>
            <a:off x="8552191" y="4139974"/>
            <a:ext cx="101996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BEE6F00D-C9B4-B92B-2A5B-AE0F3A9828D4}"/>
              </a:ext>
            </a:extLst>
          </p:cNvPr>
          <p:cNvSpPr txBox="1"/>
          <p:nvPr/>
        </p:nvSpPr>
        <p:spPr>
          <a:xfrm rot="16200000">
            <a:off x="6428497" y="4058195"/>
            <a:ext cx="715192" cy="369332"/>
          </a:xfrm>
          <a:prstGeom prst="rect">
            <a:avLst/>
          </a:prstGeom>
          <a:noFill/>
        </p:spPr>
        <p:txBody>
          <a:bodyPr wrap="square" rtlCol="0">
            <a:spAutoFit/>
          </a:bodyPr>
          <a:lstStyle/>
          <a:p>
            <a:r>
              <a:rPr lang="en-US"/>
              <a:t>110</a:t>
            </a:r>
          </a:p>
        </p:txBody>
      </p:sp>
      <p:sp>
        <p:nvSpPr>
          <p:cNvPr id="48" name="TextBox 47">
            <a:extLst>
              <a:ext uri="{FF2B5EF4-FFF2-40B4-BE49-F238E27FC236}">
                <a16:creationId xmlns:a16="http://schemas.microsoft.com/office/drawing/2014/main" id="{F7227E31-71CD-08C3-AFA0-7422FE0F377A}"/>
              </a:ext>
            </a:extLst>
          </p:cNvPr>
          <p:cNvSpPr txBox="1"/>
          <p:nvPr/>
        </p:nvSpPr>
        <p:spPr>
          <a:xfrm rot="16200000">
            <a:off x="10577256" y="1373901"/>
            <a:ext cx="704850" cy="369332"/>
          </a:xfrm>
          <a:prstGeom prst="rect">
            <a:avLst/>
          </a:prstGeom>
          <a:noFill/>
        </p:spPr>
        <p:txBody>
          <a:bodyPr wrap="square" rtlCol="0">
            <a:spAutoFit/>
          </a:bodyPr>
          <a:lstStyle/>
          <a:p>
            <a:r>
              <a:rPr lang="en-US"/>
              <a:t>110</a:t>
            </a:r>
          </a:p>
        </p:txBody>
      </p:sp>
      <p:sp>
        <p:nvSpPr>
          <p:cNvPr id="50" name="TextBox 49">
            <a:extLst>
              <a:ext uri="{FF2B5EF4-FFF2-40B4-BE49-F238E27FC236}">
                <a16:creationId xmlns:a16="http://schemas.microsoft.com/office/drawing/2014/main" id="{5BED9A8A-241F-D41B-853D-AFDA57D8A354}"/>
              </a:ext>
            </a:extLst>
          </p:cNvPr>
          <p:cNvSpPr txBox="1"/>
          <p:nvPr/>
        </p:nvSpPr>
        <p:spPr>
          <a:xfrm>
            <a:off x="8453499" y="4976521"/>
            <a:ext cx="715192" cy="369332"/>
          </a:xfrm>
          <a:prstGeom prst="rect">
            <a:avLst/>
          </a:prstGeom>
          <a:noFill/>
        </p:spPr>
        <p:txBody>
          <a:bodyPr wrap="square" rtlCol="0">
            <a:spAutoFit/>
          </a:bodyPr>
          <a:lstStyle/>
          <a:p>
            <a:r>
              <a:rPr lang="en-US"/>
              <a:t>396</a:t>
            </a:r>
          </a:p>
        </p:txBody>
      </p:sp>
      <p:sp>
        <p:nvSpPr>
          <p:cNvPr id="51" name="TextBox 50">
            <a:extLst>
              <a:ext uri="{FF2B5EF4-FFF2-40B4-BE49-F238E27FC236}">
                <a16:creationId xmlns:a16="http://schemas.microsoft.com/office/drawing/2014/main" id="{362D1FDF-3B72-3B11-9DDA-313FE40D1525}"/>
              </a:ext>
            </a:extLst>
          </p:cNvPr>
          <p:cNvSpPr txBox="1"/>
          <p:nvPr/>
        </p:nvSpPr>
        <p:spPr>
          <a:xfrm rot="17869543">
            <a:off x="7864361" y="4238972"/>
            <a:ext cx="715192" cy="369332"/>
          </a:xfrm>
          <a:prstGeom prst="rect">
            <a:avLst/>
          </a:prstGeom>
          <a:noFill/>
        </p:spPr>
        <p:txBody>
          <a:bodyPr wrap="square" rtlCol="0">
            <a:spAutoFit/>
          </a:bodyPr>
          <a:lstStyle/>
          <a:p>
            <a:r>
              <a:rPr lang="en-US"/>
              <a:t>165</a:t>
            </a:r>
          </a:p>
        </p:txBody>
      </p:sp>
      <p:sp>
        <p:nvSpPr>
          <p:cNvPr id="52" name="TextBox 51">
            <a:extLst>
              <a:ext uri="{FF2B5EF4-FFF2-40B4-BE49-F238E27FC236}">
                <a16:creationId xmlns:a16="http://schemas.microsoft.com/office/drawing/2014/main" id="{8B358E90-2BB5-29BB-60AE-9D611A31ECA7}"/>
              </a:ext>
            </a:extLst>
          </p:cNvPr>
          <p:cNvSpPr txBox="1"/>
          <p:nvPr/>
        </p:nvSpPr>
        <p:spPr>
          <a:xfrm>
            <a:off x="8835327" y="3715291"/>
            <a:ext cx="715192" cy="369332"/>
          </a:xfrm>
          <a:prstGeom prst="rect">
            <a:avLst/>
          </a:prstGeom>
          <a:noFill/>
        </p:spPr>
        <p:txBody>
          <a:bodyPr wrap="square" rtlCol="0">
            <a:spAutoFit/>
          </a:bodyPr>
          <a:lstStyle/>
          <a:p>
            <a:r>
              <a:rPr lang="en-US"/>
              <a:t>308</a:t>
            </a:r>
          </a:p>
        </p:txBody>
      </p:sp>
      <p:sp>
        <p:nvSpPr>
          <p:cNvPr id="53" name="TextBox 52">
            <a:extLst>
              <a:ext uri="{FF2B5EF4-FFF2-40B4-BE49-F238E27FC236}">
                <a16:creationId xmlns:a16="http://schemas.microsoft.com/office/drawing/2014/main" id="{E0CDA484-01F8-0CF3-73E8-59D889975695}"/>
              </a:ext>
            </a:extLst>
          </p:cNvPr>
          <p:cNvSpPr txBox="1"/>
          <p:nvPr/>
        </p:nvSpPr>
        <p:spPr>
          <a:xfrm rot="16200000">
            <a:off x="7012815" y="2912102"/>
            <a:ext cx="715192" cy="369332"/>
          </a:xfrm>
          <a:prstGeom prst="rect">
            <a:avLst/>
          </a:prstGeom>
          <a:noFill/>
        </p:spPr>
        <p:txBody>
          <a:bodyPr wrap="square" rtlCol="0">
            <a:spAutoFit/>
          </a:bodyPr>
          <a:lstStyle/>
          <a:p>
            <a:r>
              <a:rPr lang="en-US"/>
              <a:t>220</a:t>
            </a:r>
          </a:p>
        </p:txBody>
      </p:sp>
      <p:cxnSp>
        <p:nvCxnSpPr>
          <p:cNvPr id="54" name="Straight Arrow Connector 53">
            <a:extLst>
              <a:ext uri="{FF2B5EF4-FFF2-40B4-BE49-F238E27FC236}">
                <a16:creationId xmlns:a16="http://schemas.microsoft.com/office/drawing/2014/main" id="{EC6312F3-AE1B-2720-EB04-C8392D9B5F08}"/>
              </a:ext>
            </a:extLst>
          </p:cNvPr>
          <p:cNvCxnSpPr>
            <a:cxnSpLocks/>
          </p:cNvCxnSpPr>
          <p:nvPr/>
        </p:nvCxnSpPr>
        <p:spPr>
          <a:xfrm flipV="1">
            <a:off x="9568405" y="5062475"/>
            <a:ext cx="1097418" cy="128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F0EB5C11-FAF9-FCD4-BAF2-74B73E903EBE}"/>
              </a:ext>
            </a:extLst>
          </p:cNvPr>
          <p:cNvSpPr txBox="1"/>
          <p:nvPr/>
        </p:nvSpPr>
        <p:spPr>
          <a:xfrm>
            <a:off x="9759518" y="4744212"/>
            <a:ext cx="715192" cy="369332"/>
          </a:xfrm>
          <a:prstGeom prst="rect">
            <a:avLst/>
          </a:prstGeom>
          <a:noFill/>
        </p:spPr>
        <p:txBody>
          <a:bodyPr wrap="square" rtlCol="0">
            <a:spAutoFit/>
          </a:bodyPr>
          <a:lstStyle/>
          <a:p>
            <a:r>
              <a:rPr lang="en-US"/>
              <a:t>220</a:t>
            </a:r>
          </a:p>
        </p:txBody>
      </p:sp>
      <p:sp>
        <p:nvSpPr>
          <p:cNvPr id="57" name="TextBox 56">
            <a:extLst>
              <a:ext uri="{FF2B5EF4-FFF2-40B4-BE49-F238E27FC236}">
                <a16:creationId xmlns:a16="http://schemas.microsoft.com/office/drawing/2014/main" id="{A24CCD90-B800-2C24-842A-E7E3661AFED8}"/>
              </a:ext>
            </a:extLst>
          </p:cNvPr>
          <p:cNvSpPr txBox="1"/>
          <p:nvPr/>
        </p:nvSpPr>
        <p:spPr>
          <a:xfrm>
            <a:off x="6100481" y="3049770"/>
            <a:ext cx="715192" cy="369332"/>
          </a:xfrm>
          <a:prstGeom prst="rect">
            <a:avLst/>
          </a:prstGeom>
          <a:noFill/>
        </p:spPr>
        <p:txBody>
          <a:bodyPr wrap="square" rtlCol="0">
            <a:spAutoFit/>
          </a:bodyPr>
          <a:lstStyle/>
          <a:p>
            <a:r>
              <a:rPr lang="en-US"/>
              <a:t>110</a:t>
            </a:r>
          </a:p>
        </p:txBody>
      </p:sp>
      <p:cxnSp>
        <p:nvCxnSpPr>
          <p:cNvPr id="58" name="Straight Arrow Connector 57">
            <a:extLst>
              <a:ext uri="{FF2B5EF4-FFF2-40B4-BE49-F238E27FC236}">
                <a16:creationId xmlns:a16="http://schemas.microsoft.com/office/drawing/2014/main" id="{6E954273-3098-1A0F-3FD7-F01649C2B41F}"/>
              </a:ext>
            </a:extLst>
          </p:cNvPr>
          <p:cNvCxnSpPr>
            <a:cxnSpLocks/>
          </p:cNvCxnSpPr>
          <p:nvPr/>
        </p:nvCxnSpPr>
        <p:spPr>
          <a:xfrm flipV="1">
            <a:off x="6618639" y="2769372"/>
            <a:ext cx="0" cy="901291"/>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0C03052-7A8C-DE95-4488-D9910972F099}"/>
              </a:ext>
            </a:extLst>
          </p:cNvPr>
          <p:cNvSpPr txBox="1"/>
          <p:nvPr/>
        </p:nvSpPr>
        <p:spPr>
          <a:xfrm>
            <a:off x="57756" y="1351881"/>
            <a:ext cx="6208764" cy="2246769"/>
          </a:xfrm>
          <a:prstGeom prst="rect">
            <a:avLst/>
          </a:prstGeom>
          <a:noFill/>
        </p:spPr>
        <p:txBody>
          <a:bodyPr wrap="square">
            <a:spAutoFit/>
          </a:bodyPr>
          <a:lstStyle/>
          <a:p>
            <a:r>
              <a:rPr lang="en-US" sz="1400"/>
              <a:t>,SDG_W_12_1"sdGen width, minimum [PGD]",&gt;=,0.110,,811,,</a:t>
            </a:r>
          </a:p>
          <a:p>
            <a:r>
              <a:rPr lang="en-US" sz="1400"/>
              <a:t>,SDG_W_212_1,"sdGen parallel point projection width between two internal corners, minimum [PGD]",&gt;=,0.110,,811,,</a:t>
            </a:r>
          </a:p>
          <a:p>
            <a:r>
              <a:rPr lang="en-US" sz="1400"/>
              <a:t>,SDG_S_14_1"sdGen space, minimum [PGD]",&gt;=,0.110,,811,,</a:t>
            </a:r>
          </a:p>
          <a:p>
            <a:r>
              <a:rPr lang="en-US" sz="1400"/>
              <a:t>,SDG_P_30,"sdGen pitch, minimum",&gt;=,0.22,,811,,</a:t>
            </a:r>
          </a:p>
          <a:p>
            <a:r>
              <a:rPr lang="en-US" sz="1400"/>
              <a:t>,SDG_NOTE_04,Note that the min pitch rule value SDG_30 is no more restrictive than width + space.,,,,811,,</a:t>
            </a:r>
          </a:p>
          <a:p>
            <a:r>
              <a:rPr lang="en-US" sz="1400"/>
              <a:t>,SDG_L_131_1,"{</a:t>
            </a:r>
            <a:r>
              <a:rPr lang="en-US" sz="1400" err="1"/>
              <a:t>sdGen</a:t>
            </a:r>
            <a:r>
              <a:rPr lang="en-US" sz="1400"/>
              <a:t> edge inside b110hregion_44p} length, minimum [PGD] :: exception: ",&gt;=,0.220,,"811",,</a:t>
            </a:r>
          </a:p>
          <a:p>
            <a:endParaRPr lang="en-US" sz="1400"/>
          </a:p>
        </p:txBody>
      </p:sp>
      <p:cxnSp>
        <p:nvCxnSpPr>
          <p:cNvPr id="9" name="Straight Arrow Connector 8">
            <a:extLst>
              <a:ext uri="{FF2B5EF4-FFF2-40B4-BE49-F238E27FC236}">
                <a16:creationId xmlns:a16="http://schemas.microsoft.com/office/drawing/2014/main" id="{93C31742-0EB8-E808-6848-0FB166669E6A}"/>
              </a:ext>
            </a:extLst>
          </p:cNvPr>
          <p:cNvCxnSpPr/>
          <p:nvPr/>
        </p:nvCxnSpPr>
        <p:spPr>
          <a:xfrm>
            <a:off x="10665823" y="527050"/>
            <a:ext cx="0" cy="64891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44DA396-4AA3-6672-9754-314A337096E4}"/>
              </a:ext>
            </a:extLst>
          </p:cNvPr>
          <p:cNvSpPr txBox="1"/>
          <p:nvPr/>
        </p:nvSpPr>
        <p:spPr>
          <a:xfrm rot="5400000">
            <a:off x="10191291" y="666842"/>
            <a:ext cx="579732" cy="369332"/>
          </a:xfrm>
          <a:prstGeom prst="rect">
            <a:avLst/>
          </a:prstGeom>
          <a:noFill/>
        </p:spPr>
        <p:txBody>
          <a:bodyPr wrap="square" rtlCol="0">
            <a:spAutoFit/>
          </a:bodyPr>
          <a:lstStyle/>
          <a:p>
            <a:r>
              <a:rPr lang="en-US"/>
              <a:t>220</a:t>
            </a:r>
          </a:p>
        </p:txBody>
      </p:sp>
      <p:sp>
        <p:nvSpPr>
          <p:cNvPr id="19" name="TextBox 18">
            <a:extLst>
              <a:ext uri="{FF2B5EF4-FFF2-40B4-BE49-F238E27FC236}">
                <a16:creationId xmlns:a16="http://schemas.microsoft.com/office/drawing/2014/main" id="{D15EC3E3-7E97-1FC4-83B3-661BFC9B7603}"/>
              </a:ext>
            </a:extLst>
          </p:cNvPr>
          <p:cNvSpPr txBox="1"/>
          <p:nvPr/>
        </p:nvSpPr>
        <p:spPr>
          <a:xfrm rot="20277611">
            <a:off x="5508142" y="4878941"/>
            <a:ext cx="789997" cy="369332"/>
          </a:xfrm>
          <a:prstGeom prst="rect">
            <a:avLst/>
          </a:prstGeom>
          <a:noFill/>
        </p:spPr>
        <p:txBody>
          <a:bodyPr wrap="square" rtlCol="0">
            <a:spAutoFit/>
          </a:bodyPr>
          <a:lstStyle/>
          <a:p>
            <a:r>
              <a:rPr lang="en-US"/>
              <a:t>165</a:t>
            </a:r>
          </a:p>
        </p:txBody>
      </p:sp>
    </p:spTree>
    <p:extLst>
      <p:ext uri="{BB962C8B-B14F-4D97-AF65-F5344CB8AC3E}">
        <p14:creationId xmlns:p14="http://schemas.microsoft.com/office/powerpoint/2010/main" val="742706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10AD27FD-7764-DBBE-875C-DAD28077E115}"/>
              </a:ext>
            </a:extLst>
          </p:cNvPr>
          <p:cNvSpPr/>
          <p:nvPr/>
        </p:nvSpPr>
        <p:spPr>
          <a:xfrm>
            <a:off x="2867293" y="2925409"/>
            <a:ext cx="3994567" cy="1543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C49FE9F-F62B-5F67-42EC-C6D40F674F95}"/>
              </a:ext>
            </a:extLst>
          </p:cNvPr>
          <p:cNvSpPr/>
          <p:nvPr/>
        </p:nvSpPr>
        <p:spPr>
          <a:xfrm>
            <a:off x="3063480" y="866916"/>
            <a:ext cx="3608219" cy="2123274"/>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CDB5BF4-87ED-E913-FF3B-F3877103468C}"/>
              </a:ext>
            </a:extLst>
          </p:cNvPr>
          <p:cNvSpPr/>
          <p:nvPr/>
        </p:nvSpPr>
        <p:spPr>
          <a:xfrm>
            <a:off x="3720015" y="3270660"/>
            <a:ext cx="1877791" cy="1066284"/>
          </a:xfrm>
          <a:prstGeom prst="rect">
            <a:avLst/>
          </a:prstGeom>
          <a:pattFill prst="pct60">
            <a:fgClr>
              <a:srgbClr val="00B05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C5C8020-0BB8-9FC1-0639-D749F032B46C}"/>
              </a:ext>
            </a:extLst>
          </p:cNvPr>
          <p:cNvSpPr/>
          <p:nvPr/>
        </p:nvSpPr>
        <p:spPr>
          <a:xfrm>
            <a:off x="5637347" y="1629765"/>
            <a:ext cx="954411" cy="1066284"/>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46A7844-2F47-4889-B8AA-30EE369B67AB}"/>
              </a:ext>
            </a:extLst>
          </p:cNvPr>
          <p:cNvSpPr/>
          <p:nvPr/>
        </p:nvSpPr>
        <p:spPr>
          <a:xfrm>
            <a:off x="6591758" y="1598318"/>
            <a:ext cx="190769" cy="123751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6CC3A56B-6728-0078-040F-90A17B6B5071}"/>
              </a:ext>
            </a:extLst>
          </p:cNvPr>
          <p:cNvSpPr/>
          <p:nvPr/>
        </p:nvSpPr>
        <p:spPr>
          <a:xfrm>
            <a:off x="3768541" y="1635486"/>
            <a:ext cx="1877791" cy="1066284"/>
          </a:xfrm>
          <a:prstGeom prst="rect">
            <a:avLst/>
          </a:prstGeom>
          <a:pattFill prst="pct30">
            <a:fgClr>
              <a:srgbClr val="E096D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D1619D0D-6F44-23AB-FDE1-5A7EE11B5A5B}"/>
              </a:ext>
            </a:extLst>
          </p:cNvPr>
          <p:cNvCxnSpPr>
            <a:cxnSpLocks/>
          </p:cNvCxnSpPr>
          <p:nvPr/>
        </p:nvCxnSpPr>
        <p:spPr>
          <a:xfrm>
            <a:off x="6666388" y="397564"/>
            <a:ext cx="18856" cy="3530686"/>
          </a:xfrm>
          <a:prstGeom prst="line">
            <a:avLst/>
          </a:prstGeom>
          <a:ln>
            <a:solidFill>
              <a:schemeClr val="tx1"/>
            </a:solidFill>
            <a:prstDash val="lgDash"/>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7572A4D1-4B29-645E-4DA1-F2E273F46852}"/>
              </a:ext>
            </a:extLst>
          </p:cNvPr>
          <p:cNvCxnSpPr>
            <a:cxnSpLocks/>
          </p:cNvCxnSpPr>
          <p:nvPr/>
        </p:nvCxnSpPr>
        <p:spPr>
          <a:xfrm>
            <a:off x="6671699" y="2990189"/>
            <a:ext cx="1487759" cy="12399"/>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83EDCB09-FE31-DDB3-BE42-6A806CBB89DB}"/>
              </a:ext>
            </a:extLst>
          </p:cNvPr>
          <p:cNvCxnSpPr>
            <a:cxnSpLocks/>
            <a:endCxn id="4" idx="2"/>
          </p:cNvCxnSpPr>
          <p:nvPr/>
        </p:nvCxnSpPr>
        <p:spPr>
          <a:xfrm flipH="1">
            <a:off x="4867590" y="2696049"/>
            <a:ext cx="3640" cy="294141"/>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0C30ED7E-2AC8-662B-23F4-6C8E09919442}"/>
              </a:ext>
            </a:extLst>
          </p:cNvPr>
          <p:cNvCxnSpPr>
            <a:cxnSpLocks/>
          </p:cNvCxnSpPr>
          <p:nvPr/>
        </p:nvCxnSpPr>
        <p:spPr>
          <a:xfrm flipH="1">
            <a:off x="4875941" y="2976519"/>
            <a:ext cx="3640" cy="294141"/>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74" name="Title 1">
            <a:extLst>
              <a:ext uri="{FF2B5EF4-FFF2-40B4-BE49-F238E27FC236}">
                <a16:creationId xmlns:a16="http://schemas.microsoft.com/office/drawing/2014/main" id="{E445C34E-2E6A-4805-9090-8408853ED78C}"/>
              </a:ext>
            </a:extLst>
          </p:cNvPr>
          <p:cNvSpPr>
            <a:spLocks noGrp="1"/>
          </p:cNvSpPr>
          <p:nvPr>
            <p:ph type="title"/>
          </p:nvPr>
        </p:nvSpPr>
        <p:spPr>
          <a:xfrm>
            <a:off x="1752974" y="-1878"/>
            <a:ext cx="7935691" cy="690226"/>
          </a:xfrm>
        </p:spPr>
        <p:txBody>
          <a:bodyPr>
            <a:normAutofit fontScale="90000"/>
          </a:bodyPr>
          <a:lstStyle/>
          <a:p>
            <a:r>
              <a:rPr lang="en-US" err="1"/>
              <a:t>Nwell</a:t>
            </a:r>
            <a:r>
              <a:rPr lang="en-US"/>
              <a:t> to </a:t>
            </a:r>
            <a:r>
              <a:rPr lang="en-US" err="1"/>
              <a:t>ndiff</a:t>
            </a:r>
            <a:r>
              <a:rPr lang="en-US"/>
              <a:t>/</a:t>
            </a:r>
            <a:r>
              <a:rPr lang="en-US" err="1"/>
              <a:t>pdiff</a:t>
            </a:r>
            <a:r>
              <a:rPr lang="en-US"/>
              <a:t> spacing/enc rules</a:t>
            </a:r>
          </a:p>
        </p:txBody>
      </p:sp>
      <p:sp>
        <p:nvSpPr>
          <p:cNvPr id="76" name="Rectangle 75">
            <a:extLst>
              <a:ext uri="{FF2B5EF4-FFF2-40B4-BE49-F238E27FC236}">
                <a16:creationId xmlns:a16="http://schemas.microsoft.com/office/drawing/2014/main" id="{541D9634-8005-4AFF-B8E9-419CD499624A}"/>
              </a:ext>
            </a:extLst>
          </p:cNvPr>
          <p:cNvSpPr/>
          <p:nvPr/>
        </p:nvSpPr>
        <p:spPr>
          <a:xfrm>
            <a:off x="2867292" y="796791"/>
            <a:ext cx="3994567" cy="15435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97B1935D-BEA8-DDF1-2E4C-9816E3EDFA2B}"/>
              </a:ext>
            </a:extLst>
          </p:cNvPr>
          <p:cNvSpPr/>
          <p:nvPr/>
        </p:nvSpPr>
        <p:spPr>
          <a:xfrm>
            <a:off x="8159458" y="2639312"/>
            <a:ext cx="1877791" cy="1066284"/>
          </a:xfrm>
          <a:prstGeom prst="rect">
            <a:avLst/>
          </a:prstGeom>
          <a:pattFill prst="pct60">
            <a:fgClr>
              <a:srgbClr val="00B05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DAE25A7D-198A-BCF5-B34C-D0E22E052A74}"/>
              </a:ext>
            </a:extLst>
          </p:cNvPr>
          <p:cNvSpPr txBox="1"/>
          <p:nvPr/>
        </p:nvSpPr>
        <p:spPr>
          <a:xfrm>
            <a:off x="5869150" y="1267090"/>
            <a:ext cx="685044" cy="369332"/>
          </a:xfrm>
          <a:prstGeom prst="rect">
            <a:avLst/>
          </a:prstGeom>
          <a:noFill/>
        </p:spPr>
        <p:txBody>
          <a:bodyPr wrap="square" rtlCol="0">
            <a:spAutoFit/>
          </a:bodyPr>
          <a:lstStyle/>
          <a:p>
            <a:r>
              <a:rPr lang="en-US"/>
              <a:t>182</a:t>
            </a:r>
          </a:p>
        </p:txBody>
      </p:sp>
      <p:sp>
        <p:nvSpPr>
          <p:cNvPr id="87" name="TextBox 86">
            <a:extLst>
              <a:ext uri="{FF2B5EF4-FFF2-40B4-BE49-F238E27FC236}">
                <a16:creationId xmlns:a16="http://schemas.microsoft.com/office/drawing/2014/main" id="{3C197EE3-FA26-6F84-51E9-EAF6FBDCBE09}"/>
              </a:ext>
            </a:extLst>
          </p:cNvPr>
          <p:cNvSpPr txBox="1"/>
          <p:nvPr/>
        </p:nvSpPr>
        <p:spPr>
          <a:xfrm>
            <a:off x="4983862" y="2696049"/>
            <a:ext cx="452357" cy="369332"/>
          </a:xfrm>
          <a:prstGeom prst="rect">
            <a:avLst/>
          </a:prstGeom>
          <a:noFill/>
        </p:spPr>
        <p:txBody>
          <a:bodyPr wrap="square" rtlCol="0">
            <a:spAutoFit/>
          </a:bodyPr>
          <a:lstStyle/>
          <a:p>
            <a:r>
              <a:rPr lang="en-US"/>
              <a:t>10</a:t>
            </a:r>
          </a:p>
        </p:txBody>
      </p:sp>
      <p:sp>
        <p:nvSpPr>
          <p:cNvPr id="89" name="TextBox 88">
            <a:extLst>
              <a:ext uri="{FF2B5EF4-FFF2-40B4-BE49-F238E27FC236}">
                <a16:creationId xmlns:a16="http://schemas.microsoft.com/office/drawing/2014/main" id="{981AC7DC-688C-AA69-67E7-D717D3FEA4DC}"/>
              </a:ext>
            </a:extLst>
          </p:cNvPr>
          <p:cNvSpPr txBox="1"/>
          <p:nvPr/>
        </p:nvSpPr>
        <p:spPr>
          <a:xfrm>
            <a:off x="107713" y="4582474"/>
            <a:ext cx="8775937" cy="1754326"/>
          </a:xfrm>
          <a:prstGeom prst="rect">
            <a:avLst/>
          </a:prstGeom>
          <a:noFill/>
        </p:spPr>
        <p:txBody>
          <a:bodyPr wrap="square">
            <a:spAutoFit/>
          </a:bodyPr>
          <a:lstStyle/>
          <a:p>
            <a:r>
              <a:rPr lang="en-US" sz="1200"/>
              <a:t>,NW_R_02,"pdiff must be inside </a:t>
            </a:r>
            <a:r>
              <a:rPr lang="en-US" sz="1200" err="1"/>
              <a:t>nwell</a:t>
            </a:r>
            <a:r>
              <a:rPr lang="en-US" sz="1200"/>
              <a:t> :: exception: P_tap_diff",,,,811,,</a:t>
            </a:r>
          </a:p>
          <a:p>
            <a:r>
              <a:rPr lang="en-US" sz="1200"/>
              <a:t>,NW_R_03,"ndiff must not interact with </a:t>
            </a:r>
            <a:r>
              <a:rPr lang="en-US" sz="1200" err="1"/>
              <a:t>nwell</a:t>
            </a:r>
            <a:r>
              <a:rPr lang="en-US" sz="1200"/>
              <a:t> :: exception: N_tap_diff",,,,811,,</a:t>
            </a:r>
          </a:p>
          <a:p>
            <a:r>
              <a:rPr lang="en-US" sz="1200"/>
              <a:t>,NW_S_91,"nwell space to {</a:t>
            </a:r>
            <a:r>
              <a:rPr lang="en-US" sz="1200" err="1"/>
              <a:t>ndiff;drawing</a:t>
            </a:r>
            <a:r>
              <a:rPr lang="en-US" sz="1200"/>
              <a:t>}, minimum [OGD] :: exception: NW_S_92 ",&gt;=,0.182,,811</a:t>
            </a:r>
          </a:p>
          <a:p>
            <a:r>
              <a:rPr lang="en-US" sz="1200"/>
              <a:t>,NW_EN_93,"nwell enclosure of {</a:t>
            </a:r>
            <a:r>
              <a:rPr lang="en-US" sz="1200" err="1"/>
              <a:t>pdiff;drawing</a:t>
            </a:r>
            <a:r>
              <a:rPr lang="en-US" sz="1200"/>
              <a:t>}, minimum [OGD]",&gt;=,0.182,,811,,</a:t>
            </a:r>
          </a:p>
          <a:p>
            <a:r>
              <a:rPr lang="en-US" sz="1200">
                <a:highlight>
                  <a:srgbClr val="FFFF00"/>
                </a:highlight>
              </a:rPr>
              <a:t>,NW_EN_23,"{</a:t>
            </a:r>
            <a:r>
              <a:rPr lang="en-US" sz="1200" err="1">
                <a:highlight>
                  <a:srgbClr val="FFFF00"/>
                </a:highlight>
              </a:rPr>
              <a:t>nwell</a:t>
            </a:r>
            <a:r>
              <a:rPr lang="en-US" sz="1200">
                <a:highlight>
                  <a:srgbClr val="FFFF00"/>
                </a:highlight>
              </a:rPr>
              <a:t> external corner} enclosure of {</a:t>
            </a:r>
            <a:r>
              <a:rPr lang="en-US" sz="1200" err="1">
                <a:highlight>
                  <a:srgbClr val="FFFF00"/>
                </a:highlight>
              </a:rPr>
              <a:t>pdiff;drawing</a:t>
            </a:r>
            <a:r>
              <a:rPr lang="en-US" sz="1200">
                <a:highlight>
                  <a:srgbClr val="FFFF00"/>
                </a:highlight>
              </a:rPr>
              <a:t>}, minimum :: exception: (1) NW_EN_23_1 (2) NW_EN_23_2 (3) NW_EN_23_3",&gt;=,0.182,,811,, </a:t>
            </a:r>
            <a:r>
              <a:rPr lang="en-US" sz="1200">
                <a:highlight>
                  <a:srgbClr val="FFFF00"/>
                </a:highlight>
                <a:sym typeface="Wingdings" panose="05000000000000000000" pitchFamily="2" charset="2"/>
              </a:rPr>
              <a:t> Exceptions given for turbo cells</a:t>
            </a:r>
            <a:endParaRPr lang="en-US" sz="1200">
              <a:highlight>
                <a:srgbClr val="FFFF00"/>
              </a:highlight>
            </a:endParaRPr>
          </a:p>
          <a:p>
            <a:r>
              <a:rPr lang="en-US" sz="1200"/>
              <a:t>,NW_EN_231,"{</a:t>
            </a:r>
            <a:r>
              <a:rPr lang="en-US" sz="1200" err="1"/>
              <a:t>nwell</a:t>
            </a:r>
            <a:r>
              <a:rPr lang="en-US" sz="1200"/>
              <a:t> external corner} enclosure of {</a:t>
            </a:r>
            <a:r>
              <a:rPr lang="en-US" sz="1200" err="1"/>
              <a:t>pdiff;fill</a:t>
            </a:r>
            <a:r>
              <a:rPr lang="en-US" sz="1200"/>
              <a:t>, </a:t>
            </a:r>
            <a:r>
              <a:rPr lang="en-US" sz="1200" err="1"/>
              <a:t>N_tap_diff</a:t>
            </a:r>
            <a:r>
              <a:rPr lang="en-US" sz="1200"/>
              <a:t>}, minimum",&gt;=,0.01,,811,,</a:t>
            </a:r>
          </a:p>
          <a:p>
            <a:r>
              <a:rPr lang="en-US" sz="1200">
                <a:highlight>
                  <a:srgbClr val="FFFF00"/>
                </a:highlight>
              </a:rPr>
              <a:t>,NW_S_24,"{</a:t>
            </a:r>
            <a:r>
              <a:rPr lang="en-US" sz="1200" err="1">
                <a:highlight>
                  <a:srgbClr val="FFFF00"/>
                </a:highlight>
              </a:rPr>
              <a:t>nwell</a:t>
            </a:r>
            <a:r>
              <a:rPr lang="en-US" sz="1200">
                <a:highlight>
                  <a:srgbClr val="FFFF00"/>
                </a:highlight>
              </a:rPr>
              <a:t> external corner} space to </a:t>
            </a:r>
            <a:r>
              <a:rPr lang="en-US" sz="1200" err="1">
                <a:highlight>
                  <a:srgbClr val="FFFF00"/>
                </a:highlight>
              </a:rPr>
              <a:t>ndiff;drawing</a:t>
            </a:r>
            <a:r>
              <a:rPr lang="en-US" sz="1200">
                <a:highlight>
                  <a:srgbClr val="FFFF00"/>
                </a:highlight>
              </a:rPr>
              <a:t>, minimum :: exception: (1) NW_S_24_1 (2) NW_S_24_2 (3) NW_S_24_3",&gt;=,0.182,,811,,</a:t>
            </a:r>
            <a:r>
              <a:rPr lang="en-US" sz="1200">
                <a:highlight>
                  <a:srgbClr val="FFFF00"/>
                </a:highlight>
                <a:sym typeface="Wingdings" panose="05000000000000000000" pitchFamily="2" charset="2"/>
              </a:rPr>
              <a:t> exceptions given for </a:t>
            </a:r>
            <a:r>
              <a:rPr lang="en-US" sz="1200" err="1">
                <a:highlight>
                  <a:srgbClr val="FFFF00"/>
                </a:highlight>
                <a:sym typeface="Wingdings" panose="05000000000000000000" pitchFamily="2" charset="2"/>
              </a:rPr>
              <a:t>turbocells</a:t>
            </a:r>
            <a:endParaRPr lang="en-US" sz="1200">
              <a:highlight>
                <a:srgbClr val="FFFF00"/>
              </a:highlight>
            </a:endParaRPr>
          </a:p>
        </p:txBody>
      </p:sp>
      <p:sp>
        <p:nvSpPr>
          <p:cNvPr id="90" name="TextBox 89">
            <a:extLst>
              <a:ext uri="{FF2B5EF4-FFF2-40B4-BE49-F238E27FC236}">
                <a16:creationId xmlns:a16="http://schemas.microsoft.com/office/drawing/2014/main" id="{0431EBFB-A607-18D3-FDDE-B9E1932CA3A1}"/>
              </a:ext>
            </a:extLst>
          </p:cNvPr>
          <p:cNvSpPr txBox="1"/>
          <p:nvPr/>
        </p:nvSpPr>
        <p:spPr>
          <a:xfrm rot="1502140">
            <a:off x="5898100" y="2791853"/>
            <a:ext cx="685044" cy="369332"/>
          </a:xfrm>
          <a:prstGeom prst="rect">
            <a:avLst/>
          </a:prstGeom>
          <a:noFill/>
        </p:spPr>
        <p:txBody>
          <a:bodyPr wrap="square" rtlCol="0">
            <a:spAutoFit/>
          </a:bodyPr>
          <a:lstStyle/>
          <a:p>
            <a:r>
              <a:rPr lang="en-US">
                <a:highlight>
                  <a:srgbClr val="FFFF00"/>
                </a:highlight>
              </a:rPr>
              <a:t>182</a:t>
            </a:r>
          </a:p>
        </p:txBody>
      </p:sp>
      <p:grpSp>
        <p:nvGrpSpPr>
          <p:cNvPr id="97" name="Group 96">
            <a:extLst>
              <a:ext uri="{FF2B5EF4-FFF2-40B4-BE49-F238E27FC236}">
                <a16:creationId xmlns:a16="http://schemas.microsoft.com/office/drawing/2014/main" id="{F4004B6C-7D35-55CE-39C4-C0FF094EC79C}"/>
              </a:ext>
            </a:extLst>
          </p:cNvPr>
          <p:cNvGrpSpPr/>
          <p:nvPr/>
        </p:nvGrpSpPr>
        <p:grpSpPr>
          <a:xfrm>
            <a:off x="10452129" y="3664613"/>
            <a:ext cx="1374562" cy="2111466"/>
            <a:chOff x="10157096" y="287383"/>
            <a:chExt cx="1749698" cy="3175149"/>
          </a:xfrm>
        </p:grpSpPr>
        <p:sp>
          <p:nvSpPr>
            <p:cNvPr id="98" name="Rectangle 97">
              <a:extLst>
                <a:ext uri="{FF2B5EF4-FFF2-40B4-BE49-F238E27FC236}">
                  <a16:creationId xmlns:a16="http://schemas.microsoft.com/office/drawing/2014/main" id="{6C09F604-BAFD-323F-3559-B3FB4B8A8643}"/>
                </a:ext>
              </a:extLst>
            </p:cNvPr>
            <p:cNvSpPr/>
            <p:nvPr/>
          </p:nvSpPr>
          <p:spPr>
            <a:xfrm>
              <a:off x="10157096" y="787400"/>
              <a:ext cx="460104" cy="349250"/>
            </a:xfrm>
            <a:prstGeom prst="rect">
              <a:avLst/>
            </a:prstGeom>
            <a:solidFill>
              <a:srgbClr val="D9E1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9" name="Rectangle 98">
              <a:extLst>
                <a:ext uri="{FF2B5EF4-FFF2-40B4-BE49-F238E27FC236}">
                  <a16:creationId xmlns:a16="http://schemas.microsoft.com/office/drawing/2014/main" id="{1D271CB6-936D-ABC3-D687-EB8A106A0F21}"/>
                </a:ext>
              </a:extLst>
            </p:cNvPr>
            <p:cNvSpPr/>
            <p:nvPr/>
          </p:nvSpPr>
          <p:spPr>
            <a:xfrm>
              <a:off x="10193381" y="2416680"/>
              <a:ext cx="405675" cy="43170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0" name="TextBox 99">
              <a:extLst>
                <a:ext uri="{FF2B5EF4-FFF2-40B4-BE49-F238E27FC236}">
                  <a16:creationId xmlns:a16="http://schemas.microsoft.com/office/drawing/2014/main" id="{72919F83-B0F7-46D3-4B05-A6E1D291E2A4}"/>
                </a:ext>
              </a:extLst>
            </p:cNvPr>
            <p:cNvSpPr txBox="1"/>
            <p:nvPr/>
          </p:nvSpPr>
          <p:spPr>
            <a:xfrm>
              <a:off x="10784839" y="2373219"/>
              <a:ext cx="974167" cy="276999"/>
            </a:xfrm>
            <a:prstGeom prst="rect">
              <a:avLst/>
            </a:prstGeom>
            <a:noFill/>
          </p:spPr>
          <p:txBody>
            <a:bodyPr wrap="square" rtlCol="0">
              <a:spAutoFit/>
            </a:bodyPr>
            <a:lstStyle/>
            <a:p>
              <a:r>
                <a:rPr lang="en-US" sz="1200" err="1"/>
                <a:t>Ntap;id</a:t>
              </a:r>
              <a:endParaRPr lang="en-US" sz="1200"/>
            </a:p>
          </p:txBody>
        </p:sp>
        <p:sp>
          <p:nvSpPr>
            <p:cNvPr id="101" name="Rectangle 100">
              <a:extLst>
                <a:ext uri="{FF2B5EF4-FFF2-40B4-BE49-F238E27FC236}">
                  <a16:creationId xmlns:a16="http://schemas.microsoft.com/office/drawing/2014/main" id="{276DAD39-82D5-EEE9-019E-4835690F9FF1}"/>
                </a:ext>
              </a:extLst>
            </p:cNvPr>
            <p:cNvSpPr/>
            <p:nvPr/>
          </p:nvSpPr>
          <p:spPr>
            <a:xfrm>
              <a:off x="10220596" y="3030823"/>
              <a:ext cx="405675" cy="431709"/>
            </a:xfrm>
            <a:prstGeom prst="rect">
              <a:avLst/>
            </a:prstGeom>
            <a:noFill/>
            <a:ln w="38100">
              <a:solidFill>
                <a:srgbClr val="00B0F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2" name="TextBox 101">
              <a:extLst>
                <a:ext uri="{FF2B5EF4-FFF2-40B4-BE49-F238E27FC236}">
                  <a16:creationId xmlns:a16="http://schemas.microsoft.com/office/drawing/2014/main" id="{7FE5DEFA-EB50-3166-8232-54637999A305}"/>
                </a:ext>
              </a:extLst>
            </p:cNvPr>
            <p:cNvSpPr txBox="1"/>
            <p:nvPr/>
          </p:nvSpPr>
          <p:spPr>
            <a:xfrm>
              <a:off x="10798499" y="2937595"/>
              <a:ext cx="941503" cy="276999"/>
            </a:xfrm>
            <a:prstGeom prst="rect">
              <a:avLst/>
            </a:prstGeom>
            <a:noFill/>
          </p:spPr>
          <p:txBody>
            <a:bodyPr wrap="square" rtlCol="0">
              <a:spAutoFit/>
            </a:bodyPr>
            <a:lstStyle/>
            <a:p>
              <a:r>
                <a:rPr lang="en-US" sz="1200" err="1"/>
                <a:t>Ptap;id</a:t>
              </a:r>
              <a:endParaRPr lang="en-US" sz="1200"/>
            </a:p>
          </p:txBody>
        </p:sp>
        <p:sp>
          <p:nvSpPr>
            <p:cNvPr id="103" name="Rectangle 102">
              <a:extLst>
                <a:ext uri="{FF2B5EF4-FFF2-40B4-BE49-F238E27FC236}">
                  <a16:creationId xmlns:a16="http://schemas.microsoft.com/office/drawing/2014/main" id="{7B6BBB3F-A48F-966D-D443-18D0FBF8F664}"/>
                </a:ext>
              </a:extLst>
            </p:cNvPr>
            <p:cNvSpPr/>
            <p:nvPr/>
          </p:nvSpPr>
          <p:spPr>
            <a:xfrm>
              <a:off x="10166167" y="1372454"/>
              <a:ext cx="460104" cy="34925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4" name="Rectangle 103">
              <a:extLst>
                <a:ext uri="{FF2B5EF4-FFF2-40B4-BE49-F238E27FC236}">
                  <a16:creationId xmlns:a16="http://schemas.microsoft.com/office/drawing/2014/main" id="{88EE5F37-6CB8-0EB7-7EA0-002309657A5F}"/>
                </a:ext>
              </a:extLst>
            </p:cNvPr>
            <p:cNvSpPr/>
            <p:nvPr/>
          </p:nvSpPr>
          <p:spPr>
            <a:xfrm>
              <a:off x="10166167" y="1884557"/>
              <a:ext cx="460104" cy="349250"/>
            </a:xfrm>
            <a:prstGeom prst="rect">
              <a:avLst/>
            </a:prstGeom>
            <a:solidFill>
              <a:srgbClr val="E096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5" name="TextBox 104">
              <a:extLst>
                <a:ext uri="{FF2B5EF4-FFF2-40B4-BE49-F238E27FC236}">
                  <a16:creationId xmlns:a16="http://schemas.microsoft.com/office/drawing/2014/main" id="{F5A6B8B7-652D-2DA3-C831-AA8C804B14FA}"/>
                </a:ext>
              </a:extLst>
            </p:cNvPr>
            <p:cNvSpPr txBox="1"/>
            <p:nvPr/>
          </p:nvSpPr>
          <p:spPr>
            <a:xfrm>
              <a:off x="10760167" y="807482"/>
              <a:ext cx="849085" cy="276999"/>
            </a:xfrm>
            <a:prstGeom prst="rect">
              <a:avLst/>
            </a:prstGeom>
            <a:noFill/>
          </p:spPr>
          <p:txBody>
            <a:bodyPr wrap="square" rtlCol="0">
              <a:spAutoFit/>
            </a:bodyPr>
            <a:lstStyle/>
            <a:p>
              <a:r>
                <a:rPr lang="en-US" sz="1200" err="1"/>
                <a:t>nwell</a:t>
              </a:r>
              <a:endParaRPr lang="en-US" sz="1200"/>
            </a:p>
          </p:txBody>
        </p:sp>
        <p:sp>
          <p:nvSpPr>
            <p:cNvPr id="106" name="TextBox 105">
              <a:extLst>
                <a:ext uri="{FF2B5EF4-FFF2-40B4-BE49-F238E27FC236}">
                  <a16:creationId xmlns:a16="http://schemas.microsoft.com/office/drawing/2014/main" id="{11F52919-6050-6995-C0C8-0D2E49C4692A}"/>
                </a:ext>
              </a:extLst>
            </p:cNvPr>
            <p:cNvSpPr txBox="1"/>
            <p:nvPr/>
          </p:nvSpPr>
          <p:spPr>
            <a:xfrm>
              <a:off x="10753635" y="1332825"/>
              <a:ext cx="1153159" cy="416541"/>
            </a:xfrm>
            <a:prstGeom prst="rect">
              <a:avLst/>
            </a:prstGeom>
            <a:noFill/>
          </p:spPr>
          <p:txBody>
            <a:bodyPr wrap="square" rtlCol="0">
              <a:spAutoFit/>
            </a:bodyPr>
            <a:lstStyle/>
            <a:p>
              <a:r>
                <a:rPr lang="en-US" sz="1200" err="1"/>
                <a:t>ndiff</a:t>
              </a:r>
              <a:r>
                <a:rPr lang="en-US" sz="1200"/>
                <a:t> (fill)</a:t>
              </a:r>
            </a:p>
          </p:txBody>
        </p:sp>
        <p:sp>
          <p:nvSpPr>
            <p:cNvPr id="107" name="TextBox 106">
              <a:extLst>
                <a:ext uri="{FF2B5EF4-FFF2-40B4-BE49-F238E27FC236}">
                  <a16:creationId xmlns:a16="http://schemas.microsoft.com/office/drawing/2014/main" id="{B45FEA11-716C-623B-D8F6-4353EE69619D}"/>
                </a:ext>
              </a:extLst>
            </p:cNvPr>
            <p:cNvSpPr txBox="1"/>
            <p:nvPr/>
          </p:nvSpPr>
          <p:spPr>
            <a:xfrm>
              <a:off x="10792564" y="1794614"/>
              <a:ext cx="1066564" cy="416541"/>
            </a:xfrm>
            <a:prstGeom prst="rect">
              <a:avLst/>
            </a:prstGeom>
            <a:noFill/>
          </p:spPr>
          <p:txBody>
            <a:bodyPr wrap="square" rtlCol="0">
              <a:spAutoFit/>
            </a:bodyPr>
            <a:lstStyle/>
            <a:p>
              <a:r>
                <a:rPr lang="en-US" sz="1200" err="1"/>
                <a:t>Pdiff</a:t>
              </a:r>
              <a:r>
                <a:rPr lang="en-US" sz="1200"/>
                <a:t> (fill)</a:t>
              </a:r>
            </a:p>
          </p:txBody>
        </p:sp>
        <p:sp>
          <p:nvSpPr>
            <p:cNvPr id="108" name="Rectangle 107">
              <a:extLst>
                <a:ext uri="{FF2B5EF4-FFF2-40B4-BE49-F238E27FC236}">
                  <a16:creationId xmlns:a16="http://schemas.microsoft.com/office/drawing/2014/main" id="{D688DE4E-6B80-EC8E-6430-901139B3901E}"/>
                </a:ext>
              </a:extLst>
            </p:cNvPr>
            <p:cNvSpPr/>
            <p:nvPr/>
          </p:nvSpPr>
          <p:spPr>
            <a:xfrm>
              <a:off x="10166167" y="303286"/>
              <a:ext cx="460104" cy="349250"/>
            </a:xfrm>
            <a:prstGeom prst="rect">
              <a:avLst/>
            </a:prstGeom>
            <a:solidFill>
              <a:srgbClr val="FBE3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9" name="TextBox 108">
              <a:extLst>
                <a:ext uri="{FF2B5EF4-FFF2-40B4-BE49-F238E27FC236}">
                  <a16:creationId xmlns:a16="http://schemas.microsoft.com/office/drawing/2014/main" id="{2ECBE5E7-4ED9-E56E-B870-6C48B447C361}"/>
                </a:ext>
              </a:extLst>
            </p:cNvPr>
            <p:cNvSpPr txBox="1"/>
            <p:nvPr/>
          </p:nvSpPr>
          <p:spPr>
            <a:xfrm>
              <a:off x="10746843" y="287383"/>
              <a:ext cx="1159951" cy="416541"/>
            </a:xfrm>
            <a:prstGeom prst="rect">
              <a:avLst/>
            </a:prstGeom>
            <a:noFill/>
          </p:spPr>
          <p:txBody>
            <a:bodyPr wrap="square" rtlCol="0">
              <a:spAutoFit/>
            </a:bodyPr>
            <a:lstStyle/>
            <a:p>
              <a:r>
                <a:rPr lang="en-US" sz="1200"/>
                <a:t>TRM</a:t>
              </a:r>
            </a:p>
          </p:txBody>
        </p:sp>
      </p:grpSp>
      <p:sp>
        <p:nvSpPr>
          <p:cNvPr id="110" name="Rectangle 109">
            <a:extLst>
              <a:ext uri="{FF2B5EF4-FFF2-40B4-BE49-F238E27FC236}">
                <a16:creationId xmlns:a16="http://schemas.microsoft.com/office/drawing/2014/main" id="{EBA8F59A-63AA-1DF1-D22F-AE363CA960DE}"/>
              </a:ext>
            </a:extLst>
          </p:cNvPr>
          <p:cNvSpPr/>
          <p:nvPr/>
        </p:nvSpPr>
        <p:spPr>
          <a:xfrm>
            <a:off x="10489543" y="5918358"/>
            <a:ext cx="357819" cy="250134"/>
          </a:xfrm>
          <a:prstGeom prst="rect">
            <a:avLst/>
          </a:prstGeom>
          <a:pattFill prst="pct60">
            <a:fgClr>
              <a:srgbClr val="00B05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TextBox 110">
            <a:extLst>
              <a:ext uri="{FF2B5EF4-FFF2-40B4-BE49-F238E27FC236}">
                <a16:creationId xmlns:a16="http://schemas.microsoft.com/office/drawing/2014/main" id="{3F54376B-0CE9-9B94-F001-0BF7625554D5}"/>
              </a:ext>
            </a:extLst>
          </p:cNvPr>
          <p:cNvSpPr txBox="1"/>
          <p:nvPr/>
        </p:nvSpPr>
        <p:spPr>
          <a:xfrm>
            <a:off x="10981789" y="5855845"/>
            <a:ext cx="1128142" cy="276999"/>
          </a:xfrm>
          <a:prstGeom prst="rect">
            <a:avLst/>
          </a:prstGeom>
          <a:noFill/>
        </p:spPr>
        <p:txBody>
          <a:bodyPr wrap="square" rtlCol="0">
            <a:spAutoFit/>
          </a:bodyPr>
          <a:lstStyle/>
          <a:p>
            <a:r>
              <a:rPr lang="en-US" sz="1200" err="1"/>
              <a:t>ndiff</a:t>
            </a:r>
            <a:r>
              <a:rPr lang="en-US" sz="1200"/>
              <a:t> (active)</a:t>
            </a:r>
          </a:p>
        </p:txBody>
      </p:sp>
      <p:sp>
        <p:nvSpPr>
          <p:cNvPr id="112" name="Rectangle 111">
            <a:extLst>
              <a:ext uri="{FF2B5EF4-FFF2-40B4-BE49-F238E27FC236}">
                <a16:creationId xmlns:a16="http://schemas.microsoft.com/office/drawing/2014/main" id="{BBEDC637-254F-A648-BBBB-4D2BF09687FA}"/>
              </a:ext>
            </a:extLst>
          </p:cNvPr>
          <p:cNvSpPr/>
          <p:nvPr/>
        </p:nvSpPr>
        <p:spPr>
          <a:xfrm>
            <a:off x="10484045" y="6344031"/>
            <a:ext cx="357818" cy="285321"/>
          </a:xfrm>
          <a:prstGeom prst="rect">
            <a:avLst/>
          </a:prstGeom>
          <a:pattFill prst="pct30">
            <a:fgClr>
              <a:srgbClr val="E096D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41014FC5-2F05-8008-907A-F1FAD4C7313D}"/>
              </a:ext>
            </a:extLst>
          </p:cNvPr>
          <p:cNvSpPr txBox="1"/>
          <p:nvPr/>
        </p:nvSpPr>
        <p:spPr>
          <a:xfrm>
            <a:off x="10981789" y="6280560"/>
            <a:ext cx="1128142" cy="276999"/>
          </a:xfrm>
          <a:prstGeom prst="rect">
            <a:avLst/>
          </a:prstGeom>
          <a:noFill/>
        </p:spPr>
        <p:txBody>
          <a:bodyPr wrap="square" rtlCol="0">
            <a:spAutoFit/>
          </a:bodyPr>
          <a:lstStyle/>
          <a:p>
            <a:r>
              <a:rPr lang="en-US" sz="1200" err="1"/>
              <a:t>pdiff</a:t>
            </a:r>
            <a:r>
              <a:rPr lang="en-US" sz="1200"/>
              <a:t> (active)</a:t>
            </a:r>
          </a:p>
        </p:txBody>
      </p:sp>
      <p:sp>
        <p:nvSpPr>
          <p:cNvPr id="6" name="Rectangle 5">
            <a:extLst>
              <a:ext uri="{FF2B5EF4-FFF2-40B4-BE49-F238E27FC236}">
                <a16:creationId xmlns:a16="http://schemas.microsoft.com/office/drawing/2014/main" id="{721017E6-9614-B81A-B7BD-B63F56541176}"/>
              </a:ext>
            </a:extLst>
          </p:cNvPr>
          <p:cNvSpPr/>
          <p:nvPr/>
        </p:nvSpPr>
        <p:spPr>
          <a:xfrm>
            <a:off x="3778672" y="1865284"/>
            <a:ext cx="2817222" cy="597835"/>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6954567-3630-660F-5E58-5EC6B2040ABD}"/>
              </a:ext>
            </a:extLst>
          </p:cNvPr>
          <p:cNvSpPr/>
          <p:nvPr/>
        </p:nvSpPr>
        <p:spPr>
          <a:xfrm>
            <a:off x="3722622" y="3523274"/>
            <a:ext cx="1875184" cy="58074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FC8C6C-8898-EBFF-C76B-9CC4FC0967C4}"/>
              </a:ext>
            </a:extLst>
          </p:cNvPr>
          <p:cNvSpPr/>
          <p:nvPr/>
        </p:nvSpPr>
        <p:spPr>
          <a:xfrm>
            <a:off x="8166739" y="2874287"/>
            <a:ext cx="1870510" cy="58074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366FCA-E902-35ED-38B3-2410B9FEBD88}"/>
              </a:ext>
            </a:extLst>
          </p:cNvPr>
          <p:cNvSpPr/>
          <p:nvPr/>
        </p:nvSpPr>
        <p:spPr>
          <a:xfrm>
            <a:off x="10459255" y="3307502"/>
            <a:ext cx="361458" cy="232250"/>
          </a:xfrm>
          <a:prstGeom prst="rect">
            <a:avLst/>
          </a:prstGeom>
          <a:solidFill>
            <a:srgbClr val="AEAEA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TextBox 23">
            <a:extLst>
              <a:ext uri="{FF2B5EF4-FFF2-40B4-BE49-F238E27FC236}">
                <a16:creationId xmlns:a16="http://schemas.microsoft.com/office/drawing/2014/main" id="{E34F455A-D404-87ED-3378-2E6A471D27AF}"/>
              </a:ext>
            </a:extLst>
          </p:cNvPr>
          <p:cNvSpPr txBox="1"/>
          <p:nvPr/>
        </p:nvSpPr>
        <p:spPr>
          <a:xfrm>
            <a:off x="10945284" y="3314262"/>
            <a:ext cx="911257" cy="276999"/>
          </a:xfrm>
          <a:prstGeom prst="rect">
            <a:avLst/>
          </a:prstGeom>
          <a:noFill/>
        </p:spPr>
        <p:txBody>
          <a:bodyPr wrap="square" rtlCol="0">
            <a:spAutoFit/>
          </a:bodyPr>
          <a:lstStyle/>
          <a:p>
            <a:r>
              <a:rPr lang="en-US" sz="1200"/>
              <a:t>Fin</a:t>
            </a:r>
          </a:p>
        </p:txBody>
      </p:sp>
      <p:cxnSp>
        <p:nvCxnSpPr>
          <p:cNvPr id="26" name="Straight Arrow Connector 25">
            <a:extLst>
              <a:ext uri="{FF2B5EF4-FFF2-40B4-BE49-F238E27FC236}">
                <a16:creationId xmlns:a16="http://schemas.microsoft.com/office/drawing/2014/main" id="{991C5C94-6733-D4B8-52CA-CF8533447B72}"/>
              </a:ext>
            </a:extLst>
          </p:cNvPr>
          <p:cNvCxnSpPr>
            <a:stCxn id="49" idx="0"/>
          </p:cNvCxnSpPr>
          <p:nvPr/>
        </p:nvCxnSpPr>
        <p:spPr>
          <a:xfrm flipH="1">
            <a:off x="4707436" y="1635486"/>
            <a:ext cx="1" cy="2297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61431B5E-FEF1-3AB6-CCA9-1A8C418BCC6E}"/>
              </a:ext>
            </a:extLst>
          </p:cNvPr>
          <p:cNvSpPr txBox="1"/>
          <p:nvPr/>
        </p:nvSpPr>
        <p:spPr>
          <a:xfrm>
            <a:off x="4787900" y="1575205"/>
            <a:ext cx="290058" cy="369332"/>
          </a:xfrm>
          <a:prstGeom prst="rect">
            <a:avLst/>
          </a:prstGeom>
          <a:noFill/>
        </p:spPr>
        <p:txBody>
          <a:bodyPr wrap="square" rtlCol="0">
            <a:spAutoFit/>
          </a:bodyPr>
          <a:lstStyle/>
          <a:p>
            <a:r>
              <a:rPr lang="en-US"/>
              <a:t>7</a:t>
            </a:r>
          </a:p>
        </p:txBody>
      </p:sp>
      <p:cxnSp>
        <p:nvCxnSpPr>
          <p:cNvPr id="28" name="Straight Arrow Connector 27">
            <a:extLst>
              <a:ext uri="{FF2B5EF4-FFF2-40B4-BE49-F238E27FC236}">
                <a16:creationId xmlns:a16="http://schemas.microsoft.com/office/drawing/2014/main" id="{D2DC79BC-01DE-79A3-410A-070DA1ABBDD1}"/>
              </a:ext>
            </a:extLst>
          </p:cNvPr>
          <p:cNvCxnSpPr/>
          <p:nvPr/>
        </p:nvCxnSpPr>
        <p:spPr>
          <a:xfrm flipH="1">
            <a:off x="4682077" y="2454717"/>
            <a:ext cx="1" cy="229799"/>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3B49DF6-5717-A724-E6EC-4628455D223F}"/>
              </a:ext>
            </a:extLst>
          </p:cNvPr>
          <p:cNvSpPr txBox="1"/>
          <p:nvPr/>
        </p:nvSpPr>
        <p:spPr>
          <a:xfrm>
            <a:off x="4691921" y="2424022"/>
            <a:ext cx="290058" cy="369332"/>
          </a:xfrm>
          <a:prstGeom prst="rect">
            <a:avLst/>
          </a:prstGeom>
          <a:noFill/>
        </p:spPr>
        <p:txBody>
          <a:bodyPr wrap="square" rtlCol="0">
            <a:spAutoFit/>
          </a:bodyPr>
          <a:lstStyle/>
          <a:p>
            <a:r>
              <a:rPr lang="en-US"/>
              <a:t>7</a:t>
            </a:r>
          </a:p>
        </p:txBody>
      </p:sp>
      <p:cxnSp>
        <p:nvCxnSpPr>
          <p:cNvPr id="25" name="Straight Connector 24">
            <a:extLst>
              <a:ext uri="{FF2B5EF4-FFF2-40B4-BE49-F238E27FC236}">
                <a16:creationId xmlns:a16="http://schemas.microsoft.com/office/drawing/2014/main" id="{30D7CCD6-D916-735E-16FA-9A96A4FC7160}"/>
              </a:ext>
            </a:extLst>
          </p:cNvPr>
          <p:cNvCxnSpPr/>
          <p:nvPr/>
        </p:nvCxnSpPr>
        <p:spPr>
          <a:xfrm>
            <a:off x="6452865" y="793164"/>
            <a:ext cx="0" cy="3135086"/>
          </a:xfrm>
          <a:prstGeom prst="line">
            <a:avLst/>
          </a:prstGeom>
          <a:ln>
            <a:solidFill>
              <a:srgbClr val="000000"/>
            </a:solidFill>
            <a:prstDash val="lgDash"/>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9A6EFD4-CBF6-7177-1AA2-E83B2C576585}"/>
              </a:ext>
            </a:extLst>
          </p:cNvPr>
          <p:cNvCxnSpPr/>
          <p:nvPr/>
        </p:nvCxnSpPr>
        <p:spPr>
          <a:xfrm>
            <a:off x="6210003" y="793164"/>
            <a:ext cx="0" cy="3135086"/>
          </a:xfrm>
          <a:prstGeom prst="line">
            <a:avLst/>
          </a:prstGeom>
          <a:ln>
            <a:solidFill>
              <a:srgbClr val="000000"/>
            </a:solidFill>
            <a:prstDash val="lg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7EF73F23-6BF5-E834-9953-AEBB4E25E880}"/>
              </a:ext>
            </a:extLst>
          </p:cNvPr>
          <p:cNvCxnSpPr>
            <a:cxnSpLocks/>
          </p:cNvCxnSpPr>
          <p:nvPr/>
        </p:nvCxnSpPr>
        <p:spPr>
          <a:xfrm>
            <a:off x="10547683" y="2555311"/>
            <a:ext cx="0" cy="575616"/>
          </a:xfrm>
          <a:prstGeom prst="line">
            <a:avLst/>
          </a:prstGeom>
          <a:ln>
            <a:solidFill>
              <a:srgbClr val="000000"/>
            </a:solidFill>
            <a:prstDash val="lgDash"/>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C824E4F-7655-6645-A129-F2648D54A3E4}"/>
              </a:ext>
            </a:extLst>
          </p:cNvPr>
          <p:cNvSpPr/>
          <p:nvPr/>
        </p:nvSpPr>
        <p:spPr>
          <a:xfrm>
            <a:off x="5630066" y="1575205"/>
            <a:ext cx="187436" cy="1260626"/>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944DF5CF-BE25-15BB-E663-C680721FE171}"/>
              </a:ext>
            </a:extLst>
          </p:cNvPr>
          <p:cNvCxnSpPr>
            <a:cxnSpLocks/>
          </p:cNvCxnSpPr>
          <p:nvPr/>
        </p:nvCxnSpPr>
        <p:spPr>
          <a:xfrm>
            <a:off x="5619927" y="2700213"/>
            <a:ext cx="1089336" cy="275908"/>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D69EBB0-7E74-B52A-092C-C0E701D84077}"/>
              </a:ext>
            </a:extLst>
          </p:cNvPr>
          <p:cNvCxnSpPr/>
          <p:nvPr/>
        </p:nvCxnSpPr>
        <p:spPr>
          <a:xfrm>
            <a:off x="5720820" y="796791"/>
            <a:ext cx="0" cy="3135086"/>
          </a:xfrm>
          <a:prstGeom prst="line">
            <a:avLst/>
          </a:prstGeom>
          <a:ln>
            <a:solidFill>
              <a:srgbClr val="000000"/>
            </a:solidFill>
            <a:prstDash val="lgDash"/>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D88ECB9E-042B-78F8-58D4-042452A82FAD}"/>
              </a:ext>
            </a:extLst>
          </p:cNvPr>
          <p:cNvSpPr txBox="1"/>
          <p:nvPr/>
        </p:nvSpPr>
        <p:spPr>
          <a:xfrm>
            <a:off x="10632858" y="2722639"/>
            <a:ext cx="1194494" cy="461665"/>
          </a:xfrm>
          <a:prstGeom prst="rect">
            <a:avLst/>
          </a:prstGeom>
          <a:noFill/>
        </p:spPr>
        <p:txBody>
          <a:bodyPr wrap="square" rtlCol="0">
            <a:spAutoFit/>
          </a:bodyPr>
          <a:lstStyle/>
          <a:p>
            <a:r>
              <a:rPr lang="en-US" sz="1200"/>
              <a:t>Ply track center</a:t>
            </a:r>
          </a:p>
        </p:txBody>
      </p:sp>
      <p:cxnSp>
        <p:nvCxnSpPr>
          <p:cNvPr id="52" name="Straight Arrow Connector 51">
            <a:extLst>
              <a:ext uri="{FF2B5EF4-FFF2-40B4-BE49-F238E27FC236}">
                <a16:creationId xmlns:a16="http://schemas.microsoft.com/office/drawing/2014/main" id="{61D34543-9D01-D3F1-7094-5F19778B6F25}"/>
              </a:ext>
            </a:extLst>
          </p:cNvPr>
          <p:cNvCxnSpPr>
            <a:cxnSpLocks/>
          </p:cNvCxnSpPr>
          <p:nvPr/>
        </p:nvCxnSpPr>
        <p:spPr>
          <a:xfrm flipH="1">
            <a:off x="5720820" y="1694280"/>
            <a:ext cx="967145" cy="0"/>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C571F866-7567-511A-CE18-D3C866EF7785}"/>
              </a:ext>
            </a:extLst>
          </p:cNvPr>
          <p:cNvSpPr txBox="1"/>
          <p:nvPr/>
        </p:nvSpPr>
        <p:spPr>
          <a:xfrm>
            <a:off x="4983862" y="3002588"/>
            <a:ext cx="452357" cy="369332"/>
          </a:xfrm>
          <a:prstGeom prst="rect">
            <a:avLst/>
          </a:prstGeom>
          <a:noFill/>
        </p:spPr>
        <p:txBody>
          <a:bodyPr wrap="square" rtlCol="0">
            <a:spAutoFit/>
          </a:bodyPr>
          <a:lstStyle/>
          <a:p>
            <a:r>
              <a:rPr lang="en-US"/>
              <a:t>10</a:t>
            </a:r>
          </a:p>
        </p:txBody>
      </p:sp>
      <p:sp>
        <p:nvSpPr>
          <p:cNvPr id="53" name="Rectangle 52">
            <a:extLst>
              <a:ext uri="{FF2B5EF4-FFF2-40B4-BE49-F238E27FC236}">
                <a16:creationId xmlns:a16="http://schemas.microsoft.com/office/drawing/2014/main" id="{69459EA9-8E79-2069-1945-C60966006213}"/>
              </a:ext>
            </a:extLst>
          </p:cNvPr>
          <p:cNvSpPr/>
          <p:nvPr/>
        </p:nvSpPr>
        <p:spPr>
          <a:xfrm>
            <a:off x="10407287" y="2064427"/>
            <a:ext cx="361458" cy="232250"/>
          </a:xfrm>
          <a:prstGeom prst="rect">
            <a:avLst/>
          </a:prstGeom>
          <a:solidFill>
            <a:srgbClr val="D1D1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54" name="TextBox 53">
            <a:extLst>
              <a:ext uri="{FF2B5EF4-FFF2-40B4-BE49-F238E27FC236}">
                <a16:creationId xmlns:a16="http://schemas.microsoft.com/office/drawing/2014/main" id="{F08FD8E3-A8FD-F11A-591D-83A0D2F5DB41}"/>
              </a:ext>
            </a:extLst>
          </p:cNvPr>
          <p:cNvSpPr txBox="1"/>
          <p:nvPr/>
        </p:nvSpPr>
        <p:spPr>
          <a:xfrm>
            <a:off x="10870208" y="2014481"/>
            <a:ext cx="911257" cy="276999"/>
          </a:xfrm>
          <a:prstGeom prst="rect">
            <a:avLst/>
          </a:prstGeom>
          <a:noFill/>
        </p:spPr>
        <p:txBody>
          <a:bodyPr wrap="square" rtlCol="0">
            <a:spAutoFit/>
          </a:bodyPr>
          <a:lstStyle/>
          <a:p>
            <a:r>
              <a:rPr lang="en-US" sz="1200"/>
              <a:t>FTI</a:t>
            </a:r>
          </a:p>
        </p:txBody>
      </p:sp>
      <p:sp>
        <p:nvSpPr>
          <p:cNvPr id="14" name="Rectangle 13">
            <a:extLst>
              <a:ext uri="{FF2B5EF4-FFF2-40B4-BE49-F238E27FC236}">
                <a16:creationId xmlns:a16="http://schemas.microsoft.com/office/drawing/2014/main" id="{BE2E97E5-84B9-0731-719C-2C2EE07CD1C0}"/>
              </a:ext>
            </a:extLst>
          </p:cNvPr>
          <p:cNvSpPr/>
          <p:nvPr/>
        </p:nvSpPr>
        <p:spPr>
          <a:xfrm>
            <a:off x="68423" y="3393425"/>
            <a:ext cx="1877791" cy="1066284"/>
          </a:xfrm>
          <a:prstGeom prst="rect">
            <a:avLst/>
          </a:prstGeom>
          <a:pattFill prst="pct60">
            <a:fgClr>
              <a:srgbClr val="00B050"/>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05C7DAB-CE80-5C4B-A5D2-35D223F6F555}"/>
              </a:ext>
            </a:extLst>
          </p:cNvPr>
          <p:cNvSpPr/>
          <p:nvPr/>
        </p:nvSpPr>
        <p:spPr>
          <a:xfrm>
            <a:off x="71030" y="3646039"/>
            <a:ext cx="1875184" cy="580742"/>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C6A5B550-3B4A-C953-AD4A-2871CE95DF23}"/>
              </a:ext>
            </a:extLst>
          </p:cNvPr>
          <p:cNvCxnSpPr>
            <a:cxnSpLocks/>
          </p:cNvCxnSpPr>
          <p:nvPr/>
        </p:nvCxnSpPr>
        <p:spPr>
          <a:xfrm flipV="1">
            <a:off x="1932669" y="2989851"/>
            <a:ext cx="1144724" cy="405981"/>
          </a:xfrm>
          <a:prstGeom prst="straightConnector1">
            <a:avLst/>
          </a:prstGeom>
          <a:ln w="38100">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95E70A5-D3A7-19B5-20B4-3E8F33AE9A9A}"/>
              </a:ext>
            </a:extLst>
          </p:cNvPr>
          <p:cNvSpPr txBox="1"/>
          <p:nvPr/>
        </p:nvSpPr>
        <p:spPr>
          <a:xfrm>
            <a:off x="2119526" y="2843119"/>
            <a:ext cx="685044" cy="369332"/>
          </a:xfrm>
          <a:prstGeom prst="rect">
            <a:avLst/>
          </a:prstGeom>
          <a:noFill/>
        </p:spPr>
        <p:txBody>
          <a:bodyPr wrap="square" rtlCol="0">
            <a:spAutoFit/>
          </a:bodyPr>
          <a:lstStyle/>
          <a:p>
            <a:r>
              <a:rPr lang="en-US">
                <a:highlight>
                  <a:srgbClr val="FFFF00"/>
                </a:highlight>
              </a:rPr>
              <a:t>182</a:t>
            </a:r>
          </a:p>
        </p:txBody>
      </p:sp>
      <p:cxnSp>
        <p:nvCxnSpPr>
          <p:cNvPr id="2" name="Straight Connector 1">
            <a:extLst>
              <a:ext uri="{FF2B5EF4-FFF2-40B4-BE49-F238E27FC236}">
                <a16:creationId xmlns:a16="http://schemas.microsoft.com/office/drawing/2014/main" id="{78FF93CE-ED6B-8F07-0B8F-025CE7903303}"/>
              </a:ext>
            </a:extLst>
          </p:cNvPr>
          <p:cNvCxnSpPr/>
          <p:nvPr/>
        </p:nvCxnSpPr>
        <p:spPr>
          <a:xfrm>
            <a:off x="5981403" y="793164"/>
            <a:ext cx="0" cy="3135086"/>
          </a:xfrm>
          <a:prstGeom prst="line">
            <a:avLst/>
          </a:prstGeom>
          <a:ln>
            <a:solidFill>
              <a:srgbClr val="000000"/>
            </a:solidFill>
            <a:prstDash val="lg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2871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B8E9-4414-46EC-0CB2-12C5A8478710}"/>
              </a:ext>
            </a:extLst>
          </p:cNvPr>
          <p:cNvSpPr>
            <a:spLocks noGrp="1"/>
          </p:cNvSpPr>
          <p:nvPr>
            <p:ph type="title"/>
          </p:nvPr>
        </p:nvSpPr>
        <p:spPr>
          <a:xfrm>
            <a:off x="207948" y="10323"/>
            <a:ext cx="11380801" cy="729790"/>
          </a:xfrm>
        </p:spPr>
        <p:txBody>
          <a:bodyPr/>
          <a:lstStyle/>
          <a:p>
            <a:r>
              <a:rPr lang="en-US" err="1"/>
              <a:t>QuickRAM</a:t>
            </a:r>
            <a:r>
              <a:rPr lang="en-US"/>
              <a:t>(QR) Blocks</a:t>
            </a:r>
          </a:p>
        </p:txBody>
      </p:sp>
      <p:sp>
        <p:nvSpPr>
          <p:cNvPr id="47" name="Rectangle 46">
            <a:extLst>
              <a:ext uri="{FF2B5EF4-FFF2-40B4-BE49-F238E27FC236}">
                <a16:creationId xmlns:a16="http://schemas.microsoft.com/office/drawing/2014/main" id="{B0369123-923E-81DB-76FD-0A412FC47FF4}"/>
              </a:ext>
            </a:extLst>
          </p:cNvPr>
          <p:cNvSpPr/>
          <p:nvPr/>
        </p:nvSpPr>
        <p:spPr>
          <a:xfrm>
            <a:off x="6134914" y="1388501"/>
            <a:ext cx="298057" cy="337517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grpSp>
        <p:nvGrpSpPr>
          <p:cNvPr id="48" name="Group 47">
            <a:extLst>
              <a:ext uri="{FF2B5EF4-FFF2-40B4-BE49-F238E27FC236}">
                <a16:creationId xmlns:a16="http://schemas.microsoft.com/office/drawing/2014/main" id="{4E5F9491-8E0A-8289-14BB-DBD926994778}"/>
              </a:ext>
            </a:extLst>
          </p:cNvPr>
          <p:cNvGrpSpPr/>
          <p:nvPr/>
        </p:nvGrpSpPr>
        <p:grpSpPr>
          <a:xfrm>
            <a:off x="4173563" y="1378333"/>
            <a:ext cx="4237854" cy="3385339"/>
            <a:chOff x="5088551" y="912226"/>
            <a:chExt cx="4237854" cy="3385339"/>
          </a:xfrm>
        </p:grpSpPr>
        <p:sp>
          <p:nvSpPr>
            <p:cNvPr id="49" name="Rectangle 48">
              <a:extLst>
                <a:ext uri="{FF2B5EF4-FFF2-40B4-BE49-F238E27FC236}">
                  <a16:creationId xmlns:a16="http://schemas.microsoft.com/office/drawing/2014/main" id="{D461FA8B-87C8-3DB1-65E6-D3423E1A43B9}"/>
                </a:ext>
              </a:extLst>
            </p:cNvPr>
            <p:cNvSpPr/>
            <p:nvPr/>
          </p:nvSpPr>
          <p:spPr>
            <a:xfrm>
              <a:off x="5188363" y="912227"/>
              <a:ext cx="297359" cy="3385338"/>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grpSp>
          <p:nvGrpSpPr>
            <p:cNvPr id="50" name="Group 49">
              <a:extLst>
                <a:ext uri="{FF2B5EF4-FFF2-40B4-BE49-F238E27FC236}">
                  <a16:creationId xmlns:a16="http://schemas.microsoft.com/office/drawing/2014/main" id="{0559CD9A-CF7E-6C40-C0D5-1E0234769ADB}"/>
                </a:ext>
              </a:extLst>
            </p:cNvPr>
            <p:cNvGrpSpPr/>
            <p:nvPr/>
          </p:nvGrpSpPr>
          <p:grpSpPr>
            <a:xfrm>
              <a:off x="5491557" y="1467279"/>
              <a:ext cx="1562112" cy="2495730"/>
              <a:chOff x="6988361" y="826546"/>
              <a:chExt cx="2099429" cy="3225007"/>
            </a:xfrm>
          </p:grpSpPr>
          <p:sp>
            <p:nvSpPr>
              <p:cNvPr id="61" name="Rectangle 60">
                <a:extLst>
                  <a:ext uri="{FF2B5EF4-FFF2-40B4-BE49-F238E27FC236}">
                    <a16:creationId xmlns:a16="http://schemas.microsoft.com/office/drawing/2014/main" id="{E3EF66D1-13CD-86E1-F11D-9D8E592B7EA8}"/>
                  </a:ext>
                </a:extLst>
              </p:cNvPr>
              <p:cNvSpPr/>
              <p:nvPr/>
            </p:nvSpPr>
            <p:spPr>
              <a:xfrm>
                <a:off x="7517633" y="1096719"/>
                <a:ext cx="955643" cy="193445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8B2C4E21-3297-76CA-3758-5986AD0DE0BA}"/>
                  </a:ext>
                </a:extLst>
              </p:cNvPr>
              <p:cNvGrpSpPr/>
              <p:nvPr/>
            </p:nvGrpSpPr>
            <p:grpSpPr>
              <a:xfrm>
                <a:off x="6988361" y="826546"/>
                <a:ext cx="2099429" cy="3225007"/>
                <a:chOff x="415722" y="258550"/>
                <a:chExt cx="2098846" cy="3744471"/>
              </a:xfrm>
            </p:grpSpPr>
            <p:sp>
              <p:nvSpPr>
                <p:cNvPr id="65" name="Rectangle 64">
                  <a:extLst>
                    <a:ext uri="{FF2B5EF4-FFF2-40B4-BE49-F238E27FC236}">
                      <a16:creationId xmlns:a16="http://schemas.microsoft.com/office/drawing/2014/main" id="{E924A0B7-5C4A-878B-5D7F-6C9D56E4A1ED}"/>
                    </a:ext>
                  </a:extLst>
                </p:cNvPr>
                <p:cNvSpPr/>
                <p:nvPr/>
              </p:nvSpPr>
              <p:spPr>
                <a:xfrm>
                  <a:off x="415722" y="3133532"/>
                  <a:ext cx="2098846" cy="869489"/>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6" name="Group 65">
                  <a:extLst>
                    <a:ext uri="{FF2B5EF4-FFF2-40B4-BE49-F238E27FC236}">
                      <a16:creationId xmlns:a16="http://schemas.microsoft.com/office/drawing/2014/main" id="{DD8DA35D-2D14-F612-1AD3-523ECB94F8EA}"/>
                    </a:ext>
                  </a:extLst>
                </p:cNvPr>
                <p:cNvGrpSpPr/>
                <p:nvPr/>
              </p:nvGrpSpPr>
              <p:grpSpPr>
                <a:xfrm>
                  <a:off x="415724" y="258550"/>
                  <a:ext cx="2095383" cy="2871924"/>
                  <a:chOff x="1525433" y="1250519"/>
                  <a:chExt cx="2095383" cy="2871924"/>
                </a:xfrm>
              </p:grpSpPr>
              <p:sp>
                <p:nvSpPr>
                  <p:cNvPr id="67" name="Rectangle 66">
                    <a:extLst>
                      <a:ext uri="{FF2B5EF4-FFF2-40B4-BE49-F238E27FC236}">
                        <a16:creationId xmlns:a16="http://schemas.microsoft.com/office/drawing/2014/main" id="{B9E618BA-8C22-E5BB-B70A-2EA632A7CA88}"/>
                      </a:ext>
                    </a:extLst>
                  </p:cNvPr>
                  <p:cNvSpPr/>
                  <p:nvPr/>
                </p:nvSpPr>
                <p:spPr>
                  <a:xfrm>
                    <a:off x="1525434" y="1563457"/>
                    <a:ext cx="2095382" cy="224605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Rectangle 67">
                    <a:extLst>
                      <a:ext uri="{FF2B5EF4-FFF2-40B4-BE49-F238E27FC236}">
                        <a16:creationId xmlns:a16="http://schemas.microsoft.com/office/drawing/2014/main" id="{AF18D313-F853-8B42-491F-B98A51618318}"/>
                      </a:ext>
                    </a:extLst>
                  </p:cNvPr>
                  <p:cNvSpPr/>
                  <p:nvPr/>
                </p:nvSpPr>
                <p:spPr>
                  <a:xfrm>
                    <a:off x="1525434" y="1250519"/>
                    <a:ext cx="2095381" cy="29924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Rectangle 68">
                    <a:extLst>
                      <a:ext uri="{FF2B5EF4-FFF2-40B4-BE49-F238E27FC236}">
                        <a16:creationId xmlns:a16="http://schemas.microsoft.com/office/drawing/2014/main" id="{808418C6-1F14-0709-745C-BA6BB6CA07CF}"/>
                      </a:ext>
                    </a:extLst>
                  </p:cNvPr>
                  <p:cNvSpPr/>
                  <p:nvPr/>
                </p:nvSpPr>
                <p:spPr>
                  <a:xfrm>
                    <a:off x="1525433" y="3809504"/>
                    <a:ext cx="2095382" cy="3129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63" name="TextBox 62">
                <a:extLst>
                  <a:ext uri="{FF2B5EF4-FFF2-40B4-BE49-F238E27FC236}">
                    <a16:creationId xmlns:a16="http://schemas.microsoft.com/office/drawing/2014/main" id="{560DBF50-2047-72CE-E0A6-47775D8421DC}"/>
                  </a:ext>
                </a:extLst>
              </p:cNvPr>
              <p:cNvSpPr txBox="1"/>
              <p:nvPr/>
            </p:nvSpPr>
            <p:spPr>
              <a:xfrm>
                <a:off x="7830903" y="1810840"/>
                <a:ext cx="522513" cy="369332"/>
              </a:xfrm>
              <a:prstGeom prst="rect">
                <a:avLst/>
              </a:prstGeom>
              <a:noFill/>
            </p:spPr>
            <p:txBody>
              <a:bodyPr wrap="square" rtlCol="0">
                <a:spAutoFit/>
              </a:bodyPr>
              <a:lstStyle/>
              <a:p>
                <a:r>
                  <a:rPr lang="en-US"/>
                  <a:t>1</a:t>
                </a:r>
              </a:p>
            </p:txBody>
          </p:sp>
          <p:sp>
            <p:nvSpPr>
              <p:cNvPr id="64" name="Rectangle 63">
                <a:extLst>
                  <a:ext uri="{FF2B5EF4-FFF2-40B4-BE49-F238E27FC236}">
                    <a16:creationId xmlns:a16="http://schemas.microsoft.com/office/drawing/2014/main" id="{5493A651-AA4D-2CBB-E5B2-931E99968BCC}"/>
                  </a:ext>
                </a:extLst>
              </p:cNvPr>
              <p:cNvSpPr/>
              <p:nvPr/>
            </p:nvSpPr>
            <p:spPr>
              <a:xfrm>
                <a:off x="7586902" y="1102454"/>
                <a:ext cx="817304" cy="19287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1" name="Rectangle 50">
              <a:extLst>
                <a:ext uri="{FF2B5EF4-FFF2-40B4-BE49-F238E27FC236}">
                  <a16:creationId xmlns:a16="http://schemas.microsoft.com/office/drawing/2014/main" id="{B8B1AE15-3466-A893-1AE5-0CFA50A4FAC1}"/>
                </a:ext>
              </a:extLst>
            </p:cNvPr>
            <p:cNvSpPr/>
            <p:nvPr/>
          </p:nvSpPr>
          <p:spPr>
            <a:xfrm>
              <a:off x="8786369" y="912226"/>
              <a:ext cx="302355" cy="338533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cxnSp>
          <p:nvCxnSpPr>
            <p:cNvPr id="52" name="Straight Arrow Connector 51">
              <a:extLst>
                <a:ext uri="{FF2B5EF4-FFF2-40B4-BE49-F238E27FC236}">
                  <a16:creationId xmlns:a16="http://schemas.microsoft.com/office/drawing/2014/main" id="{8716AE2B-93B6-656C-1752-484AD75520B7}"/>
                </a:ext>
              </a:extLst>
            </p:cNvPr>
            <p:cNvCxnSpPr>
              <a:cxnSpLocks/>
            </p:cNvCxnSpPr>
            <p:nvPr/>
          </p:nvCxnSpPr>
          <p:spPr>
            <a:xfrm>
              <a:off x="8792564" y="1594391"/>
              <a:ext cx="289963" cy="638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87BABC4-A57D-FCF6-583A-39E0923C19E2}"/>
                </a:ext>
              </a:extLst>
            </p:cNvPr>
            <p:cNvSpPr txBox="1"/>
            <p:nvPr/>
          </p:nvSpPr>
          <p:spPr>
            <a:xfrm>
              <a:off x="8725111" y="1591246"/>
              <a:ext cx="601294" cy="307777"/>
            </a:xfrm>
            <a:prstGeom prst="rect">
              <a:avLst/>
            </a:prstGeom>
            <a:noFill/>
          </p:spPr>
          <p:txBody>
            <a:bodyPr wrap="square" rtlCol="0">
              <a:spAutoFit/>
            </a:bodyPr>
            <a:lstStyle/>
            <a:p>
              <a:r>
                <a:rPr lang="en-US" sz="1400"/>
                <a:t>3PP</a:t>
              </a:r>
            </a:p>
          </p:txBody>
        </p:sp>
        <p:cxnSp>
          <p:nvCxnSpPr>
            <p:cNvPr id="55" name="Straight Arrow Connector 54">
              <a:extLst>
                <a:ext uri="{FF2B5EF4-FFF2-40B4-BE49-F238E27FC236}">
                  <a16:creationId xmlns:a16="http://schemas.microsoft.com/office/drawing/2014/main" id="{4CA18A7F-65D7-77C5-F16C-393EAB3683A1}"/>
                </a:ext>
              </a:extLst>
            </p:cNvPr>
            <p:cNvCxnSpPr>
              <a:cxnSpLocks/>
            </p:cNvCxnSpPr>
            <p:nvPr/>
          </p:nvCxnSpPr>
          <p:spPr>
            <a:xfrm>
              <a:off x="5188363" y="1600776"/>
              <a:ext cx="2916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C53A40CF-E84C-2AF4-0620-A1593226B381}"/>
                </a:ext>
              </a:extLst>
            </p:cNvPr>
            <p:cNvSpPr txBox="1"/>
            <p:nvPr/>
          </p:nvSpPr>
          <p:spPr>
            <a:xfrm>
              <a:off x="5088551" y="1622413"/>
              <a:ext cx="574060" cy="307777"/>
            </a:xfrm>
            <a:prstGeom prst="rect">
              <a:avLst/>
            </a:prstGeom>
            <a:noFill/>
          </p:spPr>
          <p:txBody>
            <a:bodyPr wrap="square" rtlCol="0">
              <a:spAutoFit/>
            </a:bodyPr>
            <a:lstStyle/>
            <a:p>
              <a:r>
                <a:rPr lang="en-US" sz="1400"/>
                <a:t>3PP</a:t>
              </a:r>
            </a:p>
          </p:txBody>
        </p:sp>
        <p:sp>
          <p:nvSpPr>
            <p:cNvPr id="57" name="Rectangle 56">
              <a:extLst>
                <a:ext uri="{FF2B5EF4-FFF2-40B4-BE49-F238E27FC236}">
                  <a16:creationId xmlns:a16="http://schemas.microsoft.com/office/drawing/2014/main" id="{D9760621-0A6D-AB0F-41F8-E746F8AA53A2}"/>
                </a:ext>
              </a:extLst>
            </p:cNvPr>
            <p:cNvSpPr/>
            <p:nvPr/>
          </p:nvSpPr>
          <p:spPr>
            <a:xfrm>
              <a:off x="5510155" y="1466280"/>
              <a:ext cx="1536418" cy="2470172"/>
            </a:xfrm>
            <a:prstGeom prst="rect">
              <a:avLst/>
            </a:prstGeom>
            <a:noFill/>
            <a:ln w="57150">
              <a:solidFill>
                <a:srgbClr val="0000FF"/>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58" name="Rectangle 57">
              <a:extLst>
                <a:ext uri="{FF2B5EF4-FFF2-40B4-BE49-F238E27FC236}">
                  <a16:creationId xmlns:a16="http://schemas.microsoft.com/office/drawing/2014/main" id="{43ED96F8-112E-86B9-CD6C-91B0B3E17FF5}"/>
                </a:ext>
              </a:extLst>
            </p:cNvPr>
            <p:cNvSpPr/>
            <p:nvPr/>
          </p:nvSpPr>
          <p:spPr>
            <a:xfrm>
              <a:off x="5484480" y="1146890"/>
              <a:ext cx="1579265" cy="319389"/>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lumMod val="95000"/>
                      <a:lumOff val="5000"/>
                    </a:schemeClr>
                  </a:solidFill>
                </a:rPr>
                <a:t>Basefill</a:t>
              </a:r>
              <a:r>
                <a:rPr lang="en-US" sz="1400">
                  <a:solidFill>
                    <a:schemeClr val="tx1">
                      <a:lumMod val="95000"/>
                      <a:lumOff val="5000"/>
                    </a:schemeClr>
                  </a:solidFill>
                </a:rPr>
                <a:t> (&gt;= 6*66)</a:t>
              </a:r>
            </a:p>
          </p:txBody>
        </p:sp>
        <p:sp>
          <p:nvSpPr>
            <p:cNvPr id="59" name="Rectangle 58">
              <a:extLst>
                <a:ext uri="{FF2B5EF4-FFF2-40B4-BE49-F238E27FC236}">
                  <a16:creationId xmlns:a16="http://schemas.microsoft.com/office/drawing/2014/main" id="{A3949BBD-F9C9-2DC3-6765-534D4C7421F2}"/>
                </a:ext>
              </a:extLst>
            </p:cNvPr>
            <p:cNvSpPr/>
            <p:nvPr/>
          </p:nvSpPr>
          <p:spPr>
            <a:xfrm rot="10800000" flipV="1">
              <a:off x="5492723" y="912227"/>
              <a:ext cx="1557179" cy="23262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lumMod val="95000"/>
                      <a:lumOff val="5000"/>
                    </a:schemeClr>
                  </a:solidFill>
                </a:rPr>
                <a:t>Remainder (72, 78, 84, 90,96)</a:t>
              </a:r>
            </a:p>
          </p:txBody>
        </p:sp>
        <p:sp>
          <p:nvSpPr>
            <p:cNvPr id="60" name="Rectangle 59">
              <a:extLst>
                <a:ext uri="{FF2B5EF4-FFF2-40B4-BE49-F238E27FC236}">
                  <a16:creationId xmlns:a16="http://schemas.microsoft.com/office/drawing/2014/main" id="{9371A26E-499C-709B-E563-EC3BD1BA93FE}"/>
                </a:ext>
              </a:extLst>
            </p:cNvPr>
            <p:cNvSpPr/>
            <p:nvPr/>
          </p:nvSpPr>
          <p:spPr>
            <a:xfrm>
              <a:off x="5491557" y="3950087"/>
              <a:ext cx="1572188" cy="347476"/>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err="1">
                  <a:solidFill>
                    <a:schemeClr val="tx1">
                      <a:lumMod val="95000"/>
                      <a:lumOff val="5000"/>
                    </a:schemeClr>
                  </a:solidFill>
                </a:rPr>
                <a:t>Basefill</a:t>
              </a:r>
              <a:r>
                <a:rPr lang="en-US" sz="1200">
                  <a:solidFill>
                    <a:schemeClr val="tx1">
                      <a:lumMod val="95000"/>
                      <a:lumOff val="5000"/>
                    </a:schemeClr>
                  </a:solidFill>
                </a:rPr>
                <a:t> (&gt;= 8*66)</a:t>
              </a:r>
            </a:p>
          </p:txBody>
        </p:sp>
      </p:grpSp>
      <p:sp>
        <p:nvSpPr>
          <p:cNvPr id="70" name="Rectangle 69">
            <a:extLst>
              <a:ext uri="{FF2B5EF4-FFF2-40B4-BE49-F238E27FC236}">
                <a16:creationId xmlns:a16="http://schemas.microsoft.com/office/drawing/2014/main" id="{E5EA96CA-20D4-BBF2-E48A-CF323BC313E0}"/>
              </a:ext>
            </a:extLst>
          </p:cNvPr>
          <p:cNvSpPr/>
          <p:nvPr/>
        </p:nvSpPr>
        <p:spPr>
          <a:xfrm>
            <a:off x="4246764" y="1378333"/>
            <a:ext cx="3926971" cy="3385338"/>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13CF36C9-4941-9CA7-84B2-4817BE9B2CE3}"/>
              </a:ext>
            </a:extLst>
          </p:cNvPr>
          <p:cNvCxnSpPr/>
          <p:nvPr/>
        </p:nvCxnSpPr>
        <p:spPr>
          <a:xfrm>
            <a:off x="6137019" y="2088520"/>
            <a:ext cx="2938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7C9BA5E7-1946-CAEF-4A2D-FF6E25DDF9E6}"/>
              </a:ext>
            </a:extLst>
          </p:cNvPr>
          <p:cNvSpPr txBox="1"/>
          <p:nvPr/>
        </p:nvSpPr>
        <p:spPr>
          <a:xfrm>
            <a:off x="4828981" y="3535845"/>
            <a:ext cx="1140592" cy="369332"/>
          </a:xfrm>
          <a:prstGeom prst="rect">
            <a:avLst/>
          </a:prstGeom>
          <a:noFill/>
        </p:spPr>
        <p:txBody>
          <a:bodyPr wrap="square" rtlCol="0">
            <a:spAutoFit/>
          </a:bodyPr>
          <a:lstStyle/>
          <a:p>
            <a:r>
              <a:rPr lang="en-US"/>
              <a:t>3 rows</a:t>
            </a:r>
          </a:p>
        </p:txBody>
      </p:sp>
      <p:sp>
        <p:nvSpPr>
          <p:cNvPr id="73" name="TextBox 72">
            <a:extLst>
              <a:ext uri="{FF2B5EF4-FFF2-40B4-BE49-F238E27FC236}">
                <a16:creationId xmlns:a16="http://schemas.microsoft.com/office/drawing/2014/main" id="{19F6C383-23CD-DCCC-6185-772191CC8444}"/>
              </a:ext>
            </a:extLst>
          </p:cNvPr>
          <p:cNvSpPr txBox="1"/>
          <p:nvPr/>
        </p:nvSpPr>
        <p:spPr>
          <a:xfrm>
            <a:off x="4853762" y="1829252"/>
            <a:ext cx="1140592" cy="369332"/>
          </a:xfrm>
          <a:prstGeom prst="rect">
            <a:avLst/>
          </a:prstGeom>
          <a:noFill/>
        </p:spPr>
        <p:txBody>
          <a:bodyPr wrap="square" rtlCol="0">
            <a:spAutoFit/>
          </a:bodyPr>
          <a:lstStyle/>
          <a:p>
            <a:r>
              <a:rPr lang="en-US" b="1"/>
              <a:t> </a:t>
            </a:r>
            <a:r>
              <a:rPr lang="en-US"/>
              <a:t>3 rows</a:t>
            </a:r>
          </a:p>
        </p:txBody>
      </p:sp>
      <p:sp>
        <p:nvSpPr>
          <p:cNvPr id="74" name="Rectangle 73">
            <a:extLst>
              <a:ext uri="{FF2B5EF4-FFF2-40B4-BE49-F238E27FC236}">
                <a16:creationId xmlns:a16="http://schemas.microsoft.com/office/drawing/2014/main" id="{C8F5CC1C-38DB-2152-55FD-834F4F0DEBAD}"/>
              </a:ext>
            </a:extLst>
          </p:cNvPr>
          <p:cNvSpPr/>
          <p:nvPr/>
        </p:nvSpPr>
        <p:spPr>
          <a:xfrm>
            <a:off x="6427708" y="1746364"/>
            <a:ext cx="1437612" cy="2682752"/>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73AFFBB0-830B-8342-AB9E-8C6FEAF43220}"/>
              </a:ext>
            </a:extLst>
          </p:cNvPr>
          <p:cNvSpPr txBox="1"/>
          <p:nvPr/>
        </p:nvSpPr>
        <p:spPr>
          <a:xfrm>
            <a:off x="5021923" y="3954590"/>
            <a:ext cx="766987" cy="369332"/>
          </a:xfrm>
          <a:prstGeom prst="rect">
            <a:avLst/>
          </a:prstGeom>
          <a:noFill/>
        </p:spPr>
        <p:txBody>
          <a:bodyPr wrap="square" rtlCol="0">
            <a:spAutoFit/>
          </a:bodyPr>
          <a:lstStyle/>
          <a:p>
            <a:r>
              <a:rPr lang="en-US"/>
              <a:t>132h</a:t>
            </a:r>
          </a:p>
        </p:txBody>
      </p:sp>
      <p:sp>
        <p:nvSpPr>
          <p:cNvPr id="101" name="Rectangle 100">
            <a:extLst>
              <a:ext uri="{FF2B5EF4-FFF2-40B4-BE49-F238E27FC236}">
                <a16:creationId xmlns:a16="http://schemas.microsoft.com/office/drawing/2014/main" id="{17D22001-A6B6-F869-76F6-836EDB94A4E2}"/>
              </a:ext>
            </a:extLst>
          </p:cNvPr>
          <p:cNvSpPr/>
          <p:nvPr/>
        </p:nvSpPr>
        <p:spPr>
          <a:xfrm>
            <a:off x="6436300" y="4416194"/>
            <a:ext cx="1435077" cy="347476"/>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Halo</a:t>
            </a:r>
          </a:p>
        </p:txBody>
      </p:sp>
      <p:sp>
        <p:nvSpPr>
          <p:cNvPr id="102" name="TextBox 101">
            <a:extLst>
              <a:ext uri="{FF2B5EF4-FFF2-40B4-BE49-F238E27FC236}">
                <a16:creationId xmlns:a16="http://schemas.microsoft.com/office/drawing/2014/main" id="{96A4A482-6984-D191-881C-EA1243E490B0}"/>
              </a:ext>
            </a:extLst>
          </p:cNvPr>
          <p:cNvSpPr txBox="1"/>
          <p:nvPr/>
        </p:nvSpPr>
        <p:spPr>
          <a:xfrm>
            <a:off x="6061202" y="2103532"/>
            <a:ext cx="574060" cy="307777"/>
          </a:xfrm>
          <a:prstGeom prst="rect">
            <a:avLst/>
          </a:prstGeom>
          <a:noFill/>
        </p:spPr>
        <p:txBody>
          <a:bodyPr wrap="square" rtlCol="0">
            <a:spAutoFit/>
          </a:bodyPr>
          <a:lstStyle/>
          <a:p>
            <a:r>
              <a:rPr lang="en-US" sz="1400"/>
              <a:t>3PP</a:t>
            </a:r>
          </a:p>
        </p:txBody>
      </p:sp>
      <p:grpSp>
        <p:nvGrpSpPr>
          <p:cNvPr id="167" name="Group 166">
            <a:extLst>
              <a:ext uri="{FF2B5EF4-FFF2-40B4-BE49-F238E27FC236}">
                <a16:creationId xmlns:a16="http://schemas.microsoft.com/office/drawing/2014/main" id="{2BB55728-7F50-8E2C-CCF3-55A27B4D678E}"/>
              </a:ext>
            </a:extLst>
          </p:cNvPr>
          <p:cNvGrpSpPr/>
          <p:nvPr/>
        </p:nvGrpSpPr>
        <p:grpSpPr>
          <a:xfrm>
            <a:off x="8303251" y="1377160"/>
            <a:ext cx="3888749" cy="3385338"/>
            <a:chOff x="8323478" y="1301389"/>
            <a:chExt cx="4175575" cy="3566357"/>
          </a:xfrm>
        </p:grpSpPr>
        <p:grpSp>
          <p:nvGrpSpPr>
            <p:cNvPr id="134" name="Group 133">
              <a:extLst>
                <a:ext uri="{FF2B5EF4-FFF2-40B4-BE49-F238E27FC236}">
                  <a16:creationId xmlns:a16="http://schemas.microsoft.com/office/drawing/2014/main" id="{62DACDDD-D8FE-F59F-90DB-ED11FAE5A5C4}"/>
                </a:ext>
              </a:extLst>
            </p:cNvPr>
            <p:cNvGrpSpPr/>
            <p:nvPr/>
          </p:nvGrpSpPr>
          <p:grpSpPr>
            <a:xfrm>
              <a:off x="8323478" y="1301389"/>
              <a:ext cx="4175575" cy="3549448"/>
              <a:chOff x="5094817" y="912226"/>
              <a:chExt cx="4175575" cy="3549448"/>
            </a:xfrm>
          </p:grpSpPr>
          <p:sp>
            <p:nvSpPr>
              <p:cNvPr id="135" name="Rectangle 134">
                <a:extLst>
                  <a:ext uri="{FF2B5EF4-FFF2-40B4-BE49-F238E27FC236}">
                    <a16:creationId xmlns:a16="http://schemas.microsoft.com/office/drawing/2014/main" id="{9C180B47-BB8A-0774-44C4-5434B7BB70C3}"/>
                  </a:ext>
                </a:extLst>
              </p:cNvPr>
              <p:cNvSpPr/>
              <p:nvPr/>
            </p:nvSpPr>
            <p:spPr>
              <a:xfrm>
                <a:off x="5197827" y="912226"/>
                <a:ext cx="287895" cy="3549447"/>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grpSp>
            <p:nvGrpSpPr>
              <p:cNvPr id="136" name="Group 135">
                <a:extLst>
                  <a:ext uri="{FF2B5EF4-FFF2-40B4-BE49-F238E27FC236}">
                    <a16:creationId xmlns:a16="http://schemas.microsoft.com/office/drawing/2014/main" id="{0B87F125-8B04-E958-F5D8-8FE94206F4B3}"/>
                  </a:ext>
                </a:extLst>
              </p:cNvPr>
              <p:cNvGrpSpPr/>
              <p:nvPr/>
            </p:nvGrpSpPr>
            <p:grpSpPr>
              <a:xfrm>
                <a:off x="5491554" y="1467276"/>
                <a:ext cx="3331113" cy="2490439"/>
                <a:chOff x="6472038" y="1152321"/>
                <a:chExt cx="3331113" cy="2490439"/>
              </a:xfrm>
            </p:grpSpPr>
            <p:grpSp>
              <p:nvGrpSpPr>
                <p:cNvPr id="147" name="Group 146">
                  <a:extLst>
                    <a:ext uri="{FF2B5EF4-FFF2-40B4-BE49-F238E27FC236}">
                      <a16:creationId xmlns:a16="http://schemas.microsoft.com/office/drawing/2014/main" id="{9DB72FB7-C7DA-4C08-CFE4-DC39CEE5B75D}"/>
                    </a:ext>
                  </a:extLst>
                </p:cNvPr>
                <p:cNvGrpSpPr/>
                <p:nvPr/>
              </p:nvGrpSpPr>
              <p:grpSpPr>
                <a:xfrm>
                  <a:off x="6472038" y="1152321"/>
                  <a:ext cx="3331113" cy="2490439"/>
                  <a:chOff x="6988363" y="826543"/>
                  <a:chExt cx="4476914" cy="3218172"/>
                </a:xfrm>
              </p:grpSpPr>
              <p:sp>
                <p:nvSpPr>
                  <p:cNvPr id="149" name="Rectangle 148">
                    <a:extLst>
                      <a:ext uri="{FF2B5EF4-FFF2-40B4-BE49-F238E27FC236}">
                        <a16:creationId xmlns:a16="http://schemas.microsoft.com/office/drawing/2014/main" id="{7DB981D6-D89A-4C16-9C7E-A856A3DB3691}"/>
                      </a:ext>
                    </a:extLst>
                  </p:cNvPr>
                  <p:cNvSpPr/>
                  <p:nvPr/>
                </p:nvSpPr>
                <p:spPr>
                  <a:xfrm>
                    <a:off x="8737299" y="3303803"/>
                    <a:ext cx="1259467" cy="375683"/>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t>Btterm</a:t>
                    </a:r>
                    <a:r>
                      <a:rPr lang="en-US"/>
                      <a:t> (2row)</a:t>
                    </a:r>
                  </a:p>
                </p:txBody>
              </p:sp>
              <p:sp>
                <p:nvSpPr>
                  <p:cNvPr id="150" name="Rectangle 149">
                    <a:extLst>
                      <a:ext uri="{FF2B5EF4-FFF2-40B4-BE49-F238E27FC236}">
                        <a16:creationId xmlns:a16="http://schemas.microsoft.com/office/drawing/2014/main" id="{D4E44878-DC47-4B45-E951-CCEA2CEC5C34}"/>
                      </a:ext>
                    </a:extLst>
                  </p:cNvPr>
                  <p:cNvSpPr/>
                  <p:nvPr/>
                </p:nvSpPr>
                <p:spPr>
                  <a:xfrm>
                    <a:off x="7517633" y="1096719"/>
                    <a:ext cx="955643" cy="193445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1" name="Group 150">
                    <a:extLst>
                      <a:ext uri="{FF2B5EF4-FFF2-40B4-BE49-F238E27FC236}">
                        <a16:creationId xmlns:a16="http://schemas.microsoft.com/office/drawing/2014/main" id="{C7FC68F5-ABC9-9C3A-6756-F0DD6D42B231}"/>
                      </a:ext>
                    </a:extLst>
                  </p:cNvPr>
                  <p:cNvGrpSpPr/>
                  <p:nvPr/>
                </p:nvGrpSpPr>
                <p:grpSpPr>
                  <a:xfrm>
                    <a:off x="6988363" y="826543"/>
                    <a:ext cx="4476914" cy="3218172"/>
                    <a:chOff x="415724" y="258547"/>
                    <a:chExt cx="4475672" cy="3736537"/>
                  </a:xfrm>
                </p:grpSpPr>
                <p:sp>
                  <p:nvSpPr>
                    <p:cNvPr id="154" name="Rectangle 153">
                      <a:extLst>
                        <a:ext uri="{FF2B5EF4-FFF2-40B4-BE49-F238E27FC236}">
                          <a16:creationId xmlns:a16="http://schemas.microsoft.com/office/drawing/2014/main" id="{7EF02FAE-0EDC-6687-5F55-D762D68025FF}"/>
                        </a:ext>
                      </a:extLst>
                    </p:cNvPr>
                    <p:cNvSpPr/>
                    <p:nvPr/>
                  </p:nvSpPr>
                  <p:spPr>
                    <a:xfrm>
                      <a:off x="424948" y="3125595"/>
                      <a:ext cx="4434800" cy="869489"/>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55" name="Group 154">
                      <a:extLst>
                        <a:ext uri="{FF2B5EF4-FFF2-40B4-BE49-F238E27FC236}">
                          <a16:creationId xmlns:a16="http://schemas.microsoft.com/office/drawing/2014/main" id="{83B8AC57-BDD9-2403-2467-1858179F1F4B}"/>
                        </a:ext>
                      </a:extLst>
                    </p:cNvPr>
                    <p:cNvGrpSpPr/>
                    <p:nvPr/>
                  </p:nvGrpSpPr>
                  <p:grpSpPr>
                    <a:xfrm>
                      <a:off x="415724" y="258547"/>
                      <a:ext cx="4475672" cy="2871927"/>
                      <a:chOff x="1525433" y="1250516"/>
                      <a:chExt cx="4475672" cy="2871927"/>
                    </a:xfrm>
                  </p:grpSpPr>
                  <p:sp>
                    <p:nvSpPr>
                      <p:cNvPr id="156" name="Rectangle 155">
                        <a:extLst>
                          <a:ext uri="{FF2B5EF4-FFF2-40B4-BE49-F238E27FC236}">
                            <a16:creationId xmlns:a16="http://schemas.microsoft.com/office/drawing/2014/main" id="{C083E850-819F-2424-9915-8BC894E43B87}"/>
                          </a:ext>
                        </a:extLst>
                      </p:cNvPr>
                      <p:cNvSpPr/>
                      <p:nvPr/>
                    </p:nvSpPr>
                    <p:spPr>
                      <a:xfrm>
                        <a:off x="1532304" y="1563458"/>
                        <a:ext cx="2088512" cy="224605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7" name="Rectangle 156">
                        <a:extLst>
                          <a:ext uri="{FF2B5EF4-FFF2-40B4-BE49-F238E27FC236}">
                            <a16:creationId xmlns:a16="http://schemas.microsoft.com/office/drawing/2014/main" id="{D81F7DAF-B894-17C4-FC0F-949AE90A5B9E}"/>
                          </a:ext>
                        </a:extLst>
                      </p:cNvPr>
                      <p:cNvSpPr/>
                      <p:nvPr/>
                    </p:nvSpPr>
                    <p:spPr>
                      <a:xfrm>
                        <a:off x="1525434" y="1250519"/>
                        <a:ext cx="2095381" cy="29924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Rectangle 157">
                        <a:extLst>
                          <a:ext uri="{FF2B5EF4-FFF2-40B4-BE49-F238E27FC236}">
                            <a16:creationId xmlns:a16="http://schemas.microsoft.com/office/drawing/2014/main" id="{D5E5D809-F391-495E-6CF8-DA57289BD429}"/>
                          </a:ext>
                        </a:extLst>
                      </p:cNvPr>
                      <p:cNvSpPr/>
                      <p:nvPr/>
                    </p:nvSpPr>
                    <p:spPr>
                      <a:xfrm>
                        <a:off x="4002381" y="1563455"/>
                        <a:ext cx="1957852" cy="224605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Rectangle 158">
                        <a:extLst>
                          <a:ext uri="{FF2B5EF4-FFF2-40B4-BE49-F238E27FC236}">
                            <a16:creationId xmlns:a16="http://schemas.microsoft.com/office/drawing/2014/main" id="{0B5E7FAE-C450-96C1-F6FF-9EF087750423}"/>
                          </a:ext>
                        </a:extLst>
                      </p:cNvPr>
                      <p:cNvSpPr/>
                      <p:nvPr/>
                    </p:nvSpPr>
                    <p:spPr>
                      <a:xfrm>
                        <a:off x="4012627" y="3809504"/>
                        <a:ext cx="1988478" cy="312939"/>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Rectangle 159">
                        <a:extLst>
                          <a:ext uri="{FF2B5EF4-FFF2-40B4-BE49-F238E27FC236}">
                            <a16:creationId xmlns:a16="http://schemas.microsoft.com/office/drawing/2014/main" id="{A5A47078-40E2-DF46-6CF5-9B6AA62DAEA2}"/>
                          </a:ext>
                        </a:extLst>
                      </p:cNvPr>
                      <p:cNvSpPr/>
                      <p:nvPr/>
                    </p:nvSpPr>
                    <p:spPr>
                      <a:xfrm>
                        <a:off x="4012626" y="1250516"/>
                        <a:ext cx="1947610" cy="312939"/>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Rectangle 160">
                        <a:extLst>
                          <a:ext uri="{FF2B5EF4-FFF2-40B4-BE49-F238E27FC236}">
                            <a16:creationId xmlns:a16="http://schemas.microsoft.com/office/drawing/2014/main" id="{47AE857A-42E5-BE1C-4C61-C9C0EE1938A8}"/>
                          </a:ext>
                        </a:extLst>
                      </p:cNvPr>
                      <p:cNvSpPr/>
                      <p:nvPr/>
                    </p:nvSpPr>
                    <p:spPr>
                      <a:xfrm>
                        <a:off x="1525433" y="3809504"/>
                        <a:ext cx="2095382" cy="3129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152" name="TextBox 151">
                    <a:extLst>
                      <a:ext uri="{FF2B5EF4-FFF2-40B4-BE49-F238E27FC236}">
                        <a16:creationId xmlns:a16="http://schemas.microsoft.com/office/drawing/2014/main" id="{8EBFC281-81A6-EE44-21B9-E499A7563B64}"/>
                      </a:ext>
                    </a:extLst>
                  </p:cNvPr>
                  <p:cNvSpPr txBox="1"/>
                  <p:nvPr/>
                </p:nvSpPr>
                <p:spPr>
                  <a:xfrm>
                    <a:off x="7830903" y="1810840"/>
                    <a:ext cx="522513" cy="369332"/>
                  </a:xfrm>
                  <a:prstGeom prst="rect">
                    <a:avLst/>
                  </a:prstGeom>
                  <a:noFill/>
                </p:spPr>
                <p:txBody>
                  <a:bodyPr wrap="square" rtlCol="0">
                    <a:spAutoFit/>
                  </a:bodyPr>
                  <a:lstStyle/>
                  <a:p>
                    <a:r>
                      <a:rPr lang="en-US"/>
                      <a:t>1</a:t>
                    </a:r>
                  </a:p>
                </p:txBody>
              </p:sp>
              <p:sp>
                <p:nvSpPr>
                  <p:cNvPr id="153" name="Rectangle 152">
                    <a:extLst>
                      <a:ext uri="{FF2B5EF4-FFF2-40B4-BE49-F238E27FC236}">
                        <a16:creationId xmlns:a16="http://schemas.microsoft.com/office/drawing/2014/main" id="{BA64E7F7-8311-1B70-0FF2-F438CFC1BE55}"/>
                      </a:ext>
                    </a:extLst>
                  </p:cNvPr>
                  <p:cNvSpPr/>
                  <p:nvPr/>
                </p:nvSpPr>
                <p:spPr>
                  <a:xfrm>
                    <a:off x="7586902" y="1102454"/>
                    <a:ext cx="817304" cy="19287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48" name="Rectangle 147">
                  <a:extLst>
                    <a:ext uri="{FF2B5EF4-FFF2-40B4-BE49-F238E27FC236}">
                      <a16:creationId xmlns:a16="http://schemas.microsoft.com/office/drawing/2014/main" id="{21734007-F1FE-4AB3-934A-011B5CE9E6E2}"/>
                    </a:ext>
                  </a:extLst>
                </p:cNvPr>
                <p:cNvSpPr/>
                <p:nvPr/>
              </p:nvSpPr>
              <p:spPr>
                <a:xfrm>
                  <a:off x="7667282" y="3047346"/>
                  <a:ext cx="992552" cy="25281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err="1"/>
                    <a:t>MBTtrans</a:t>
                  </a:r>
                  <a:endParaRPr lang="en-US" sz="1200"/>
                </a:p>
              </p:txBody>
            </p:sp>
          </p:grpSp>
          <p:sp>
            <p:nvSpPr>
              <p:cNvPr id="137" name="Rectangle 136">
                <a:extLst>
                  <a:ext uri="{FF2B5EF4-FFF2-40B4-BE49-F238E27FC236}">
                    <a16:creationId xmlns:a16="http://schemas.microsoft.com/office/drawing/2014/main" id="{DD132AA9-B915-F3DA-DF43-8F033EDE6B13}"/>
                  </a:ext>
                </a:extLst>
              </p:cNvPr>
              <p:cNvSpPr/>
              <p:nvPr/>
            </p:nvSpPr>
            <p:spPr>
              <a:xfrm>
                <a:off x="8786369" y="912226"/>
                <a:ext cx="302355" cy="3549448"/>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cxnSp>
            <p:nvCxnSpPr>
              <p:cNvPr id="138" name="Straight Arrow Connector 137">
                <a:extLst>
                  <a:ext uri="{FF2B5EF4-FFF2-40B4-BE49-F238E27FC236}">
                    <a16:creationId xmlns:a16="http://schemas.microsoft.com/office/drawing/2014/main" id="{D3C2A442-E6E4-E525-E39E-83003C479B3A}"/>
                  </a:ext>
                </a:extLst>
              </p:cNvPr>
              <p:cNvCxnSpPr>
                <a:cxnSpLocks/>
              </p:cNvCxnSpPr>
              <p:nvPr/>
            </p:nvCxnSpPr>
            <p:spPr>
              <a:xfrm>
                <a:off x="8798761" y="1620497"/>
                <a:ext cx="289963" cy="638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39115FAC-19D6-2327-9E03-5FF6D959771D}"/>
                  </a:ext>
                </a:extLst>
              </p:cNvPr>
              <p:cNvSpPr txBox="1"/>
              <p:nvPr/>
            </p:nvSpPr>
            <p:spPr>
              <a:xfrm>
                <a:off x="8696332" y="1643791"/>
                <a:ext cx="574060" cy="324234"/>
              </a:xfrm>
              <a:prstGeom prst="rect">
                <a:avLst/>
              </a:prstGeom>
              <a:noFill/>
            </p:spPr>
            <p:txBody>
              <a:bodyPr wrap="square" rtlCol="0">
                <a:spAutoFit/>
              </a:bodyPr>
              <a:lstStyle/>
              <a:p>
                <a:r>
                  <a:rPr lang="en-US" sz="1400"/>
                  <a:t>3PP</a:t>
                </a:r>
              </a:p>
            </p:txBody>
          </p:sp>
          <p:cxnSp>
            <p:nvCxnSpPr>
              <p:cNvPr id="140" name="Straight Arrow Connector 139">
                <a:extLst>
                  <a:ext uri="{FF2B5EF4-FFF2-40B4-BE49-F238E27FC236}">
                    <a16:creationId xmlns:a16="http://schemas.microsoft.com/office/drawing/2014/main" id="{A0490879-99E9-92D5-0EC1-79C7E43DCC9B}"/>
                  </a:ext>
                </a:extLst>
              </p:cNvPr>
              <p:cNvCxnSpPr>
                <a:cxnSpLocks/>
              </p:cNvCxnSpPr>
              <p:nvPr/>
            </p:nvCxnSpPr>
            <p:spPr>
              <a:xfrm>
                <a:off x="7051083" y="2663045"/>
                <a:ext cx="2916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D6D8C1C8-9293-5669-CFAC-FD9071B43744}"/>
                  </a:ext>
                </a:extLst>
              </p:cNvPr>
              <p:cNvCxnSpPr>
                <a:cxnSpLocks/>
              </p:cNvCxnSpPr>
              <p:nvPr/>
            </p:nvCxnSpPr>
            <p:spPr>
              <a:xfrm>
                <a:off x="5195967" y="1676772"/>
                <a:ext cx="2916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D27C71B3-5C09-F820-C869-AF181961AD52}"/>
                  </a:ext>
                </a:extLst>
              </p:cNvPr>
              <p:cNvSpPr txBox="1"/>
              <p:nvPr/>
            </p:nvSpPr>
            <p:spPr>
              <a:xfrm>
                <a:off x="5094817" y="1767793"/>
                <a:ext cx="574060" cy="324234"/>
              </a:xfrm>
              <a:prstGeom prst="rect">
                <a:avLst/>
              </a:prstGeom>
              <a:noFill/>
            </p:spPr>
            <p:txBody>
              <a:bodyPr wrap="square" rtlCol="0">
                <a:spAutoFit/>
              </a:bodyPr>
              <a:lstStyle/>
              <a:p>
                <a:r>
                  <a:rPr lang="en-US" sz="1400"/>
                  <a:t>3PP</a:t>
                </a:r>
              </a:p>
            </p:txBody>
          </p:sp>
          <p:sp>
            <p:nvSpPr>
              <p:cNvPr id="143" name="Rectangle 142">
                <a:extLst>
                  <a:ext uri="{FF2B5EF4-FFF2-40B4-BE49-F238E27FC236}">
                    <a16:creationId xmlns:a16="http://schemas.microsoft.com/office/drawing/2014/main" id="{C116034C-85D1-061E-C94D-C6F4011BC601}"/>
                  </a:ext>
                </a:extLst>
              </p:cNvPr>
              <p:cNvSpPr/>
              <p:nvPr/>
            </p:nvSpPr>
            <p:spPr>
              <a:xfrm>
                <a:off x="5510154" y="1466279"/>
                <a:ext cx="3245795" cy="2484161"/>
              </a:xfrm>
              <a:prstGeom prst="rect">
                <a:avLst/>
              </a:prstGeom>
              <a:noFill/>
              <a:ln w="57150">
                <a:solidFill>
                  <a:srgbClr val="0000FF"/>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44" name="Rectangle 143">
                <a:extLst>
                  <a:ext uri="{FF2B5EF4-FFF2-40B4-BE49-F238E27FC236}">
                    <a16:creationId xmlns:a16="http://schemas.microsoft.com/office/drawing/2014/main" id="{9055B7C0-F49F-37EA-059B-5AE642EFD390}"/>
                  </a:ext>
                </a:extLst>
              </p:cNvPr>
              <p:cNvSpPr/>
              <p:nvPr/>
            </p:nvSpPr>
            <p:spPr>
              <a:xfrm>
                <a:off x="7048849" y="1465174"/>
                <a:ext cx="293846" cy="190126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MBT</a:t>
                </a:r>
              </a:p>
            </p:txBody>
          </p:sp>
          <p:sp>
            <p:nvSpPr>
              <p:cNvPr id="145" name="Rectangle 144">
                <a:extLst>
                  <a:ext uri="{FF2B5EF4-FFF2-40B4-BE49-F238E27FC236}">
                    <a16:creationId xmlns:a16="http://schemas.microsoft.com/office/drawing/2014/main" id="{1FD6714D-D307-267D-2C6C-6E57A71BC980}"/>
                  </a:ext>
                </a:extLst>
              </p:cNvPr>
              <p:cNvSpPr/>
              <p:nvPr/>
            </p:nvSpPr>
            <p:spPr>
              <a:xfrm>
                <a:off x="5484480" y="1146890"/>
                <a:ext cx="3301885" cy="319389"/>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lumMod val="95000"/>
                        <a:lumOff val="5000"/>
                      </a:schemeClr>
                    </a:solidFill>
                  </a:rPr>
                  <a:t>Basefill</a:t>
                </a:r>
                <a:r>
                  <a:rPr lang="en-US">
                    <a:solidFill>
                      <a:schemeClr val="tx1">
                        <a:lumMod val="95000"/>
                        <a:lumOff val="5000"/>
                      </a:schemeClr>
                    </a:solidFill>
                  </a:rPr>
                  <a:t> (&gt;= 6*66)</a:t>
                </a:r>
              </a:p>
            </p:txBody>
          </p:sp>
          <p:sp>
            <p:nvSpPr>
              <p:cNvPr id="146" name="Rectangle 145">
                <a:extLst>
                  <a:ext uri="{FF2B5EF4-FFF2-40B4-BE49-F238E27FC236}">
                    <a16:creationId xmlns:a16="http://schemas.microsoft.com/office/drawing/2014/main" id="{AC42F78F-C5E2-C39D-D33D-4D67B5AE644A}"/>
                  </a:ext>
                </a:extLst>
              </p:cNvPr>
              <p:cNvSpPr/>
              <p:nvPr/>
            </p:nvSpPr>
            <p:spPr>
              <a:xfrm rot="10800000" flipV="1">
                <a:off x="5492723" y="912227"/>
                <a:ext cx="3293642" cy="23262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Remainder (72, 78, 84, 90,96)</a:t>
                </a:r>
              </a:p>
            </p:txBody>
          </p:sp>
        </p:grpSp>
        <p:sp>
          <p:nvSpPr>
            <p:cNvPr id="162" name="Rectangle 161">
              <a:extLst>
                <a:ext uri="{FF2B5EF4-FFF2-40B4-BE49-F238E27FC236}">
                  <a16:creationId xmlns:a16="http://schemas.microsoft.com/office/drawing/2014/main" id="{D4AA6AEB-F763-3A85-626C-67C1EE77BB19}"/>
                </a:ext>
              </a:extLst>
            </p:cNvPr>
            <p:cNvSpPr/>
            <p:nvPr/>
          </p:nvSpPr>
          <p:spPr>
            <a:xfrm>
              <a:off x="8439188" y="1318297"/>
              <a:ext cx="3891638" cy="354944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3" name="Straight Arrow Connector 162">
              <a:extLst>
                <a:ext uri="{FF2B5EF4-FFF2-40B4-BE49-F238E27FC236}">
                  <a16:creationId xmlns:a16="http://schemas.microsoft.com/office/drawing/2014/main" id="{65162AF5-D8EB-47C2-4975-DDD136B8C640}"/>
                </a:ext>
              </a:extLst>
            </p:cNvPr>
            <p:cNvCxnSpPr/>
            <p:nvPr/>
          </p:nvCxnSpPr>
          <p:spPr>
            <a:xfrm>
              <a:off x="10264812" y="2055748"/>
              <a:ext cx="2938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CF7DB2BB-0897-E164-B1ED-A1214726678E}"/>
                </a:ext>
              </a:extLst>
            </p:cNvPr>
            <p:cNvSpPr/>
            <p:nvPr/>
          </p:nvSpPr>
          <p:spPr>
            <a:xfrm>
              <a:off x="8713142" y="4356514"/>
              <a:ext cx="3320754" cy="49432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err="1">
                  <a:solidFill>
                    <a:schemeClr val="tx1">
                      <a:lumMod val="95000"/>
                      <a:lumOff val="5000"/>
                    </a:schemeClr>
                  </a:solidFill>
                </a:rPr>
                <a:t>Basefill</a:t>
              </a:r>
              <a:r>
                <a:rPr lang="en-US">
                  <a:solidFill>
                    <a:schemeClr val="tx1">
                      <a:lumMod val="95000"/>
                      <a:lumOff val="5000"/>
                    </a:schemeClr>
                  </a:solidFill>
                </a:rPr>
                <a:t> (&gt;= 8*66)</a:t>
              </a:r>
            </a:p>
          </p:txBody>
        </p:sp>
      </p:grpSp>
      <p:sp>
        <p:nvSpPr>
          <p:cNvPr id="168" name="TextBox 167">
            <a:extLst>
              <a:ext uri="{FF2B5EF4-FFF2-40B4-BE49-F238E27FC236}">
                <a16:creationId xmlns:a16="http://schemas.microsoft.com/office/drawing/2014/main" id="{107473E7-F1AA-4DC0-020E-E9F1D836C729}"/>
              </a:ext>
            </a:extLst>
          </p:cNvPr>
          <p:cNvSpPr txBox="1"/>
          <p:nvPr/>
        </p:nvSpPr>
        <p:spPr>
          <a:xfrm>
            <a:off x="10085883" y="2088520"/>
            <a:ext cx="574060" cy="307777"/>
          </a:xfrm>
          <a:prstGeom prst="rect">
            <a:avLst/>
          </a:prstGeom>
          <a:noFill/>
        </p:spPr>
        <p:txBody>
          <a:bodyPr wrap="square" rtlCol="0">
            <a:spAutoFit/>
          </a:bodyPr>
          <a:lstStyle/>
          <a:p>
            <a:r>
              <a:rPr lang="en-US" sz="1400"/>
              <a:t>3PP</a:t>
            </a:r>
          </a:p>
        </p:txBody>
      </p:sp>
      <p:sp>
        <p:nvSpPr>
          <p:cNvPr id="170" name="TextBox 169">
            <a:extLst>
              <a:ext uri="{FF2B5EF4-FFF2-40B4-BE49-F238E27FC236}">
                <a16:creationId xmlns:a16="http://schemas.microsoft.com/office/drawing/2014/main" id="{AF34A9D2-28CD-A269-3769-422D06DFC830}"/>
              </a:ext>
            </a:extLst>
          </p:cNvPr>
          <p:cNvSpPr txBox="1"/>
          <p:nvPr/>
        </p:nvSpPr>
        <p:spPr>
          <a:xfrm>
            <a:off x="199111" y="951429"/>
            <a:ext cx="2037852" cy="369332"/>
          </a:xfrm>
          <a:prstGeom prst="rect">
            <a:avLst/>
          </a:prstGeom>
          <a:noFill/>
        </p:spPr>
        <p:txBody>
          <a:bodyPr wrap="square" rtlCol="0">
            <a:spAutoFit/>
          </a:bodyPr>
          <a:lstStyle/>
          <a:p>
            <a:r>
              <a:rPr lang="en-US"/>
              <a:t>QR Block #1</a:t>
            </a:r>
          </a:p>
        </p:txBody>
      </p:sp>
      <p:sp>
        <p:nvSpPr>
          <p:cNvPr id="171" name="TextBox 170">
            <a:extLst>
              <a:ext uri="{FF2B5EF4-FFF2-40B4-BE49-F238E27FC236}">
                <a16:creationId xmlns:a16="http://schemas.microsoft.com/office/drawing/2014/main" id="{C91FE408-0CAE-D18C-9EA8-A41509E9EF45}"/>
              </a:ext>
            </a:extLst>
          </p:cNvPr>
          <p:cNvSpPr txBox="1"/>
          <p:nvPr/>
        </p:nvSpPr>
        <p:spPr>
          <a:xfrm>
            <a:off x="8648226" y="956378"/>
            <a:ext cx="3062610" cy="369332"/>
          </a:xfrm>
          <a:prstGeom prst="rect">
            <a:avLst/>
          </a:prstGeom>
          <a:noFill/>
        </p:spPr>
        <p:txBody>
          <a:bodyPr wrap="square" rtlCol="0">
            <a:spAutoFit/>
          </a:bodyPr>
          <a:lstStyle/>
          <a:p>
            <a:r>
              <a:rPr lang="en-US"/>
              <a:t>POR Memory block</a:t>
            </a:r>
          </a:p>
        </p:txBody>
      </p:sp>
      <p:sp>
        <p:nvSpPr>
          <p:cNvPr id="172" name="TextBox 171">
            <a:extLst>
              <a:ext uri="{FF2B5EF4-FFF2-40B4-BE49-F238E27FC236}">
                <a16:creationId xmlns:a16="http://schemas.microsoft.com/office/drawing/2014/main" id="{B069402E-364C-5BF8-0584-7AD441A3AA3D}"/>
              </a:ext>
            </a:extLst>
          </p:cNvPr>
          <p:cNvSpPr txBox="1"/>
          <p:nvPr/>
        </p:nvSpPr>
        <p:spPr>
          <a:xfrm>
            <a:off x="4573333" y="956839"/>
            <a:ext cx="2037852" cy="369332"/>
          </a:xfrm>
          <a:prstGeom prst="rect">
            <a:avLst/>
          </a:prstGeom>
          <a:noFill/>
        </p:spPr>
        <p:txBody>
          <a:bodyPr wrap="square" rtlCol="0">
            <a:spAutoFit/>
          </a:bodyPr>
          <a:lstStyle/>
          <a:p>
            <a:r>
              <a:rPr lang="en-US"/>
              <a:t>QR Block #2</a:t>
            </a:r>
          </a:p>
        </p:txBody>
      </p:sp>
      <p:sp>
        <p:nvSpPr>
          <p:cNvPr id="173" name="Rectangle 172">
            <a:extLst>
              <a:ext uri="{FF2B5EF4-FFF2-40B4-BE49-F238E27FC236}">
                <a16:creationId xmlns:a16="http://schemas.microsoft.com/office/drawing/2014/main" id="{DBB858F8-0415-8F88-793A-A73E796B16A6}"/>
              </a:ext>
            </a:extLst>
          </p:cNvPr>
          <p:cNvSpPr/>
          <p:nvPr/>
        </p:nvSpPr>
        <p:spPr>
          <a:xfrm>
            <a:off x="214773" y="5056730"/>
            <a:ext cx="579144" cy="286460"/>
          </a:xfrm>
          <a:prstGeom prst="rect">
            <a:avLst/>
          </a:prstGeom>
          <a:noFill/>
          <a:ln w="57150">
            <a:solidFill>
              <a:srgbClr val="0000FF"/>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a:p>
        </p:txBody>
      </p:sp>
      <p:sp>
        <p:nvSpPr>
          <p:cNvPr id="174" name="TextBox 173">
            <a:extLst>
              <a:ext uri="{FF2B5EF4-FFF2-40B4-BE49-F238E27FC236}">
                <a16:creationId xmlns:a16="http://schemas.microsoft.com/office/drawing/2014/main" id="{9114D935-A8E6-C95C-66F7-C31815585A7A}"/>
              </a:ext>
            </a:extLst>
          </p:cNvPr>
          <p:cNvSpPr txBox="1"/>
          <p:nvPr/>
        </p:nvSpPr>
        <p:spPr>
          <a:xfrm>
            <a:off x="791722" y="5015448"/>
            <a:ext cx="6162007" cy="338554"/>
          </a:xfrm>
          <a:prstGeom prst="rect">
            <a:avLst/>
          </a:prstGeom>
          <a:noFill/>
        </p:spPr>
        <p:txBody>
          <a:bodyPr wrap="square" lIns="91440" tIns="45720" rIns="91440" bIns="45720" rtlCol="0" anchor="t">
            <a:spAutoFit/>
          </a:bodyPr>
          <a:lstStyle/>
          <a:p>
            <a:r>
              <a:rPr lang="en-US" sz="1600"/>
              <a:t>Memory Block (This is a Derived layer Synthesized in RS)</a:t>
            </a:r>
          </a:p>
        </p:txBody>
      </p:sp>
      <p:sp>
        <p:nvSpPr>
          <p:cNvPr id="178" name="Rectangle 177">
            <a:extLst>
              <a:ext uri="{FF2B5EF4-FFF2-40B4-BE49-F238E27FC236}">
                <a16:creationId xmlns:a16="http://schemas.microsoft.com/office/drawing/2014/main" id="{EE6AED15-7C13-F6CC-D3C3-A5BC97216658}"/>
              </a:ext>
            </a:extLst>
          </p:cNvPr>
          <p:cNvSpPr/>
          <p:nvPr/>
        </p:nvSpPr>
        <p:spPr>
          <a:xfrm>
            <a:off x="6432102" y="1733441"/>
            <a:ext cx="1425101" cy="26827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TextBox 179">
            <a:extLst>
              <a:ext uri="{FF2B5EF4-FFF2-40B4-BE49-F238E27FC236}">
                <a16:creationId xmlns:a16="http://schemas.microsoft.com/office/drawing/2014/main" id="{D939558D-84B5-7A3D-0FAE-0D4B1C352EF6}"/>
              </a:ext>
            </a:extLst>
          </p:cNvPr>
          <p:cNvSpPr txBox="1"/>
          <p:nvPr/>
        </p:nvSpPr>
        <p:spPr>
          <a:xfrm>
            <a:off x="6649778" y="2892750"/>
            <a:ext cx="766987" cy="369332"/>
          </a:xfrm>
          <a:prstGeom prst="rect">
            <a:avLst/>
          </a:prstGeom>
          <a:noFill/>
        </p:spPr>
        <p:txBody>
          <a:bodyPr wrap="square" rtlCol="0">
            <a:spAutoFit/>
          </a:bodyPr>
          <a:lstStyle/>
          <a:p>
            <a:r>
              <a:rPr lang="en-US"/>
              <a:t>132h</a:t>
            </a:r>
          </a:p>
        </p:txBody>
      </p:sp>
      <p:sp>
        <p:nvSpPr>
          <p:cNvPr id="181" name="Rectangle 180">
            <a:extLst>
              <a:ext uri="{FF2B5EF4-FFF2-40B4-BE49-F238E27FC236}">
                <a16:creationId xmlns:a16="http://schemas.microsoft.com/office/drawing/2014/main" id="{470DB5E6-FCAC-88C7-A152-331C13851727}"/>
              </a:ext>
            </a:extLst>
          </p:cNvPr>
          <p:cNvSpPr/>
          <p:nvPr/>
        </p:nvSpPr>
        <p:spPr>
          <a:xfrm>
            <a:off x="211580" y="5490107"/>
            <a:ext cx="578959" cy="1817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82" name="TextBox 181">
            <a:extLst>
              <a:ext uri="{FF2B5EF4-FFF2-40B4-BE49-F238E27FC236}">
                <a16:creationId xmlns:a16="http://schemas.microsoft.com/office/drawing/2014/main" id="{9114D935-A8E6-C95C-66F7-C31815585A7A}"/>
              </a:ext>
            </a:extLst>
          </p:cNvPr>
          <p:cNvSpPr txBox="1"/>
          <p:nvPr/>
        </p:nvSpPr>
        <p:spPr>
          <a:xfrm>
            <a:off x="827497" y="5406683"/>
            <a:ext cx="4764762" cy="338554"/>
          </a:xfrm>
          <a:prstGeom prst="rect">
            <a:avLst/>
          </a:prstGeom>
          <a:noFill/>
        </p:spPr>
        <p:txBody>
          <a:bodyPr wrap="square" rtlCol="0">
            <a:spAutoFit/>
          </a:bodyPr>
          <a:lstStyle/>
          <a:p>
            <a:r>
              <a:rPr lang="en-US" sz="1600" err="1"/>
              <a:t>MemorySDRPeriphery;id</a:t>
            </a:r>
            <a:r>
              <a:rPr lang="en-US" sz="1600"/>
              <a:t> (DRAWN </a:t>
            </a:r>
            <a:r>
              <a:rPr lang="en-US" sz="1600" err="1"/>
              <a:t>contextID</a:t>
            </a:r>
            <a:r>
              <a:rPr lang="en-US" sz="1600"/>
              <a:t>)</a:t>
            </a:r>
          </a:p>
        </p:txBody>
      </p:sp>
      <p:grpSp>
        <p:nvGrpSpPr>
          <p:cNvPr id="185" name="Group 184">
            <a:extLst>
              <a:ext uri="{FF2B5EF4-FFF2-40B4-BE49-F238E27FC236}">
                <a16:creationId xmlns:a16="http://schemas.microsoft.com/office/drawing/2014/main" id="{EE86D0E7-0804-06AF-C2E1-7D9FF3C29CFB}"/>
              </a:ext>
            </a:extLst>
          </p:cNvPr>
          <p:cNvGrpSpPr/>
          <p:nvPr/>
        </p:nvGrpSpPr>
        <p:grpSpPr>
          <a:xfrm>
            <a:off x="4062" y="1402513"/>
            <a:ext cx="4201638" cy="3371325"/>
            <a:chOff x="-6267" y="1468766"/>
            <a:chExt cx="4201638" cy="3291059"/>
          </a:xfrm>
        </p:grpSpPr>
        <p:grpSp>
          <p:nvGrpSpPr>
            <p:cNvPr id="4" name="Group 3">
              <a:extLst>
                <a:ext uri="{FF2B5EF4-FFF2-40B4-BE49-F238E27FC236}">
                  <a16:creationId xmlns:a16="http://schemas.microsoft.com/office/drawing/2014/main" id="{FA3150CE-FE23-C13E-8EAB-3BF1034AE544}"/>
                </a:ext>
              </a:extLst>
            </p:cNvPr>
            <p:cNvGrpSpPr/>
            <p:nvPr/>
          </p:nvGrpSpPr>
          <p:grpSpPr>
            <a:xfrm>
              <a:off x="-6267" y="1468766"/>
              <a:ext cx="4201638" cy="3291059"/>
              <a:chOff x="5088550" y="1006506"/>
              <a:chExt cx="4201638" cy="3291059"/>
            </a:xfrm>
          </p:grpSpPr>
          <p:sp>
            <p:nvSpPr>
              <p:cNvPr id="5" name="Rectangle 4">
                <a:extLst>
                  <a:ext uri="{FF2B5EF4-FFF2-40B4-BE49-F238E27FC236}">
                    <a16:creationId xmlns:a16="http://schemas.microsoft.com/office/drawing/2014/main" id="{DC000213-B63D-4813-7189-CC8ECEE7307A}"/>
                  </a:ext>
                </a:extLst>
              </p:cNvPr>
              <p:cNvSpPr/>
              <p:nvPr/>
            </p:nvSpPr>
            <p:spPr>
              <a:xfrm>
                <a:off x="5188363" y="1020385"/>
                <a:ext cx="297359" cy="327717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grpSp>
            <p:nvGrpSpPr>
              <p:cNvPr id="18" name="Group 17">
                <a:extLst>
                  <a:ext uri="{FF2B5EF4-FFF2-40B4-BE49-F238E27FC236}">
                    <a16:creationId xmlns:a16="http://schemas.microsoft.com/office/drawing/2014/main" id="{F53B5987-404A-CF5C-43A9-22060BE23F34}"/>
                  </a:ext>
                </a:extLst>
              </p:cNvPr>
              <p:cNvGrpSpPr/>
              <p:nvPr/>
            </p:nvGrpSpPr>
            <p:grpSpPr>
              <a:xfrm>
                <a:off x="5491561" y="1467279"/>
                <a:ext cx="3300970" cy="2550851"/>
                <a:chOff x="6988363" y="826546"/>
                <a:chExt cx="4436397" cy="3296236"/>
              </a:xfrm>
            </p:grpSpPr>
            <p:sp>
              <p:nvSpPr>
                <p:cNvPr id="21" name="Rectangle 20">
                  <a:extLst>
                    <a:ext uri="{FF2B5EF4-FFF2-40B4-BE49-F238E27FC236}">
                      <a16:creationId xmlns:a16="http://schemas.microsoft.com/office/drawing/2014/main" id="{45716A4B-861D-0DEA-DAA7-660C245E1088}"/>
                    </a:ext>
                  </a:extLst>
                </p:cNvPr>
                <p:cNvSpPr/>
                <p:nvPr/>
              </p:nvSpPr>
              <p:spPr>
                <a:xfrm>
                  <a:off x="7517633" y="1096719"/>
                  <a:ext cx="955643" cy="193445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227A35C-F35F-89EC-AA3B-47714CF38EFC}"/>
                    </a:ext>
                  </a:extLst>
                </p:cNvPr>
                <p:cNvGrpSpPr/>
                <p:nvPr/>
              </p:nvGrpSpPr>
              <p:grpSpPr>
                <a:xfrm>
                  <a:off x="6988363" y="826546"/>
                  <a:ext cx="4436397" cy="3296236"/>
                  <a:chOff x="415724" y="258550"/>
                  <a:chExt cx="4435166" cy="3827171"/>
                </a:xfrm>
              </p:grpSpPr>
              <p:sp>
                <p:nvSpPr>
                  <p:cNvPr id="25" name="Rectangle 24">
                    <a:extLst>
                      <a:ext uri="{FF2B5EF4-FFF2-40B4-BE49-F238E27FC236}">
                        <a16:creationId xmlns:a16="http://schemas.microsoft.com/office/drawing/2014/main" id="{224D7DBB-641F-3A5A-1CF9-0B9F420A2F92}"/>
                      </a:ext>
                    </a:extLst>
                  </p:cNvPr>
                  <p:cNvSpPr/>
                  <p:nvPr/>
                </p:nvSpPr>
                <p:spPr>
                  <a:xfrm>
                    <a:off x="416089" y="3659599"/>
                    <a:ext cx="4434801" cy="426122"/>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6" name="Group 25">
                    <a:extLst>
                      <a:ext uri="{FF2B5EF4-FFF2-40B4-BE49-F238E27FC236}">
                        <a16:creationId xmlns:a16="http://schemas.microsoft.com/office/drawing/2014/main" id="{A440DFBB-4853-25D9-CC0A-26F13C7E1B21}"/>
                      </a:ext>
                    </a:extLst>
                  </p:cNvPr>
                  <p:cNvGrpSpPr/>
                  <p:nvPr/>
                </p:nvGrpSpPr>
                <p:grpSpPr>
                  <a:xfrm>
                    <a:off x="415724" y="258550"/>
                    <a:ext cx="2095383" cy="2871924"/>
                    <a:chOff x="1525433" y="1250519"/>
                    <a:chExt cx="2095383" cy="2871924"/>
                  </a:xfrm>
                </p:grpSpPr>
                <p:sp>
                  <p:nvSpPr>
                    <p:cNvPr id="27" name="Rectangle 26">
                      <a:extLst>
                        <a:ext uri="{FF2B5EF4-FFF2-40B4-BE49-F238E27FC236}">
                          <a16:creationId xmlns:a16="http://schemas.microsoft.com/office/drawing/2014/main" id="{77C1721C-81E6-7DFE-8774-DCA1D65C075C}"/>
                        </a:ext>
                      </a:extLst>
                    </p:cNvPr>
                    <p:cNvSpPr/>
                    <p:nvPr/>
                  </p:nvSpPr>
                  <p:spPr>
                    <a:xfrm>
                      <a:off x="1525434" y="1563457"/>
                      <a:ext cx="2095382" cy="224605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7DD9A21-1127-24B8-6AF5-A2C6EA415A06}"/>
                        </a:ext>
                      </a:extLst>
                    </p:cNvPr>
                    <p:cNvSpPr/>
                    <p:nvPr/>
                  </p:nvSpPr>
                  <p:spPr>
                    <a:xfrm>
                      <a:off x="1525434" y="1250519"/>
                      <a:ext cx="2095381" cy="29924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01881736-0BFA-BC64-1D18-F703BE34E7DE}"/>
                        </a:ext>
                      </a:extLst>
                    </p:cNvPr>
                    <p:cNvSpPr/>
                    <p:nvPr/>
                  </p:nvSpPr>
                  <p:spPr>
                    <a:xfrm>
                      <a:off x="1525433" y="3809504"/>
                      <a:ext cx="2095382" cy="31293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3" name="TextBox 22">
                  <a:extLst>
                    <a:ext uri="{FF2B5EF4-FFF2-40B4-BE49-F238E27FC236}">
                      <a16:creationId xmlns:a16="http://schemas.microsoft.com/office/drawing/2014/main" id="{74EAA985-A393-E27D-D9A2-E8244BE1EB27}"/>
                    </a:ext>
                  </a:extLst>
                </p:cNvPr>
                <p:cNvSpPr txBox="1"/>
                <p:nvPr/>
              </p:nvSpPr>
              <p:spPr>
                <a:xfrm>
                  <a:off x="7830903" y="1810840"/>
                  <a:ext cx="522513" cy="369332"/>
                </a:xfrm>
                <a:prstGeom prst="rect">
                  <a:avLst/>
                </a:prstGeom>
                <a:noFill/>
              </p:spPr>
              <p:txBody>
                <a:bodyPr wrap="square" rtlCol="0">
                  <a:spAutoFit/>
                </a:bodyPr>
                <a:lstStyle/>
                <a:p>
                  <a:r>
                    <a:rPr lang="en-US"/>
                    <a:t>1</a:t>
                  </a:r>
                </a:p>
              </p:txBody>
            </p:sp>
            <p:sp>
              <p:nvSpPr>
                <p:cNvPr id="24" name="Rectangle 23">
                  <a:extLst>
                    <a:ext uri="{FF2B5EF4-FFF2-40B4-BE49-F238E27FC236}">
                      <a16:creationId xmlns:a16="http://schemas.microsoft.com/office/drawing/2014/main" id="{3E35CBAC-B17A-DF1C-787D-6C6C4FB747DC}"/>
                    </a:ext>
                  </a:extLst>
                </p:cNvPr>
                <p:cNvSpPr/>
                <p:nvPr/>
              </p:nvSpPr>
              <p:spPr>
                <a:xfrm>
                  <a:off x="7586902" y="1102454"/>
                  <a:ext cx="817304" cy="192872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 name="Rectangle 6">
                <a:extLst>
                  <a:ext uri="{FF2B5EF4-FFF2-40B4-BE49-F238E27FC236}">
                    <a16:creationId xmlns:a16="http://schemas.microsoft.com/office/drawing/2014/main" id="{42F5BB90-6F33-8CA3-9B27-AA6CE26D6A54}"/>
                  </a:ext>
                </a:extLst>
              </p:cNvPr>
              <p:cNvSpPr/>
              <p:nvPr/>
            </p:nvSpPr>
            <p:spPr>
              <a:xfrm>
                <a:off x="8786369" y="1006506"/>
                <a:ext cx="302355" cy="329105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cxnSp>
            <p:nvCxnSpPr>
              <p:cNvPr id="8" name="Straight Arrow Connector 7">
                <a:extLst>
                  <a:ext uri="{FF2B5EF4-FFF2-40B4-BE49-F238E27FC236}">
                    <a16:creationId xmlns:a16="http://schemas.microsoft.com/office/drawing/2014/main" id="{1AB67ACD-24CC-57B5-B3F1-4A5A08CCE504}"/>
                  </a:ext>
                </a:extLst>
              </p:cNvPr>
              <p:cNvCxnSpPr>
                <a:cxnSpLocks/>
              </p:cNvCxnSpPr>
              <p:nvPr/>
            </p:nvCxnSpPr>
            <p:spPr>
              <a:xfrm>
                <a:off x="8798906" y="1863136"/>
                <a:ext cx="289963" cy="638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03C4F60-3ACD-F05D-67AE-099448D9262D}"/>
                  </a:ext>
                </a:extLst>
              </p:cNvPr>
              <p:cNvSpPr txBox="1"/>
              <p:nvPr/>
            </p:nvSpPr>
            <p:spPr>
              <a:xfrm>
                <a:off x="8716128" y="1572700"/>
                <a:ext cx="574060" cy="307777"/>
              </a:xfrm>
              <a:prstGeom prst="rect">
                <a:avLst/>
              </a:prstGeom>
              <a:noFill/>
            </p:spPr>
            <p:txBody>
              <a:bodyPr wrap="square" rtlCol="0">
                <a:spAutoFit/>
              </a:bodyPr>
              <a:lstStyle/>
              <a:p>
                <a:r>
                  <a:rPr lang="en-US" sz="1400"/>
                  <a:t>3PP</a:t>
                </a:r>
              </a:p>
            </p:txBody>
          </p:sp>
          <p:cxnSp>
            <p:nvCxnSpPr>
              <p:cNvPr id="10" name="Straight Arrow Connector 9">
                <a:extLst>
                  <a:ext uri="{FF2B5EF4-FFF2-40B4-BE49-F238E27FC236}">
                    <a16:creationId xmlns:a16="http://schemas.microsoft.com/office/drawing/2014/main" id="{16788726-E52F-644C-D3C3-A10C1C4E7ECE}"/>
                  </a:ext>
                </a:extLst>
              </p:cNvPr>
              <p:cNvCxnSpPr>
                <a:cxnSpLocks/>
              </p:cNvCxnSpPr>
              <p:nvPr/>
            </p:nvCxnSpPr>
            <p:spPr>
              <a:xfrm>
                <a:off x="7051083" y="2663045"/>
                <a:ext cx="2916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DCE3BE8-B43A-7546-00A7-0878B99D242C}"/>
                  </a:ext>
                </a:extLst>
              </p:cNvPr>
              <p:cNvCxnSpPr>
                <a:cxnSpLocks/>
              </p:cNvCxnSpPr>
              <p:nvPr/>
            </p:nvCxnSpPr>
            <p:spPr>
              <a:xfrm>
                <a:off x="5184316" y="1893669"/>
                <a:ext cx="2916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C692A49-2FBC-D301-7DE1-CB75B6430853}"/>
                  </a:ext>
                </a:extLst>
              </p:cNvPr>
              <p:cNvSpPr txBox="1"/>
              <p:nvPr/>
            </p:nvSpPr>
            <p:spPr>
              <a:xfrm>
                <a:off x="5088550" y="1595093"/>
                <a:ext cx="574060" cy="307777"/>
              </a:xfrm>
              <a:prstGeom prst="rect">
                <a:avLst/>
              </a:prstGeom>
              <a:noFill/>
            </p:spPr>
            <p:txBody>
              <a:bodyPr wrap="square" rtlCol="0">
                <a:spAutoFit/>
              </a:bodyPr>
              <a:lstStyle/>
              <a:p>
                <a:r>
                  <a:rPr lang="en-US" sz="1400"/>
                  <a:t>3PP</a:t>
                </a:r>
              </a:p>
            </p:txBody>
          </p:sp>
          <p:sp>
            <p:nvSpPr>
              <p:cNvPr id="13" name="Rectangle 12">
                <a:extLst>
                  <a:ext uri="{FF2B5EF4-FFF2-40B4-BE49-F238E27FC236}">
                    <a16:creationId xmlns:a16="http://schemas.microsoft.com/office/drawing/2014/main" id="{6B814553-4629-6E5E-EBF2-48840A420778}"/>
                  </a:ext>
                </a:extLst>
              </p:cNvPr>
              <p:cNvSpPr/>
              <p:nvPr/>
            </p:nvSpPr>
            <p:spPr>
              <a:xfrm>
                <a:off x="5510154" y="1466280"/>
                <a:ext cx="1540925" cy="1882193"/>
              </a:xfrm>
              <a:prstGeom prst="rect">
                <a:avLst/>
              </a:prstGeom>
              <a:noFill/>
              <a:ln w="57150">
                <a:solidFill>
                  <a:srgbClr val="0000FF"/>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5" name="Rectangle 14">
                <a:extLst>
                  <a:ext uri="{FF2B5EF4-FFF2-40B4-BE49-F238E27FC236}">
                    <a16:creationId xmlns:a16="http://schemas.microsoft.com/office/drawing/2014/main" id="{C6139686-FE6F-287D-6889-DB598F2C56D5}"/>
                  </a:ext>
                </a:extLst>
              </p:cNvPr>
              <p:cNvSpPr/>
              <p:nvPr/>
            </p:nvSpPr>
            <p:spPr>
              <a:xfrm>
                <a:off x="5484558" y="1233651"/>
                <a:ext cx="1565574" cy="23262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lumMod val="95000"/>
                        <a:lumOff val="5000"/>
                      </a:schemeClr>
                    </a:solidFill>
                  </a:rPr>
                  <a:t>Basefill</a:t>
                </a:r>
                <a:r>
                  <a:rPr lang="en-US" sz="1400">
                    <a:solidFill>
                      <a:schemeClr val="tx1">
                        <a:lumMod val="95000"/>
                        <a:lumOff val="5000"/>
                      </a:schemeClr>
                    </a:solidFill>
                  </a:rPr>
                  <a:t> (&gt;= 6*66)</a:t>
                </a:r>
              </a:p>
            </p:txBody>
          </p:sp>
          <p:sp>
            <p:nvSpPr>
              <p:cNvPr id="16" name="Rectangle 15">
                <a:extLst>
                  <a:ext uri="{FF2B5EF4-FFF2-40B4-BE49-F238E27FC236}">
                    <a16:creationId xmlns:a16="http://schemas.microsoft.com/office/drawing/2014/main" id="{1B229A4B-49B3-07F6-9AC5-84743B77D806}"/>
                  </a:ext>
                </a:extLst>
              </p:cNvPr>
              <p:cNvSpPr/>
              <p:nvPr/>
            </p:nvSpPr>
            <p:spPr>
              <a:xfrm rot="10800000" flipV="1">
                <a:off x="5485734" y="1020386"/>
                <a:ext cx="1557409" cy="23262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lumMod val="95000"/>
                        <a:lumOff val="5000"/>
                      </a:schemeClr>
                    </a:solidFill>
                  </a:rPr>
                  <a:t>Remainder (72,78,84, 90,96)</a:t>
                </a:r>
              </a:p>
            </p:txBody>
          </p:sp>
          <p:sp>
            <p:nvSpPr>
              <p:cNvPr id="17" name="Rectangle 16">
                <a:extLst>
                  <a:ext uri="{FF2B5EF4-FFF2-40B4-BE49-F238E27FC236}">
                    <a16:creationId xmlns:a16="http://schemas.microsoft.com/office/drawing/2014/main" id="{81691486-3087-B3D4-9D8A-D079931AC22B}"/>
                  </a:ext>
                </a:extLst>
              </p:cNvPr>
              <p:cNvSpPr/>
              <p:nvPr/>
            </p:nvSpPr>
            <p:spPr>
              <a:xfrm>
                <a:off x="5491783" y="4012825"/>
                <a:ext cx="3287585" cy="28474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Halo</a:t>
                </a:r>
              </a:p>
            </p:txBody>
          </p:sp>
        </p:grpSp>
        <p:grpSp>
          <p:nvGrpSpPr>
            <p:cNvPr id="166" name="Group 165">
              <a:extLst>
                <a:ext uri="{FF2B5EF4-FFF2-40B4-BE49-F238E27FC236}">
                  <a16:creationId xmlns:a16="http://schemas.microsoft.com/office/drawing/2014/main" id="{4CDBC44A-DA5C-6F18-1065-C4FE0EF40F98}"/>
                </a:ext>
              </a:extLst>
            </p:cNvPr>
            <p:cNvGrpSpPr/>
            <p:nvPr/>
          </p:nvGrpSpPr>
          <p:grpSpPr>
            <a:xfrm>
              <a:off x="89499" y="1482645"/>
              <a:ext cx="3926971" cy="3277180"/>
              <a:chOff x="89499" y="1482645"/>
              <a:chExt cx="3926971" cy="3277180"/>
            </a:xfrm>
          </p:grpSpPr>
          <p:sp>
            <p:nvSpPr>
              <p:cNvPr id="46" name="Rectangle 45">
                <a:extLst>
                  <a:ext uri="{FF2B5EF4-FFF2-40B4-BE49-F238E27FC236}">
                    <a16:creationId xmlns:a16="http://schemas.microsoft.com/office/drawing/2014/main" id="{C3676C03-A502-7FE7-EA6F-F5A7685B9947}"/>
                  </a:ext>
                </a:extLst>
              </p:cNvPr>
              <p:cNvSpPr/>
              <p:nvPr/>
            </p:nvSpPr>
            <p:spPr>
              <a:xfrm>
                <a:off x="1955327" y="1482645"/>
                <a:ext cx="314524" cy="2539706"/>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BT</a:t>
                </a:r>
              </a:p>
            </p:txBody>
          </p:sp>
          <p:sp>
            <p:nvSpPr>
              <p:cNvPr id="33" name="Rectangle 32">
                <a:extLst>
                  <a:ext uri="{FF2B5EF4-FFF2-40B4-BE49-F238E27FC236}">
                    <a16:creationId xmlns:a16="http://schemas.microsoft.com/office/drawing/2014/main" id="{6E335888-CABA-D63F-A2E8-1B4B95C5B8F3}"/>
                  </a:ext>
                </a:extLst>
              </p:cNvPr>
              <p:cNvSpPr/>
              <p:nvPr/>
            </p:nvSpPr>
            <p:spPr>
              <a:xfrm>
                <a:off x="89499" y="1482646"/>
                <a:ext cx="3926971" cy="3277179"/>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5DA1789A-77AD-29CE-C178-7B816B23C5E3}"/>
                  </a:ext>
                </a:extLst>
              </p:cNvPr>
              <p:cNvCxnSpPr>
                <a:cxnSpLocks/>
              </p:cNvCxnSpPr>
              <p:nvPr/>
            </p:nvCxnSpPr>
            <p:spPr>
              <a:xfrm>
                <a:off x="1978830" y="2292876"/>
                <a:ext cx="29384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B155FC-C17D-C0AC-92C3-0A8B092F4514}"/>
                  </a:ext>
                </a:extLst>
              </p:cNvPr>
              <p:cNvSpPr txBox="1"/>
              <p:nvPr/>
            </p:nvSpPr>
            <p:spPr>
              <a:xfrm>
                <a:off x="671716" y="3531999"/>
                <a:ext cx="1140592" cy="369332"/>
              </a:xfrm>
              <a:prstGeom prst="rect">
                <a:avLst/>
              </a:prstGeom>
              <a:noFill/>
            </p:spPr>
            <p:txBody>
              <a:bodyPr wrap="square" rtlCol="0">
                <a:spAutoFit/>
              </a:bodyPr>
              <a:lstStyle/>
              <a:p>
                <a:r>
                  <a:rPr lang="en-US"/>
                  <a:t>3 rows</a:t>
                </a:r>
              </a:p>
            </p:txBody>
          </p:sp>
          <p:sp>
            <p:nvSpPr>
              <p:cNvPr id="37" name="TextBox 36">
                <a:extLst>
                  <a:ext uri="{FF2B5EF4-FFF2-40B4-BE49-F238E27FC236}">
                    <a16:creationId xmlns:a16="http://schemas.microsoft.com/office/drawing/2014/main" id="{923EA147-149E-38DE-0631-2000E87E4836}"/>
                  </a:ext>
                </a:extLst>
              </p:cNvPr>
              <p:cNvSpPr txBox="1"/>
              <p:nvPr/>
            </p:nvSpPr>
            <p:spPr>
              <a:xfrm>
                <a:off x="696497" y="1825406"/>
                <a:ext cx="1140592" cy="369332"/>
              </a:xfrm>
              <a:prstGeom prst="rect">
                <a:avLst/>
              </a:prstGeom>
              <a:noFill/>
            </p:spPr>
            <p:txBody>
              <a:bodyPr wrap="square" rtlCol="0">
                <a:spAutoFit/>
              </a:bodyPr>
              <a:lstStyle/>
              <a:p>
                <a:r>
                  <a:rPr lang="en-US" b="1"/>
                  <a:t> </a:t>
                </a:r>
                <a:r>
                  <a:rPr lang="en-US"/>
                  <a:t>3 rows</a:t>
                </a:r>
              </a:p>
            </p:txBody>
          </p:sp>
          <p:sp>
            <p:nvSpPr>
              <p:cNvPr id="39" name="Rectangle 38">
                <a:extLst>
                  <a:ext uri="{FF2B5EF4-FFF2-40B4-BE49-F238E27FC236}">
                    <a16:creationId xmlns:a16="http://schemas.microsoft.com/office/drawing/2014/main" id="{EFA10FA7-D6C4-F7A4-ED52-F06CD500D6F4}"/>
                  </a:ext>
                </a:extLst>
              </p:cNvPr>
              <p:cNvSpPr/>
              <p:nvPr/>
            </p:nvSpPr>
            <p:spPr>
              <a:xfrm>
                <a:off x="2274954" y="1833239"/>
                <a:ext cx="1410537" cy="2354892"/>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5B21E76-BF66-D6E8-3419-491EF026DB42}"/>
                  </a:ext>
                </a:extLst>
              </p:cNvPr>
              <p:cNvSpPr txBox="1"/>
              <p:nvPr/>
            </p:nvSpPr>
            <p:spPr>
              <a:xfrm>
                <a:off x="1521245" y="4113618"/>
                <a:ext cx="766987" cy="369332"/>
              </a:xfrm>
              <a:prstGeom prst="rect">
                <a:avLst/>
              </a:prstGeom>
              <a:noFill/>
            </p:spPr>
            <p:txBody>
              <a:bodyPr wrap="square" rtlCol="0">
                <a:spAutoFit/>
              </a:bodyPr>
              <a:lstStyle/>
              <a:p>
                <a:r>
                  <a:rPr lang="en-US"/>
                  <a:t>132h</a:t>
                </a:r>
              </a:p>
            </p:txBody>
          </p:sp>
          <p:sp>
            <p:nvSpPr>
              <p:cNvPr id="100" name="Rectangle 99">
                <a:extLst>
                  <a:ext uri="{FF2B5EF4-FFF2-40B4-BE49-F238E27FC236}">
                    <a16:creationId xmlns:a16="http://schemas.microsoft.com/office/drawing/2014/main" id="{1DBAD6EF-22B2-1BC4-9E26-CA733FAB6610}"/>
                  </a:ext>
                </a:extLst>
              </p:cNvPr>
              <p:cNvSpPr/>
              <p:nvPr/>
            </p:nvSpPr>
            <p:spPr>
              <a:xfrm>
                <a:off x="2281016" y="1491807"/>
                <a:ext cx="1403536" cy="338892"/>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Halo</a:t>
                </a:r>
              </a:p>
            </p:txBody>
          </p:sp>
        </p:grpSp>
        <p:sp>
          <p:nvSpPr>
            <p:cNvPr id="169" name="TextBox 168">
              <a:extLst>
                <a:ext uri="{FF2B5EF4-FFF2-40B4-BE49-F238E27FC236}">
                  <a16:creationId xmlns:a16="http://schemas.microsoft.com/office/drawing/2014/main" id="{50BE45F3-29EA-CFA0-89CA-56F0A01C75DA}"/>
                </a:ext>
              </a:extLst>
            </p:cNvPr>
            <p:cNvSpPr txBox="1"/>
            <p:nvPr/>
          </p:nvSpPr>
          <p:spPr>
            <a:xfrm>
              <a:off x="1885089" y="1987572"/>
              <a:ext cx="574060" cy="307777"/>
            </a:xfrm>
            <a:prstGeom prst="rect">
              <a:avLst/>
            </a:prstGeom>
            <a:noFill/>
          </p:spPr>
          <p:txBody>
            <a:bodyPr wrap="square" rtlCol="0">
              <a:spAutoFit/>
            </a:bodyPr>
            <a:lstStyle/>
            <a:p>
              <a:r>
                <a:rPr lang="en-US" sz="1400"/>
                <a:t>3PP</a:t>
              </a:r>
            </a:p>
          </p:txBody>
        </p:sp>
        <p:grpSp>
          <p:nvGrpSpPr>
            <p:cNvPr id="177" name="Group 176">
              <a:extLst>
                <a:ext uri="{FF2B5EF4-FFF2-40B4-BE49-F238E27FC236}">
                  <a16:creationId xmlns:a16="http://schemas.microsoft.com/office/drawing/2014/main" id="{A8B9C55A-807E-5585-8776-C67D809B7424}"/>
                </a:ext>
              </a:extLst>
            </p:cNvPr>
            <p:cNvGrpSpPr/>
            <p:nvPr/>
          </p:nvGrpSpPr>
          <p:grpSpPr>
            <a:xfrm>
              <a:off x="399916" y="1831791"/>
              <a:ext cx="3291632" cy="2641301"/>
              <a:chOff x="399916" y="1831791"/>
              <a:chExt cx="3291632" cy="2641301"/>
            </a:xfrm>
            <a:noFill/>
          </p:grpSpPr>
          <p:sp>
            <p:nvSpPr>
              <p:cNvPr id="175" name="Rectangle 174">
                <a:extLst>
                  <a:ext uri="{FF2B5EF4-FFF2-40B4-BE49-F238E27FC236}">
                    <a16:creationId xmlns:a16="http://schemas.microsoft.com/office/drawing/2014/main" id="{1161E05E-E632-C828-B148-AD6E486D78B5}"/>
                  </a:ext>
                </a:extLst>
              </p:cNvPr>
              <p:cNvSpPr/>
              <p:nvPr/>
            </p:nvSpPr>
            <p:spPr>
              <a:xfrm>
                <a:off x="2272677" y="1831791"/>
                <a:ext cx="1403320" cy="2370220"/>
              </a:xfrm>
              <a:prstGeom prst="rect">
                <a:avLst/>
              </a:prstGeom>
              <a:grp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632E9862-6C2D-A98C-3604-4290B8BDB7CA}"/>
                  </a:ext>
                </a:extLst>
              </p:cNvPr>
              <p:cNvSpPr/>
              <p:nvPr/>
            </p:nvSpPr>
            <p:spPr>
              <a:xfrm>
                <a:off x="399916" y="4211833"/>
                <a:ext cx="3291632" cy="261259"/>
              </a:xfrm>
              <a:prstGeom prst="rect">
                <a:avLst/>
              </a:prstGeom>
              <a:grp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9" name="TextBox 178">
              <a:extLst>
                <a:ext uri="{FF2B5EF4-FFF2-40B4-BE49-F238E27FC236}">
                  <a16:creationId xmlns:a16="http://schemas.microsoft.com/office/drawing/2014/main" id="{50456ED2-B8C9-80A9-C1A0-07BF4E5F2629}"/>
                </a:ext>
              </a:extLst>
            </p:cNvPr>
            <p:cNvSpPr txBox="1"/>
            <p:nvPr/>
          </p:nvSpPr>
          <p:spPr>
            <a:xfrm>
              <a:off x="2659294" y="2353345"/>
              <a:ext cx="766987" cy="369332"/>
            </a:xfrm>
            <a:prstGeom prst="rect">
              <a:avLst/>
            </a:prstGeom>
            <a:noFill/>
          </p:spPr>
          <p:txBody>
            <a:bodyPr wrap="square" rtlCol="0">
              <a:spAutoFit/>
            </a:bodyPr>
            <a:lstStyle/>
            <a:p>
              <a:r>
                <a:rPr lang="en-US"/>
                <a:t>132h</a:t>
              </a:r>
            </a:p>
          </p:txBody>
        </p:sp>
        <p:sp>
          <p:nvSpPr>
            <p:cNvPr id="183" name="Rectangle 182">
              <a:extLst>
                <a:ext uri="{FF2B5EF4-FFF2-40B4-BE49-F238E27FC236}">
                  <a16:creationId xmlns:a16="http://schemas.microsoft.com/office/drawing/2014/main" id="{C902AF2D-0FFE-DEB2-5746-3FFFDD7F5B13}"/>
                </a:ext>
              </a:extLst>
            </p:cNvPr>
            <p:cNvSpPr/>
            <p:nvPr/>
          </p:nvSpPr>
          <p:spPr>
            <a:xfrm>
              <a:off x="405083" y="3811741"/>
              <a:ext cx="1557014" cy="201266"/>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err="1">
                  <a:solidFill>
                    <a:schemeClr val="tx1">
                      <a:lumMod val="95000"/>
                      <a:lumOff val="5000"/>
                    </a:schemeClr>
                  </a:solidFill>
                </a:rPr>
                <a:t>Basefill</a:t>
              </a:r>
              <a:r>
                <a:rPr lang="en-US" sz="1400">
                  <a:solidFill>
                    <a:schemeClr val="tx1">
                      <a:lumMod val="95000"/>
                      <a:lumOff val="5000"/>
                    </a:schemeClr>
                  </a:solidFill>
                </a:rPr>
                <a:t> (&gt;= 6*66)</a:t>
              </a:r>
            </a:p>
          </p:txBody>
        </p:sp>
        <p:sp>
          <p:nvSpPr>
            <p:cNvPr id="184" name="Rectangle 183">
              <a:extLst>
                <a:ext uri="{FF2B5EF4-FFF2-40B4-BE49-F238E27FC236}">
                  <a16:creationId xmlns:a16="http://schemas.microsoft.com/office/drawing/2014/main" id="{484DECE2-745C-F4B7-336C-8868A509530D}"/>
                </a:ext>
              </a:extLst>
            </p:cNvPr>
            <p:cNvSpPr/>
            <p:nvPr/>
          </p:nvSpPr>
          <p:spPr>
            <a:xfrm>
              <a:off x="401753" y="4012579"/>
              <a:ext cx="1870779" cy="18990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Halo</a:t>
              </a:r>
            </a:p>
          </p:txBody>
        </p:sp>
      </p:grpSp>
      <p:sp>
        <p:nvSpPr>
          <p:cNvPr id="3" name="Rectangle 2">
            <a:extLst>
              <a:ext uri="{FF2B5EF4-FFF2-40B4-BE49-F238E27FC236}">
                <a16:creationId xmlns:a16="http://schemas.microsoft.com/office/drawing/2014/main" id="{E98FEC44-1875-9DD1-5ACE-71696932CA45}"/>
              </a:ext>
            </a:extLst>
          </p:cNvPr>
          <p:cNvSpPr/>
          <p:nvPr/>
        </p:nvSpPr>
        <p:spPr>
          <a:xfrm>
            <a:off x="6445090" y="1399207"/>
            <a:ext cx="1432057" cy="347157"/>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lumMod val="95000"/>
                    <a:lumOff val="5000"/>
                  </a:schemeClr>
                </a:solidFill>
              </a:rPr>
              <a:t>Halo</a:t>
            </a:r>
          </a:p>
        </p:txBody>
      </p:sp>
      <p:sp>
        <p:nvSpPr>
          <p:cNvPr id="14" name="Rectangle 13">
            <a:extLst>
              <a:ext uri="{FF2B5EF4-FFF2-40B4-BE49-F238E27FC236}">
                <a16:creationId xmlns:a16="http://schemas.microsoft.com/office/drawing/2014/main" id="{75AF4D3D-0748-421F-7594-374A541179FB}"/>
              </a:ext>
            </a:extLst>
          </p:cNvPr>
          <p:cNvSpPr/>
          <p:nvPr/>
        </p:nvSpPr>
        <p:spPr>
          <a:xfrm>
            <a:off x="217740" y="5827667"/>
            <a:ext cx="575282" cy="18234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C07BF8FB-7596-C711-2BEF-02A74172DBFB}"/>
              </a:ext>
            </a:extLst>
          </p:cNvPr>
          <p:cNvSpPr/>
          <p:nvPr/>
        </p:nvSpPr>
        <p:spPr>
          <a:xfrm>
            <a:off x="217740" y="6096994"/>
            <a:ext cx="575282" cy="188911"/>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sz="1600">
              <a:solidFill>
                <a:prstClr val="white"/>
              </a:solidFill>
              <a:latin typeface="Calibri" panose="020F0502020204030204"/>
            </a:endParaRPr>
          </a:p>
        </p:txBody>
      </p:sp>
      <p:sp>
        <p:nvSpPr>
          <p:cNvPr id="31" name="Rectangle 30">
            <a:extLst>
              <a:ext uri="{FF2B5EF4-FFF2-40B4-BE49-F238E27FC236}">
                <a16:creationId xmlns:a16="http://schemas.microsoft.com/office/drawing/2014/main" id="{615ADBEB-EEAF-5A92-3292-FA85E15AF36B}"/>
              </a:ext>
            </a:extLst>
          </p:cNvPr>
          <p:cNvSpPr/>
          <p:nvPr/>
        </p:nvSpPr>
        <p:spPr>
          <a:xfrm>
            <a:off x="207948" y="6416402"/>
            <a:ext cx="580758" cy="16718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TextBox 79">
            <a:extLst>
              <a:ext uri="{FF2B5EF4-FFF2-40B4-BE49-F238E27FC236}">
                <a16:creationId xmlns:a16="http://schemas.microsoft.com/office/drawing/2014/main" id="{12F32546-B971-E130-02C2-BA5EB61DBD15}"/>
              </a:ext>
            </a:extLst>
          </p:cNvPr>
          <p:cNvSpPr txBox="1"/>
          <p:nvPr/>
        </p:nvSpPr>
        <p:spPr>
          <a:xfrm>
            <a:off x="817936" y="5732821"/>
            <a:ext cx="6314122" cy="338554"/>
          </a:xfrm>
          <a:prstGeom prst="rect">
            <a:avLst/>
          </a:prstGeom>
          <a:noFill/>
        </p:spPr>
        <p:txBody>
          <a:bodyPr wrap="square" rtlCol="0">
            <a:spAutoFit/>
          </a:bodyPr>
          <a:lstStyle/>
          <a:p>
            <a:r>
              <a:rPr lang="en-US" sz="1600" err="1"/>
              <a:t>bh</a:t>
            </a:r>
            <a:r>
              <a:rPr lang="en-US" sz="1600"/>
              <a:t>*</a:t>
            </a:r>
            <a:r>
              <a:rPr lang="en-US" sz="1600" err="1"/>
              <a:t>Region;id</a:t>
            </a:r>
            <a:r>
              <a:rPr lang="en-US" sz="1600"/>
              <a:t>/</a:t>
            </a:r>
            <a:r>
              <a:rPr lang="en-US" sz="1600" err="1"/>
              <a:t>brfRegion;id</a:t>
            </a:r>
            <a:r>
              <a:rPr lang="en-US" sz="1600"/>
              <a:t> (core </a:t>
            </a:r>
            <a:r>
              <a:rPr lang="en-US" sz="1600" err="1"/>
              <a:t>bitcell</a:t>
            </a:r>
            <a:r>
              <a:rPr lang="en-US" sz="1600"/>
              <a:t>)</a:t>
            </a:r>
          </a:p>
        </p:txBody>
      </p:sp>
      <p:sp>
        <p:nvSpPr>
          <p:cNvPr id="81" name="TextBox 80">
            <a:extLst>
              <a:ext uri="{FF2B5EF4-FFF2-40B4-BE49-F238E27FC236}">
                <a16:creationId xmlns:a16="http://schemas.microsoft.com/office/drawing/2014/main" id="{75200CA7-C2C8-0713-E9D8-BA5AEB32D0AB}"/>
              </a:ext>
            </a:extLst>
          </p:cNvPr>
          <p:cNvSpPr txBox="1"/>
          <p:nvPr/>
        </p:nvSpPr>
        <p:spPr>
          <a:xfrm>
            <a:off x="803827" y="6307936"/>
            <a:ext cx="5796099" cy="338554"/>
          </a:xfrm>
          <a:prstGeom prst="rect">
            <a:avLst/>
          </a:prstGeom>
          <a:noFill/>
        </p:spPr>
        <p:txBody>
          <a:bodyPr wrap="square" rtlCol="0">
            <a:spAutoFit/>
          </a:bodyPr>
          <a:lstStyle/>
          <a:p>
            <a:r>
              <a:rPr lang="en-US" sz="1600" err="1"/>
              <a:t>Bitcell;SRAMID</a:t>
            </a:r>
            <a:r>
              <a:rPr lang="en-US" sz="1600"/>
              <a:t>/</a:t>
            </a:r>
            <a:r>
              <a:rPr lang="en-US" sz="1600" err="1"/>
              <a:t>rfRegion;id</a:t>
            </a:r>
            <a:r>
              <a:rPr lang="en-US" sz="1600"/>
              <a:t> ( CE! Collateral cell)</a:t>
            </a:r>
          </a:p>
        </p:txBody>
      </p:sp>
      <p:sp>
        <p:nvSpPr>
          <p:cNvPr id="83" name="TextBox 82">
            <a:extLst>
              <a:ext uri="{FF2B5EF4-FFF2-40B4-BE49-F238E27FC236}">
                <a16:creationId xmlns:a16="http://schemas.microsoft.com/office/drawing/2014/main" id="{7CCD2371-36C2-3253-9CAB-83055390C93A}"/>
              </a:ext>
            </a:extLst>
          </p:cNvPr>
          <p:cNvSpPr txBox="1"/>
          <p:nvPr/>
        </p:nvSpPr>
        <p:spPr>
          <a:xfrm>
            <a:off x="788706" y="6038139"/>
            <a:ext cx="6115050" cy="338554"/>
          </a:xfrm>
          <a:prstGeom prst="rect">
            <a:avLst/>
          </a:prstGeom>
          <a:noFill/>
        </p:spPr>
        <p:txBody>
          <a:bodyPr wrap="square">
            <a:spAutoFit/>
          </a:bodyPr>
          <a:lstStyle/>
          <a:p>
            <a:pPr lvl="0">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SRAM/</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RF;PGDTransitionID</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a:t>
            </a:r>
            <a:r>
              <a:rPr lang="en-US" sz="1600"/>
              <a:t>(core </a:t>
            </a:r>
            <a:r>
              <a:rPr lang="en-US" sz="1600" err="1"/>
              <a:t>bitcell</a:t>
            </a:r>
            <a:r>
              <a:rPr lang="en-US" sz="1600"/>
              <a:t>)	</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DA9C57D1-D353-ADD7-F11E-4BF8FE38549E}"/>
              </a:ext>
            </a:extLst>
          </p:cNvPr>
          <p:cNvSpPr/>
          <p:nvPr/>
        </p:nvSpPr>
        <p:spPr>
          <a:xfrm>
            <a:off x="5338595" y="5441071"/>
            <a:ext cx="630978" cy="230745"/>
          </a:xfrm>
          <a:prstGeom prst="rect">
            <a:avLst/>
          </a:prstGeom>
          <a:solidFill>
            <a:srgbClr val="FFD9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TextBox 84">
            <a:extLst>
              <a:ext uri="{FF2B5EF4-FFF2-40B4-BE49-F238E27FC236}">
                <a16:creationId xmlns:a16="http://schemas.microsoft.com/office/drawing/2014/main" id="{6DA19615-F685-47FD-B392-8DD15F751DBC}"/>
              </a:ext>
            </a:extLst>
          </p:cNvPr>
          <p:cNvSpPr txBox="1"/>
          <p:nvPr/>
        </p:nvSpPr>
        <p:spPr>
          <a:xfrm>
            <a:off x="6061202" y="5377043"/>
            <a:ext cx="5919002" cy="338554"/>
          </a:xfrm>
          <a:prstGeom prst="rect">
            <a:avLst/>
          </a:prstGeom>
          <a:noFill/>
        </p:spPr>
        <p:txBody>
          <a:bodyPr wrap="square" rtlCol="0">
            <a:spAutoFit/>
          </a:bodyPr>
          <a:lstStyle/>
          <a:p>
            <a:r>
              <a:rPr lang="en-US" sz="1600"/>
              <a:t>b132h_44ppBaseRegion;id ( decoder/timer / </a:t>
            </a:r>
            <a:r>
              <a:rPr lang="en-US" sz="1600" err="1"/>
              <a:t>quickRAM</a:t>
            </a:r>
            <a:r>
              <a:rPr lang="en-US" sz="1600"/>
              <a:t> periphery)</a:t>
            </a:r>
          </a:p>
        </p:txBody>
      </p:sp>
      <p:sp>
        <p:nvSpPr>
          <p:cNvPr id="86" name="Rectangle 85">
            <a:extLst>
              <a:ext uri="{FF2B5EF4-FFF2-40B4-BE49-F238E27FC236}">
                <a16:creationId xmlns:a16="http://schemas.microsoft.com/office/drawing/2014/main" id="{1D3D0644-FDF2-4A57-75D4-732B948F97AC}"/>
              </a:ext>
            </a:extLst>
          </p:cNvPr>
          <p:cNvSpPr/>
          <p:nvPr/>
        </p:nvSpPr>
        <p:spPr>
          <a:xfrm>
            <a:off x="5338595" y="5840630"/>
            <a:ext cx="630978" cy="230745"/>
          </a:xfrm>
          <a:prstGeom prst="rect">
            <a:avLst/>
          </a:prstGeom>
          <a:solidFill>
            <a:srgbClr val="D9F2D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TextBox 87">
            <a:extLst>
              <a:ext uri="{FF2B5EF4-FFF2-40B4-BE49-F238E27FC236}">
                <a16:creationId xmlns:a16="http://schemas.microsoft.com/office/drawing/2014/main" id="{1FC82864-7381-780D-C2FD-A2BE57946E65}"/>
              </a:ext>
            </a:extLst>
          </p:cNvPr>
          <p:cNvSpPr txBox="1"/>
          <p:nvPr/>
        </p:nvSpPr>
        <p:spPr>
          <a:xfrm>
            <a:off x="6064504" y="5757413"/>
            <a:ext cx="611505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Col*</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Region;id</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 denotes {</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hcc</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hdc</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rf*})</a:t>
            </a:r>
          </a:p>
        </p:txBody>
      </p:sp>
      <p:sp>
        <p:nvSpPr>
          <p:cNvPr id="89" name="Rectangle 88">
            <a:extLst>
              <a:ext uri="{FF2B5EF4-FFF2-40B4-BE49-F238E27FC236}">
                <a16:creationId xmlns:a16="http://schemas.microsoft.com/office/drawing/2014/main" id="{1BF3085E-2370-308F-E7D8-AF9D0BD2BBBA}"/>
              </a:ext>
            </a:extLst>
          </p:cNvPr>
          <p:cNvSpPr/>
          <p:nvPr/>
        </p:nvSpPr>
        <p:spPr>
          <a:xfrm>
            <a:off x="5323772" y="6269249"/>
            <a:ext cx="630978" cy="230745"/>
          </a:xfrm>
          <a:prstGeom prst="rect">
            <a:avLst/>
          </a:prstGeom>
          <a:solidFill>
            <a:srgbClr val="C04F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a16="http://schemas.microsoft.com/office/drawing/2014/main" id="{D83402B1-3843-59FB-0FFE-67D179FBDEC9}"/>
              </a:ext>
            </a:extLst>
          </p:cNvPr>
          <p:cNvSpPr txBox="1"/>
          <p:nvPr/>
        </p:nvSpPr>
        <p:spPr>
          <a:xfrm>
            <a:off x="6043518" y="6191058"/>
            <a:ext cx="611505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Col*</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Region;PGDTransitionID</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 denotes {</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hcc</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600" b="0" i="0" u="none" strike="noStrike" kern="1200" cap="none" spc="0" normalizeH="0" baseline="0" noProof="0" err="1">
                <a:ln>
                  <a:noFill/>
                </a:ln>
                <a:solidFill>
                  <a:prstClr val="black"/>
                </a:solidFill>
                <a:effectLst/>
                <a:uLnTx/>
                <a:uFillTx/>
                <a:latin typeface="Calibri" panose="020F0502020204030204"/>
                <a:ea typeface="+mn-ea"/>
                <a:cs typeface="+mn-cs"/>
              </a:rPr>
              <a:t>hdc</a:t>
            </a: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 rf*})</a:t>
            </a:r>
          </a:p>
        </p:txBody>
      </p:sp>
    </p:spTree>
    <p:extLst>
      <p:ext uri="{BB962C8B-B14F-4D97-AF65-F5344CB8AC3E}">
        <p14:creationId xmlns:p14="http://schemas.microsoft.com/office/powerpoint/2010/main" val="1005861665"/>
      </p:ext>
    </p:extLst>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B710-E2CB-1806-071B-F0EF1E02C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3A6D3-185A-36C7-FD32-722DE418798A}"/>
              </a:ext>
            </a:extLst>
          </p:cNvPr>
          <p:cNvSpPr>
            <a:spLocks noGrp="1"/>
          </p:cNvSpPr>
          <p:nvPr>
            <p:ph type="title"/>
          </p:nvPr>
        </p:nvSpPr>
        <p:spPr>
          <a:xfrm>
            <a:off x="195942" y="256344"/>
            <a:ext cx="3750129" cy="701675"/>
          </a:xfrm>
        </p:spPr>
        <p:txBody>
          <a:bodyPr>
            <a:normAutofit fontScale="90000"/>
          </a:bodyPr>
          <a:lstStyle/>
          <a:p>
            <a:r>
              <a:rPr lang="en-US"/>
              <a:t>Remainder Cells</a:t>
            </a:r>
          </a:p>
        </p:txBody>
      </p:sp>
      <p:cxnSp>
        <p:nvCxnSpPr>
          <p:cNvPr id="9" name="Straight Connector 8">
            <a:extLst>
              <a:ext uri="{FF2B5EF4-FFF2-40B4-BE49-F238E27FC236}">
                <a16:creationId xmlns:a16="http://schemas.microsoft.com/office/drawing/2014/main" id="{B9C81B3F-E6D9-EBBB-9CF9-B18263F7254E}"/>
              </a:ext>
            </a:extLst>
          </p:cNvPr>
          <p:cNvCxnSpPr>
            <a:cxnSpLocks/>
          </p:cNvCxnSpPr>
          <p:nvPr/>
        </p:nvCxnSpPr>
        <p:spPr>
          <a:xfrm>
            <a:off x="0" y="1491343"/>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594A0F-D1A1-77DA-3C34-91AD1BFE25F0}"/>
              </a:ext>
            </a:extLst>
          </p:cNvPr>
          <p:cNvCxnSpPr>
            <a:cxnSpLocks/>
          </p:cNvCxnSpPr>
          <p:nvPr/>
        </p:nvCxnSpPr>
        <p:spPr>
          <a:xfrm>
            <a:off x="413657" y="5649685"/>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FCA99CD-5F02-2AB2-1AD4-BF6F9ECB4C7E}"/>
              </a:ext>
            </a:extLst>
          </p:cNvPr>
          <p:cNvCxnSpPr>
            <a:cxnSpLocks/>
          </p:cNvCxnSpPr>
          <p:nvPr/>
        </p:nvCxnSpPr>
        <p:spPr>
          <a:xfrm>
            <a:off x="489857" y="3603171"/>
            <a:ext cx="5061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B0CC691-5832-FB31-BBED-247F094D7732}"/>
              </a:ext>
            </a:extLst>
          </p:cNvPr>
          <p:cNvCxnSpPr>
            <a:cxnSpLocks/>
          </p:cNvCxnSpPr>
          <p:nvPr/>
        </p:nvCxnSpPr>
        <p:spPr>
          <a:xfrm>
            <a:off x="65314" y="5649685"/>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DCC73445-6BB0-CCD5-1ABB-B6716D9A8DB6}"/>
              </a:ext>
            </a:extLst>
          </p:cNvPr>
          <p:cNvGrpSpPr/>
          <p:nvPr/>
        </p:nvGrpSpPr>
        <p:grpSpPr>
          <a:xfrm>
            <a:off x="609600" y="1676400"/>
            <a:ext cx="4343400" cy="1719943"/>
            <a:chOff x="7010400" y="1066800"/>
            <a:chExt cx="4343400" cy="1719943"/>
          </a:xfrm>
        </p:grpSpPr>
        <p:grpSp>
          <p:nvGrpSpPr>
            <p:cNvPr id="24" name="Group 23">
              <a:extLst>
                <a:ext uri="{FF2B5EF4-FFF2-40B4-BE49-F238E27FC236}">
                  <a16:creationId xmlns:a16="http://schemas.microsoft.com/office/drawing/2014/main" id="{6F2E0CC2-EDF5-D0E4-269E-0E0A5358B314}"/>
                </a:ext>
              </a:extLst>
            </p:cNvPr>
            <p:cNvGrpSpPr/>
            <p:nvPr/>
          </p:nvGrpSpPr>
          <p:grpSpPr>
            <a:xfrm>
              <a:off x="7010400" y="1066800"/>
              <a:ext cx="4332514" cy="195943"/>
              <a:chOff x="7010400" y="1066800"/>
              <a:chExt cx="4332514" cy="195943"/>
            </a:xfrm>
          </p:grpSpPr>
          <p:cxnSp>
            <p:nvCxnSpPr>
              <p:cNvPr id="16" name="Straight Connector 15">
                <a:extLst>
                  <a:ext uri="{FF2B5EF4-FFF2-40B4-BE49-F238E27FC236}">
                    <a16:creationId xmlns:a16="http://schemas.microsoft.com/office/drawing/2014/main" id="{BC96FA0C-AF2B-9375-B49D-4555D0A0C9E7}"/>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6D4C255-8C60-167D-9D58-DD91DC09FA36}"/>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54C311F-B341-9D49-6808-E628F9CF2956}"/>
                </a:ext>
              </a:extLst>
            </p:cNvPr>
            <p:cNvGrpSpPr/>
            <p:nvPr/>
          </p:nvGrpSpPr>
          <p:grpSpPr>
            <a:xfrm>
              <a:off x="7021286" y="1421898"/>
              <a:ext cx="4332514" cy="195943"/>
              <a:chOff x="7010400" y="1066800"/>
              <a:chExt cx="4332514" cy="195943"/>
            </a:xfrm>
          </p:grpSpPr>
          <p:cxnSp>
            <p:nvCxnSpPr>
              <p:cNvPr id="26" name="Straight Connector 25">
                <a:extLst>
                  <a:ext uri="{FF2B5EF4-FFF2-40B4-BE49-F238E27FC236}">
                    <a16:creationId xmlns:a16="http://schemas.microsoft.com/office/drawing/2014/main" id="{8E85A2C7-4DE2-C021-275F-2070908D752B}"/>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FDAE02A-2BD0-5865-E034-E618D6D4C119}"/>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07F51C26-17E6-FA50-2B3E-7CFD7E347AC3}"/>
                </a:ext>
              </a:extLst>
            </p:cNvPr>
            <p:cNvGrpSpPr/>
            <p:nvPr/>
          </p:nvGrpSpPr>
          <p:grpSpPr>
            <a:xfrm>
              <a:off x="7021286" y="1802898"/>
              <a:ext cx="4332514" cy="195943"/>
              <a:chOff x="7010400" y="1066800"/>
              <a:chExt cx="4332514" cy="195943"/>
            </a:xfrm>
          </p:grpSpPr>
          <p:cxnSp>
            <p:nvCxnSpPr>
              <p:cNvPr id="29" name="Straight Connector 28">
                <a:extLst>
                  <a:ext uri="{FF2B5EF4-FFF2-40B4-BE49-F238E27FC236}">
                    <a16:creationId xmlns:a16="http://schemas.microsoft.com/office/drawing/2014/main" id="{1B06C523-9DD8-27BF-30AE-4F4D3A8EF918}"/>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C185BA5-5679-2D03-5807-2998433A5C7D}"/>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1395C624-B91A-F282-E12C-9D5BA5073BC4}"/>
                </a:ext>
              </a:extLst>
            </p:cNvPr>
            <p:cNvGrpSpPr/>
            <p:nvPr/>
          </p:nvGrpSpPr>
          <p:grpSpPr>
            <a:xfrm>
              <a:off x="7021286" y="2205670"/>
              <a:ext cx="4332514" cy="195943"/>
              <a:chOff x="7010400" y="1066800"/>
              <a:chExt cx="4332514" cy="195943"/>
            </a:xfrm>
          </p:grpSpPr>
          <p:cxnSp>
            <p:nvCxnSpPr>
              <p:cNvPr id="32" name="Straight Connector 31">
                <a:extLst>
                  <a:ext uri="{FF2B5EF4-FFF2-40B4-BE49-F238E27FC236}">
                    <a16:creationId xmlns:a16="http://schemas.microsoft.com/office/drawing/2014/main" id="{92458786-FA14-9BC0-E7EE-AF648178DF5F}"/>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B9E84FF-C225-061E-524A-3A72049820D9}"/>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830BA2EC-B4FC-4DF6-BA65-F675336D6B9E}"/>
                </a:ext>
              </a:extLst>
            </p:cNvPr>
            <p:cNvGrpSpPr/>
            <p:nvPr/>
          </p:nvGrpSpPr>
          <p:grpSpPr>
            <a:xfrm>
              <a:off x="7021286" y="2590800"/>
              <a:ext cx="4332514" cy="195943"/>
              <a:chOff x="7010400" y="1066800"/>
              <a:chExt cx="4332514" cy="195943"/>
            </a:xfrm>
          </p:grpSpPr>
          <p:cxnSp>
            <p:nvCxnSpPr>
              <p:cNvPr id="35" name="Straight Connector 34">
                <a:extLst>
                  <a:ext uri="{FF2B5EF4-FFF2-40B4-BE49-F238E27FC236}">
                    <a16:creationId xmlns:a16="http://schemas.microsoft.com/office/drawing/2014/main" id="{4EF1BC08-5B5A-5DA1-D4EA-86E7904BB102}"/>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213E9FF-2606-18D7-48C9-772F9FDAAF98}"/>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37" name="TextBox 36">
            <a:extLst>
              <a:ext uri="{FF2B5EF4-FFF2-40B4-BE49-F238E27FC236}">
                <a16:creationId xmlns:a16="http://schemas.microsoft.com/office/drawing/2014/main" id="{941A6833-2BCF-D423-8180-29D927418DFF}"/>
              </a:ext>
            </a:extLst>
          </p:cNvPr>
          <p:cNvSpPr txBox="1"/>
          <p:nvPr/>
        </p:nvSpPr>
        <p:spPr>
          <a:xfrm>
            <a:off x="4996519" y="3536939"/>
            <a:ext cx="936171" cy="369332"/>
          </a:xfrm>
          <a:prstGeom prst="rect">
            <a:avLst/>
          </a:prstGeom>
          <a:noFill/>
        </p:spPr>
        <p:txBody>
          <a:bodyPr wrap="square" rtlCol="0">
            <a:spAutoFit/>
          </a:bodyPr>
          <a:lstStyle/>
          <a:p>
            <a:r>
              <a:rPr lang="en-US"/>
              <a:t> n*6</a:t>
            </a:r>
          </a:p>
        </p:txBody>
      </p:sp>
      <p:grpSp>
        <p:nvGrpSpPr>
          <p:cNvPr id="42" name="Group 41">
            <a:extLst>
              <a:ext uri="{FF2B5EF4-FFF2-40B4-BE49-F238E27FC236}">
                <a16:creationId xmlns:a16="http://schemas.microsoft.com/office/drawing/2014/main" id="{EA2BE6D5-F1EE-211D-960C-C20AFF511302}"/>
              </a:ext>
            </a:extLst>
          </p:cNvPr>
          <p:cNvGrpSpPr/>
          <p:nvPr/>
        </p:nvGrpSpPr>
        <p:grpSpPr>
          <a:xfrm>
            <a:off x="620486" y="3754787"/>
            <a:ext cx="4343400" cy="1719943"/>
            <a:chOff x="7010400" y="1066800"/>
            <a:chExt cx="4343400" cy="1719943"/>
          </a:xfrm>
        </p:grpSpPr>
        <p:grpSp>
          <p:nvGrpSpPr>
            <p:cNvPr id="43" name="Group 42">
              <a:extLst>
                <a:ext uri="{FF2B5EF4-FFF2-40B4-BE49-F238E27FC236}">
                  <a16:creationId xmlns:a16="http://schemas.microsoft.com/office/drawing/2014/main" id="{4CF3C347-0F12-BF5B-B5BA-473324CE86C2}"/>
                </a:ext>
              </a:extLst>
            </p:cNvPr>
            <p:cNvGrpSpPr/>
            <p:nvPr/>
          </p:nvGrpSpPr>
          <p:grpSpPr>
            <a:xfrm>
              <a:off x="7010400" y="1066800"/>
              <a:ext cx="4332514" cy="195943"/>
              <a:chOff x="7010400" y="1066800"/>
              <a:chExt cx="4332514" cy="195943"/>
            </a:xfrm>
          </p:grpSpPr>
          <p:cxnSp>
            <p:nvCxnSpPr>
              <p:cNvPr id="56" name="Straight Connector 55">
                <a:extLst>
                  <a:ext uri="{FF2B5EF4-FFF2-40B4-BE49-F238E27FC236}">
                    <a16:creationId xmlns:a16="http://schemas.microsoft.com/office/drawing/2014/main" id="{4178B6E4-3244-B43B-C56A-4C7CFF9FF40C}"/>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75A0DB4-6031-6917-9ACE-3F34EEF4DC1B}"/>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C5E8B68-961E-43E7-4C24-69CFF45118FE}"/>
                </a:ext>
              </a:extLst>
            </p:cNvPr>
            <p:cNvGrpSpPr/>
            <p:nvPr/>
          </p:nvGrpSpPr>
          <p:grpSpPr>
            <a:xfrm>
              <a:off x="7021286" y="1421898"/>
              <a:ext cx="4332514" cy="195943"/>
              <a:chOff x="7010400" y="1066800"/>
              <a:chExt cx="4332514" cy="195943"/>
            </a:xfrm>
          </p:grpSpPr>
          <p:cxnSp>
            <p:nvCxnSpPr>
              <p:cNvPr id="54" name="Straight Connector 53">
                <a:extLst>
                  <a:ext uri="{FF2B5EF4-FFF2-40B4-BE49-F238E27FC236}">
                    <a16:creationId xmlns:a16="http://schemas.microsoft.com/office/drawing/2014/main" id="{8DE46A1C-964A-1050-2EAE-52EED6167B55}"/>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6AE6117A-6270-1B99-5677-56280B6F5A55}"/>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D4A6E147-65F8-4AD4-0125-3084092D32AB}"/>
                </a:ext>
              </a:extLst>
            </p:cNvPr>
            <p:cNvGrpSpPr/>
            <p:nvPr/>
          </p:nvGrpSpPr>
          <p:grpSpPr>
            <a:xfrm>
              <a:off x="7021286" y="1802898"/>
              <a:ext cx="4332514" cy="195943"/>
              <a:chOff x="7010400" y="1066800"/>
              <a:chExt cx="4332514" cy="195943"/>
            </a:xfrm>
          </p:grpSpPr>
          <p:cxnSp>
            <p:nvCxnSpPr>
              <p:cNvPr id="52" name="Straight Connector 51">
                <a:extLst>
                  <a:ext uri="{FF2B5EF4-FFF2-40B4-BE49-F238E27FC236}">
                    <a16:creationId xmlns:a16="http://schemas.microsoft.com/office/drawing/2014/main" id="{5CA8DFF2-8F32-01CF-90CE-C0B09C71F480}"/>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C9BAE25-7454-0B65-7D07-744822FC5B2E}"/>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E691DC90-F92B-06A5-8B9C-2C20280C0AE3}"/>
                </a:ext>
              </a:extLst>
            </p:cNvPr>
            <p:cNvGrpSpPr/>
            <p:nvPr/>
          </p:nvGrpSpPr>
          <p:grpSpPr>
            <a:xfrm>
              <a:off x="7021286" y="2205670"/>
              <a:ext cx="4332514" cy="195943"/>
              <a:chOff x="7010400" y="1066800"/>
              <a:chExt cx="4332514" cy="195943"/>
            </a:xfrm>
          </p:grpSpPr>
          <p:cxnSp>
            <p:nvCxnSpPr>
              <p:cNvPr id="50" name="Straight Connector 49">
                <a:extLst>
                  <a:ext uri="{FF2B5EF4-FFF2-40B4-BE49-F238E27FC236}">
                    <a16:creationId xmlns:a16="http://schemas.microsoft.com/office/drawing/2014/main" id="{FF6D0A4B-F4FA-A47A-D1EE-AA0C8EA2A0FC}"/>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53F34E9-E48E-53C4-822F-AB1582A18BF4}"/>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AFC8D688-2827-2E89-FD7D-5663B4207E90}"/>
                </a:ext>
              </a:extLst>
            </p:cNvPr>
            <p:cNvGrpSpPr/>
            <p:nvPr/>
          </p:nvGrpSpPr>
          <p:grpSpPr>
            <a:xfrm>
              <a:off x="7021286" y="2590800"/>
              <a:ext cx="4332514" cy="195943"/>
              <a:chOff x="7010400" y="1066800"/>
              <a:chExt cx="4332514" cy="195943"/>
            </a:xfrm>
          </p:grpSpPr>
          <p:cxnSp>
            <p:nvCxnSpPr>
              <p:cNvPr id="48" name="Straight Connector 47">
                <a:extLst>
                  <a:ext uri="{FF2B5EF4-FFF2-40B4-BE49-F238E27FC236}">
                    <a16:creationId xmlns:a16="http://schemas.microsoft.com/office/drawing/2014/main" id="{50E1EF58-5CB9-2EC4-A892-B8B2339129EA}"/>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D104F04-CE5F-D1F5-A514-63825B372B7E}"/>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58" name="TextBox 57">
            <a:extLst>
              <a:ext uri="{FF2B5EF4-FFF2-40B4-BE49-F238E27FC236}">
                <a16:creationId xmlns:a16="http://schemas.microsoft.com/office/drawing/2014/main" id="{671FE6A1-65B1-3E10-FB2D-C314BCEE188D}"/>
              </a:ext>
            </a:extLst>
          </p:cNvPr>
          <p:cNvSpPr txBox="1"/>
          <p:nvPr/>
        </p:nvSpPr>
        <p:spPr>
          <a:xfrm>
            <a:off x="4757043" y="5607142"/>
            <a:ext cx="936170" cy="369332"/>
          </a:xfrm>
          <a:prstGeom prst="rect">
            <a:avLst/>
          </a:prstGeom>
          <a:noFill/>
        </p:spPr>
        <p:txBody>
          <a:bodyPr wrap="square" rtlCol="0">
            <a:spAutoFit/>
          </a:bodyPr>
          <a:lstStyle/>
          <a:p>
            <a:r>
              <a:rPr lang="en-US"/>
              <a:t>N*66</a:t>
            </a:r>
          </a:p>
        </p:txBody>
      </p:sp>
      <p:sp>
        <p:nvSpPr>
          <p:cNvPr id="59" name="Rectangle 58">
            <a:extLst>
              <a:ext uri="{FF2B5EF4-FFF2-40B4-BE49-F238E27FC236}">
                <a16:creationId xmlns:a16="http://schemas.microsoft.com/office/drawing/2014/main" id="{2F244AF1-6F39-846E-EC62-56C08793B149}"/>
              </a:ext>
            </a:extLst>
          </p:cNvPr>
          <p:cNvSpPr/>
          <p:nvPr/>
        </p:nvSpPr>
        <p:spPr>
          <a:xfrm>
            <a:off x="598714" y="1480067"/>
            <a:ext cx="468085" cy="227589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72</a:t>
            </a:r>
          </a:p>
        </p:txBody>
      </p:sp>
      <p:sp>
        <p:nvSpPr>
          <p:cNvPr id="60" name="Rectangle 59">
            <a:extLst>
              <a:ext uri="{FF2B5EF4-FFF2-40B4-BE49-F238E27FC236}">
                <a16:creationId xmlns:a16="http://schemas.microsoft.com/office/drawing/2014/main" id="{51E855C6-4EC0-DEB9-54F1-161C6222642B}"/>
              </a:ext>
            </a:extLst>
          </p:cNvPr>
          <p:cNvSpPr/>
          <p:nvPr/>
        </p:nvSpPr>
        <p:spPr>
          <a:xfrm>
            <a:off x="1306284" y="1514226"/>
            <a:ext cx="468085" cy="247278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78</a:t>
            </a:r>
          </a:p>
        </p:txBody>
      </p:sp>
      <p:sp>
        <p:nvSpPr>
          <p:cNvPr id="61" name="Rectangle 60">
            <a:extLst>
              <a:ext uri="{FF2B5EF4-FFF2-40B4-BE49-F238E27FC236}">
                <a16:creationId xmlns:a16="http://schemas.microsoft.com/office/drawing/2014/main" id="{DD0BFA58-C017-3345-DAB9-D8939314E092}"/>
              </a:ext>
            </a:extLst>
          </p:cNvPr>
          <p:cNvSpPr/>
          <p:nvPr/>
        </p:nvSpPr>
        <p:spPr>
          <a:xfrm>
            <a:off x="1970312" y="1477779"/>
            <a:ext cx="468085" cy="263886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84</a:t>
            </a:r>
          </a:p>
        </p:txBody>
      </p:sp>
      <p:sp>
        <p:nvSpPr>
          <p:cNvPr id="62" name="Rectangle 61">
            <a:extLst>
              <a:ext uri="{FF2B5EF4-FFF2-40B4-BE49-F238E27FC236}">
                <a16:creationId xmlns:a16="http://schemas.microsoft.com/office/drawing/2014/main" id="{913C2240-4598-E33D-C453-5073DCA624A1}"/>
              </a:ext>
            </a:extLst>
          </p:cNvPr>
          <p:cNvSpPr/>
          <p:nvPr/>
        </p:nvSpPr>
        <p:spPr>
          <a:xfrm>
            <a:off x="2645224" y="1459052"/>
            <a:ext cx="468085" cy="284264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90</a:t>
            </a:r>
          </a:p>
        </p:txBody>
      </p:sp>
      <p:sp>
        <p:nvSpPr>
          <p:cNvPr id="4" name="Rectangle 3">
            <a:extLst>
              <a:ext uri="{FF2B5EF4-FFF2-40B4-BE49-F238E27FC236}">
                <a16:creationId xmlns:a16="http://schemas.microsoft.com/office/drawing/2014/main" id="{8CE39619-0B9F-92AA-84F2-211C01A57503}"/>
              </a:ext>
            </a:extLst>
          </p:cNvPr>
          <p:cNvSpPr/>
          <p:nvPr/>
        </p:nvSpPr>
        <p:spPr>
          <a:xfrm>
            <a:off x="604153" y="3754786"/>
            <a:ext cx="440865" cy="2939919"/>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E208BCE-E3B3-A22C-E833-AB0DF3BBE6A7}"/>
              </a:ext>
            </a:extLst>
          </p:cNvPr>
          <p:cNvSpPr/>
          <p:nvPr/>
        </p:nvSpPr>
        <p:spPr>
          <a:xfrm>
            <a:off x="1333504" y="3958269"/>
            <a:ext cx="440865" cy="2736439"/>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A6058B-724A-3409-B721-E20C64EB9ED7}"/>
              </a:ext>
            </a:extLst>
          </p:cNvPr>
          <p:cNvSpPr/>
          <p:nvPr/>
        </p:nvSpPr>
        <p:spPr>
          <a:xfrm>
            <a:off x="1978479" y="4116643"/>
            <a:ext cx="459918" cy="2578062"/>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719248-91FF-5CE7-F5BC-209F197CFE70}"/>
              </a:ext>
            </a:extLst>
          </p:cNvPr>
          <p:cNvSpPr/>
          <p:nvPr/>
        </p:nvSpPr>
        <p:spPr>
          <a:xfrm>
            <a:off x="2650672" y="4283659"/>
            <a:ext cx="468085" cy="2411046"/>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8FDCF96F-42D2-D3DC-CE9E-17B16F0D1A93}"/>
              </a:ext>
            </a:extLst>
          </p:cNvPr>
          <p:cNvGrpSpPr/>
          <p:nvPr/>
        </p:nvGrpSpPr>
        <p:grpSpPr>
          <a:xfrm>
            <a:off x="3325559" y="1475050"/>
            <a:ext cx="468085" cy="5219653"/>
            <a:chOff x="3477986" y="1489723"/>
            <a:chExt cx="468085" cy="5219653"/>
          </a:xfrm>
        </p:grpSpPr>
        <p:sp>
          <p:nvSpPr>
            <p:cNvPr id="63" name="Rectangle 62">
              <a:extLst>
                <a:ext uri="{FF2B5EF4-FFF2-40B4-BE49-F238E27FC236}">
                  <a16:creationId xmlns:a16="http://schemas.microsoft.com/office/drawing/2014/main" id="{F646F905-5885-0218-71FD-F50B1C0197F8}"/>
                </a:ext>
              </a:extLst>
            </p:cNvPr>
            <p:cNvSpPr/>
            <p:nvPr/>
          </p:nvSpPr>
          <p:spPr>
            <a:xfrm>
              <a:off x="3477986" y="1489723"/>
              <a:ext cx="468085" cy="3006801"/>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96</a:t>
              </a:r>
            </a:p>
          </p:txBody>
        </p:sp>
        <p:sp>
          <p:nvSpPr>
            <p:cNvPr id="10" name="Rectangle 9">
              <a:extLst>
                <a:ext uri="{FF2B5EF4-FFF2-40B4-BE49-F238E27FC236}">
                  <a16:creationId xmlns:a16="http://schemas.microsoft.com/office/drawing/2014/main" id="{E9D74264-5DD3-CD69-1425-9C629F3604F1}"/>
                </a:ext>
              </a:extLst>
            </p:cNvPr>
            <p:cNvSpPr/>
            <p:nvPr/>
          </p:nvSpPr>
          <p:spPr>
            <a:xfrm>
              <a:off x="3477986" y="4505115"/>
              <a:ext cx="468085" cy="2204261"/>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5D71DD69-5786-439B-CB67-C5AD0D80329E}"/>
              </a:ext>
            </a:extLst>
          </p:cNvPr>
          <p:cNvSpPr/>
          <p:nvPr/>
        </p:nvSpPr>
        <p:spPr>
          <a:xfrm>
            <a:off x="6330056" y="4783398"/>
            <a:ext cx="674927" cy="388536"/>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61DAA0C-B6AE-AB21-A5E2-B853310DFED2}"/>
              </a:ext>
            </a:extLst>
          </p:cNvPr>
          <p:cNvSpPr txBox="1"/>
          <p:nvPr/>
        </p:nvSpPr>
        <p:spPr>
          <a:xfrm>
            <a:off x="7004983" y="4802602"/>
            <a:ext cx="1839686" cy="369332"/>
          </a:xfrm>
          <a:prstGeom prst="rect">
            <a:avLst/>
          </a:prstGeom>
          <a:noFill/>
        </p:spPr>
        <p:txBody>
          <a:bodyPr wrap="square" rtlCol="0">
            <a:spAutoFit/>
          </a:bodyPr>
          <a:lstStyle/>
          <a:p>
            <a:r>
              <a:rPr lang="en-US" err="1"/>
              <a:t>Memory_block</a:t>
            </a:r>
            <a:endParaRPr lang="en-US"/>
          </a:p>
        </p:txBody>
      </p:sp>
      <p:sp>
        <p:nvSpPr>
          <p:cNvPr id="15" name="TextBox 14">
            <a:extLst>
              <a:ext uri="{FF2B5EF4-FFF2-40B4-BE49-F238E27FC236}">
                <a16:creationId xmlns:a16="http://schemas.microsoft.com/office/drawing/2014/main" id="{C2A8CFED-FBBB-2058-1658-EF67486D01D4}"/>
              </a:ext>
            </a:extLst>
          </p:cNvPr>
          <p:cNvSpPr txBox="1"/>
          <p:nvPr/>
        </p:nvSpPr>
        <p:spPr>
          <a:xfrm>
            <a:off x="4952980" y="4494648"/>
            <a:ext cx="555163" cy="369332"/>
          </a:xfrm>
          <a:prstGeom prst="rect">
            <a:avLst/>
          </a:prstGeom>
          <a:noFill/>
        </p:spPr>
        <p:txBody>
          <a:bodyPr wrap="square" rtlCol="0">
            <a:spAutoFit/>
          </a:bodyPr>
          <a:lstStyle/>
          <a:p>
            <a:r>
              <a:rPr lang="en-US"/>
              <a:t>102</a:t>
            </a:r>
          </a:p>
        </p:txBody>
      </p:sp>
      <p:sp>
        <p:nvSpPr>
          <p:cNvPr id="18" name="TextBox 17">
            <a:extLst>
              <a:ext uri="{FF2B5EF4-FFF2-40B4-BE49-F238E27FC236}">
                <a16:creationId xmlns:a16="http://schemas.microsoft.com/office/drawing/2014/main" id="{E7C5B99B-840E-3748-D193-F2B38467EDFA}"/>
              </a:ext>
            </a:extLst>
          </p:cNvPr>
          <p:cNvSpPr txBox="1"/>
          <p:nvPr/>
        </p:nvSpPr>
        <p:spPr>
          <a:xfrm>
            <a:off x="4963885" y="4729699"/>
            <a:ext cx="555163" cy="369332"/>
          </a:xfrm>
          <a:prstGeom prst="rect">
            <a:avLst/>
          </a:prstGeom>
          <a:noFill/>
        </p:spPr>
        <p:txBody>
          <a:bodyPr wrap="square" rtlCol="0">
            <a:spAutoFit/>
          </a:bodyPr>
          <a:lstStyle/>
          <a:p>
            <a:r>
              <a:rPr lang="en-US"/>
              <a:t>108</a:t>
            </a:r>
          </a:p>
        </p:txBody>
      </p:sp>
      <p:sp>
        <p:nvSpPr>
          <p:cNvPr id="19" name="TextBox 18">
            <a:extLst>
              <a:ext uri="{FF2B5EF4-FFF2-40B4-BE49-F238E27FC236}">
                <a16:creationId xmlns:a16="http://schemas.microsoft.com/office/drawing/2014/main" id="{EACFDFEE-12B9-23BC-1D59-41C0FA563F6A}"/>
              </a:ext>
            </a:extLst>
          </p:cNvPr>
          <p:cNvSpPr txBox="1"/>
          <p:nvPr/>
        </p:nvSpPr>
        <p:spPr>
          <a:xfrm>
            <a:off x="4963885" y="4925642"/>
            <a:ext cx="555163" cy="369332"/>
          </a:xfrm>
          <a:prstGeom prst="rect">
            <a:avLst/>
          </a:prstGeom>
          <a:noFill/>
        </p:spPr>
        <p:txBody>
          <a:bodyPr wrap="square" rtlCol="0">
            <a:spAutoFit/>
          </a:bodyPr>
          <a:lstStyle/>
          <a:p>
            <a:r>
              <a:rPr lang="en-US"/>
              <a:t>114</a:t>
            </a:r>
          </a:p>
        </p:txBody>
      </p:sp>
      <p:sp>
        <p:nvSpPr>
          <p:cNvPr id="22" name="TextBox 21">
            <a:extLst>
              <a:ext uri="{FF2B5EF4-FFF2-40B4-BE49-F238E27FC236}">
                <a16:creationId xmlns:a16="http://schemas.microsoft.com/office/drawing/2014/main" id="{49F9465F-04B0-F423-67E0-4B448CFA8A4F}"/>
              </a:ext>
            </a:extLst>
          </p:cNvPr>
          <p:cNvSpPr txBox="1"/>
          <p:nvPr/>
        </p:nvSpPr>
        <p:spPr>
          <a:xfrm>
            <a:off x="4974790" y="5100596"/>
            <a:ext cx="555163" cy="369332"/>
          </a:xfrm>
          <a:prstGeom prst="rect">
            <a:avLst/>
          </a:prstGeom>
          <a:noFill/>
        </p:spPr>
        <p:txBody>
          <a:bodyPr wrap="square" rtlCol="0">
            <a:spAutoFit/>
          </a:bodyPr>
          <a:lstStyle/>
          <a:p>
            <a:r>
              <a:rPr lang="en-US"/>
              <a:t>120</a:t>
            </a:r>
          </a:p>
        </p:txBody>
      </p:sp>
      <p:sp>
        <p:nvSpPr>
          <p:cNvPr id="23" name="TextBox 22">
            <a:extLst>
              <a:ext uri="{FF2B5EF4-FFF2-40B4-BE49-F238E27FC236}">
                <a16:creationId xmlns:a16="http://schemas.microsoft.com/office/drawing/2014/main" id="{FFE6C3F1-E55E-15FD-0BE1-089BEF2E6642}"/>
              </a:ext>
            </a:extLst>
          </p:cNvPr>
          <p:cNvSpPr txBox="1"/>
          <p:nvPr/>
        </p:nvSpPr>
        <p:spPr>
          <a:xfrm>
            <a:off x="4963885" y="5306911"/>
            <a:ext cx="555163" cy="369332"/>
          </a:xfrm>
          <a:prstGeom prst="rect">
            <a:avLst/>
          </a:prstGeom>
          <a:noFill/>
        </p:spPr>
        <p:txBody>
          <a:bodyPr wrap="square" rtlCol="0">
            <a:spAutoFit/>
          </a:bodyPr>
          <a:lstStyle/>
          <a:p>
            <a:r>
              <a:rPr lang="en-US"/>
              <a:t>126</a:t>
            </a:r>
          </a:p>
        </p:txBody>
      </p:sp>
      <p:sp>
        <p:nvSpPr>
          <p:cNvPr id="70" name="Rectangle 69">
            <a:extLst>
              <a:ext uri="{FF2B5EF4-FFF2-40B4-BE49-F238E27FC236}">
                <a16:creationId xmlns:a16="http://schemas.microsoft.com/office/drawing/2014/main" id="{2F5206D6-AE3F-2BD5-0BF4-2595B8CA3B23}"/>
              </a:ext>
            </a:extLst>
          </p:cNvPr>
          <p:cNvSpPr/>
          <p:nvPr/>
        </p:nvSpPr>
        <p:spPr>
          <a:xfrm>
            <a:off x="9982200" y="4490442"/>
            <a:ext cx="2068286" cy="561581"/>
          </a:xfrm>
          <a:prstGeom prst="rect">
            <a:avLst/>
          </a:prstGeom>
          <a:solidFill>
            <a:srgbClr val="E2F0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9 6</a:t>
            </a:r>
          </a:p>
        </p:txBody>
      </p:sp>
      <p:sp>
        <p:nvSpPr>
          <p:cNvPr id="71" name="Rectangle 70">
            <a:extLst>
              <a:ext uri="{FF2B5EF4-FFF2-40B4-BE49-F238E27FC236}">
                <a16:creationId xmlns:a16="http://schemas.microsoft.com/office/drawing/2014/main" id="{6649B959-8867-4C44-5970-0799A8302300}"/>
              </a:ext>
            </a:extLst>
          </p:cNvPr>
          <p:cNvSpPr/>
          <p:nvPr/>
        </p:nvSpPr>
        <p:spPr>
          <a:xfrm>
            <a:off x="9982200" y="5032769"/>
            <a:ext cx="2068286" cy="561581"/>
          </a:xfrm>
          <a:prstGeom prst="rect">
            <a:avLst/>
          </a:prstGeom>
          <a:solidFill>
            <a:srgbClr val="E2F0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9 6</a:t>
            </a:r>
          </a:p>
        </p:txBody>
      </p:sp>
      <p:sp>
        <p:nvSpPr>
          <p:cNvPr id="72" name="Rectangle 71">
            <a:extLst>
              <a:ext uri="{FF2B5EF4-FFF2-40B4-BE49-F238E27FC236}">
                <a16:creationId xmlns:a16="http://schemas.microsoft.com/office/drawing/2014/main" id="{FED137A2-D90A-7917-F511-77E2AFFADCB1}"/>
              </a:ext>
            </a:extLst>
          </p:cNvPr>
          <p:cNvSpPr/>
          <p:nvPr/>
        </p:nvSpPr>
        <p:spPr>
          <a:xfrm>
            <a:off x="9982200" y="5574323"/>
            <a:ext cx="2068286" cy="561581"/>
          </a:xfrm>
          <a:prstGeom prst="rect">
            <a:avLst/>
          </a:prstGeom>
          <a:solidFill>
            <a:srgbClr val="E2F0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9 0</a:t>
            </a:r>
          </a:p>
        </p:txBody>
      </p:sp>
      <p:sp>
        <p:nvSpPr>
          <p:cNvPr id="73" name="Rectangle 72">
            <a:extLst>
              <a:ext uri="{FF2B5EF4-FFF2-40B4-BE49-F238E27FC236}">
                <a16:creationId xmlns:a16="http://schemas.microsoft.com/office/drawing/2014/main" id="{E51A3061-C59F-2F54-193F-CC8BFAC03E68}"/>
              </a:ext>
            </a:extLst>
          </p:cNvPr>
          <p:cNvSpPr/>
          <p:nvPr/>
        </p:nvSpPr>
        <p:spPr>
          <a:xfrm>
            <a:off x="9982200" y="6116650"/>
            <a:ext cx="2068286" cy="561581"/>
          </a:xfrm>
          <a:prstGeom prst="rect">
            <a:avLst/>
          </a:prstGeom>
          <a:solidFill>
            <a:srgbClr val="E2F0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9 0</a:t>
            </a:r>
          </a:p>
        </p:txBody>
      </p:sp>
      <p:cxnSp>
        <p:nvCxnSpPr>
          <p:cNvPr id="76" name="Straight Connector 75">
            <a:extLst>
              <a:ext uri="{FF2B5EF4-FFF2-40B4-BE49-F238E27FC236}">
                <a16:creationId xmlns:a16="http://schemas.microsoft.com/office/drawing/2014/main" id="{CAD5F1C0-FDE2-B827-4F01-299D8826928F}"/>
              </a:ext>
            </a:extLst>
          </p:cNvPr>
          <p:cNvCxnSpPr>
            <a:cxnSpLocks/>
          </p:cNvCxnSpPr>
          <p:nvPr/>
        </p:nvCxnSpPr>
        <p:spPr>
          <a:xfrm>
            <a:off x="9769940" y="4771232"/>
            <a:ext cx="2356746" cy="146628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1DA5850-5D95-F4E3-9D9C-8B2636A708EC}"/>
              </a:ext>
            </a:extLst>
          </p:cNvPr>
          <p:cNvCxnSpPr>
            <a:cxnSpLocks/>
          </p:cNvCxnSpPr>
          <p:nvPr/>
        </p:nvCxnSpPr>
        <p:spPr>
          <a:xfrm flipV="1">
            <a:off x="9960429" y="4711865"/>
            <a:ext cx="2166257" cy="138761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922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97566-1304-9151-7C8F-A65B66A3852E}"/>
              </a:ext>
            </a:extLst>
          </p:cNvPr>
          <p:cNvSpPr>
            <a:spLocks noGrp="1"/>
          </p:cNvSpPr>
          <p:nvPr>
            <p:ph type="title"/>
          </p:nvPr>
        </p:nvSpPr>
        <p:spPr>
          <a:xfrm>
            <a:off x="171448" y="159408"/>
            <a:ext cx="4332514" cy="701675"/>
          </a:xfrm>
        </p:spPr>
        <p:txBody>
          <a:bodyPr>
            <a:normAutofit fontScale="90000"/>
          </a:bodyPr>
          <a:lstStyle/>
          <a:p>
            <a:r>
              <a:rPr lang="en-US"/>
              <a:t>Remainder combos</a:t>
            </a:r>
          </a:p>
        </p:txBody>
      </p:sp>
      <p:grpSp>
        <p:nvGrpSpPr>
          <p:cNvPr id="64" name="Group 63">
            <a:extLst>
              <a:ext uri="{FF2B5EF4-FFF2-40B4-BE49-F238E27FC236}">
                <a16:creationId xmlns:a16="http://schemas.microsoft.com/office/drawing/2014/main" id="{A2B8A20E-1069-9928-5523-3A6626496101}"/>
              </a:ext>
            </a:extLst>
          </p:cNvPr>
          <p:cNvGrpSpPr/>
          <p:nvPr/>
        </p:nvGrpSpPr>
        <p:grpSpPr>
          <a:xfrm>
            <a:off x="555171" y="1415143"/>
            <a:ext cx="5377543" cy="2437259"/>
            <a:chOff x="2917371" y="838200"/>
            <a:chExt cx="5791200" cy="4158342"/>
          </a:xfrm>
        </p:grpSpPr>
        <p:cxnSp>
          <p:nvCxnSpPr>
            <p:cNvPr id="9" name="Straight Connector 8">
              <a:extLst>
                <a:ext uri="{FF2B5EF4-FFF2-40B4-BE49-F238E27FC236}">
                  <a16:creationId xmlns:a16="http://schemas.microsoft.com/office/drawing/2014/main" id="{1A44E650-52B7-3081-9BAD-D6EA7FDB0FA5}"/>
                </a:ext>
              </a:extLst>
            </p:cNvPr>
            <p:cNvCxnSpPr>
              <a:cxnSpLocks/>
            </p:cNvCxnSpPr>
            <p:nvPr/>
          </p:nvCxnSpPr>
          <p:spPr>
            <a:xfrm>
              <a:off x="2917371" y="838200"/>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E46586-217E-5D33-D520-E2CC8ADE1C47}"/>
                </a:ext>
              </a:extLst>
            </p:cNvPr>
            <p:cNvCxnSpPr>
              <a:cxnSpLocks/>
            </p:cNvCxnSpPr>
            <p:nvPr/>
          </p:nvCxnSpPr>
          <p:spPr>
            <a:xfrm>
              <a:off x="3331028" y="4996542"/>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F54E3C-F4B0-1A76-F028-E08448E2564F}"/>
                </a:ext>
              </a:extLst>
            </p:cNvPr>
            <p:cNvCxnSpPr>
              <a:cxnSpLocks/>
            </p:cNvCxnSpPr>
            <p:nvPr/>
          </p:nvCxnSpPr>
          <p:spPr>
            <a:xfrm>
              <a:off x="3407228" y="2950028"/>
              <a:ext cx="5061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7622608-EFD4-64C3-95C1-9095FA603AE4}"/>
                </a:ext>
              </a:extLst>
            </p:cNvPr>
            <p:cNvCxnSpPr>
              <a:cxnSpLocks/>
            </p:cNvCxnSpPr>
            <p:nvPr/>
          </p:nvCxnSpPr>
          <p:spPr>
            <a:xfrm>
              <a:off x="2982685" y="4996542"/>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279F2189-CD78-C817-EEED-29AE8A3184E4}"/>
                </a:ext>
              </a:extLst>
            </p:cNvPr>
            <p:cNvGrpSpPr/>
            <p:nvPr/>
          </p:nvGrpSpPr>
          <p:grpSpPr>
            <a:xfrm>
              <a:off x="3526971" y="1023257"/>
              <a:ext cx="4343400" cy="1719943"/>
              <a:chOff x="7010400" y="1066800"/>
              <a:chExt cx="4343400" cy="1719943"/>
            </a:xfrm>
          </p:grpSpPr>
          <p:grpSp>
            <p:nvGrpSpPr>
              <p:cNvPr id="24" name="Group 23">
                <a:extLst>
                  <a:ext uri="{FF2B5EF4-FFF2-40B4-BE49-F238E27FC236}">
                    <a16:creationId xmlns:a16="http://schemas.microsoft.com/office/drawing/2014/main" id="{4C594821-14FA-0950-0E26-F14ED89E949F}"/>
                  </a:ext>
                </a:extLst>
              </p:cNvPr>
              <p:cNvGrpSpPr/>
              <p:nvPr/>
            </p:nvGrpSpPr>
            <p:grpSpPr>
              <a:xfrm>
                <a:off x="7010400" y="1066800"/>
                <a:ext cx="4332514" cy="195943"/>
                <a:chOff x="7010400" y="1066800"/>
                <a:chExt cx="4332514" cy="195943"/>
              </a:xfrm>
            </p:grpSpPr>
            <p:cxnSp>
              <p:nvCxnSpPr>
                <p:cNvPr id="16" name="Straight Connector 15">
                  <a:extLst>
                    <a:ext uri="{FF2B5EF4-FFF2-40B4-BE49-F238E27FC236}">
                      <a16:creationId xmlns:a16="http://schemas.microsoft.com/office/drawing/2014/main" id="{62CA618C-BE2F-8A45-8265-27866FBC27BE}"/>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9BA1850-D218-C20F-7F65-E458590DD3FD}"/>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3317E8DD-B589-EBA1-192B-7B0F0971AB50}"/>
                  </a:ext>
                </a:extLst>
              </p:cNvPr>
              <p:cNvGrpSpPr/>
              <p:nvPr/>
            </p:nvGrpSpPr>
            <p:grpSpPr>
              <a:xfrm>
                <a:off x="7021286" y="1421898"/>
                <a:ext cx="4332514" cy="195943"/>
                <a:chOff x="7010400" y="1066800"/>
                <a:chExt cx="4332514" cy="195943"/>
              </a:xfrm>
            </p:grpSpPr>
            <p:cxnSp>
              <p:nvCxnSpPr>
                <p:cNvPr id="26" name="Straight Connector 25">
                  <a:extLst>
                    <a:ext uri="{FF2B5EF4-FFF2-40B4-BE49-F238E27FC236}">
                      <a16:creationId xmlns:a16="http://schemas.microsoft.com/office/drawing/2014/main" id="{7FFCE70C-5886-34E4-DB0F-EC6AED05D222}"/>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69F2B4-2A03-86F4-FA5A-22F5119B5828}"/>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EE847035-719D-DA8B-DF6D-FDE5E3FE8918}"/>
                  </a:ext>
                </a:extLst>
              </p:cNvPr>
              <p:cNvGrpSpPr/>
              <p:nvPr/>
            </p:nvGrpSpPr>
            <p:grpSpPr>
              <a:xfrm>
                <a:off x="7021286" y="1802898"/>
                <a:ext cx="4332514" cy="195943"/>
                <a:chOff x="7010400" y="1066800"/>
                <a:chExt cx="4332514" cy="195943"/>
              </a:xfrm>
            </p:grpSpPr>
            <p:cxnSp>
              <p:nvCxnSpPr>
                <p:cNvPr id="29" name="Straight Connector 28">
                  <a:extLst>
                    <a:ext uri="{FF2B5EF4-FFF2-40B4-BE49-F238E27FC236}">
                      <a16:creationId xmlns:a16="http://schemas.microsoft.com/office/drawing/2014/main" id="{8C1E5CAC-BCD5-6867-898E-54B18ADA52CD}"/>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83A179A-5D29-1106-4DF5-E0D667AABCA1}"/>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51450755-5B8A-E251-9659-45232FFCB050}"/>
                  </a:ext>
                </a:extLst>
              </p:cNvPr>
              <p:cNvGrpSpPr/>
              <p:nvPr/>
            </p:nvGrpSpPr>
            <p:grpSpPr>
              <a:xfrm>
                <a:off x="7021286" y="2205670"/>
                <a:ext cx="4332514" cy="195943"/>
                <a:chOff x="7010400" y="1066800"/>
                <a:chExt cx="4332514" cy="195943"/>
              </a:xfrm>
            </p:grpSpPr>
            <p:cxnSp>
              <p:nvCxnSpPr>
                <p:cNvPr id="32" name="Straight Connector 31">
                  <a:extLst>
                    <a:ext uri="{FF2B5EF4-FFF2-40B4-BE49-F238E27FC236}">
                      <a16:creationId xmlns:a16="http://schemas.microsoft.com/office/drawing/2014/main" id="{6A9C4744-AB56-32F0-9CED-239D7D66DA36}"/>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9B9E75E-88DE-C367-87E7-ECEBD610D4E6}"/>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931449CF-0FA6-BEF9-E5A2-229387FB2331}"/>
                  </a:ext>
                </a:extLst>
              </p:cNvPr>
              <p:cNvGrpSpPr/>
              <p:nvPr/>
            </p:nvGrpSpPr>
            <p:grpSpPr>
              <a:xfrm>
                <a:off x="7021286" y="2590800"/>
                <a:ext cx="4332514" cy="195943"/>
                <a:chOff x="7010400" y="1066800"/>
                <a:chExt cx="4332514" cy="195943"/>
              </a:xfrm>
            </p:grpSpPr>
            <p:cxnSp>
              <p:nvCxnSpPr>
                <p:cNvPr id="35" name="Straight Connector 34">
                  <a:extLst>
                    <a:ext uri="{FF2B5EF4-FFF2-40B4-BE49-F238E27FC236}">
                      <a16:creationId xmlns:a16="http://schemas.microsoft.com/office/drawing/2014/main" id="{56BEC6E6-DAC1-0EBC-C8F4-59FD4993BE08}"/>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1709BC7-0DCE-5542-470D-274FB4824FEA}"/>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37" name="TextBox 36">
              <a:extLst>
                <a:ext uri="{FF2B5EF4-FFF2-40B4-BE49-F238E27FC236}">
                  <a16:creationId xmlns:a16="http://schemas.microsoft.com/office/drawing/2014/main" id="{CDE512EB-522F-09C8-7147-5855852598B3}"/>
                </a:ext>
              </a:extLst>
            </p:cNvPr>
            <p:cNvSpPr txBox="1"/>
            <p:nvPr/>
          </p:nvSpPr>
          <p:spPr>
            <a:xfrm>
              <a:off x="7772400" y="2249996"/>
              <a:ext cx="936171" cy="369331"/>
            </a:xfrm>
            <a:prstGeom prst="rect">
              <a:avLst/>
            </a:prstGeom>
            <a:noFill/>
          </p:spPr>
          <p:txBody>
            <a:bodyPr wrap="square" rtlCol="0">
              <a:spAutoFit/>
            </a:bodyPr>
            <a:lstStyle/>
            <a:p>
              <a:r>
                <a:rPr lang="en-US"/>
                <a:t> n*6</a:t>
              </a:r>
            </a:p>
          </p:txBody>
        </p:sp>
        <p:grpSp>
          <p:nvGrpSpPr>
            <p:cNvPr id="42" name="Group 41">
              <a:extLst>
                <a:ext uri="{FF2B5EF4-FFF2-40B4-BE49-F238E27FC236}">
                  <a16:creationId xmlns:a16="http://schemas.microsoft.com/office/drawing/2014/main" id="{2550DB92-66DE-C90C-F304-08085BD1D74B}"/>
                </a:ext>
              </a:extLst>
            </p:cNvPr>
            <p:cNvGrpSpPr/>
            <p:nvPr/>
          </p:nvGrpSpPr>
          <p:grpSpPr>
            <a:xfrm>
              <a:off x="3537857" y="3101644"/>
              <a:ext cx="4343400" cy="1719943"/>
              <a:chOff x="7010400" y="1066800"/>
              <a:chExt cx="4343400" cy="1719943"/>
            </a:xfrm>
          </p:grpSpPr>
          <p:grpSp>
            <p:nvGrpSpPr>
              <p:cNvPr id="43" name="Group 42">
                <a:extLst>
                  <a:ext uri="{FF2B5EF4-FFF2-40B4-BE49-F238E27FC236}">
                    <a16:creationId xmlns:a16="http://schemas.microsoft.com/office/drawing/2014/main" id="{EED0B8E1-107D-ECEB-BF66-35BC45F62531}"/>
                  </a:ext>
                </a:extLst>
              </p:cNvPr>
              <p:cNvGrpSpPr/>
              <p:nvPr/>
            </p:nvGrpSpPr>
            <p:grpSpPr>
              <a:xfrm>
                <a:off x="7010400" y="1066800"/>
                <a:ext cx="4332514" cy="195943"/>
                <a:chOff x="7010400" y="1066800"/>
                <a:chExt cx="4332514" cy="195943"/>
              </a:xfrm>
            </p:grpSpPr>
            <p:cxnSp>
              <p:nvCxnSpPr>
                <p:cNvPr id="56" name="Straight Connector 55">
                  <a:extLst>
                    <a:ext uri="{FF2B5EF4-FFF2-40B4-BE49-F238E27FC236}">
                      <a16:creationId xmlns:a16="http://schemas.microsoft.com/office/drawing/2014/main" id="{079823EE-BB50-9A42-8D55-7D98E9C442E8}"/>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856AA00-F344-F172-D7AE-671499CB2D17}"/>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3CE9F8F2-627C-7A49-4963-77F276273D92}"/>
                  </a:ext>
                </a:extLst>
              </p:cNvPr>
              <p:cNvGrpSpPr/>
              <p:nvPr/>
            </p:nvGrpSpPr>
            <p:grpSpPr>
              <a:xfrm>
                <a:off x="7021286" y="1421898"/>
                <a:ext cx="4332514" cy="195943"/>
                <a:chOff x="7010400" y="1066800"/>
                <a:chExt cx="4332514" cy="195943"/>
              </a:xfrm>
            </p:grpSpPr>
            <p:cxnSp>
              <p:nvCxnSpPr>
                <p:cNvPr id="54" name="Straight Connector 53">
                  <a:extLst>
                    <a:ext uri="{FF2B5EF4-FFF2-40B4-BE49-F238E27FC236}">
                      <a16:creationId xmlns:a16="http://schemas.microsoft.com/office/drawing/2014/main" id="{17584CB1-0AD5-5768-3D89-081FB035D420}"/>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2DA5E83-D36E-88C1-82BF-1CAEA63C363F}"/>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8109F374-58F9-0A67-9113-08A1C3C8082C}"/>
                  </a:ext>
                </a:extLst>
              </p:cNvPr>
              <p:cNvGrpSpPr/>
              <p:nvPr/>
            </p:nvGrpSpPr>
            <p:grpSpPr>
              <a:xfrm>
                <a:off x="7021286" y="1802898"/>
                <a:ext cx="4332514" cy="195943"/>
                <a:chOff x="7010400" y="1066800"/>
                <a:chExt cx="4332514" cy="195943"/>
              </a:xfrm>
            </p:grpSpPr>
            <p:cxnSp>
              <p:nvCxnSpPr>
                <p:cNvPr id="52" name="Straight Connector 51">
                  <a:extLst>
                    <a:ext uri="{FF2B5EF4-FFF2-40B4-BE49-F238E27FC236}">
                      <a16:creationId xmlns:a16="http://schemas.microsoft.com/office/drawing/2014/main" id="{9CADEA51-4731-15A7-6F48-A25B0209FB81}"/>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B725D46-B3F4-D6ED-5B9C-73D543BB971B}"/>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BD1927A8-DFAF-B0AF-D76C-1D0CC9DE0EC8}"/>
                  </a:ext>
                </a:extLst>
              </p:cNvPr>
              <p:cNvGrpSpPr/>
              <p:nvPr/>
            </p:nvGrpSpPr>
            <p:grpSpPr>
              <a:xfrm>
                <a:off x="7021286" y="2205670"/>
                <a:ext cx="4332514" cy="195943"/>
                <a:chOff x="7010400" y="1066800"/>
                <a:chExt cx="4332514" cy="195943"/>
              </a:xfrm>
            </p:grpSpPr>
            <p:cxnSp>
              <p:nvCxnSpPr>
                <p:cNvPr id="50" name="Straight Connector 49">
                  <a:extLst>
                    <a:ext uri="{FF2B5EF4-FFF2-40B4-BE49-F238E27FC236}">
                      <a16:creationId xmlns:a16="http://schemas.microsoft.com/office/drawing/2014/main" id="{2349D091-9101-0714-4C44-C376D3DEAA01}"/>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07C9CF7-8E61-8C33-F2BB-9C829DF68EF5}"/>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314F5FBF-F936-9A02-CA37-ED2C7ABAEE59}"/>
                  </a:ext>
                </a:extLst>
              </p:cNvPr>
              <p:cNvGrpSpPr/>
              <p:nvPr/>
            </p:nvGrpSpPr>
            <p:grpSpPr>
              <a:xfrm>
                <a:off x="7021286" y="2590800"/>
                <a:ext cx="4332514" cy="195943"/>
                <a:chOff x="7010400" y="1066800"/>
                <a:chExt cx="4332514" cy="195943"/>
              </a:xfrm>
            </p:grpSpPr>
            <p:cxnSp>
              <p:nvCxnSpPr>
                <p:cNvPr id="48" name="Straight Connector 47">
                  <a:extLst>
                    <a:ext uri="{FF2B5EF4-FFF2-40B4-BE49-F238E27FC236}">
                      <a16:creationId xmlns:a16="http://schemas.microsoft.com/office/drawing/2014/main" id="{0103B029-1FD5-6E6C-3E94-87F827D8B2AF}"/>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C67A02B-BC21-9E92-2A8C-F6198E5A7B3D}"/>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58" name="TextBox 57">
              <a:extLst>
                <a:ext uri="{FF2B5EF4-FFF2-40B4-BE49-F238E27FC236}">
                  <a16:creationId xmlns:a16="http://schemas.microsoft.com/office/drawing/2014/main" id="{F4CA86FA-DAC8-1602-2C3C-8BF1A47F3E3C}"/>
                </a:ext>
              </a:extLst>
            </p:cNvPr>
            <p:cNvSpPr txBox="1"/>
            <p:nvPr/>
          </p:nvSpPr>
          <p:spPr>
            <a:xfrm>
              <a:off x="7772401" y="4442154"/>
              <a:ext cx="936170" cy="369331"/>
            </a:xfrm>
            <a:prstGeom prst="rect">
              <a:avLst/>
            </a:prstGeom>
            <a:noFill/>
          </p:spPr>
          <p:txBody>
            <a:bodyPr wrap="square" rtlCol="0">
              <a:spAutoFit/>
            </a:bodyPr>
            <a:lstStyle/>
            <a:p>
              <a:r>
                <a:rPr lang="en-US"/>
                <a:t>N*66</a:t>
              </a:r>
            </a:p>
          </p:txBody>
        </p:sp>
      </p:grpSp>
      <p:grpSp>
        <p:nvGrpSpPr>
          <p:cNvPr id="66" name="Group 65">
            <a:extLst>
              <a:ext uri="{FF2B5EF4-FFF2-40B4-BE49-F238E27FC236}">
                <a16:creationId xmlns:a16="http://schemas.microsoft.com/office/drawing/2014/main" id="{0C5BADD1-8911-A90E-8028-A33E8EEEFDEA}"/>
              </a:ext>
            </a:extLst>
          </p:cNvPr>
          <p:cNvGrpSpPr/>
          <p:nvPr/>
        </p:nvGrpSpPr>
        <p:grpSpPr>
          <a:xfrm>
            <a:off x="615820" y="3878383"/>
            <a:ext cx="5377543" cy="2437259"/>
            <a:chOff x="2917371" y="838200"/>
            <a:chExt cx="5791200" cy="4158342"/>
          </a:xfrm>
        </p:grpSpPr>
        <p:cxnSp>
          <p:nvCxnSpPr>
            <p:cNvPr id="67" name="Straight Connector 66">
              <a:extLst>
                <a:ext uri="{FF2B5EF4-FFF2-40B4-BE49-F238E27FC236}">
                  <a16:creationId xmlns:a16="http://schemas.microsoft.com/office/drawing/2014/main" id="{CAA4A1B6-1C93-6C57-9DFB-A4A95A1A1FED}"/>
                </a:ext>
              </a:extLst>
            </p:cNvPr>
            <p:cNvCxnSpPr>
              <a:cxnSpLocks/>
            </p:cNvCxnSpPr>
            <p:nvPr/>
          </p:nvCxnSpPr>
          <p:spPr>
            <a:xfrm>
              <a:off x="2917371" y="838200"/>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EB15019-6FE1-F94D-EF96-1661645F1A4D}"/>
                </a:ext>
              </a:extLst>
            </p:cNvPr>
            <p:cNvCxnSpPr>
              <a:cxnSpLocks/>
            </p:cNvCxnSpPr>
            <p:nvPr/>
          </p:nvCxnSpPr>
          <p:spPr>
            <a:xfrm>
              <a:off x="3331028" y="4996542"/>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FA7EBB9-6921-2067-BD71-45AFBDAB4B47}"/>
                </a:ext>
              </a:extLst>
            </p:cNvPr>
            <p:cNvCxnSpPr>
              <a:cxnSpLocks/>
            </p:cNvCxnSpPr>
            <p:nvPr/>
          </p:nvCxnSpPr>
          <p:spPr>
            <a:xfrm>
              <a:off x="3407228" y="2950028"/>
              <a:ext cx="50618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56CA5C0-4A8F-90E6-8D96-A7561D82661F}"/>
                </a:ext>
              </a:extLst>
            </p:cNvPr>
            <p:cNvCxnSpPr>
              <a:cxnSpLocks/>
            </p:cNvCxnSpPr>
            <p:nvPr/>
          </p:nvCxnSpPr>
          <p:spPr>
            <a:xfrm>
              <a:off x="2982685" y="4996542"/>
              <a:ext cx="534488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0755FE97-1467-DF62-11C4-C06DD2270E7E}"/>
                </a:ext>
              </a:extLst>
            </p:cNvPr>
            <p:cNvGrpSpPr/>
            <p:nvPr/>
          </p:nvGrpSpPr>
          <p:grpSpPr>
            <a:xfrm>
              <a:off x="3526971" y="1023257"/>
              <a:ext cx="4343400" cy="1719943"/>
              <a:chOff x="7010400" y="1066800"/>
              <a:chExt cx="4343400" cy="1719943"/>
            </a:xfrm>
          </p:grpSpPr>
          <p:grpSp>
            <p:nvGrpSpPr>
              <p:cNvPr id="90" name="Group 89">
                <a:extLst>
                  <a:ext uri="{FF2B5EF4-FFF2-40B4-BE49-F238E27FC236}">
                    <a16:creationId xmlns:a16="http://schemas.microsoft.com/office/drawing/2014/main" id="{EB3C51B0-7BF3-CA23-5956-2DE9EB4F6D95}"/>
                  </a:ext>
                </a:extLst>
              </p:cNvPr>
              <p:cNvGrpSpPr/>
              <p:nvPr/>
            </p:nvGrpSpPr>
            <p:grpSpPr>
              <a:xfrm>
                <a:off x="7010400" y="1066800"/>
                <a:ext cx="4332514" cy="195943"/>
                <a:chOff x="7010400" y="1066800"/>
                <a:chExt cx="4332514" cy="195943"/>
              </a:xfrm>
            </p:grpSpPr>
            <p:cxnSp>
              <p:nvCxnSpPr>
                <p:cNvPr id="103" name="Straight Connector 102">
                  <a:extLst>
                    <a:ext uri="{FF2B5EF4-FFF2-40B4-BE49-F238E27FC236}">
                      <a16:creationId xmlns:a16="http://schemas.microsoft.com/office/drawing/2014/main" id="{F4DAB2CC-15E8-772D-16D4-7679414804F5}"/>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1D28E5C-6192-7E60-D845-0966BDCD0A56}"/>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1" name="Group 90">
                <a:extLst>
                  <a:ext uri="{FF2B5EF4-FFF2-40B4-BE49-F238E27FC236}">
                    <a16:creationId xmlns:a16="http://schemas.microsoft.com/office/drawing/2014/main" id="{E6405BF9-EF72-DC37-505D-052CF536C8CA}"/>
                  </a:ext>
                </a:extLst>
              </p:cNvPr>
              <p:cNvGrpSpPr/>
              <p:nvPr/>
            </p:nvGrpSpPr>
            <p:grpSpPr>
              <a:xfrm>
                <a:off x="7021286" y="1421898"/>
                <a:ext cx="4332514" cy="195943"/>
                <a:chOff x="7010400" y="1066800"/>
                <a:chExt cx="4332514" cy="195943"/>
              </a:xfrm>
            </p:grpSpPr>
            <p:cxnSp>
              <p:nvCxnSpPr>
                <p:cNvPr id="101" name="Straight Connector 100">
                  <a:extLst>
                    <a:ext uri="{FF2B5EF4-FFF2-40B4-BE49-F238E27FC236}">
                      <a16:creationId xmlns:a16="http://schemas.microsoft.com/office/drawing/2014/main" id="{612CD1AC-D4CC-1109-1F49-9232759DDEB2}"/>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AB108B03-EB4D-C4FC-0EFA-CEC1FAE8D2E1}"/>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ACFCB2EE-431E-70DE-3355-182C174548AC}"/>
                  </a:ext>
                </a:extLst>
              </p:cNvPr>
              <p:cNvGrpSpPr/>
              <p:nvPr/>
            </p:nvGrpSpPr>
            <p:grpSpPr>
              <a:xfrm>
                <a:off x="7021286" y="1802898"/>
                <a:ext cx="4332514" cy="195943"/>
                <a:chOff x="7010400" y="1066800"/>
                <a:chExt cx="4332514" cy="195943"/>
              </a:xfrm>
            </p:grpSpPr>
            <p:cxnSp>
              <p:nvCxnSpPr>
                <p:cNvPr id="99" name="Straight Connector 98">
                  <a:extLst>
                    <a:ext uri="{FF2B5EF4-FFF2-40B4-BE49-F238E27FC236}">
                      <a16:creationId xmlns:a16="http://schemas.microsoft.com/office/drawing/2014/main" id="{2FB25DFA-18E8-A8D8-0E19-C11E76141AAA}"/>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715F1454-ACC7-AAE2-5535-F5664331E9D0}"/>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E63C8DD2-8500-C6D6-BCBB-93B7112B1356}"/>
                  </a:ext>
                </a:extLst>
              </p:cNvPr>
              <p:cNvGrpSpPr/>
              <p:nvPr/>
            </p:nvGrpSpPr>
            <p:grpSpPr>
              <a:xfrm>
                <a:off x="7021286" y="2205670"/>
                <a:ext cx="4332514" cy="195943"/>
                <a:chOff x="7010400" y="1066800"/>
                <a:chExt cx="4332514" cy="195943"/>
              </a:xfrm>
            </p:grpSpPr>
            <p:cxnSp>
              <p:nvCxnSpPr>
                <p:cNvPr id="97" name="Straight Connector 96">
                  <a:extLst>
                    <a:ext uri="{FF2B5EF4-FFF2-40B4-BE49-F238E27FC236}">
                      <a16:creationId xmlns:a16="http://schemas.microsoft.com/office/drawing/2014/main" id="{42EA299E-A1B5-2836-4368-006C5C991E1F}"/>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9E8D626A-DF60-EE63-DDF1-714198CA7EDA}"/>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2B30EEAF-8D8A-19DE-F95A-9D595E041CDE}"/>
                  </a:ext>
                </a:extLst>
              </p:cNvPr>
              <p:cNvGrpSpPr/>
              <p:nvPr/>
            </p:nvGrpSpPr>
            <p:grpSpPr>
              <a:xfrm>
                <a:off x="7021286" y="2590800"/>
                <a:ext cx="4332514" cy="195943"/>
                <a:chOff x="7010400" y="1066800"/>
                <a:chExt cx="4332514" cy="195943"/>
              </a:xfrm>
            </p:grpSpPr>
            <p:cxnSp>
              <p:nvCxnSpPr>
                <p:cNvPr id="95" name="Straight Connector 94">
                  <a:extLst>
                    <a:ext uri="{FF2B5EF4-FFF2-40B4-BE49-F238E27FC236}">
                      <a16:creationId xmlns:a16="http://schemas.microsoft.com/office/drawing/2014/main" id="{612EB87D-D526-891A-BA4B-CAA07E20B25C}"/>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30FB0D0-907B-8AB0-8750-70F50DFE0934}"/>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5717BA48-293B-FFC7-1CE1-67DCE09633D5}"/>
                </a:ext>
              </a:extLst>
            </p:cNvPr>
            <p:cNvSpPr txBox="1"/>
            <p:nvPr/>
          </p:nvSpPr>
          <p:spPr>
            <a:xfrm>
              <a:off x="7772400" y="2249996"/>
              <a:ext cx="936171" cy="369331"/>
            </a:xfrm>
            <a:prstGeom prst="rect">
              <a:avLst/>
            </a:prstGeom>
            <a:noFill/>
          </p:spPr>
          <p:txBody>
            <a:bodyPr wrap="square" rtlCol="0">
              <a:spAutoFit/>
            </a:bodyPr>
            <a:lstStyle/>
            <a:p>
              <a:r>
                <a:rPr lang="en-US"/>
                <a:t> n*6</a:t>
              </a:r>
            </a:p>
          </p:txBody>
        </p:sp>
        <p:grpSp>
          <p:nvGrpSpPr>
            <p:cNvPr id="73" name="Group 72">
              <a:extLst>
                <a:ext uri="{FF2B5EF4-FFF2-40B4-BE49-F238E27FC236}">
                  <a16:creationId xmlns:a16="http://schemas.microsoft.com/office/drawing/2014/main" id="{A52E605F-C0CA-17CD-408F-6533EDFB0243}"/>
                </a:ext>
              </a:extLst>
            </p:cNvPr>
            <p:cNvGrpSpPr/>
            <p:nvPr/>
          </p:nvGrpSpPr>
          <p:grpSpPr>
            <a:xfrm>
              <a:off x="3537857" y="3101644"/>
              <a:ext cx="4343400" cy="1719943"/>
              <a:chOff x="7010400" y="1066800"/>
              <a:chExt cx="4343400" cy="1719943"/>
            </a:xfrm>
          </p:grpSpPr>
          <p:grpSp>
            <p:nvGrpSpPr>
              <p:cNvPr id="75" name="Group 74">
                <a:extLst>
                  <a:ext uri="{FF2B5EF4-FFF2-40B4-BE49-F238E27FC236}">
                    <a16:creationId xmlns:a16="http://schemas.microsoft.com/office/drawing/2014/main" id="{7A711DCD-E716-1949-01FF-EB716241B08E}"/>
                  </a:ext>
                </a:extLst>
              </p:cNvPr>
              <p:cNvGrpSpPr/>
              <p:nvPr/>
            </p:nvGrpSpPr>
            <p:grpSpPr>
              <a:xfrm>
                <a:off x="7010400" y="1066800"/>
                <a:ext cx="4332514" cy="195943"/>
                <a:chOff x="7010400" y="1066800"/>
                <a:chExt cx="4332514" cy="195943"/>
              </a:xfrm>
            </p:grpSpPr>
            <p:cxnSp>
              <p:nvCxnSpPr>
                <p:cNvPr id="88" name="Straight Connector 87">
                  <a:extLst>
                    <a:ext uri="{FF2B5EF4-FFF2-40B4-BE49-F238E27FC236}">
                      <a16:creationId xmlns:a16="http://schemas.microsoft.com/office/drawing/2014/main" id="{BD2128CB-AB14-108E-1AC3-E23AAA499515}"/>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CA4A6E5-9BE6-9103-3271-4F5F9B92B928}"/>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EC9B6254-3AAC-728F-2578-857FC8DD299A}"/>
                  </a:ext>
                </a:extLst>
              </p:cNvPr>
              <p:cNvGrpSpPr/>
              <p:nvPr/>
            </p:nvGrpSpPr>
            <p:grpSpPr>
              <a:xfrm>
                <a:off x="7021286" y="1421898"/>
                <a:ext cx="4332514" cy="195943"/>
                <a:chOff x="7010400" y="1066800"/>
                <a:chExt cx="4332514" cy="195943"/>
              </a:xfrm>
            </p:grpSpPr>
            <p:cxnSp>
              <p:nvCxnSpPr>
                <p:cNvPr id="86" name="Straight Connector 85">
                  <a:extLst>
                    <a:ext uri="{FF2B5EF4-FFF2-40B4-BE49-F238E27FC236}">
                      <a16:creationId xmlns:a16="http://schemas.microsoft.com/office/drawing/2014/main" id="{089755DD-7BAE-1921-4A00-39B65F45A83C}"/>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DBFC90A-884F-64E7-1729-AB3FD91A7665}"/>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77A6D014-541F-9EB9-5771-4AB6A2FAEF68}"/>
                  </a:ext>
                </a:extLst>
              </p:cNvPr>
              <p:cNvGrpSpPr/>
              <p:nvPr/>
            </p:nvGrpSpPr>
            <p:grpSpPr>
              <a:xfrm>
                <a:off x="7021286" y="1802898"/>
                <a:ext cx="4332514" cy="195943"/>
                <a:chOff x="7010400" y="1066800"/>
                <a:chExt cx="4332514" cy="195943"/>
              </a:xfrm>
            </p:grpSpPr>
            <p:cxnSp>
              <p:nvCxnSpPr>
                <p:cNvPr id="84" name="Straight Connector 83">
                  <a:extLst>
                    <a:ext uri="{FF2B5EF4-FFF2-40B4-BE49-F238E27FC236}">
                      <a16:creationId xmlns:a16="http://schemas.microsoft.com/office/drawing/2014/main" id="{17F5FF4A-3105-0C2C-03B2-B01BF4F04857}"/>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E447B69-7E88-C9BA-506F-6F2D278965C0}"/>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8" name="Group 77">
                <a:extLst>
                  <a:ext uri="{FF2B5EF4-FFF2-40B4-BE49-F238E27FC236}">
                    <a16:creationId xmlns:a16="http://schemas.microsoft.com/office/drawing/2014/main" id="{BEDD0F9E-6483-5D63-963B-A3D68C8070B3}"/>
                  </a:ext>
                </a:extLst>
              </p:cNvPr>
              <p:cNvGrpSpPr/>
              <p:nvPr/>
            </p:nvGrpSpPr>
            <p:grpSpPr>
              <a:xfrm>
                <a:off x="7021286" y="2205670"/>
                <a:ext cx="4332514" cy="195943"/>
                <a:chOff x="7010400" y="1066800"/>
                <a:chExt cx="4332514" cy="195943"/>
              </a:xfrm>
            </p:grpSpPr>
            <p:cxnSp>
              <p:nvCxnSpPr>
                <p:cNvPr id="82" name="Straight Connector 81">
                  <a:extLst>
                    <a:ext uri="{FF2B5EF4-FFF2-40B4-BE49-F238E27FC236}">
                      <a16:creationId xmlns:a16="http://schemas.microsoft.com/office/drawing/2014/main" id="{F1240E0A-BC0F-12A9-F57B-09E984662021}"/>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675CE0F-4ED2-434B-CF3C-B6A07988F22A}"/>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6AAC7515-782A-54B0-2738-0BE299FFE608}"/>
                  </a:ext>
                </a:extLst>
              </p:cNvPr>
              <p:cNvGrpSpPr/>
              <p:nvPr/>
            </p:nvGrpSpPr>
            <p:grpSpPr>
              <a:xfrm>
                <a:off x="7021286" y="2590800"/>
                <a:ext cx="4332514" cy="195943"/>
                <a:chOff x="7010400" y="1066800"/>
                <a:chExt cx="4332514" cy="195943"/>
              </a:xfrm>
            </p:grpSpPr>
            <p:cxnSp>
              <p:nvCxnSpPr>
                <p:cNvPr id="80" name="Straight Connector 79">
                  <a:extLst>
                    <a:ext uri="{FF2B5EF4-FFF2-40B4-BE49-F238E27FC236}">
                      <a16:creationId xmlns:a16="http://schemas.microsoft.com/office/drawing/2014/main" id="{4E1C8643-D2EE-389D-5627-E0D140703BA2}"/>
                    </a:ext>
                  </a:extLst>
                </p:cNvPr>
                <p:cNvCxnSpPr/>
                <p:nvPr/>
              </p:nvCxnSpPr>
              <p:spPr>
                <a:xfrm>
                  <a:off x="7010400" y="1066800"/>
                  <a:ext cx="43325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CE5C244-11F3-C5A7-DA10-03B721D2C8EB}"/>
                    </a:ext>
                  </a:extLst>
                </p:cNvPr>
                <p:cNvCxnSpPr/>
                <p:nvPr/>
              </p:nvCxnSpPr>
              <p:spPr>
                <a:xfrm>
                  <a:off x="7010400" y="1262743"/>
                  <a:ext cx="4332514"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4" name="TextBox 73">
              <a:extLst>
                <a:ext uri="{FF2B5EF4-FFF2-40B4-BE49-F238E27FC236}">
                  <a16:creationId xmlns:a16="http://schemas.microsoft.com/office/drawing/2014/main" id="{DAE7F4BE-CAA4-21FB-4E22-FD2D51B08F55}"/>
                </a:ext>
              </a:extLst>
            </p:cNvPr>
            <p:cNvSpPr txBox="1"/>
            <p:nvPr/>
          </p:nvSpPr>
          <p:spPr>
            <a:xfrm>
              <a:off x="7772401" y="4442154"/>
              <a:ext cx="936170" cy="369331"/>
            </a:xfrm>
            <a:prstGeom prst="rect">
              <a:avLst/>
            </a:prstGeom>
            <a:noFill/>
          </p:spPr>
          <p:txBody>
            <a:bodyPr wrap="square" rtlCol="0">
              <a:spAutoFit/>
            </a:bodyPr>
            <a:lstStyle/>
            <a:p>
              <a:r>
                <a:rPr lang="en-US"/>
                <a:t>N*66</a:t>
              </a:r>
            </a:p>
          </p:txBody>
        </p:sp>
      </p:grpSp>
      <p:sp>
        <p:nvSpPr>
          <p:cNvPr id="105" name="Rectangle 104">
            <a:extLst>
              <a:ext uri="{FF2B5EF4-FFF2-40B4-BE49-F238E27FC236}">
                <a16:creationId xmlns:a16="http://schemas.microsoft.com/office/drawing/2014/main" id="{360551AC-36A2-42E7-8917-491437B97A85}"/>
              </a:ext>
            </a:extLst>
          </p:cNvPr>
          <p:cNvSpPr/>
          <p:nvPr/>
        </p:nvSpPr>
        <p:spPr>
          <a:xfrm>
            <a:off x="1141446" y="1415142"/>
            <a:ext cx="468085" cy="311798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84x2</a:t>
            </a:r>
          </a:p>
        </p:txBody>
      </p:sp>
      <p:sp>
        <p:nvSpPr>
          <p:cNvPr id="107" name="Rectangle 106">
            <a:extLst>
              <a:ext uri="{FF2B5EF4-FFF2-40B4-BE49-F238E27FC236}">
                <a16:creationId xmlns:a16="http://schemas.microsoft.com/office/drawing/2014/main" id="{7D852AB0-652F-89A7-39AE-232624AC822B}"/>
              </a:ext>
            </a:extLst>
          </p:cNvPr>
          <p:cNvSpPr/>
          <p:nvPr/>
        </p:nvSpPr>
        <p:spPr>
          <a:xfrm>
            <a:off x="1929884" y="1425759"/>
            <a:ext cx="447868" cy="324619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90+</a:t>
            </a:r>
          </a:p>
          <a:p>
            <a:pPr algn="ctr"/>
            <a:r>
              <a:rPr lang="en-US">
                <a:solidFill>
                  <a:schemeClr val="tx1"/>
                </a:solidFill>
              </a:rPr>
              <a:t>84 or96+</a:t>
            </a:r>
          </a:p>
          <a:p>
            <a:pPr algn="ctr"/>
            <a:r>
              <a:rPr lang="en-US">
                <a:solidFill>
                  <a:schemeClr val="tx1"/>
                </a:solidFill>
              </a:rPr>
              <a:t>78</a:t>
            </a:r>
          </a:p>
        </p:txBody>
      </p:sp>
      <p:sp>
        <p:nvSpPr>
          <p:cNvPr id="108" name="Rectangle 107">
            <a:extLst>
              <a:ext uri="{FF2B5EF4-FFF2-40B4-BE49-F238E27FC236}">
                <a16:creationId xmlns:a16="http://schemas.microsoft.com/office/drawing/2014/main" id="{F897D2AB-5F65-8FC7-DD61-CC97B51A445E}"/>
              </a:ext>
            </a:extLst>
          </p:cNvPr>
          <p:cNvSpPr/>
          <p:nvPr/>
        </p:nvSpPr>
        <p:spPr>
          <a:xfrm>
            <a:off x="2715210" y="1404546"/>
            <a:ext cx="440870" cy="335431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90x2</a:t>
            </a:r>
          </a:p>
        </p:txBody>
      </p:sp>
      <p:sp>
        <p:nvSpPr>
          <p:cNvPr id="109" name="Rectangle 108">
            <a:extLst>
              <a:ext uri="{FF2B5EF4-FFF2-40B4-BE49-F238E27FC236}">
                <a16:creationId xmlns:a16="http://schemas.microsoft.com/office/drawing/2014/main" id="{E691B5D5-D34E-0850-967E-60AB98F17710}"/>
              </a:ext>
            </a:extLst>
          </p:cNvPr>
          <p:cNvSpPr/>
          <p:nvPr/>
        </p:nvSpPr>
        <p:spPr>
          <a:xfrm>
            <a:off x="3520753" y="1396266"/>
            <a:ext cx="440870" cy="346915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96+</a:t>
            </a:r>
          </a:p>
          <a:p>
            <a:pPr algn="ctr"/>
            <a:r>
              <a:rPr lang="en-US">
                <a:solidFill>
                  <a:schemeClr val="tx1"/>
                </a:solidFill>
              </a:rPr>
              <a:t>90</a:t>
            </a:r>
          </a:p>
        </p:txBody>
      </p:sp>
      <p:sp>
        <p:nvSpPr>
          <p:cNvPr id="110" name="Rectangle 109">
            <a:extLst>
              <a:ext uri="{FF2B5EF4-FFF2-40B4-BE49-F238E27FC236}">
                <a16:creationId xmlns:a16="http://schemas.microsoft.com/office/drawing/2014/main" id="{0AABBA0A-286B-848B-ED55-5B3B9F4C8137}"/>
              </a:ext>
            </a:extLst>
          </p:cNvPr>
          <p:cNvSpPr/>
          <p:nvPr/>
        </p:nvSpPr>
        <p:spPr>
          <a:xfrm>
            <a:off x="4458867" y="1417307"/>
            <a:ext cx="440870" cy="358354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96x2</a:t>
            </a:r>
          </a:p>
        </p:txBody>
      </p:sp>
      <p:sp>
        <p:nvSpPr>
          <p:cNvPr id="111" name="Rectangle 110">
            <a:extLst>
              <a:ext uri="{FF2B5EF4-FFF2-40B4-BE49-F238E27FC236}">
                <a16:creationId xmlns:a16="http://schemas.microsoft.com/office/drawing/2014/main" id="{99BB4142-FE34-63E4-4804-225614BDD166}"/>
              </a:ext>
            </a:extLst>
          </p:cNvPr>
          <p:cNvSpPr/>
          <p:nvPr/>
        </p:nvSpPr>
        <p:spPr>
          <a:xfrm>
            <a:off x="1158553" y="4504844"/>
            <a:ext cx="440865" cy="226117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16C98612-BCEF-0820-234B-04900C213D39}"/>
              </a:ext>
            </a:extLst>
          </p:cNvPr>
          <p:cNvSpPr/>
          <p:nvPr/>
        </p:nvSpPr>
        <p:spPr>
          <a:xfrm>
            <a:off x="1932992" y="4652356"/>
            <a:ext cx="440865" cy="2113664"/>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A8DFF533-A2EE-82A6-1215-E9AE57578BDB}"/>
              </a:ext>
            </a:extLst>
          </p:cNvPr>
          <p:cNvSpPr/>
          <p:nvPr/>
        </p:nvSpPr>
        <p:spPr>
          <a:xfrm>
            <a:off x="2707822" y="4745638"/>
            <a:ext cx="459918" cy="201679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DC0F0408-177C-AE6A-5312-401B1C10AEF9}"/>
              </a:ext>
            </a:extLst>
          </p:cNvPr>
          <p:cNvSpPr/>
          <p:nvPr/>
        </p:nvSpPr>
        <p:spPr>
          <a:xfrm>
            <a:off x="3500926" y="4860483"/>
            <a:ext cx="468085" cy="1901949"/>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E5C06F97-E9D6-5EEC-FD64-F0304D4CBC28}"/>
              </a:ext>
            </a:extLst>
          </p:cNvPr>
          <p:cNvSpPr/>
          <p:nvPr/>
        </p:nvSpPr>
        <p:spPr>
          <a:xfrm>
            <a:off x="4458465" y="4990967"/>
            <a:ext cx="446324" cy="177146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B475FF5C-5403-48FB-A20B-F7409859D3E9}"/>
              </a:ext>
            </a:extLst>
          </p:cNvPr>
          <p:cNvSpPr txBox="1"/>
          <p:nvPr/>
        </p:nvSpPr>
        <p:spPr>
          <a:xfrm>
            <a:off x="828087" y="4408479"/>
            <a:ext cx="555163" cy="246221"/>
          </a:xfrm>
          <a:prstGeom prst="rect">
            <a:avLst/>
          </a:prstGeom>
          <a:noFill/>
        </p:spPr>
        <p:txBody>
          <a:bodyPr wrap="square" rtlCol="0">
            <a:spAutoFit/>
          </a:bodyPr>
          <a:lstStyle/>
          <a:p>
            <a:r>
              <a:rPr lang="en-US" sz="1000"/>
              <a:t>102</a:t>
            </a:r>
          </a:p>
        </p:txBody>
      </p:sp>
      <p:sp>
        <p:nvSpPr>
          <p:cNvPr id="117" name="TextBox 116">
            <a:extLst>
              <a:ext uri="{FF2B5EF4-FFF2-40B4-BE49-F238E27FC236}">
                <a16:creationId xmlns:a16="http://schemas.microsoft.com/office/drawing/2014/main" id="{C95685DE-9C06-E1CE-8F47-978C700579D5}"/>
              </a:ext>
            </a:extLst>
          </p:cNvPr>
          <p:cNvSpPr txBox="1"/>
          <p:nvPr/>
        </p:nvSpPr>
        <p:spPr>
          <a:xfrm>
            <a:off x="831586" y="4664725"/>
            <a:ext cx="555163" cy="246221"/>
          </a:xfrm>
          <a:prstGeom prst="rect">
            <a:avLst/>
          </a:prstGeom>
          <a:noFill/>
        </p:spPr>
        <p:txBody>
          <a:bodyPr wrap="square" rtlCol="0">
            <a:spAutoFit/>
          </a:bodyPr>
          <a:lstStyle/>
          <a:p>
            <a:r>
              <a:rPr lang="en-US" sz="1000"/>
              <a:t>114</a:t>
            </a:r>
          </a:p>
        </p:txBody>
      </p:sp>
      <p:sp>
        <p:nvSpPr>
          <p:cNvPr id="118" name="TextBox 117">
            <a:extLst>
              <a:ext uri="{FF2B5EF4-FFF2-40B4-BE49-F238E27FC236}">
                <a16:creationId xmlns:a16="http://schemas.microsoft.com/office/drawing/2014/main" id="{6E4ED0BA-A083-EF2B-8380-1EE9ABF37499}"/>
              </a:ext>
            </a:extLst>
          </p:cNvPr>
          <p:cNvSpPr txBox="1"/>
          <p:nvPr/>
        </p:nvSpPr>
        <p:spPr>
          <a:xfrm>
            <a:off x="828087" y="4752837"/>
            <a:ext cx="555163" cy="246221"/>
          </a:xfrm>
          <a:prstGeom prst="rect">
            <a:avLst/>
          </a:prstGeom>
          <a:noFill/>
        </p:spPr>
        <p:txBody>
          <a:bodyPr wrap="square" rtlCol="0">
            <a:spAutoFit/>
          </a:bodyPr>
          <a:lstStyle/>
          <a:p>
            <a:r>
              <a:rPr lang="en-US" sz="1000"/>
              <a:t>120</a:t>
            </a:r>
          </a:p>
        </p:txBody>
      </p:sp>
      <p:sp>
        <p:nvSpPr>
          <p:cNvPr id="119" name="TextBox 118">
            <a:extLst>
              <a:ext uri="{FF2B5EF4-FFF2-40B4-BE49-F238E27FC236}">
                <a16:creationId xmlns:a16="http://schemas.microsoft.com/office/drawing/2014/main" id="{C5441E8A-3791-1A38-092E-77A9D4EEFE5D}"/>
              </a:ext>
            </a:extLst>
          </p:cNvPr>
          <p:cNvSpPr txBox="1"/>
          <p:nvPr/>
        </p:nvSpPr>
        <p:spPr>
          <a:xfrm>
            <a:off x="831585" y="4864283"/>
            <a:ext cx="555163" cy="246221"/>
          </a:xfrm>
          <a:prstGeom prst="rect">
            <a:avLst/>
          </a:prstGeom>
          <a:noFill/>
        </p:spPr>
        <p:txBody>
          <a:bodyPr wrap="square" rtlCol="0">
            <a:spAutoFit/>
          </a:bodyPr>
          <a:lstStyle/>
          <a:p>
            <a:r>
              <a:rPr lang="en-US" sz="1000"/>
              <a:t>126</a:t>
            </a:r>
          </a:p>
        </p:txBody>
      </p:sp>
      <p:sp>
        <p:nvSpPr>
          <p:cNvPr id="120" name="TextBox 119">
            <a:extLst>
              <a:ext uri="{FF2B5EF4-FFF2-40B4-BE49-F238E27FC236}">
                <a16:creationId xmlns:a16="http://schemas.microsoft.com/office/drawing/2014/main" id="{96035DCD-8292-6088-CEB1-166AE6473E56}"/>
              </a:ext>
            </a:extLst>
          </p:cNvPr>
          <p:cNvSpPr txBox="1"/>
          <p:nvPr/>
        </p:nvSpPr>
        <p:spPr>
          <a:xfrm>
            <a:off x="828087" y="4546948"/>
            <a:ext cx="555163" cy="246221"/>
          </a:xfrm>
          <a:prstGeom prst="rect">
            <a:avLst/>
          </a:prstGeom>
          <a:noFill/>
        </p:spPr>
        <p:txBody>
          <a:bodyPr wrap="square" rtlCol="0">
            <a:spAutoFit/>
          </a:bodyPr>
          <a:lstStyle/>
          <a:p>
            <a:r>
              <a:rPr lang="en-US" sz="1000"/>
              <a:t>108</a:t>
            </a:r>
          </a:p>
        </p:txBody>
      </p:sp>
    </p:spTree>
    <p:extLst>
      <p:ext uri="{BB962C8B-B14F-4D97-AF65-F5344CB8AC3E}">
        <p14:creationId xmlns:p14="http://schemas.microsoft.com/office/powerpoint/2010/main" val="753932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E650C8-8E38-5028-BDCE-91CEBD68EBB3}"/>
              </a:ext>
            </a:extLst>
          </p:cNvPr>
          <p:cNvSpPr>
            <a:spLocks noGrp="1"/>
          </p:cNvSpPr>
          <p:nvPr>
            <p:ph type="title" idx="4294967295"/>
          </p:nvPr>
        </p:nvSpPr>
        <p:spPr>
          <a:xfrm>
            <a:off x="0" y="2687834"/>
            <a:ext cx="12192000" cy="1325563"/>
          </a:xfrm>
          <a:solidFill>
            <a:srgbClr val="D96930"/>
          </a:solidFill>
          <a:ln w="9525">
            <a:solidFill>
              <a:srgbClr val="D96930"/>
            </a:solidFill>
            <a:prstDash val="solid"/>
          </a:ln>
        </p:spPr>
        <p:txBody>
          <a:bodyPr/>
          <a:lstStyle/>
          <a:p>
            <a:pPr algn="ctr"/>
            <a:r>
              <a:rPr lang="en-US"/>
              <a:t>BACKEND</a:t>
            </a:r>
          </a:p>
        </p:txBody>
      </p:sp>
    </p:spTree>
    <p:extLst>
      <p:ext uri="{BB962C8B-B14F-4D97-AF65-F5344CB8AC3E}">
        <p14:creationId xmlns:p14="http://schemas.microsoft.com/office/powerpoint/2010/main" val="1778556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7B6D-F359-3173-2A18-56D67A30A588}"/>
              </a:ext>
            </a:extLst>
          </p:cNvPr>
          <p:cNvSpPr>
            <a:spLocks noGrp="1"/>
          </p:cNvSpPr>
          <p:nvPr>
            <p:ph type="title" idx="4294967295"/>
          </p:nvPr>
        </p:nvSpPr>
        <p:spPr>
          <a:xfrm>
            <a:off x="-1" y="-3482"/>
            <a:ext cx="10515600" cy="905377"/>
          </a:xfrm>
        </p:spPr>
        <p:txBody>
          <a:bodyPr>
            <a:normAutofit/>
          </a:bodyPr>
          <a:lstStyle/>
          <a:p>
            <a:r>
              <a:rPr lang="en-US" sz="3200"/>
              <a:t>High-Level</a:t>
            </a:r>
            <a:r>
              <a:rPr lang="en-US" sz="3200" baseline="0"/>
              <a:t> Changes in P1281</a:t>
            </a:r>
            <a:endParaRPr lang="en-US" sz="3200"/>
          </a:p>
        </p:txBody>
      </p:sp>
      <p:graphicFrame>
        <p:nvGraphicFramePr>
          <p:cNvPr id="4" name="Diagram 3">
            <a:extLst>
              <a:ext uri="{FF2B5EF4-FFF2-40B4-BE49-F238E27FC236}">
                <a16:creationId xmlns:a16="http://schemas.microsoft.com/office/drawing/2014/main" id="{0A8A8F58-E869-5228-F765-32D15F0D5AF2}"/>
              </a:ext>
            </a:extLst>
          </p:cNvPr>
          <p:cNvGraphicFramePr/>
          <p:nvPr>
            <p:extLst>
              <p:ext uri="{D42A27DB-BD31-4B8C-83A1-F6EECF244321}">
                <p14:modId xmlns:p14="http://schemas.microsoft.com/office/powerpoint/2010/main" val="3843416903"/>
              </p:ext>
            </p:extLst>
          </p:nvPr>
        </p:nvGraphicFramePr>
        <p:xfrm>
          <a:off x="-1" y="901894"/>
          <a:ext cx="5996540" cy="3929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xmlns:pslz="http://schemas.microsoft.com/office/powerpoint/2016/slidezoom">
        <mc:Choice Requires="pslz">
          <p:graphicFrame>
            <p:nvGraphicFramePr>
              <p:cNvPr id="6" name="Slide Zoom 5">
                <a:extLst>
                  <a:ext uri="{FF2B5EF4-FFF2-40B4-BE49-F238E27FC236}">
                    <a16:creationId xmlns:a16="http://schemas.microsoft.com/office/drawing/2014/main" id="{22A60ADF-D50C-EAE3-EBD4-9E641088E366}"/>
                  </a:ext>
                </a:extLst>
              </p:cNvPr>
              <p:cNvGraphicFramePr>
                <a:graphicFrameLocks noChangeAspect="1"/>
              </p:cNvGraphicFramePr>
              <p:nvPr>
                <p:extLst>
                  <p:ext uri="{D42A27DB-BD31-4B8C-83A1-F6EECF244321}">
                    <p14:modId xmlns:p14="http://schemas.microsoft.com/office/powerpoint/2010/main" val="2290204632"/>
                  </p:ext>
                </p:extLst>
              </p:nvPr>
            </p:nvGraphicFramePr>
            <p:xfrm>
              <a:off x="6488210" y="118512"/>
              <a:ext cx="2699859" cy="1518671"/>
            </p:xfrm>
            <a:graphic>
              <a:graphicData uri="http://schemas.microsoft.com/office/powerpoint/2016/slidezoom">
                <pslz:sldZm>
                  <pslz:sldZmObj sldId="2147482902" cId="2558579121">
                    <pslz:zmPr id="{80A61DD6-AD1E-4E4B-B06C-45234003535B}" transitionDur="1000">
                      <p166:blipFill xmlns:p166="http://schemas.microsoft.com/office/powerpoint/2016/6/main">
                        <a:blip r:embed="rId7"/>
                        <a:stretch>
                          <a:fillRect/>
                        </a:stretch>
                      </p166:blipFill>
                      <p166:spPr xmlns:p166="http://schemas.microsoft.com/office/powerpoint/2016/6/main">
                        <a:xfrm>
                          <a:off x="0" y="0"/>
                          <a:ext cx="2699859" cy="1518671"/>
                        </a:xfrm>
                        <a:prstGeom prst="rect">
                          <a:avLst/>
                        </a:prstGeom>
                        <a:ln w="31750" cap="rnd">
                          <a:solidFill>
                            <a:prstClr val="black"/>
                          </a:solidFill>
                          <a:prstDash val="solid"/>
                        </a:ln>
                      </p166:spPr>
                    </pslz:zmPr>
                  </pslz:sldZmObj>
                </pslz:sldZm>
              </a:graphicData>
            </a:graphic>
          </p:graphicFrame>
        </mc:Choice>
        <mc:Fallback xmlns="">
          <p:pic>
            <p:nvPicPr>
              <p:cNvPr id="6" name="Slide Zoom 5">
                <a:hlinkClick r:id="rId8" action="ppaction://hlinksldjump"/>
                <a:extLst>
                  <a:ext uri="{FF2B5EF4-FFF2-40B4-BE49-F238E27FC236}">
                    <a16:creationId xmlns:a16="http://schemas.microsoft.com/office/drawing/2014/main" id="{22A60ADF-D50C-EAE3-EBD4-9E641088E366}"/>
                  </a:ext>
                </a:extLst>
              </p:cNvPr>
              <p:cNvPicPr>
                <a:picLocks noGrp="1" noRot="1" noChangeAspect="1" noMove="1" noResize="1" noEditPoints="1" noAdjustHandles="1" noChangeArrowheads="1" noChangeShapeType="1"/>
              </p:cNvPicPr>
              <p:nvPr/>
            </p:nvPicPr>
            <p:blipFill>
              <a:blip r:embed="rId9"/>
              <a:stretch>
                <a:fillRect/>
              </a:stretch>
            </p:blipFill>
            <p:spPr>
              <a:xfrm>
                <a:off x="6488210" y="118512"/>
                <a:ext cx="2699859" cy="1518671"/>
              </a:xfrm>
              <a:prstGeom prst="rect">
                <a:avLst/>
              </a:prstGeom>
              <a:ln w="3175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6D5109D0-F975-BAE7-6CD0-88CD45035160}"/>
                  </a:ext>
                </a:extLst>
              </p:cNvPr>
              <p:cNvGraphicFramePr>
                <a:graphicFrameLocks noChangeAspect="1"/>
              </p:cNvGraphicFramePr>
              <p:nvPr>
                <p:extLst>
                  <p:ext uri="{D42A27DB-BD31-4B8C-83A1-F6EECF244321}">
                    <p14:modId xmlns:p14="http://schemas.microsoft.com/office/powerpoint/2010/main" val="1589278193"/>
                  </p:ext>
                </p:extLst>
              </p:nvPr>
            </p:nvGraphicFramePr>
            <p:xfrm>
              <a:off x="9315071" y="118512"/>
              <a:ext cx="2699859" cy="1518671"/>
            </p:xfrm>
            <a:graphic>
              <a:graphicData uri="http://schemas.microsoft.com/office/powerpoint/2016/slidezoom">
                <pslz:sldZm>
                  <pslz:sldZmObj sldId="2147482904" cId="2213616895">
                    <pslz:zmPr id="{5DDF0028-A192-4288-8506-7D9559F8AC17}" transitionDur="1000">
                      <p166:blipFill xmlns:p166="http://schemas.microsoft.com/office/powerpoint/2016/6/main">
                        <a:blip r:embed="rId10"/>
                        <a:stretch>
                          <a:fillRect/>
                        </a:stretch>
                      </p166:blipFill>
                      <p166:spPr xmlns:p166="http://schemas.microsoft.com/office/powerpoint/2016/6/main">
                        <a:xfrm>
                          <a:off x="0" y="0"/>
                          <a:ext cx="2699859" cy="1518671"/>
                        </a:xfrm>
                        <a:prstGeom prst="rect">
                          <a:avLst/>
                        </a:prstGeom>
                        <a:ln w="31750" cap="rnd">
                          <a:solidFill>
                            <a:prstClr val="black"/>
                          </a:solidFill>
                          <a:prstDash val="solid"/>
                        </a:ln>
                      </p166:spPr>
                    </pslz:zmPr>
                  </pslz:sldZmObj>
                </pslz:sldZm>
              </a:graphicData>
            </a:graphic>
          </p:graphicFrame>
        </mc:Choice>
        <mc:Fallback xmlns="">
          <p:pic>
            <p:nvPicPr>
              <p:cNvPr id="9" name="Slide Zoom 8">
                <a:hlinkClick r:id="rId11" action="ppaction://hlinksldjump"/>
                <a:extLst>
                  <a:ext uri="{FF2B5EF4-FFF2-40B4-BE49-F238E27FC236}">
                    <a16:creationId xmlns:a16="http://schemas.microsoft.com/office/drawing/2014/main" id="{6D5109D0-F975-BAE7-6CD0-88CD45035160}"/>
                  </a:ext>
                </a:extLst>
              </p:cNvPr>
              <p:cNvPicPr>
                <a:picLocks noGrp="1" noRot="1" noChangeAspect="1" noMove="1" noResize="1" noEditPoints="1" noAdjustHandles="1" noChangeArrowheads="1" noChangeShapeType="1"/>
              </p:cNvPicPr>
              <p:nvPr/>
            </p:nvPicPr>
            <p:blipFill>
              <a:blip r:embed="rId12"/>
              <a:stretch>
                <a:fillRect/>
              </a:stretch>
            </p:blipFill>
            <p:spPr>
              <a:xfrm>
                <a:off x="9315071" y="118512"/>
                <a:ext cx="2699859" cy="1518671"/>
              </a:xfrm>
              <a:prstGeom prst="rect">
                <a:avLst/>
              </a:prstGeom>
              <a:ln w="3175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EC5163A1-F897-5D93-6556-FB68A58805BD}"/>
                  </a:ext>
                </a:extLst>
              </p:cNvPr>
              <p:cNvGraphicFramePr>
                <a:graphicFrameLocks noChangeAspect="1"/>
              </p:cNvGraphicFramePr>
              <p:nvPr>
                <p:extLst>
                  <p:ext uri="{D42A27DB-BD31-4B8C-83A1-F6EECF244321}">
                    <p14:modId xmlns:p14="http://schemas.microsoft.com/office/powerpoint/2010/main" val="154672936"/>
                  </p:ext>
                </p:extLst>
              </p:nvPr>
            </p:nvGraphicFramePr>
            <p:xfrm>
              <a:off x="6488210" y="1764183"/>
              <a:ext cx="2699859" cy="1518671"/>
            </p:xfrm>
            <a:graphic>
              <a:graphicData uri="http://schemas.microsoft.com/office/powerpoint/2016/slidezoom">
                <pslz:sldZm>
                  <pslz:sldZmObj sldId="2147482905" cId="2464162186">
                    <pslz:zmPr id="{8F579BDF-38B7-4F3D-A927-13A7B831E49F}" transitionDur="1000">
                      <p166:blipFill xmlns:p166="http://schemas.microsoft.com/office/powerpoint/2016/6/main">
                        <a:blip r:embed="rId13"/>
                        <a:stretch>
                          <a:fillRect/>
                        </a:stretch>
                      </p166:blipFill>
                      <p166:spPr xmlns:p166="http://schemas.microsoft.com/office/powerpoint/2016/6/main">
                        <a:xfrm>
                          <a:off x="0" y="0"/>
                          <a:ext cx="2699859" cy="1518671"/>
                        </a:xfrm>
                        <a:prstGeom prst="rect">
                          <a:avLst/>
                        </a:prstGeom>
                        <a:ln w="38100" cap="rnd">
                          <a:solidFill>
                            <a:prstClr val="black"/>
                          </a:solidFill>
                          <a:prstDash val="solid"/>
                        </a:ln>
                      </p166:spPr>
                    </pslz:zmPr>
                  </pslz:sldZmObj>
                </pslz:sldZm>
              </a:graphicData>
            </a:graphic>
          </p:graphicFrame>
        </mc:Choice>
        <mc:Fallback xmlns="">
          <p:pic>
            <p:nvPicPr>
              <p:cNvPr id="14" name="Slide Zoom 13">
                <a:hlinkClick r:id="rId14" action="ppaction://hlinksldjump"/>
                <a:extLst>
                  <a:ext uri="{FF2B5EF4-FFF2-40B4-BE49-F238E27FC236}">
                    <a16:creationId xmlns:a16="http://schemas.microsoft.com/office/drawing/2014/main" id="{EC5163A1-F897-5D93-6556-FB68A58805BD}"/>
                  </a:ext>
                </a:extLst>
              </p:cNvPr>
              <p:cNvPicPr>
                <a:picLocks noGrp="1" noRot="1" noChangeAspect="1" noMove="1" noResize="1" noEditPoints="1" noAdjustHandles="1" noChangeArrowheads="1" noChangeShapeType="1"/>
              </p:cNvPicPr>
              <p:nvPr/>
            </p:nvPicPr>
            <p:blipFill>
              <a:blip r:embed="rId15"/>
              <a:stretch>
                <a:fillRect/>
              </a:stretch>
            </p:blipFill>
            <p:spPr>
              <a:xfrm>
                <a:off x="6488210" y="1764183"/>
                <a:ext cx="2699859" cy="1518671"/>
              </a:xfrm>
              <a:prstGeom prst="rect">
                <a:avLst/>
              </a:prstGeom>
              <a:ln w="3810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17" name="Slide Zoom 16">
                <a:extLst>
                  <a:ext uri="{FF2B5EF4-FFF2-40B4-BE49-F238E27FC236}">
                    <a16:creationId xmlns:a16="http://schemas.microsoft.com/office/drawing/2014/main" id="{777A9485-5247-01AD-7AA1-785A100DF87F}"/>
                  </a:ext>
                </a:extLst>
              </p:cNvPr>
              <p:cNvGraphicFramePr>
                <a:graphicFrameLocks noChangeAspect="1"/>
              </p:cNvGraphicFramePr>
              <p:nvPr>
                <p:extLst>
                  <p:ext uri="{D42A27DB-BD31-4B8C-83A1-F6EECF244321}">
                    <p14:modId xmlns:p14="http://schemas.microsoft.com/office/powerpoint/2010/main" val="2890397954"/>
                  </p:ext>
                </p:extLst>
              </p:nvPr>
            </p:nvGraphicFramePr>
            <p:xfrm>
              <a:off x="6488211" y="5055525"/>
              <a:ext cx="2699859" cy="1518671"/>
            </p:xfrm>
            <a:graphic>
              <a:graphicData uri="http://schemas.microsoft.com/office/powerpoint/2016/slidezoom">
                <pslz:sldZm>
                  <pslz:sldZmObj sldId="2147482906" cId="664151850">
                    <pslz:zmPr id="{647BB26D-C8D7-4BD7-BF19-65AF3ADE0A51}" transitionDur="1000">
                      <p166:blipFill xmlns:p166="http://schemas.microsoft.com/office/powerpoint/2016/6/main">
                        <a:blip r:embed="rId16"/>
                        <a:stretch>
                          <a:fillRect/>
                        </a:stretch>
                      </p166:blipFill>
                      <p166:spPr xmlns:p166="http://schemas.microsoft.com/office/powerpoint/2016/6/main">
                        <a:xfrm>
                          <a:off x="0" y="0"/>
                          <a:ext cx="2699859" cy="1518671"/>
                        </a:xfrm>
                        <a:prstGeom prst="rect">
                          <a:avLst/>
                        </a:prstGeom>
                        <a:ln w="31750" cap="rnd">
                          <a:solidFill>
                            <a:prstClr val="black"/>
                          </a:solidFill>
                          <a:prstDash val="solid"/>
                        </a:ln>
                      </p166:spPr>
                    </pslz:zmPr>
                  </pslz:sldZmObj>
                </pslz:sldZm>
              </a:graphicData>
            </a:graphic>
          </p:graphicFrame>
        </mc:Choice>
        <mc:Fallback xmlns="">
          <p:pic>
            <p:nvPicPr>
              <p:cNvPr id="17" name="Slide Zoom 16">
                <a:hlinkClick r:id="rId17" action="ppaction://hlinksldjump"/>
                <a:extLst>
                  <a:ext uri="{FF2B5EF4-FFF2-40B4-BE49-F238E27FC236}">
                    <a16:creationId xmlns:a16="http://schemas.microsoft.com/office/drawing/2014/main" id="{777A9485-5247-01AD-7AA1-785A100DF87F}"/>
                  </a:ext>
                </a:extLst>
              </p:cNvPr>
              <p:cNvPicPr>
                <a:picLocks noGrp="1" noRot="1" noChangeAspect="1" noMove="1" noResize="1" noEditPoints="1" noAdjustHandles="1" noChangeArrowheads="1" noChangeShapeType="1"/>
              </p:cNvPicPr>
              <p:nvPr/>
            </p:nvPicPr>
            <p:blipFill>
              <a:blip r:embed="rId18"/>
              <a:stretch>
                <a:fillRect/>
              </a:stretch>
            </p:blipFill>
            <p:spPr>
              <a:xfrm>
                <a:off x="6488211" y="5055525"/>
                <a:ext cx="2699859" cy="1518671"/>
              </a:xfrm>
              <a:prstGeom prst="rect">
                <a:avLst/>
              </a:prstGeom>
              <a:ln w="3175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19" name="Slide Zoom 18">
                <a:extLst>
                  <a:ext uri="{FF2B5EF4-FFF2-40B4-BE49-F238E27FC236}">
                    <a16:creationId xmlns:a16="http://schemas.microsoft.com/office/drawing/2014/main" id="{C8747AF3-EEBF-6B72-5EA4-281FF6C772B5}"/>
                  </a:ext>
                </a:extLst>
              </p:cNvPr>
              <p:cNvGraphicFramePr>
                <a:graphicFrameLocks noChangeAspect="1"/>
              </p:cNvGraphicFramePr>
              <p:nvPr>
                <p:extLst>
                  <p:ext uri="{D42A27DB-BD31-4B8C-83A1-F6EECF244321}">
                    <p14:modId xmlns:p14="http://schemas.microsoft.com/office/powerpoint/2010/main" val="712813947"/>
                  </p:ext>
                </p:extLst>
              </p:nvPr>
            </p:nvGraphicFramePr>
            <p:xfrm>
              <a:off x="9315069" y="5055526"/>
              <a:ext cx="2699858" cy="1518671"/>
            </p:xfrm>
            <a:graphic>
              <a:graphicData uri="http://schemas.microsoft.com/office/powerpoint/2016/slidezoom">
                <pslz:sldZm>
                  <pslz:sldZmObj sldId="2147482908" cId="1173507397">
                    <pslz:zmPr id="{DFB29C29-1B2B-4530-8E92-F96863D3AC08}" transitionDur="1000">
                      <p166:blipFill xmlns:p166="http://schemas.microsoft.com/office/powerpoint/2016/6/main">
                        <a:blip r:embed="rId19"/>
                        <a:stretch>
                          <a:fillRect/>
                        </a:stretch>
                      </p166:blipFill>
                      <p166:spPr xmlns:p166="http://schemas.microsoft.com/office/powerpoint/2016/6/main">
                        <a:xfrm>
                          <a:off x="0" y="0"/>
                          <a:ext cx="2699858" cy="1518671"/>
                        </a:xfrm>
                        <a:prstGeom prst="rect">
                          <a:avLst/>
                        </a:prstGeom>
                        <a:ln w="38100" cap="rnd">
                          <a:solidFill>
                            <a:prstClr val="black"/>
                          </a:solidFill>
                          <a:prstDash val="solid"/>
                        </a:ln>
                      </p166:spPr>
                    </pslz:zmPr>
                  </pslz:sldZmObj>
                </pslz:sldZm>
              </a:graphicData>
            </a:graphic>
          </p:graphicFrame>
        </mc:Choice>
        <mc:Fallback xmlns="">
          <p:pic>
            <p:nvPicPr>
              <p:cNvPr id="19" name="Slide Zoom 18">
                <a:hlinkClick r:id="rId20" action="ppaction://hlinksldjump"/>
                <a:extLst>
                  <a:ext uri="{FF2B5EF4-FFF2-40B4-BE49-F238E27FC236}">
                    <a16:creationId xmlns:a16="http://schemas.microsoft.com/office/drawing/2014/main" id="{C8747AF3-EEBF-6B72-5EA4-281FF6C772B5}"/>
                  </a:ext>
                </a:extLst>
              </p:cNvPr>
              <p:cNvPicPr>
                <a:picLocks noGrp="1" noRot="1" noChangeAspect="1" noMove="1" noResize="1" noEditPoints="1" noAdjustHandles="1" noChangeArrowheads="1" noChangeShapeType="1"/>
              </p:cNvPicPr>
              <p:nvPr/>
            </p:nvPicPr>
            <p:blipFill>
              <a:blip r:embed="rId21"/>
              <a:stretch>
                <a:fillRect/>
              </a:stretch>
            </p:blipFill>
            <p:spPr>
              <a:xfrm>
                <a:off x="9315069" y="5055526"/>
                <a:ext cx="2699858" cy="1518671"/>
              </a:xfrm>
              <a:prstGeom prst="rect">
                <a:avLst/>
              </a:prstGeom>
              <a:ln w="3810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21" name="Slide Zoom 20">
                <a:extLst>
                  <a:ext uri="{FF2B5EF4-FFF2-40B4-BE49-F238E27FC236}">
                    <a16:creationId xmlns:a16="http://schemas.microsoft.com/office/drawing/2014/main" id="{9C93A4A5-2068-9892-A806-086CC1D7D0E5}"/>
                  </a:ext>
                </a:extLst>
              </p:cNvPr>
              <p:cNvGraphicFramePr>
                <a:graphicFrameLocks noChangeAspect="1"/>
              </p:cNvGraphicFramePr>
              <p:nvPr>
                <p:extLst>
                  <p:ext uri="{D42A27DB-BD31-4B8C-83A1-F6EECF244321}">
                    <p14:modId xmlns:p14="http://schemas.microsoft.com/office/powerpoint/2010/main" val="1947438852"/>
                  </p:ext>
                </p:extLst>
              </p:nvPr>
            </p:nvGraphicFramePr>
            <p:xfrm>
              <a:off x="9315069" y="3409854"/>
              <a:ext cx="2699861" cy="1518671"/>
            </p:xfrm>
            <a:graphic>
              <a:graphicData uri="http://schemas.microsoft.com/office/powerpoint/2016/slidezoom">
                <pslz:sldZm>
                  <pslz:sldZmObj sldId="2147482907" cId="3915706626">
                    <pslz:zmPr id="{A3E20C73-CCCE-4A21-84DC-2288606A0B70}" transitionDur="1000">
                      <p166:blipFill xmlns:p166="http://schemas.microsoft.com/office/powerpoint/2016/6/main">
                        <a:blip r:embed="rId22"/>
                        <a:stretch>
                          <a:fillRect/>
                        </a:stretch>
                      </p166:blipFill>
                      <p166:spPr xmlns:p166="http://schemas.microsoft.com/office/powerpoint/2016/6/main">
                        <a:xfrm>
                          <a:off x="0" y="0"/>
                          <a:ext cx="2699861" cy="1518671"/>
                        </a:xfrm>
                        <a:prstGeom prst="rect">
                          <a:avLst/>
                        </a:prstGeom>
                        <a:ln w="31750" cap="rnd">
                          <a:solidFill>
                            <a:prstClr val="black"/>
                          </a:solidFill>
                          <a:prstDash val="solid"/>
                        </a:ln>
                      </p166:spPr>
                    </pslz:zmPr>
                  </pslz:sldZmObj>
                </pslz:sldZm>
              </a:graphicData>
            </a:graphic>
          </p:graphicFrame>
        </mc:Choice>
        <mc:Fallback xmlns="">
          <p:pic>
            <p:nvPicPr>
              <p:cNvPr id="21" name="Slide Zoom 20">
                <a:hlinkClick r:id="rId23" action="ppaction://hlinksldjump"/>
                <a:extLst>
                  <a:ext uri="{FF2B5EF4-FFF2-40B4-BE49-F238E27FC236}">
                    <a16:creationId xmlns:a16="http://schemas.microsoft.com/office/drawing/2014/main" id="{9C93A4A5-2068-9892-A806-086CC1D7D0E5}"/>
                  </a:ext>
                </a:extLst>
              </p:cNvPr>
              <p:cNvPicPr>
                <a:picLocks noGrp="1" noRot="1" noChangeAspect="1" noMove="1" noResize="1" noEditPoints="1" noAdjustHandles="1" noChangeArrowheads="1" noChangeShapeType="1"/>
              </p:cNvPicPr>
              <p:nvPr/>
            </p:nvPicPr>
            <p:blipFill>
              <a:blip r:embed="rId24"/>
              <a:stretch>
                <a:fillRect/>
              </a:stretch>
            </p:blipFill>
            <p:spPr>
              <a:xfrm>
                <a:off x="9315069" y="3409854"/>
                <a:ext cx="2699861" cy="1518671"/>
              </a:xfrm>
              <a:prstGeom prst="rect">
                <a:avLst/>
              </a:prstGeom>
              <a:ln w="31750" cap="rnd">
                <a:solidFill>
                  <a:prstClr val="black"/>
                </a:solidFill>
                <a:prstDash val="solid"/>
              </a:ln>
            </p:spPr>
          </p:pic>
        </mc:Fallback>
      </mc:AlternateContent>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037B1ADA-E593-BFDD-C726-DAAE3272B00E}"/>
                  </a:ext>
                </a:extLst>
              </p:cNvPr>
              <p:cNvGraphicFramePr>
                <a:graphicFrameLocks noChangeAspect="1"/>
              </p:cNvGraphicFramePr>
              <p:nvPr>
                <p:extLst>
                  <p:ext uri="{D42A27DB-BD31-4B8C-83A1-F6EECF244321}">
                    <p14:modId xmlns:p14="http://schemas.microsoft.com/office/powerpoint/2010/main" val="2042948240"/>
                  </p:ext>
                </p:extLst>
              </p:nvPr>
            </p:nvGraphicFramePr>
            <p:xfrm>
              <a:off x="9315071" y="1764183"/>
              <a:ext cx="2699858" cy="1518670"/>
            </p:xfrm>
            <a:graphic>
              <a:graphicData uri="http://schemas.microsoft.com/office/powerpoint/2016/slidezoom">
                <pslz:sldZm>
                  <pslz:sldZmObj sldId="2147483641" cId="1331760661">
                    <pslz:zmPr id="{9B1537CF-F567-413A-8C1C-CC2C4DEC18B6}" transitionDur="1000">
                      <p166:blipFill xmlns:p166="http://schemas.microsoft.com/office/powerpoint/2016/6/main">
                        <a:blip r:embed="rId25"/>
                        <a:stretch>
                          <a:fillRect/>
                        </a:stretch>
                      </p166:blipFill>
                      <p166:spPr xmlns:p166="http://schemas.microsoft.com/office/powerpoint/2016/6/main">
                        <a:xfrm>
                          <a:off x="0" y="0"/>
                          <a:ext cx="2699858" cy="1518670"/>
                        </a:xfrm>
                        <a:prstGeom prst="rect">
                          <a:avLst/>
                        </a:prstGeom>
                        <a:solidFill>
                          <a:srgbClr val="FFFFFF">
                            <a:alpha val="0"/>
                          </a:srgbClr>
                        </a:solidFill>
                        <a:ln w="38100" cap="rnd" cmpd="sng" algn="ctr">
                          <a:solidFill>
                            <a:srgbClr val="000000"/>
                          </a:solidFill>
                          <a:prstDash val="solid"/>
                          <a:miter lim="400000"/>
                          <a:headEnd type="none" w="med" len="med"/>
                          <a:tailEnd type="none" w="med" len="med"/>
                        </a:ln>
                        <a:effectLst/>
                        <a:sp3d/>
                      </p166:spPr>
                    </pslz:zmPr>
                  </pslz:sldZmObj>
                </pslz:sldZm>
              </a:graphicData>
            </a:graphic>
          </p:graphicFrame>
        </mc:Choice>
        <mc:Fallback xmlns="">
          <p:pic>
            <p:nvPicPr>
              <p:cNvPr id="7" name="Slide Zoom 6">
                <a:hlinkClick r:id="rId26" action="ppaction://hlinksldjump"/>
                <a:extLst>
                  <a:ext uri="{FF2B5EF4-FFF2-40B4-BE49-F238E27FC236}">
                    <a16:creationId xmlns:a16="http://schemas.microsoft.com/office/drawing/2014/main" id="{037B1ADA-E593-BFDD-C726-DAAE3272B00E}"/>
                  </a:ext>
                </a:extLst>
              </p:cNvPr>
              <p:cNvPicPr>
                <a:picLocks noGrp="1" noRot="1" noChangeAspect="1" noMove="1" noResize="1" noEditPoints="1" noAdjustHandles="1" noChangeArrowheads="1" noChangeShapeType="1"/>
              </p:cNvPicPr>
              <p:nvPr/>
            </p:nvPicPr>
            <p:blipFill>
              <a:blip r:embed="rId27"/>
              <a:stretch>
                <a:fillRect/>
              </a:stretch>
            </p:blipFill>
            <p:spPr>
              <a:xfrm>
                <a:off x="9315071" y="1764183"/>
                <a:ext cx="2699858" cy="1518670"/>
              </a:xfrm>
              <a:prstGeom prst="rect">
                <a:avLst/>
              </a:prstGeom>
              <a:solidFill>
                <a:srgbClr val="FFFFFF">
                  <a:alpha val="0"/>
                </a:srgbClr>
              </a:solidFill>
              <a:ln w="38100" cap="rnd" cmpd="sng" algn="ctr">
                <a:solidFill>
                  <a:srgbClr val="000000"/>
                </a:solidFill>
                <a:prstDash val="solid"/>
                <a:miter lim="400000"/>
                <a:headEnd type="none" w="med" len="med"/>
                <a:tailEnd type="none" w="med" len="med"/>
              </a:ln>
              <a:effectLst/>
              <a:sp3d/>
            </p:spPr>
          </p:pic>
        </mc:Fallback>
      </mc:AlternateContent>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BD5B1821-DFCA-7E12-621D-484318DE1DD5}"/>
                  </a:ext>
                </a:extLst>
              </p:cNvPr>
              <p:cNvGraphicFramePr>
                <a:graphicFrameLocks noChangeAspect="1"/>
              </p:cNvGraphicFramePr>
              <p:nvPr>
                <p:extLst>
                  <p:ext uri="{D42A27DB-BD31-4B8C-83A1-F6EECF244321}">
                    <p14:modId xmlns:p14="http://schemas.microsoft.com/office/powerpoint/2010/main" val="464160704"/>
                  </p:ext>
                </p:extLst>
              </p:nvPr>
            </p:nvGraphicFramePr>
            <p:xfrm>
              <a:off x="6488211" y="3409854"/>
              <a:ext cx="2699858" cy="1518670"/>
            </p:xfrm>
            <a:graphic>
              <a:graphicData uri="http://schemas.microsoft.com/office/powerpoint/2016/slidezoom">
                <pslz:sldZm>
                  <pslz:sldZmObj sldId="2147483642" cId="1415699091">
                    <pslz:zmPr id="{06C6E604-9444-4DE5-9DD5-7703DF981BC2}" transitionDur="1000">
                      <p166:blipFill xmlns:p166="http://schemas.microsoft.com/office/powerpoint/2016/6/main">
                        <a:blip r:embed="rId28"/>
                        <a:stretch>
                          <a:fillRect/>
                        </a:stretch>
                      </p166:blipFill>
                      <p166:spPr xmlns:p166="http://schemas.microsoft.com/office/powerpoint/2016/6/main">
                        <a:xfrm>
                          <a:off x="0" y="0"/>
                          <a:ext cx="2699858" cy="1518670"/>
                        </a:xfrm>
                        <a:prstGeom prst="rect">
                          <a:avLst/>
                        </a:prstGeom>
                        <a:solidFill>
                          <a:srgbClr val="FFFFFF">
                            <a:alpha val="0"/>
                          </a:srgbClr>
                        </a:solidFill>
                        <a:ln w="38100" cap="rnd" cmpd="sng" algn="ctr">
                          <a:solidFill>
                            <a:srgbClr val="000000"/>
                          </a:solidFill>
                          <a:prstDash val="solid"/>
                          <a:miter lim="400000"/>
                          <a:headEnd type="none" w="med" len="med"/>
                          <a:tailEnd type="none" w="med" len="med"/>
                        </a:ln>
                        <a:effectLst/>
                        <a:sp3d/>
                      </p166:spPr>
                    </pslz:zmPr>
                  </pslz:sldZmObj>
                </pslz:sldZm>
              </a:graphicData>
            </a:graphic>
          </p:graphicFrame>
        </mc:Choice>
        <mc:Fallback xmlns="">
          <p:pic>
            <p:nvPicPr>
              <p:cNvPr id="10" name="Slide Zoom 9">
                <a:hlinkClick r:id="rId29" action="ppaction://hlinksldjump"/>
                <a:extLst>
                  <a:ext uri="{FF2B5EF4-FFF2-40B4-BE49-F238E27FC236}">
                    <a16:creationId xmlns:a16="http://schemas.microsoft.com/office/drawing/2014/main" id="{BD5B1821-DFCA-7E12-621D-484318DE1DD5}"/>
                  </a:ext>
                </a:extLst>
              </p:cNvPr>
              <p:cNvPicPr>
                <a:picLocks noGrp="1" noRot="1" noChangeAspect="1" noMove="1" noResize="1" noEditPoints="1" noAdjustHandles="1" noChangeArrowheads="1" noChangeShapeType="1"/>
              </p:cNvPicPr>
              <p:nvPr/>
            </p:nvPicPr>
            <p:blipFill>
              <a:blip r:embed="rId30"/>
              <a:stretch>
                <a:fillRect/>
              </a:stretch>
            </p:blipFill>
            <p:spPr>
              <a:xfrm>
                <a:off x="6488211" y="3409854"/>
                <a:ext cx="2699858" cy="1518670"/>
              </a:xfrm>
              <a:prstGeom prst="rect">
                <a:avLst/>
              </a:prstGeom>
              <a:solidFill>
                <a:srgbClr val="FFFFFF">
                  <a:alpha val="0"/>
                </a:srgbClr>
              </a:solidFill>
              <a:ln w="38100" cap="rnd" cmpd="sng" algn="ctr">
                <a:solidFill>
                  <a:srgbClr val="000000"/>
                </a:solidFill>
                <a:prstDash val="solid"/>
                <a:miter lim="400000"/>
                <a:headEnd type="none" w="med" len="med"/>
                <a:tailEnd type="none" w="med" len="med"/>
              </a:ln>
              <a:effectLst/>
              <a:sp3d/>
            </p:spPr>
          </p:pic>
        </mc:Fallback>
      </mc:AlternateContent>
    </p:spTree>
    <p:extLst>
      <p:ext uri="{BB962C8B-B14F-4D97-AF65-F5344CB8AC3E}">
        <p14:creationId xmlns:p14="http://schemas.microsoft.com/office/powerpoint/2010/main" val="1403384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3943AD-96F5-EC04-0C9D-1833B9BC2E0B}"/>
              </a:ext>
            </a:extLst>
          </p:cNvPr>
          <p:cNvSpPr>
            <a:spLocks noGrp="1"/>
          </p:cNvSpPr>
          <p:nvPr>
            <p:ph type="title" idx="4294967295"/>
          </p:nvPr>
        </p:nvSpPr>
        <p:spPr>
          <a:xfrm>
            <a:off x="-1" y="-3482"/>
            <a:ext cx="10515600" cy="905377"/>
          </a:xfrm>
        </p:spPr>
        <p:txBody>
          <a:bodyPr>
            <a:normAutofit/>
          </a:bodyPr>
          <a:lstStyle/>
          <a:p>
            <a:r>
              <a:rPr lang="en-US" sz="3200"/>
              <a:t>High Stack level changes with respect to P1280</a:t>
            </a:r>
          </a:p>
        </p:txBody>
      </p:sp>
      <p:graphicFrame>
        <p:nvGraphicFramePr>
          <p:cNvPr id="7" name="Diagram 6">
            <a:extLst>
              <a:ext uri="{FF2B5EF4-FFF2-40B4-BE49-F238E27FC236}">
                <a16:creationId xmlns:a16="http://schemas.microsoft.com/office/drawing/2014/main" id="{EB7138A8-F9D4-48E2-C695-1A1AB223C233}"/>
              </a:ext>
            </a:extLst>
          </p:cNvPr>
          <p:cNvGraphicFramePr/>
          <p:nvPr>
            <p:extLst>
              <p:ext uri="{D42A27DB-BD31-4B8C-83A1-F6EECF244321}">
                <p14:modId xmlns:p14="http://schemas.microsoft.com/office/powerpoint/2010/main" val="66299774"/>
              </p:ext>
            </p:extLst>
          </p:nvPr>
        </p:nvGraphicFramePr>
        <p:xfrm>
          <a:off x="8430768" y="1464007"/>
          <a:ext cx="3761232" cy="8128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8B9CE95E-0854-B4DD-1DAA-D0D1972E88A3}"/>
              </a:ext>
            </a:extLst>
          </p:cNvPr>
          <p:cNvSpPr txBox="1"/>
          <p:nvPr/>
        </p:nvSpPr>
        <p:spPr>
          <a:xfrm>
            <a:off x="7467600" y="2803108"/>
            <a:ext cx="2495879" cy="338554"/>
          </a:xfrm>
          <a:prstGeom prst="rect">
            <a:avLst/>
          </a:prstGeom>
          <a:solidFill>
            <a:schemeClr val="accent5">
              <a:lumMod val="100000"/>
              <a:alpha val="10196"/>
            </a:schemeClr>
          </a:solidFill>
          <a:ln w="19050" cap="rnd" cmpd="sng" algn="ctr">
            <a:solidFill>
              <a:schemeClr val="accent5">
                <a:lumMod val="100000"/>
                <a:alpha val="10196"/>
              </a:schemeClr>
            </a:solidFill>
            <a:prstDash val="lgDash"/>
            <a:round/>
            <a:headEnd type="none" w="med" len="med"/>
            <a:tailEnd type="none" w="med" len="med"/>
          </a:ln>
        </p:spPr>
        <p:txBody>
          <a:bodyPr wrap="square" rtlCol="0">
            <a:spAutoFit/>
          </a:bodyPr>
          <a:lstStyle/>
          <a:p>
            <a:pPr algn="ctr" hangingPunct="1"/>
            <a:r>
              <a:rPr lang="en-US" sz="1600"/>
              <a:t>Modules</a:t>
            </a:r>
          </a:p>
        </p:txBody>
      </p:sp>
      <p:graphicFrame>
        <p:nvGraphicFramePr>
          <p:cNvPr id="10" name="Table 9">
            <a:extLst>
              <a:ext uri="{FF2B5EF4-FFF2-40B4-BE49-F238E27FC236}">
                <a16:creationId xmlns:a16="http://schemas.microsoft.com/office/drawing/2014/main" id="{AD7043F1-442C-95B4-9E9B-E379697FDF38}"/>
              </a:ext>
            </a:extLst>
          </p:cNvPr>
          <p:cNvGraphicFramePr>
            <a:graphicFrameLocks noGrp="1"/>
          </p:cNvGraphicFramePr>
          <p:nvPr>
            <p:extLst>
              <p:ext uri="{D42A27DB-BD31-4B8C-83A1-F6EECF244321}">
                <p14:modId xmlns:p14="http://schemas.microsoft.com/office/powerpoint/2010/main" val="3549151906"/>
              </p:ext>
            </p:extLst>
          </p:nvPr>
        </p:nvGraphicFramePr>
        <p:xfrm>
          <a:off x="7467600" y="3253764"/>
          <a:ext cx="2495880" cy="2550948"/>
        </p:xfrm>
        <a:graphic>
          <a:graphicData uri="http://schemas.openxmlformats.org/drawingml/2006/table">
            <a:tbl>
              <a:tblPr/>
              <a:tblGrid>
                <a:gridCol w="1119947">
                  <a:extLst>
                    <a:ext uri="{9D8B030D-6E8A-4147-A177-3AD203B41FA5}">
                      <a16:colId xmlns:a16="http://schemas.microsoft.com/office/drawing/2014/main" val="1875644597"/>
                    </a:ext>
                  </a:extLst>
                </a:gridCol>
                <a:gridCol w="1375933">
                  <a:extLst>
                    <a:ext uri="{9D8B030D-6E8A-4147-A177-3AD203B41FA5}">
                      <a16:colId xmlns:a16="http://schemas.microsoft.com/office/drawing/2014/main" val="4018238948"/>
                    </a:ext>
                  </a:extLst>
                </a:gridCol>
              </a:tblGrid>
              <a:tr h="371628">
                <a:tc>
                  <a:txBody>
                    <a:bodyPr/>
                    <a:lstStyle/>
                    <a:p>
                      <a:pPr algn="ctr" fontAlgn="ctr">
                        <a:buNone/>
                      </a:pPr>
                      <a:r>
                        <a:rPr lang="en-US" sz="1100" b="1" i="0" u="none" strike="noStrike">
                          <a:solidFill>
                            <a:srgbClr val="FFFFFF"/>
                          </a:solidFill>
                          <a:effectLst/>
                          <a:latin typeface="Calibri" panose="020F0502020204030204" pitchFamily="34" charset="0"/>
                        </a:rPr>
                        <a:t>Pitch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algn="ctr" fontAlgn="ctr">
                        <a:buNone/>
                      </a:pPr>
                      <a:r>
                        <a:rPr lang="en-US" sz="1100" b="1" i="0" u="none" strike="noStrike">
                          <a:solidFill>
                            <a:srgbClr val="FFFFFF"/>
                          </a:solidFill>
                          <a:effectLst/>
                          <a:latin typeface="Calibri" panose="020F0502020204030204" pitchFamily="34" charset="0"/>
                        </a:rPr>
                        <a:t>Module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extLst>
                  <a:ext uri="{0D108BD9-81ED-4DB2-BD59-A6C34878D82A}">
                    <a16:rowId xmlns:a16="http://schemas.microsoft.com/office/drawing/2014/main" val="158658615"/>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3599389643"/>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21p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66086664"/>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585871413"/>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24p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33415945"/>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32p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Mxa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extLst>
                  <a:ext uri="{0D108BD9-81ED-4DB2-BD59-A6C34878D82A}">
                    <a16:rowId xmlns:a16="http://schemas.microsoft.com/office/drawing/2014/main" val="1516513862"/>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32p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Mxb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extLst>
                  <a:ext uri="{0D108BD9-81ED-4DB2-BD59-A6C34878D82A}">
                    <a16:rowId xmlns:a16="http://schemas.microsoft.com/office/drawing/2014/main" val="892642287"/>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40p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tc>
                  <a:txBody>
                    <a:bodyPr/>
                    <a:lstStyle/>
                    <a:p>
                      <a:pPr algn="ctr" fontAlgn="ctr">
                        <a:buNone/>
                      </a:pPr>
                      <a:r>
                        <a:rPr lang="en-US" sz="1100" b="0" i="0" u="none" strike="noStrike">
                          <a:solidFill>
                            <a:srgbClr val="000000"/>
                          </a:solidFill>
                          <a:effectLst/>
                          <a:latin typeface="Calibri" panose="020F0502020204030204" pitchFamily="34" charset="0"/>
                        </a:rPr>
                        <a:t>Mxc</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extLst>
                  <a:ext uri="{0D108BD9-81ED-4DB2-BD59-A6C34878D82A}">
                    <a16:rowId xmlns:a16="http://schemas.microsoft.com/office/drawing/2014/main" val="3860113815"/>
                  </a:ext>
                </a:extLst>
              </a:tr>
              <a:tr h="166255">
                <a:tc>
                  <a:txBody>
                    <a:bodyPr/>
                    <a:lstStyle/>
                    <a:p>
                      <a:pPr algn="ctr" fontAlgn="ctr">
                        <a:buNone/>
                      </a:pPr>
                      <a:r>
                        <a:rPr lang="en-US" sz="1100" b="0" i="0" u="none" strike="noStrike">
                          <a:solidFill>
                            <a:srgbClr val="FFFFFF"/>
                          </a:solidFill>
                          <a:effectLst/>
                          <a:latin typeface="Calibri" panose="020F0502020204030204" pitchFamily="34" charset="0"/>
                        </a:rPr>
                        <a:t>76p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tc>
                  <a:txBody>
                    <a:bodyPr/>
                    <a:lstStyle/>
                    <a:p>
                      <a:pPr algn="ctr" fontAlgn="ctr">
                        <a:buNone/>
                      </a:pPr>
                      <a:r>
                        <a:rPr lang="en-US" sz="1100" b="0" i="0" u="none" strike="noStrike" err="1">
                          <a:solidFill>
                            <a:srgbClr val="FFFFFF"/>
                          </a:solidFill>
                          <a:effectLst/>
                          <a:latin typeface="Calibri" panose="020F0502020204030204" pitchFamily="34" charset="0"/>
                        </a:rPr>
                        <a:t>Myl</a:t>
                      </a:r>
                      <a:r>
                        <a:rPr lang="en-US" sz="1100" b="0" i="0" u="none" strike="noStrike">
                          <a:solidFill>
                            <a:srgbClr val="FFFFFF"/>
                          </a:solidFill>
                          <a:effectLst/>
                          <a:latin typeface="Calibri" panose="020F0502020204030204" pitchFamily="34" charset="0"/>
                        </a:rPr>
                        <a:t> (M7)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extLst>
                  <a:ext uri="{0D108BD9-81ED-4DB2-BD59-A6C34878D82A}">
                    <a16:rowId xmlns:a16="http://schemas.microsoft.com/office/drawing/2014/main" val="2342386640"/>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76p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ctr" fontAlgn="ctr">
                        <a:buNone/>
                      </a:pPr>
                      <a:r>
                        <a:rPr lang="en-US" sz="1100" b="0" i="0" u="none" strike="noStrike">
                          <a:solidFill>
                            <a:srgbClr val="000000"/>
                          </a:solidFill>
                          <a:effectLst/>
                          <a:latin typeface="Calibri" panose="020F0502020204030204" pitchFamily="34" charset="0"/>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2034323898"/>
                  </a:ext>
                </a:extLst>
              </a:tr>
              <a:tr h="166255">
                <a:tc>
                  <a:txBody>
                    <a:bodyPr/>
                    <a:lstStyle/>
                    <a:p>
                      <a:pPr algn="ctr" fontAlgn="ctr">
                        <a:buNone/>
                      </a:pPr>
                      <a:r>
                        <a:rPr lang="en-US" sz="1100" b="0" i="0" u="none" strike="sngStrike">
                          <a:solidFill>
                            <a:srgbClr val="000000"/>
                          </a:solidFill>
                          <a:effectLst/>
                          <a:latin typeface="Calibri" panose="020F0502020204030204" pitchFamily="34" charset="0"/>
                        </a:rPr>
                        <a:t>76p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tc>
                  <a:txBody>
                    <a:bodyPr/>
                    <a:lstStyle/>
                    <a:p>
                      <a:pPr algn="ctr" fontAlgn="ctr">
                        <a:buNone/>
                      </a:pPr>
                      <a:r>
                        <a:rPr lang="en-US" sz="1100" b="0" i="0" u="none" strike="sngStrike">
                          <a:solidFill>
                            <a:srgbClr val="000000"/>
                          </a:solidFill>
                          <a:effectLst/>
                          <a:latin typeface="Calibri" panose="020F0502020204030204" pitchFamily="34" charset="0"/>
                        </a:rPr>
                        <a:t>Myk (M10+)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extLst>
                  <a:ext uri="{0D108BD9-81ED-4DB2-BD59-A6C34878D82A}">
                    <a16:rowId xmlns:a16="http://schemas.microsoft.com/office/drawing/2014/main" val="1048952310"/>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120p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Myb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extLst>
                  <a:ext uri="{0D108BD9-81ED-4DB2-BD59-A6C34878D82A}">
                    <a16:rowId xmlns:a16="http://schemas.microsoft.com/office/drawing/2014/main" val="2176389236"/>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760p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tc>
                  <a:txBody>
                    <a:bodyPr/>
                    <a:lstStyle/>
                    <a:p>
                      <a:pPr algn="ctr" fontAlgn="ctr">
                        <a:buNone/>
                      </a:pPr>
                      <a:r>
                        <a:rPr lang="en-US" sz="1100" b="0" i="0" u="none" strike="noStrike">
                          <a:solidFill>
                            <a:srgbClr val="000000"/>
                          </a:solidFill>
                          <a:effectLst/>
                          <a:latin typeface="Calibri" panose="020F0502020204030204" pitchFamily="34" charset="0"/>
                        </a:rPr>
                        <a:t>Mga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extLst>
                  <a:ext uri="{0D108BD9-81ED-4DB2-BD59-A6C34878D82A}">
                    <a16:rowId xmlns:a16="http://schemas.microsoft.com/office/drawing/2014/main" val="3395326921"/>
                  </a:ext>
                </a:extLst>
              </a:tr>
              <a:tr h="166255">
                <a:tc>
                  <a:txBody>
                    <a:bodyPr/>
                    <a:lstStyle/>
                    <a:p>
                      <a:pPr algn="ctr" fontAlgn="ctr">
                        <a:buNone/>
                      </a:pPr>
                      <a:r>
                        <a:rPr lang="en-US" sz="1100" b="0" i="0" u="none" strike="noStrike">
                          <a:solidFill>
                            <a:srgbClr val="000000"/>
                          </a:solidFill>
                          <a:effectLst/>
                          <a:latin typeface="Calibri" panose="020F0502020204030204" pitchFamily="34" charset="0"/>
                        </a:rPr>
                        <a:t>3000p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FC000"/>
                    </a:solidFill>
                  </a:tcPr>
                </a:tc>
                <a:tc>
                  <a:txBody>
                    <a:bodyPr/>
                    <a:lstStyle/>
                    <a:p>
                      <a:pPr algn="ctr" fontAlgn="ctr">
                        <a:buNone/>
                      </a:pPr>
                      <a:r>
                        <a:rPr lang="en-US" sz="1100" b="0" i="0" u="none" strike="noStrike" err="1">
                          <a:solidFill>
                            <a:srgbClr val="000000"/>
                          </a:solidFill>
                          <a:effectLst/>
                          <a:latin typeface="Calibri" panose="020F0502020204030204" pitchFamily="34" charset="0"/>
                        </a:rPr>
                        <a:t>Mgb</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FC000"/>
                    </a:solidFill>
                  </a:tcPr>
                </a:tc>
                <a:extLst>
                  <a:ext uri="{0D108BD9-81ED-4DB2-BD59-A6C34878D82A}">
                    <a16:rowId xmlns:a16="http://schemas.microsoft.com/office/drawing/2014/main" val="3344195706"/>
                  </a:ext>
                </a:extLst>
              </a:tr>
            </a:tbl>
          </a:graphicData>
        </a:graphic>
      </p:graphicFrame>
      <p:sp>
        <p:nvSpPr>
          <p:cNvPr id="11" name="Rectangle 10">
            <a:extLst>
              <a:ext uri="{FF2B5EF4-FFF2-40B4-BE49-F238E27FC236}">
                <a16:creationId xmlns:a16="http://schemas.microsoft.com/office/drawing/2014/main" id="{868ABD36-6EB8-4200-522C-05C0FAEF0D58}"/>
              </a:ext>
            </a:extLst>
          </p:cNvPr>
          <p:cNvSpPr/>
          <p:nvPr/>
        </p:nvSpPr>
        <p:spPr>
          <a:xfrm rot="5400000">
            <a:off x="5137121" y="4400249"/>
            <a:ext cx="3396796" cy="248742"/>
          </a:xfrm>
          <a:prstGeom prst="rect">
            <a:avLst/>
          </a:prstGeom>
          <a:solidFill>
            <a:schemeClr val="bg1">
              <a:lumMod val="100000"/>
            </a:schemeClr>
          </a:solidFill>
          <a:ln w="25400" cap="rnd" cmpd="sng" algn="ctr">
            <a:solidFill>
              <a:srgbClr val="000000"/>
            </a:solidFill>
            <a:prstDash val="solid"/>
            <a:miter lim="400000"/>
            <a:headEnd type="none" w="med" len="med"/>
            <a:tailEnd type="none" w="med" len="med"/>
          </a:ln>
          <a:effectLst/>
          <a:sp3d/>
        </p:spPr>
        <p:style>
          <a:lnRef idx="0">
            <a:scrgbClr r="0" g="0" b="0"/>
          </a:lnRef>
          <a:fillRef idx="0">
            <a:scrgbClr r="0" g="0" b="0"/>
          </a:fillRef>
          <a:effectRef idx="0">
            <a:scrgbClr r="0" g="0" b="0"/>
          </a:effectRef>
          <a:fontRef idx="none"/>
        </p:style>
        <p:txBody>
          <a:bodyPr rot="0" spcFirstLastPara="0" vertOverflow="overflow" horzOverflow="overflow" vert="horz" wrap="none" lIns="0" tIns="40710" rIns="0" bIns="40710" numCol="1" spcCol="0" rtlCol="0" fromWordArt="0" anchor="ctr" anchorCtr="0" forceAA="0" compatLnSpc="1">
            <a:prstTxWarp prst="textNoShape">
              <a:avLst/>
            </a:prstTxWarp>
            <a:noAutofit/>
          </a:bodyPr>
          <a:lstStyle/>
          <a:p>
            <a:pPr algn="ctr">
              <a:spcBef>
                <a:spcPct val="0"/>
              </a:spcBef>
              <a:spcAft>
                <a:spcPct val="0"/>
              </a:spcAft>
            </a:pPr>
            <a:r>
              <a:rPr lang="en-US"/>
              <a:t>Modular</a:t>
            </a:r>
          </a:p>
        </p:txBody>
      </p:sp>
      <p:graphicFrame>
        <p:nvGraphicFramePr>
          <p:cNvPr id="12" name="Table 11">
            <a:extLst>
              <a:ext uri="{FF2B5EF4-FFF2-40B4-BE49-F238E27FC236}">
                <a16:creationId xmlns:a16="http://schemas.microsoft.com/office/drawing/2014/main" id="{631F71BA-CD74-DE7D-FF6F-AF7A8206E906}"/>
              </a:ext>
            </a:extLst>
          </p:cNvPr>
          <p:cNvGraphicFramePr>
            <a:graphicFrameLocks noGrp="1"/>
          </p:cNvGraphicFramePr>
          <p:nvPr>
            <p:extLst>
              <p:ext uri="{D42A27DB-BD31-4B8C-83A1-F6EECF244321}">
                <p14:modId xmlns:p14="http://schemas.microsoft.com/office/powerpoint/2010/main" val="2439231540"/>
              </p:ext>
            </p:extLst>
          </p:nvPr>
        </p:nvGraphicFramePr>
        <p:xfrm>
          <a:off x="1746022" y="1519827"/>
          <a:ext cx="4826000" cy="4671060"/>
        </p:xfrm>
        <a:graphic>
          <a:graphicData uri="http://schemas.openxmlformats.org/drawingml/2006/table">
            <a:tbl>
              <a:tblPr/>
              <a:tblGrid>
                <a:gridCol w="749300">
                  <a:extLst>
                    <a:ext uri="{9D8B030D-6E8A-4147-A177-3AD203B41FA5}">
                      <a16:colId xmlns:a16="http://schemas.microsoft.com/office/drawing/2014/main" val="2401370180"/>
                    </a:ext>
                  </a:extLst>
                </a:gridCol>
                <a:gridCol w="1155700">
                  <a:extLst>
                    <a:ext uri="{9D8B030D-6E8A-4147-A177-3AD203B41FA5}">
                      <a16:colId xmlns:a16="http://schemas.microsoft.com/office/drawing/2014/main" val="3761885581"/>
                    </a:ext>
                  </a:extLst>
                </a:gridCol>
                <a:gridCol w="1155700">
                  <a:extLst>
                    <a:ext uri="{9D8B030D-6E8A-4147-A177-3AD203B41FA5}">
                      <a16:colId xmlns:a16="http://schemas.microsoft.com/office/drawing/2014/main" val="2620615610"/>
                    </a:ext>
                  </a:extLst>
                </a:gridCol>
                <a:gridCol w="800100">
                  <a:extLst>
                    <a:ext uri="{9D8B030D-6E8A-4147-A177-3AD203B41FA5}">
                      <a16:colId xmlns:a16="http://schemas.microsoft.com/office/drawing/2014/main" val="159298303"/>
                    </a:ext>
                  </a:extLst>
                </a:gridCol>
                <a:gridCol w="965200">
                  <a:extLst>
                    <a:ext uri="{9D8B030D-6E8A-4147-A177-3AD203B41FA5}">
                      <a16:colId xmlns:a16="http://schemas.microsoft.com/office/drawing/2014/main" val="3866396519"/>
                    </a:ext>
                  </a:extLst>
                </a:gridCol>
              </a:tblGrid>
              <a:tr h="55626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0000"/>
                    </a:solidFill>
                  </a:tcPr>
                </a:tc>
                <a:tc>
                  <a:txBody>
                    <a:bodyPr/>
                    <a:lstStyle/>
                    <a:p>
                      <a:pPr algn="ctr" fontAlgn="ctr">
                        <a:buNone/>
                      </a:pPr>
                      <a:r>
                        <a:rPr lang="en-US" sz="1100" b="1" i="0" u="none" strike="noStrike">
                          <a:solidFill>
                            <a:srgbClr val="FFFFFF"/>
                          </a:solidFill>
                          <a:effectLst/>
                          <a:latin typeface="Calibri" panose="020F0502020204030204" pitchFamily="34" charset="0"/>
                        </a:rPr>
                        <a:t>X81RB</a:t>
                      </a:r>
                      <a:br>
                        <a:rPr lang="en-US" sz="1100" b="1" i="0" u="none" strike="noStrike">
                          <a:solidFill>
                            <a:srgbClr val="FFFFFF"/>
                          </a:solidFill>
                          <a:effectLst/>
                          <a:latin typeface="Calibri" panose="020F0502020204030204" pitchFamily="34" charset="0"/>
                        </a:rPr>
                      </a:br>
                      <a:r>
                        <a:rPr lang="en-US" sz="1100" b="1" i="0" u="none" strike="noStrike">
                          <a:solidFill>
                            <a:srgbClr val="FFFFFF"/>
                          </a:solidFill>
                          <a:effectLst/>
                          <a:latin typeface="Calibri" panose="020F0502020204030204" pitchFamily="34" charset="0"/>
                        </a:rPr>
                        <a:t>(opt97, RECL)</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084"/>
                    </a:solidFill>
                  </a:tcPr>
                </a:tc>
                <a:tc>
                  <a:txBody>
                    <a:bodyPr/>
                    <a:lstStyle/>
                    <a:p>
                      <a:pPr algn="ctr" fontAlgn="ctr">
                        <a:buNone/>
                      </a:pPr>
                      <a:r>
                        <a:rPr lang="en-US" sz="1100" b="1" i="0" u="none" strike="noStrike">
                          <a:solidFill>
                            <a:srgbClr val="FFFFFF"/>
                          </a:solidFill>
                          <a:effectLst/>
                          <a:latin typeface="Calibri" panose="020F0502020204030204" pitchFamily="34" charset="0"/>
                        </a:rPr>
                        <a:t>X81Z</a:t>
                      </a:r>
                      <a:br>
                        <a:rPr lang="en-US" sz="1100" b="1" i="0" u="none" strike="noStrike">
                          <a:solidFill>
                            <a:srgbClr val="FFFFFF"/>
                          </a:solidFill>
                          <a:effectLst/>
                          <a:latin typeface="Calibri" panose="020F0502020204030204" pitchFamily="34" charset="0"/>
                        </a:rPr>
                      </a:br>
                      <a:r>
                        <a:rPr lang="en-US" sz="1100" b="1" i="0" u="none" strike="noStrike">
                          <a:solidFill>
                            <a:srgbClr val="FFFFFF"/>
                          </a:solidFill>
                          <a:effectLst/>
                          <a:latin typeface="Calibri" panose="020F0502020204030204" pitchFamily="34" charset="0"/>
                        </a:rPr>
                        <a:t>(opt97)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084"/>
                    </a:solidFill>
                  </a:tcPr>
                </a:tc>
                <a:tc>
                  <a:txBody>
                    <a:bodyPr/>
                    <a:lstStyle/>
                    <a:p>
                      <a:pPr algn="ctr" fontAlgn="ctr">
                        <a:buNone/>
                      </a:pPr>
                      <a:r>
                        <a:rPr lang="en-US" sz="1100" b="1" i="0" u="none" strike="noStrike">
                          <a:solidFill>
                            <a:srgbClr val="FFFFFF"/>
                          </a:solidFill>
                          <a:effectLst/>
                          <a:latin typeface="Calibri" panose="020F0502020204030204" pitchFamily="34" charset="0"/>
                        </a:rPr>
                        <a:t>X81A</a:t>
                      </a:r>
                      <a:br>
                        <a:rPr lang="en-US" sz="1100" b="1" i="0" u="none" strike="noStrike">
                          <a:solidFill>
                            <a:srgbClr val="FFFFFF"/>
                          </a:solidFill>
                          <a:effectLst/>
                          <a:latin typeface="Calibri" panose="020F0502020204030204" pitchFamily="34" charset="0"/>
                        </a:rPr>
                      </a:br>
                      <a:r>
                        <a:rPr lang="en-US" sz="1100" b="1" i="0" u="none" strike="noStrike">
                          <a:solidFill>
                            <a:srgbClr val="FFFFFF"/>
                          </a:solidFill>
                          <a:effectLst/>
                          <a:latin typeface="Calibri" panose="020F0502020204030204" pitchFamily="34" charset="0"/>
                        </a:rPr>
                        <a:t>(opt97)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084"/>
                    </a:solidFill>
                  </a:tcPr>
                </a:tc>
                <a:tc>
                  <a:txBody>
                    <a:bodyPr/>
                    <a:lstStyle/>
                    <a:p>
                      <a:pPr algn="ctr" fontAlgn="ctr">
                        <a:buNone/>
                      </a:pPr>
                      <a:r>
                        <a:rPr lang="en-US" sz="1100" b="1" i="0" u="none" strike="noStrike">
                          <a:solidFill>
                            <a:srgbClr val="FFFFFF"/>
                          </a:solidFill>
                          <a:effectLst/>
                          <a:latin typeface="Calibri" panose="020F0502020204030204" pitchFamily="34" charset="0"/>
                        </a:rPr>
                        <a:t>PPA-ONLY</a:t>
                      </a:r>
                      <a:br>
                        <a:rPr lang="en-US" sz="1100" b="1" i="0" u="none" strike="noStrike">
                          <a:solidFill>
                            <a:srgbClr val="FFFFFF"/>
                          </a:solidFill>
                          <a:effectLst/>
                          <a:latin typeface="Calibri" panose="020F0502020204030204" pitchFamily="34" charset="0"/>
                        </a:rPr>
                      </a:br>
                      <a:r>
                        <a:rPr lang="en-US" sz="1100" b="1" i="0" u="none" strike="noStrike">
                          <a:solidFill>
                            <a:srgbClr val="FFFFFF"/>
                          </a:solidFill>
                          <a:effectLst/>
                          <a:latin typeface="Calibri" panose="020F0502020204030204" pitchFamily="34" charset="0"/>
                        </a:rPr>
                        <a:t> (opt99)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4B084"/>
                    </a:solidFill>
                  </a:tcPr>
                </a:tc>
                <a:extLst>
                  <a:ext uri="{0D108BD9-81ED-4DB2-BD59-A6C34878D82A}">
                    <a16:rowId xmlns:a16="http://schemas.microsoft.com/office/drawing/2014/main" val="573927513"/>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PP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799742068"/>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21p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21p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21p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21p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35832293"/>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extLst>
                  <a:ext uri="{0D108BD9-81ED-4DB2-BD59-A6C34878D82A}">
                    <a16:rowId xmlns:a16="http://schemas.microsoft.com/office/drawing/2014/main" val="1480578790"/>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24p</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58240242"/>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33p (M3)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GVA (TSDR)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33p (M3)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33p (M3)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extLst>
                  <a:ext uri="{0D108BD9-81ED-4DB2-BD59-A6C34878D82A}">
                    <a16:rowId xmlns:a16="http://schemas.microsoft.com/office/drawing/2014/main" val="4090819583"/>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33p (M4)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3000p (M15) (SDR)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33p (M4)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tc>
                  <a:txBody>
                    <a:bodyPr/>
                    <a:lstStyle/>
                    <a:p>
                      <a:pPr algn="ctr" fontAlgn="ctr">
                        <a:buNone/>
                      </a:pPr>
                      <a:r>
                        <a:rPr lang="en-US" sz="1100" b="0" i="0" u="none" strike="noStrike">
                          <a:solidFill>
                            <a:srgbClr val="000000"/>
                          </a:solidFill>
                          <a:effectLst/>
                          <a:latin typeface="Calibri" panose="020F0502020204030204" pitchFamily="34" charset="0"/>
                        </a:rPr>
                        <a:t>33p (M4)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CE4D6"/>
                    </a:solidFill>
                  </a:tcPr>
                </a:tc>
                <a:extLst>
                  <a:ext uri="{0D108BD9-81ED-4DB2-BD59-A6C34878D82A}">
                    <a16:rowId xmlns:a16="http://schemas.microsoft.com/office/drawing/2014/main" val="385793894"/>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40p (M5)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tc>
                  <a:txBody>
                    <a:bodyPr/>
                    <a:lstStyle/>
                    <a:p>
                      <a:pPr algn="ctr" fontAlgn="ctr">
                        <a:buNone/>
                      </a:pPr>
                      <a:r>
                        <a:rPr lang="en-US" sz="1100" b="0" i="0" u="none" strike="noStrike" err="1">
                          <a:solidFill>
                            <a:srgbClr val="000000"/>
                          </a:solidFill>
                          <a:effectLst/>
                          <a:latin typeface="Calibri" panose="020F0502020204030204" pitchFamily="34" charset="0"/>
                        </a:rPr>
                        <a:t>Viabp</a:t>
                      </a:r>
                      <a:r>
                        <a:rPr lang="en-US" sz="1100" b="0" i="0" u="none" strike="noStrike">
                          <a:solidFill>
                            <a:srgbClr val="000000"/>
                          </a:solidFill>
                          <a:effectLst/>
                          <a:latin typeface="Calibri" panose="020F0502020204030204" pitchFamily="34" charset="0"/>
                        </a:rPr>
                        <a:t> (V15) (SDR)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B0F0"/>
                    </a:solidFill>
                  </a:tcPr>
                </a:tc>
                <a:tc>
                  <a:txBody>
                    <a:bodyPr/>
                    <a:lstStyle/>
                    <a:p>
                      <a:pPr algn="ctr" fontAlgn="ctr">
                        <a:buNone/>
                      </a:pPr>
                      <a:r>
                        <a:rPr lang="en-US" sz="1100" b="0" i="0" u="none" strike="noStrike">
                          <a:solidFill>
                            <a:srgbClr val="000000"/>
                          </a:solidFill>
                          <a:effectLst/>
                          <a:latin typeface="Calibri" panose="020F0502020204030204" pitchFamily="34" charset="0"/>
                        </a:rPr>
                        <a:t>40p (M5)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tc>
                  <a:txBody>
                    <a:bodyPr/>
                    <a:lstStyle/>
                    <a:p>
                      <a:pPr algn="ctr" fontAlgn="ctr">
                        <a:buNone/>
                      </a:pPr>
                      <a:r>
                        <a:rPr lang="en-US" sz="1100" b="0" i="0" u="none" strike="noStrike">
                          <a:solidFill>
                            <a:srgbClr val="000000"/>
                          </a:solidFill>
                          <a:effectLst/>
                          <a:latin typeface="Calibri" panose="020F0502020204030204" pitchFamily="34" charset="0"/>
                        </a:rPr>
                        <a:t>40p (M5)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CBAD"/>
                    </a:solidFill>
                  </a:tcPr>
                </a:tc>
                <a:extLst>
                  <a:ext uri="{0D108BD9-81ED-4DB2-BD59-A6C34878D82A}">
                    <a16:rowId xmlns:a16="http://schemas.microsoft.com/office/drawing/2014/main" val="3386686122"/>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GVA (TSDR)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C4T (TSDR)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40p (M6)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8CBAD"/>
                    </a:solidFill>
                  </a:tcPr>
                </a:tc>
                <a:tc>
                  <a:txBody>
                    <a:bodyPr/>
                    <a:lstStyle/>
                    <a:p>
                      <a:pPr algn="ctr" fontAlgn="ctr">
                        <a:buNone/>
                      </a:pPr>
                      <a:r>
                        <a:rPr lang="en-US" sz="1100" b="0" i="0" u="none" strike="noStrike">
                          <a:solidFill>
                            <a:srgbClr val="000000"/>
                          </a:solidFill>
                          <a:effectLst/>
                          <a:latin typeface="Calibri" panose="020F0502020204030204" pitchFamily="34" charset="0"/>
                        </a:rPr>
                        <a:t>40p (M6)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8CBAD"/>
                    </a:solidFill>
                  </a:tcPr>
                </a:tc>
                <a:extLst>
                  <a:ext uri="{0D108BD9-81ED-4DB2-BD59-A6C34878D82A}">
                    <a16:rowId xmlns:a16="http://schemas.microsoft.com/office/drawing/2014/main" val="1182638273"/>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3000p (M15) (SDR)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12700" cap="flat" cmpd="sng" algn="ctr">
                      <a:solidFill>
                        <a:srgbClr val="7030A0"/>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FFFFFF"/>
                          </a:solidFill>
                          <a:effectLst/>
                          <a:latin typeface="Calibri" panose="020F0502020204030204" pitchFamily="34" charset="0"/>
                        </a:rPr>
                        <a:t>76p (M7)</a:t>
                      </a:r>
                    </a:p>
                  </a:txBody>
                  <a:tcPr marL="0" marR="0" marT="0" marB="0" anchor="ct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tc>
                  <a:txBody>
                    <a:bodyPr/>
                    <a:lstStyle/>
                    <a:p>
                      <a:pPr algn="ctr" fontAlgn="ctr">
                        <a:buNone/>
                      </a:pPr>
                      <a:r>
                        <a:rPr lang="en-US" sz="1100" b="0" i="0" u="none" strike="noStrike">
                          <a:solidFill>
                            <a:srgbClr val="FFFFFF"/>
                          </a:solidFill>
                          <a:effectLst/>
                          <a:latin typeface="Calibri" panose="020F0502020204030204" pitchFamily="34" charset="0"/>
                        </a:rPr>
                        <a:t>76p (M7)</a:t>
                      </a:r>
                    </a:p>
                  </a:txBody>
                  <a:tcPr marL="0" marR="0" marT="0" marB="0" anchor="ctr">
                    <a:lnL w="12700" cap="flat" cmpd="sng" algn="ctr">
                      <a:solidFill>
                        <a:srgbClr val="7030A0"/>
                      </a:solidFill>
                      <a:prstDash val="solid"/>
                      <a:round/>
                      <a:headEnd type="none" w="med" len="med"/>
                      <a:tailEnd type="none" w="med" len="med"/>
                    </a:lnL>
                    <a:lnR w="6350" cap="flat" cmpd="sng" algn="ctr">
                      <a:solidFill>
                        <a:srgbClr val="BFBFBF"/>
                      </a:solidFill>
                      <a:prstDash val="solid"/>
                      <a:round/>
                      <a:headEnd type="none" w="med" len="med"/>
                      <a:tailEnd type="none" w="med" len="med"/>
                    </a:lnR>
                    <a:lnT w="12700" cap="flat" cmpd="sng" algn="ctr">
                      <a:solidFill>
                        <a:srgbClr val="7030A0"/>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extLst>
                  <a:ext uri="{0D108BD9-81ED-4DB2-BD59-A6C34878D82A}">
                    <a16:rowId xmlns:a16="http://schemas.microsoft.com/office/drawing/2014/main" val="129107567"/>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err="1">
                          <a:solidFill>
                            <a:srgbClr val="000000"/>
                          </a:solidFill>
                          <a:effectLst/>
                          <a:latin typeface="Calibri" panose="020F0502020204030204" pitchFamily="34" charset="0"/>
                        </a:rPr>
                        <a:t>Viabp</a:t>
                      </a:r>
                      <a:r>
                        <a:rPr lang="en-US" sz="1100" b="0" i="0" u="none" strike="noStrike">
                          <a:solidFill>
                            <a:srgbClr val="000000"/>
                          </a:solidFill>
                          <a:effectLst/>
                          <a:latin typeface="Calibri" panose="020F0502020204030204" pitchFamily="34" charset="0"/>
                        </a:rPr>
                        <a:t> (V15) (SDR)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B0F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3288190996"/>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C4T (TSDR)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92D05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1460395042"/>
                  </a:ext>
                </a:extLst>
              </a:tr>
              <a:tr h="19050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2574258006"/>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120p (M11)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4155074013"/>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120p (M12)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755773706"/>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760p (M13)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3167195337"/>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760p (M14)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tc>
                  <a:txBody>
                    <a:bodyPr/>
                    <a:lstStyle/>
                    <a:p>
                      <a:pPr algn="ctr" fontAlgn="ctr">
                        <a:buNone/>
                      </a:pPr>
                      <a:r>
                        <a:rPr lang="en-US" sz="1100" b="0" i="0" u="none" strike="noStrike">
                          <a:solidFill>
                            <a:srgbClr val="000000"/>
                          </a:solidFill>
                          <a:effectLst/>
                          <a:latin typeface="Calibri" panose="020F0502020204030204" pitchFamily="34" charset="0"/>
                        </a:rPr>
                        <a:t>76p (M14)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extLst>
                  <a:ext uri="{0D108BD9-81ED-4DB2-BD59-A6C34878D82A}">
                    <a16:rowId xmlns:a16="http://schemas.microsoft.com/office/drawing/2014/main" val="3434333244"/>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MIM3X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tc>
                  <a:txBody>
                    <a:bodyPr/>
                    <a:lstStyle/>
                    <a:p>
                      <a:pPr algn="ctr" fontAlgn="ctr">
                        <a:buNone/>
                      </a:pPr>
                      <a:r>
                        <a:rPr lang="en-US" sz="1100" b="0" i="0" u="none" strike="noStrike">
                          <a:solidFill>
                            <a:srgbClr val="000000"/>
                          </a:solidFill>
                          <a:effectLst/>
                          <a:latin typeface="Calibri" panose="020F0502020204030204" pitchFamily="34" charset="0"/>
                        </a:rPr>
                        <a:t>120p (M15)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extLst>
                  <a:ext uri="{0D108BD9-81ED-4DB2-BD59-A6C34878D82A}">
                    <a16:rowId xmlns:a16="http://schemas.microsoft.com/office/drawing/2014/main" val="3393669963"/>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3000p (M15)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tc>
                  <a:txBody>
                    <a:bodyPr/>
                    <a:lstStyle/>
                    <a:p>
                      <a:pPr algn="ctr" fontAlgn="ctr">
                        <a:buNone/>
                      </a:pPr>
                      <a:r>
                        <a:rPr lang="en-US" sz="1100" b="0" i="0" u="none" strike="noStrike">
                          <a:solidFill>
                            <a:srgbClr val="000000"/>
                          </a:solidFill>
                          <a:effectLst/>
                          <a:latin typeface="Calibri" panose="020F0502020204030204" pitchFamily="34" charset="0"/>
                        </a:rPr>
                        <a:t>120p (M16)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extLst>
                  <a:ext uri="{0D108BD9-81ED-4DB2-BD59-A6C34878D82A}">
                    <a16:rowId xmlns:a16="http://schemas.microsoft.com/office/drawing/2014/main" val="2106638928"/>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Viabp (V15)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B0F0"/>
                    </a:solidFill>
                  </a:tcPr>
                </a:tc>
                <a:tc>
                  <a:txBody>
                    <a:bodyPr/>
                    <a:lstStyle/>
                    <a:p>
                      <a:pPr algn="ctr" fontAlgn="ctr">
                        <a:buNone/>
                      </a:pPr>
                      <a:r>
                        <a:rPr lang="en-US" sz="1100" b="0" i="0" u="none" strike="noStrike">
                          <a:solidFill>
                            <a:srgbClr val="000000"/>
                          </a:solidFill>
                          <a:effectLst/>
                          <a:latin typeface="Calibri" panose="020F0502020204030204" pitchFamily="34" charset="0"/>
                        </a:rPr>
                        <a:t>760p (M17)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extLst>
                  <a:ext uri="{0D108BD9-81ED-4DB2-BD59-A6C34878D82A}">
                    <a16:rowId xmlns:a16="http://schemas.microsoft.com/office/drawing/2014/main" val="3623454787"/>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Bumpp (C4B)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B0F0"/>
                    </a:solidFill>
                  </a:tcPr>
                </a:tc>
                <a:tc>
                  <a:txBody>
                    <a:bodyPr/>
                    <a:lstStyle/>
                    <a:p>
                      <a:pPr algn="ctr" fontAlgn="ctr">
                        <a:buNone/>
                      </a:pPr>
                      <a:r>
                        <a:rPr lang="en-US" sz="1100" b="0" i="0" u="none" strike="noStrike">
                          <a:solidFill>
                            <a:srgbClr val="000000"/>
                          </a:solidFill>
                          <a:effectLst/>
                          <a:latin typeface="Calibri" panose="020F0502020204030204" pitchFamily="34" charset="0"/>
                        </a:rPr>
                        <a:t>760p (M18)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2F75B5"/>
                    </a:solidFill>
                  </a:tcPr>
                </a:tc>
                <a:extLst>
                  <a:ext uri="{0D108BD9-81ED-4DB2-BD59-A6C34878D82A}">
                    <a16:rowId xmlns:a16="http://schemas.microsoft.com/office/drawing/2014/main" val="18080815"/>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9D9D9"/>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MIM3X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7030A0"/>
                    </a:solidFill>
                  </a:tcPr>
                </a:tc>
                <a:extLst>
                  <a:ext uri="{0D108BD9-81ED-4DB2-BD59-A6C34878D82A}">
                    <a16:rowId xmlns:a16="http://schemas.microsoft.com/office/drawing/2014/main" val="315415407"/>
                  </a:ext>
                </a:extLst>
              </a:tr>
              <a:tr h="182880">
                <a:tc>
                  <a:txBody>
                    <a:bodyPr/>
                    <a:lstStyle/>
                    <a:p>
                      <a:pPr algn="ctr" fontAlgn="ctr">
                        <a:buNone/>
                      </a:pPr>
                      <a:r>
                        <a:rPr lang="en-US" sz="1100" b="0" i="0" u="none" strike="noStrike">
                          <a:solidFill>
                            <a:srgbClr val="000000"/>
                          </a:solidFill>
                          <a:effectLst/>
                          <a:latin typeface="Calibri" panose="020F0502020204030204" pitchFamily="34" charset="0"/>
                        </a:rPr>
                        <a:t>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08080"/>
                    </a:solidFill>
                  </a:tcPr>
                </a:tc>
                <a:tc>
                  <a:txBody>
                    <a:bodyPr/>
                    <a:lstStyle/>
                    <a:p>
                      <a:pPr algn="ctr" fontAlgn="ctr">
                        <a:buNone/>
                      </a:pPr>
                      <a:r>
                        <a:rPr lang="en-US" sz="1100" b="0" i="0" u="none" strike="noStrike">
                          <a:solidFill>
                            <a:srgbClr val="000000"/>
                          </a:solidFill>
                          <a:effectLst/>
                          <a:latin typeface="Calibri" panose="020F0502020204030204" pitchFamily="34" charset="0"/>
                        </a:rPr>
                        <a:t>3000p (M19)</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C000"/>
                    </a:solidFill>
                  </a:tcPr>
                </a:tc>
                <a:extLst>
                  <a:ext uri="{0D108BD9-81ED-4DB2-BD59-A6C34878D82A}">
                    <a16:rowId xmlns:a16="http://schemas.microsoft.com/office/drawing/2014/main" val="254276194"/>
                  </a:ext>
                </a:extLst>
              </a:tr>
            </a:tbl>
          </a:graphicData>
        </a:graphic>
      </p:graphicFrame>
    </p:spTree>
    <p:extLst>
      <p:ext uri="{BB962C8B-B14F-4D97-AF65-F5344CB8AC3E}">
        <p14:creationId xmlns:p14="http://schemas.microsoft.com/office/powerpoint/2010/main" val="2974731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54DA-1DE1-CD01-0E6E-55E6811DEEA4}"/>
            </a:ext>
          </a:extLst>
        </p:cNvPr>
        <p:cNvGrpSpPr/>
        <p:nvPr/>
      </p:nvGrpSpPr>
      <p:grpSpPr>
        <a:xfrm>
          <a:off x="0" y="0"/>
          <a:ext cx="0" cy="0"/>
          <a:chOff x="0" y="0"/>
          <a:chExt cx="0" cy="0"/>
        </a:xfrm>
      </p:grpSpPr>
      <p:graphicFrame>
        <p:nvGraphicFramePr>
          <p:cNvPr id="5" name="Table 2">
            <a:extLst>
              <a:ext uri="{FF2B5EF4-FFF2-40B4-BE49-F238E27FC236}">
                <a16:creationId xmlns:a16="http://schemas.microsoft.com/office/drawing/2014/main" id="{40FC6F47-DB7D-4CE7-1597-BFB2E0A84128}"/>
              </a:ext>
            </a:extLst>
          </p:cNvPr>
          <p:cNvGraphicFramePr>
            <a:graphicFrameLocks noGrp="1"/>
          </p:cNvGraphicFramePr>
          <p:nvPr>
            <p:extLst>
              <p:ext uri="{D42A27DB-BD31-4B8C-83A1-F6EECF244321}">
                <p14:modId xmlns:p14="http://schemas.microsoft.com/office/powerpoint/2010/main" val="1499850671"/>
              </p:ext>
            </p:extLst>
          </p:nvPr>
        </p:nvGraphicFramePr>
        <p:xfrm>
          <a:off x="0" y="779775"/>
          <a:ext cx="12192000" cy="5398465"/>
        </p:xfrm>
        <a:graphic>
          <a:graphicData uri="http://schemas.openxmlformats.org/drawingml/2006/table">
            <a:tbl>
              <a:tblPr firstRow="1" firstCol="1">
                <a:tableStyleId>{073A0DAA-6AF3-43AB-8588-CEC1D06C72B9}</a:tableStyleId>
              </a:tblPr>
              <a:tblGrid>
                <a:gridCol w="3719325">
                  <a:extLst>
                    <a:ext uri="{9D8B030D-6E8A-4147-A177-3AD203B41FA5}">
                      <a16:colId xmlns:a16="http://schemas.microsoft.com/office/drawing/2014/main" val="2269448343"/>
                    </a:ext>
                  </a:extLst>
                </a:gridCol>
                <a:gridCol w="1110414">
                  <a:extLst>
                    <a:ext uri="{9D8B030D-6E8A-4147-A177-3AD203B41FA5}">
                      <a16:colId xmlns:a16="http://schemas.microsoft.com/office/drawing/2014/main" val="122404310"/>
                    </a:ext>
                  </a:extLst>
                </a:gridCol>
                <a:gridCol w="808459">
                  <a:extLst>
                    <a:ext uri="{9D8B030D-6E8A-4147-A177-3AD203B41FA5}">
                      <a16:colId xmlns:a16="http://schemas.microsoft.com/office/drawing/2014/main" val="880753391"/>
                    </a:ext>
                  </a:extLst>
                </a:gridCol>
                <a:gridCol w="603910">
                  <a:extLst>
                    <a:ext uri="{9D8B030D-6E8A-4147-A177-3AD203B41FA5}">
                      <a16:colId xmlns:a16="http://schemas.microsoft.com/office/drawing/2014/main" val="2222489130"/>
                    </a:ext>
                  </a:extLst>
                </a:gridCol>
                <a:gridCol w="662748">
                  <a:extLst>
                    <a:ext uri="{9D8B030D-6E8A-4147-A177-3AD203B41FA5}">
                      <a16:colId xmlns:a16="http://schemas.microsoft.com/office/drawing/2014/main" val="28446313"/>
                    </a:ext>
                  </a:extLst>
                </a:gridCol>
                <a:gridCol w="5287144">
                  <a:extLst>
                    <a:ext uri="{9D8B030D-6E8A-4147-A177-3AD203B41FA5}">
                      <a16:colId xmlns:a16="http://schemas.microsoft.com/office/drawing/2014/main" val="64819492"/>
                    </a:ext>
                  </a:extLst>
                </a:gridCol>
              </a:tblGrid>
              <a:tr h="479151">
                <a:tc>
                  <a:txBody>
                    <a:bodyPr/>
                    <a:lstStyle/>
                    <a:p>
                      <a:pPr algn="ctr">
                        <a:buNone/>
                      </a:pPr>
                      <a:r>
                        <a:rPr lang="en-US" sz="1200">
                          <a:solidFill>
                            <a:schemeClr val="bg1"/>
                          </a:solidFill>
                        </a:rPr>
                        <a:t>Layer module</a:t>
                      </a:r>
                    </a:p>
                  </a:txBody>
                  <a:tcPr marL="10510" marR="10510" marT="4343" marB="4343" anchor="ctr"/>
                </a:tc>
                <a:tc>
                  <a:txBody>
                    <a:bodyPr/>
                    <a:lstStyle/>
                    <a:p>
                      <a:pPr algn="ctr">
                        <a:buNone/>
                      </a:pPr>
                      <a:r>
                        <a:rPr lang="en-US" sz="1200">
                          <a:solidFill>
                            <a:schemeClr val="bg1"/>
                          </a:solidFill>
                        </a:rPr>
                        <a:t>PD Min width/space</a:t>
                      </a:r>
                    </a:p>
                  </a:txBody>
                  <a:tcPr marL="10510" marR="10510" marT="4343" marB="4343" anchor="ctr"/>
                </a:tc>
                <a:tc>
                  <a:txBody>
                    <a:bodyPr/>
                    <a:lstStyle/>
                    <a:p>
                      <a:pPr algn="ctr">
                        <a:buNone/>
                      </a:pPr>
                      <a:r>
                        <a:rPr lang="en-US" sz="1200">
                          <a:solidFill>
                            <a:schemeClr val="bg1"/>
                          </a:solidFill>
                        </a:rPr>
                        <a:t>PD Min Width</a:t>
                      </a:r>
                    </a:p>
                  </a:txBody>
                  <a:tcPr marL="10510" marR="10510" marT="4343" marB="4343" anchor="ctr"/>
                </a:tc>
                <a:tc>
                  <a:txBody>
                    <a:bodyPr/>
                    <a:lstStyle/>
                    <a:p>
                      <a:pPr algn="ctr">
                        <a:buNone/>
                      </a:pPr>
                      <a:r>
                        <a:rPr lang="en-US" sz="1200">
                          <a:solidFill>
                            <a:schemeClr val="bg1"/>
                          </a:solidFill>
                        </a:rPr>
                        <a:t>PD Min Space</a:t>
                      </a:r>
                    </a:p>
                  </a:txBody>
                  <a:tcPr marL="10510" marR="10510" marT="4343" marB="4343" anchor="ctr"/>
                </a:tc>
                <a:tc>
                  <a:txBody>
                    <a:bodyPr/>
                    <a:lstStyle/>
                    <a:p>
                      <a:pPr algn="ctr">
                        <a:buNone/>
                      </a:pPr>
                      <a:r>
                        <a:rPr lang="en-US" sz="1200">
                          <a:solidFill>
                            <a:schemeClr val="bg1"/>
                          </a:solidFill>
                        </a:rPr>
                        <a:t>PD Min Pitch</a:t>
                      </a:r>
                    </a:p>
                  </a:txBody>
                  <a:tcPr marL="10510" marR="10510" marT="4343" marB="4343" anchor="ctr"/>
                </a:tc>
                <a:tc>
                  <a:txBody>
                    <a:bodyPr/>
                    <a:lstStyle/>
                    <a:p>
                      <a:pPr algn="ctr">
                        <a:buNone/>
                      </a:pPr>
                      <a:r>
                        <a:rPr lang="en-US" sz="1200">
                          <a:solidFill>
                            <a:schemeClr val="bg1"/>
                          </a:solidFill>
                        </a:rPr>
                        <a:t>PD Wire Widths</a:t>
                      </a:r>
                    </a:p>
                  </a:txBody>
                  <a:tcPr marL="10510" marR="10510" marT="4343" marB="4343" anchor="ctr"/>
                </a:tc>
                <a:extLst>
                  <a:ext uri="{0D108BD9-81ED-4DB2-BD59-A6C34878D82A}">
                    <a16:rowId xmlns:a16="http://schemas.microsoft.com/office/drawing/2014/main" val="2783080499"/>
                  </a:ext>
                </a:extLst>
              </a:tr>
              <a:tr h="361347">
                <a:tc>
                  <a:txBody>
                    <a:bodyPr/>
                    <a:lstStyle/>
                    <a:p>
                      <a:pPr>
                        <a:buNone/>
                      </a:pPr>
                      <a:r>
                        <a:rPr lang="en-US" sz="1200">
                          <a:solidFill>
                            <a:schemeClr val="bg1"/>
                          </a:solidFill>
                        </a:rPr>
                        <a:t>M0 b110h_44ppBaseRegionRegion.id + digital;id</a:t>
                      </a:r>
                    </a:p>
                  </a:txBody>
                  <a:tcPr marL="10510" marR="10510" marT="4343" marB="4343" anchor="ctr"/>
                </a:tc>
                <a:tc>
                  <a:txBody>
                    <a:bodyPr/>
                    <a:lstStyle/>
                    <a:p>
                      <a:pPr algn="ctr">
                        <a:buNone/>
                      </a:pPr>
                      <a:r>
                        <a:rPr lang="en-US" sz="1200"/>
                        <a:t>12/9</a:t>
                      </a:r>
                    </a:p>
                  </a:txBody>
                  <a:tcPr marL="10510" marR="10510" marT="4343" marB="4343" anchor="ctr"/>
                </a:tc>
                <a:tc>
                  <a:txBody>
                    <a:bodyPr/>
                    <a:lstStyle/>
                    <a:p>
                      <a:pPr algn="ctr">
                        <a:buNone/>
                      </a:pPr>
                      <a:r>
                        <a:rPr lang="en-US" sz="1200"/>
                        <a:t>12</a:t>
                      </a:r>
                    </a:p>
                  </a:txBody>
                  <a:tcPr marL="10510" marR="10510" marT="4343" marB="4343" anchor="ctr"/>
                </a:tc>
                <a:tc>
                  <a:txBody>
                    <a:bodyPr/>
                    <a:lstStyle/>
                    <a:p>
                      <a:pPr algn="ctr">
                        <a:buNone/>
                      </a:pPr>
                      <a:r>
                        <a:rPr lang="en-US" sz="1200"/>
                        <a:t>9</a:t>
                      </a:r>
                    </a:p>
                  </a:txBody>
                  <a:tcPr marL="10510" marR="10510" marT="4343" marB="4343" anchor="ctr"/>
                </a:tc>
                <a:tc>
                  <a:txBody>
                    <a:bodyPr/>
                    <a:lstStyle/>
                    <a:p>
                      <a:pPr algn="ctr">
                        <a:buNone/>
                      </a:pPr>
                      <a:r>
                        <a:rPr lang="en-US" sz="1200"/>
                        <a:t>21</a:t>
                      </a:r>
                    </a:p>
                  </a:txBody>
                  <a:tcPr marL="10510" marR="10510" marT="4343" marB="4343" anchor="ctr"/>
                </a:tc>
                <a:tc>
                  <a:txBody>
                    <a:bodyPr/>
                    <a:lstStyle/>
                    <a:p>
                      <a:pPr algn="ctr">
                        <a:buNone/>
                      </a:pPr>
                      <a:r>
                        <a:rPr lang="en-US" sz="1200"/>
                        <a:t>12, 17</a:t>
                      </a:r>
                    </a:p>
                  </a:txBody>
                  <a:tcPr marL="10510" marR="10510" marT="4343" marB="4343" anchor="ctr"/>
                </a:tc>
                <a:extLst>
                  <a:ext uri="{0D108BD9-81ED-4DB2-BD59-A6C34878D82A}">
                    <a16:rowId xmlns:a16="http://schemas.microsoft.com/office/drawing/2014/main" val="1420042965"/>
                  </a:ext>
                </a:extLst>
              </a:tr>
              <a:tr h="361347">
                <a:tc>
                  <a:txBody>
                    <a:bodyPr/>
                    <a:lstStyle/>
                    <a:p>
                      <a:pPr>
                        <a:buNone/>
                      </a:pPr>
                      <a:r>
                        <a:rPr lang="en-US" sz="1200">
                          <a:solidFill>
                            <a:schemeClr val="bg1"/>
                          </a:solidFill>
                        </a:rPr>
                        <a:t>M0 b132h_44ppBaseRegionRegion.id+ digital;id</a:t>
                      </a:r>
                    </a:p>
                  </a:txBody>
                  <a:tcPr marL="10510" marR="10510" marT="4343" marB="4343" anchor="ctr"/>
                </a:tc>
                <a:tc>
                  <a:txBody>
                    <a:bodyPr/>
                    <a:lstStyle/>
                    <a:p>
                      <a:pPr algn="ctr">
                        <a:buNone/>
                      </a:pPr>
                      <a:r>
                        <a:rPr lang="en-US" sz="1200"/>
                        <a:t>13/9</a:t>
                      </a:r>
                    </a:p>
                  </a:txBody>
                  <a:tcPr marL="10510" marR="10510" marT="4343" marB="4343" anchor="ctr"/>
                </a:tc>
                <a:tc>
                  <a:txBody>
                    <a:bodyPr/>
                    <a:lstStyle/>
                    <a:p>
                      <a:pPr algn="ctr">
                        <a:buNone/>
                      </a:pPr>
                      <a:r>
                        <a:rPr lang="en-US" sz="1200"/>
                        <a:t>15</a:t>
                      </a:r>
                    </a:p>
                  </a:txBody>
                  <a:tcPr marL="10510" marR="10510" marT="4343" marB="4343" anchor="ctr"/>
                </a:tc>
                <a:tc>
                  <a:txBody>
                    <a:bodyPr/>
                    <a:lstStyle/>
                    <a:p>
                      <a:pPr algn="ctr">
                        <a:buNone/>
                      </a:pPr>
                      <a:r>
                        <a:rPr lang="en-US" sz="1200"/>
                        <a:t>9</a:t>
                      </a:r>
                    </a:p>
                  </a:txBody>
                  <a:tcPr marL="10510" marR="10510" marT="4343" marB="4343" anchor="ctr"/>
                </a:tc>
                <a:tc>
                  <a:txBody>
                    <a:bodyPr/>
                    <a:lstStyle/>
                    <a:p>
                      <a:pPr algn="ctr">
                        <a:buNone/>
                      </a:pPr>
                      <a:r>
                        <a:rPr lang="en-US" sz="1200"/>
                        <a:t>22</a:t>
                      </a:r>
                    </a:p>
                  </a:txBody>
                  <a:tcPr marL="10510" marR="10510" marT="4343" marB="4343" anchor="ctr"/>
                </a:tc>
                <a:tc>
                  <a:txBody>
                    <a:bodyPr/>
                    <a:lstStyle/>
                    <a:p>
                      <a:pPr algn="ctr">
                        <a:buNone/>
                      </a:pPr>
                      <a:r>
                        <a:rPr lang="en-US" sz="1200"/>
                        <a:t>15, 27</a:t>
                      </a:r>
                    </a:p>
                  </a:txBody>
                  <a:tcPr marL="10510" marR="10510" marT="4343" marB="4343" anchor="ctr"/>
                </a:tc>
                <a:extLst>
                  <a:ext uri="{0D108BD9-81ED-4DB2-BD59-A6C34878D82A}">
                    <a16:rowId xmlns:a16="http://schemas.microsoft.com/office/drawing/2014/main" val="755247348"/>
                  </a:ext>
                </a:extLst>
              </a:tr>
              <a:tr h="361347">
                <a:tc>
                  <a:txBody>
                    <a:bodyPr/>
                    <a:lstStyle/>
                    <a:p>
                      <a:pPr>
                        <a:buNone/>
                      </a:pPr>
                      <a:r>
                        <a:rPr lang="en-US" sz="1200">
                          <a:solidFill>
                            <a:schemeClr val="bg1"/>
                          </a:solidFill>
                        </a:rPr>
                        <a:t>M0 b165h_44ppBaseRegionRegion.id+ digital;id</a:t>
                      </a:r>
                    </a:p>
                  </a:txBody>
                  <a:tcPr marL="10510" marR="10510" marT="4343" marB="4343" anchor="ctr"/>
                </a:tc>
                <a:tc>
                  <a:txBody>
                    <a:bodyPr/>
                    <a:lstStyle/>
                    <a:p>
                      <a:pPr algn="ctr">
                        <a:buNone/>
                      </a:pPr>
                      <a:r>
                        <a:rPr lang="en-US" sz="1200"/>
                        <a:t>13/9</a:t>
                      </a:r>
                    </a:p>
                  </a:txBody>
                  <a:tcPr marL="10510" marR="10510" marT="4343" marB="4343" anchor="ctr"/>
                </a:tc>
                <a:tc>
                  <a:txBody>
                    <a:bodyPr/>
                    <a:lstStyle/>
                    <a:p>
                      <a:pPr algn="ctr">
                        <a:buNone/>
                      </a:pPr>
                      <a:r>
                        <a:rPr lang="en-US" sz="1200"/>
                        <a:t>14</a:t>
                      </a:r>
                    </a:p>
                  </a:txBody>
                  <a:tcPr marL="10510" marR="10510" marT="4343" marB="4343" anchor="ctr"/>
                </a:tc>
                <a:tc>
                  <a:txBody>
                    <a:bodyPr/>
                    <a:lstStyle/>
                    <a:p>
                      <a:pPr algn="ctr">
                        <a:buNone/>
                      </a:pPr>
                      <a:r>
                        <a:rPr lang="en-US" sz="1200"/>
                        <a:t>9</a:t>
                      </a:r>
                    </a:p>
                  </a:txBody>
                  <a:tcPr marL="10510" marR="10510" marT="4343" marB="4343" anchor="ctr"/>
                </a:tc>
                <a:tc>
                  <a:txBody>
                    <a:bodyPr/>
                    <a:lstStyle/>
                    <a:p>
                      <a:pPr algn="ctr">
                        <a:buNone/>
                      </a:pPr>
                      <a:r>
                        <a:rPr lang="en-US" sz="1200"/>
                        <a:t>22</a:t>
                      </a:r>
                    </a:p>
                  </a:txBody>
                  <a:tcPr marL="10510" marR="10510" marT="4343" marB="4343" anchor="ctr"/>
                </a:tc>
                <a:tc>
                  <a:txBody>
                    <a:bodyPr/>
                    <a:lstStyle/>
                    <a:p>
                      <a:pPr algn="ctr">
                        <a:buNone/>
                      </a:pPr>
                      <a:r>
                        <a:rPr lang="en-US" sz="1200"/>
                        <a:t>14, 15, 37</a:t>
                      </a:r>
                    </a:p>
                  </a:txBody>
                  <a:tcPr marL="10510" marR="10510" marT="4343" marB="4343" anchor="ctr"/>
                </a:tc>
                <a:extLst>
                  <a:ext uri="{0D108BD9-81ED-4DB2-BD59-A6C34878D82A}">
                    <a16:rowId xmlns:a16="http://schemas.microsoft.com/office/drawing/2014/main" val="2029126652"/>
                  </a:ext>
                </a:extLst>
              </a:tr>
              <a:tr h="321853">
                <a:tc>
                  <a:txBody>
                    <a:bodyPr/>
                    <a:lstStyle/>
                    <a:p>
                      <a:pPr>
                        <a:buNone/>
                      </a:pPr>
                      <a:r>
                        <a:rPr lang="en-US" sz="1200">
                          <a:solidFill>
                            <a:schemeClr val="bg1"/>
                          </a:solidFill>
                        </a:rPr>
                        <a:t>M0 Mixed rows (110+132, 132+165, 110+132)</a:t>
                      </a:r>
                    </a:p>
                  </a:txBody>
                  <a:tcPr marL="10510" marR="10510" marT="4343" marB="4343" anchor="ctr"/>
                </a:tc>
                <a:tc>
                  <a:txBody>
                    <a:bodyPr/>
                    <a:lstStyle/>
                    <a:p>
                      <a:pPr algn="ctr">
                        <a:buNone/>
                      </a:pPr>
                      <a:r>
                        <a:rPr lang="en-US" sz="1200"/>
                        <a:t>13/9</a:t>
                      </a:r>
                    </a:p>
                  </a:txBody>
                  <a:tcPr marL="10510" marR="10510" marT="4343" marB="4343" anchor="ctr"/>
                </a:tc>
                <a:tc>
                  <a:txBody>
                    <a:bodyPr/>
                    <a:lstStyle/>
                    <a:p>
                      <a:pPr algn="ctr">
                        <a:buNone/>
                      </a:pPr>
                      <a:r>
                        <a:rPr lang="en-US" sz="1200"/>
                        <a:t>12</a:t>
                      </a:r>
                    </a:p>
                  </a:txBody>
                  <a:tcPr marL="10510" marR="10510" marT="4343" marB="4343" anchor="ctr"/>
                </a:tc>
                <a:tc>
                  <a:txBody>
                    <a:bodyPr/>
                    <a:lstStyle/>
                    <a:p>
                      <a:pPr algn="ctr">
                        <a:buNone/>
                      </a:pPr>
                      <a:r>
                        <a:rPr lang="en-US" sz="1200"/>
                        <a:t>9</a:t>
                      </a:r>
                    </a:p>
                  </a:txBody>
                  <a:tcPr marL="10510" marR="10510" marT="4343" marB="4343" anchor="ctr"/>
                </a:tc>
                <a:tc>
                  <a:txBody>
                    <a:bodyPr/>
                    <a:lstStyle/>
                    <a:p>
                      <a:pPr algn="ctr">
                        <a:buNone/>
                      </a:pPr>
                      <a:r>
                        <a:rPr lang="en-US" sz="1200"/>
                        <a:t>22</a:t>
                      </a:r>
                    </a:p>
                  </a:txBody>
                  <a:tcPr marL="10510" marR="10510" marT="4343" marB="4343" anchor="ctr"/>
                </a:tc>
                <a:tc>
                  <a:txBody>
                    <a:bodyPr/>
                    <a:lstStyle/>
                    <a:p>
                      <a:pPr algn="ctr">
                        <a:buNone/>
                      </a:pPr>
                      <a:r>
                        <a:rPr lang="en-US" sz="1200"/>
                        <a:t>12, 14, 15, 17, 22, 27, 32, 37</a:t>
                      </a:r>
                    </a:p>
                  </a:txBody>
                  <a:tcPr marL="10510" marR="10510" marT="4343" marB="4343" anchor="ctr"/>
                </a:tc>
                <a:extLst>
                  <a:ext uri="{0D108BD9-81ED-4DB2-BD59-A6C34878D82A}">
                    <a16:rowId xmlns:a16="http://schemas.microsoft.com/office/drawing/2014/main" val="505196570"/>
                  </a:ext>
                </a:extLst>
              </a:tr>
              <a:tr h="188795">
                <a:tc>
                  <a:txBody>
                    <a:bodyPr/>
                    <a:lstStyle/>
                    <a:p>
                      <a:pPr>
                        <a:buNone/>
                      </a:pPr>
                      <a:r>
                        <a:rPr lang="en-US" sz="1200">
                          <a:solidFill>
                            <a:schemeClr val="bg1"/>
                          </a:solidFill>
                        </a:rPr>
                        <a:t>M1</a:t>
                      </a:r>
                    </a:p>
                  </a:txBody>
                  <a:tcPr marL="10510" marR="10510" marT="4343" marB="4343" anchor="ctr"/>
                </a:tc>
                <a:tc>
                  <a:txBody>
                    <a:bodyPr/>
                    <a:lstStyle/>
                    <a:p>
                      <a:pPr algn="ctr">
                        <a:buNone/>
                      </a:pPr>
                      <a:r>
                        <a:rPr lang="en-US" sz="1200"/>
                        <a:t>24/20</a:t>
                      </a:r>
                    </a:p>
                  </a:txBody>
                  <a:tcPr marL="10510" marR="10510" marT="4343" marB="4343" anchor="ctr"/>
                </a:tc>
                <a:tc>
                  <a:txBody>
                    <a:bodyPr/>
                    <a:lstStyle/>
                    <a:p>
                      <a:pPr algn="ctr">
                        <a:buNone/>
                      </a:pPr>
                      <a:r>
                        <a:rPr lang="en-US" sz="1200"/>
                        <a:t>24</a:t>
                      </a:r>
                    </a:p>
                  </a:txBody>
                  <a:tcPr marL="10510" marR="10510" marT="4343" marB="4343" anchor="ctr"/>
                </a:tc>
                <a:tc>
                  <a:txBody>
                    <a:bodyPr/>
                    <a:lstStyle/>
                    <a:p>
                      <a:pPr algn="ctr">
                        <a:buNone/>
                      </a:pPr>
                      <a:r>
                        <a:rPr lang="en-US" sz="1200"/>
                        <a:t>20</a:t>
                      </a:r>
                    </a:p>
                  </a:txBody>
                  <a:tcPr marL="10510" marR="10510" marT="4343" marB="4343" anchor="ctr"/>
                </a:tc>
                <a:tc>
                  <a:txBody>
                    <a:bodyPr/>
                    <a:lstStyle/>
                    <a:p>
                      <a:pPr algn="ctr">
                        <a:buNone/>
                      </a:pPr>
                      <a:r>
                        <a:rPr lang="en-US" sz="1200"/>
                        <a:t>44</a:t>
                      </a:r>
                    </a:p>
                  </a:txBody>
                  <a:tcPr marL="10510" marR="10510" marT="4343" marB="4343" anchor="ctr"/>
                </a:tc>
                <a:tc>
                  <a:txBody>
                    <a:bodyPr/>
                    <a:lstStyle/>
                    <a:p>
                      <a:pPr algn="ctr">
                        <a:buNone/>
                      </a:pPr>
                      <a:r>
                        <a:rPr lang="en-US" sz="1200"/>
                        <a:t>24, 34, 36, 44, 46, 48, 54, 60, 64</a:t>
                      </a:r>
                    </a:p>
                  </a:txBody>
                  <a:tcPr marL="10510" marR="10510" marT="4343" marB="4343" anchor="ctr"/>
                </a:tc>
                <a:extLst>
                  <a:ext uri="{0D108BD9-81ED-4DB2-BD59-A6C34878D82A}">
                    <a16:rowId xmlns:a16="http://schemas.microsoft.com/office/drawing/2014/main" val="3453815144"/>
                  </a:ext>
                </a:extLst>
              </a:tr>
              <a:tr h="361347">
                <a:tc>
                  <a:txBody>
                    <a:bodyPr/>
                    <a:lstStyle/>
                    <a:p>
                      <a:pPr>
                        <a:buNone/>
                      </a:pPr>
                      <a:r>
                        <a:rPr lang="en-US" sz="1200">
                          <a:solidFill>
                            <a:schemeClr val="bg1"/>
                          </a:solidFill>
                        </a:rPr>
                        <a:t>M2 b110h_44ppBaseRegionRegion.id+ digital;id</a:t>
                      </a:r>
                    </a:p>
                  </a:txBody>
                  <a:tcPr marL="10510" marR="10510" marT="4343" marB="4343" anchor="ctr"/>
                </a:tc>
                <a:tc>
                  <a:txBody>
                    <a:bodyPr/>
                    <a:lstStyle/>
                    <a:p>
                      <a:pPr algn="ctr">
                        <a:buNone/>
                      </a:pPr>
                      <a:r>
                        <a:rPr lang="en-US" sz="1200"/>
                        <a:t>13/11</a:t>
                      </a:r>
                    </a:p>
                  </a:txBody>
                  <a:tcPr marL="10510" marR="10510" marT="4343" marB="4343" anchor="ctr"/>
                </a:tc>
                <a:tc>
                  <a:txBody>
                    <a:bodyPr/>
                    <a:lstStyle/>
                    <a:p>
                      <a:pPr algn="ctr">
                        <a:buNone/>
                      </a:pPr>
                      <a:r>
                        <a:rPr lang="en-US" sz="1200"/>
                        <a:t>13</a:t>
                      </a:r>
                    </a:p>
                  </a:txBody>
                  <a:tcPr marL="10510" marR="10510" marT="4343" marB="4343" anchor="ctr"/>
                </a:tc>
                <a:tc>
                  <a:txBody>
                    <a:bodyPr/>
                    <a:lstStyle/>
                    <a:p>
                      <a:pPr algn="ctr">
                        <a:buNone/>
                      </a:pPr>
                      <a:r>
                        <a:rPr lang="en-US" sz="1200"/>
                        <a:t>11</a:t>
                      </a:r>
                    </a:p>
                  </a:txBody>
                  <a:tcPr marL="10510" marR="10510" marT="4343" marB="4343" anchor="ctr"/>
                </a:tc>
                <a:tc>
                  <a:txBody>
                    <a:bodyPr/>
                    <a:lstStyle/>
                    <a:p>
                      <a:pPr algn="ctr">
                        <a:buNone/>
                      </a:pPr>
                      <a:r>
                        <a:rPr lang="en-US" sz="1200"/>
                        <a:t>24</a:t>
                      </a:r>
                    </a:p>
                  </a:txBody>
                  <a:tcPr marL="10510" marR="10510" marT="4343" marB="4343" anchor="ctr"/>
                </a:tc>
                <a:tc>
                  <a:txBody>
                    <a:bodyPr/>
                    <a:lstStyle/>
                    <a:p>
                      <a:pPr algn="ctr">
                        <a:buNone/>
                      </a:pPr>
                      <a:r>
                        <a:rPr lang="en-US" sz="1200"/>
                        <a:t>13, 27</a:t>
                      </a:r>
                    </a:p>
                  </a:txBody>
                  <a:tcPr marL="10510" marR="10510" marT="4343" marB="4343" anchor="ctr"/>
                </a:tc>
                <a:extLst>
                  <a:ext uri="{0D108BD9-81ED-4DB2-BD59-A6C34878D82A}">
                    <a16:rowId xmlns:a16="http://schemas.microsoft.com/office/drawing/2014/main" val="2998611233"/>
                  </a:ext>
                </a:extLst>
              </a:tr>
              <a:tr h="361347">
                <a:tc>
                  <a:txBody>
                    <a:bodyPr/>
                    <a:lstStyle/>
                    <a:p>
                      <a:pPr>
                        <a:buNone/>
                      </a:pPr>
                      <a:r>
                        <a:rPr lang="en-US" sz="1200">
                          <a:solidFill>
                            <a:schemeClr val="bg1"/>
                          </a:solidFill>
                        </a:rPr>
                        <a:t>M2 b132h_44ppBaseRegionRegion.id+ digital;id</a:t>
                      </a:r>
                    </a:p>
                  </a:txBody>
                  <a:tcPr marL="10510" marR="10510" marT="4343" marB="4343" anchor="ctr"/>
                </a:tc>
                <a:tc>
                  <a:txBody>
                    <a:bodyPr/>
                    <a:lstStyle/>
                    <a:p>
                      <a:pPr algn="ctr">
                        <a:buNone/>
                      </a:pPr>
                      <a:r>
                        <a:rPr lang="en-US" sz="1200"/>
                        <a:t>14/11</a:t>
                      </a:r>
                    </a:p>
                  </a:txBody>
                  <a:tcPr marL="10510" marR="10510" marT="4343" marB="4343" anchor="ctr"/>
                </a:tc>
                <a:tc>
                  <a:txBody>
                    <a:bodyPr/>
                    <a:lstStyle/>
                    <a:p>
                      <a:pPr algn="ctr">
                        <a:buNone/>
                      </a:pPr>
                      <a:r>
                        <a:rPr lang="en-US" sz="1200"/>
                        <a:t>14</a:t>
                      </a:r>
                    </a:p>
                  </a:txBody>
                  <a:tcPr marL="10510" marR="10510" marT="4343" marB="4343" anchor="ctr"/>
                </a:tc>
                <a:tc>
                  <a:txBody>
                    <a:bodyPr/>
                    <a:lstStyle/>
                    <a:p>
                      <a:pPr algn="ctr">
                        <a:buNone/>
                      </a:pPr>
                      <a:r>
                        <a:rPr lang="en-US" sz="1200"/>
                        <a:t>11</a:t>
                      </a:r>
                    </a:p>
                  </a:txBody>
                  <a:tcPr marL="10510" marR="10510" marT="4343" marB="4343" anchor="ctr"/>
                </a:tc>
                <a:tc>
                  <a:txBody>
                    <a:bodyPr/>
                    <a:lstStyle/>
                    <a:p>
                      <a:pPr algn="ctr">
                        <a:buNone/>
                      </a:pPr>
                      <a:r>
                        <a:rPr lang="en-US" sz="1200"/>
                        <a:t>25</a:t>
                      </a:r>
                    </a:p>
                  </a:txBody>
                  <a:tcPr marL="10510" marR="10510" marT="4343" marB="4343" anchor="ctr"/>
                </a:tc>
                <a:tc>
                  <a:txBody>
                    <a:bodyPr/>
                    <a:lstStyle/>
                    <a:p>
                      <a:pPr algn="ctr">
                        <a:buNone/>
                      </a:pPr>
                      <a:r>
                        <a:rPr lang="en-US" sz="1200"/>
                        <a:t>14, 21</a:t>
                      </a:r>
                    </a:p>
                  </a:txBody>
                  <a:tcPr marL="10510" marR="10510" marT="4343" marB="4343" anchor="ctr"/>
                </a:tc>
                <a:extLst>
                  <a:ext uri="{0D108BD9-81ED-4DB2-BD59-A6C34878D82A}">
                    <a16:rowId xmlns:a16="http://schemas.microsoft.com/office/drawing/2014/main" val="2213046405"/>
                  </a:ext>
                </a:extLst>
              </a:tr>
              <a:tr h="361347">
                <a:tc>
                  <a:txBody>
                    <a:bodyPr/>
                    <a:lstStyle/>
                    <a:p>
                      <a:pPr>
                        <a:buNone/>
                      </a:pPr>
                      <a:r>
                        <a:rPr lang="en-US" sz="1200">
                          <a:solidFill>
                            <a:schemeClr val="bg1"/>
                          </a:solidFill>
                        </a:rPr>
                        <a:t>M2 b165h_44ppBaseRegionRegion.id+ digital;id</a:t>
                      </a:r>
                    </a:p>
                  </a:txBody>
                  <a:tcPr marL="10510" marR="10510" marT="4343" marB="4343" anchor="ctr"/>
                </a:tc>
                <a:tc>
                  <a:txBody>
                    <a:bodyPr/>
                    <a:lstStyle/>
                    <a:p>
                      <a:pPr algn="ctr">
                        <a:buNone/>
                      </a:pPr>
                      <a:r>
                        <a:rPr lang="en-US" sz="1200"/>
                        <a:t>15/11</a:t>
                      </a:r>
                    </a:p>
                  </a:txBody>
                  <a:tcPr marL="10510" marR="10510" marT="4343" marB="4343" anchor="ctr"/>
                </a:tc>
                <a:tc>
                  <a:txBody>
                    <a:bodyPr/>
                    <a:lstStyle/>
                    <a:p>
                      <a:pPr algn="ctr">
                        <a:buNone/>
                      </a:pPr>
                      <a:r>
                        <a:rPr lang="en-US" sz="1200"/>
                        <a:t>19</a:t>
                      </a:r>
                    </a:p>
                  </a:txBody>
                  <a:tcPr marL="10510" marR="10510" marT="4343" marB="4343" anchor="ctr"/>
                </a:tc>
                <a:tc>
                  <a:txBody>
                    <a:bodyPr/>
                    <a:lstStyle/>
                    <a:p>
                      <a:pPr algn="ctr">
                        <a:buNone/>
                      </a:pPr>
                      <a:r>
                        <a:rPr lang="en-US" sz="1200"/>
                        <a:t>11</a:t>
                      </a:r>
                    </a:p>
                  </a:txBody>
                  <a:tcPr marL="10510" marR="10510" marT="4343" marB="4343" anchor="ctr"/>
                </a:tc>
                <a:tc>
                  <a:txBody>
                    <a:bodyPr/>
                    <a:lstStyle/>
                    <a:p>
                      <a:pPr algn="ctr">
                        <a:buNone/>
                      </a:pPr>
                      <a:r>
                        <a:rPr lang="en-US" sz="1200"/>
                        <a:t>26</a:t>
                      </a:r>
                    </a:p>
                  </a:txBody>
                  <a:tcPr marL="10510" marR="10510" marT="4343" marB="4343" anchor="ctr"/>
                </a:tc>
                <a:tc>
                  <a:txBody>
                    <a:bodyPr/>
                    <a:lstStyle/>
                    <a:p>
                      <a:pPr algn="ctr">
                        <a:buNone/>
                      </a:pPr>
                      <a:r>
                        <a:rPr lang="en-US" sz="1200"/>
                        <a:t>19, 33</a:t>
                      </a:r>
                    </a:p>
                  </a:txBody>
                  <a:tcPr marL="10510" marR="10510" marT="4343" marB="4343" anchor="ctr"/>
                </a:tc>
                <a:extLst>
                  <a:ext uri="{0D108BD9-81ED-4DB2-BD59-A6C34878D82A}">
                    <a16:rowId xmlns:a16="http://schemas.microsoft.com/office/drawing/2014/main" val="1729576159"/>
                  </a:ext>
                </a:extLst>
              </a:tr>
              <a:tr h="321853">
                <a:tc>
                  <a:txBody>
                    <a:bodyPr/>
                    <a:lstStyle/>
                    <a:p>
                      <a:pPr>
                        <a:buNone/>
                      </a:pPr>
                      <a:r>
                        <a:rPr lang="en-US" sz="1200">
                          <a:solidFill>
                            <a:schemeClr val="bg1"/>
                          </a:solidFill>
                        </a:rPr>
                        <a:t>M2 Mixed rows (110+132, 132+165, 110+132)</a:t>
                      </a:r>
                    </a:p>
                  </a:txBody>
                  <a:tcPr marL="10510" marR="10510" marT="4343" marB="4343" anchor="ctr"/>
                </a:tc>
                <a:tc>
                  <a:txBody>
                    <a:bodyPr/>
                    <a:lstStyle/>
                    <a:p>
                      <a:pPr algn="ctr">
                        <a:buNone/>
                      </a:pPr>
                      <a:r>
                        <a:rPr lang="en-US" sz="1200"/>
                        <a:t>15/11</a:t>
                      </a:r>
                    </a:p>
                  </a:txBody>
                  <a:tcPr marL="10510" marR="10510" marT="4343" marB="4343" anchor="ctr"/>
                </a:tc>
                <a:tc>
                  <a:txBody>
                    <a:bodyPr/>
                    <a:lstStyle/>
                    <a:p>
                      <a:pPr algn="ctr">
                        <a:buNone/>
                      </a:pPr>
                      <a:r>
                        <a:rPr lang="en-US" sz="1200"/>
                        <a:t>13</a:t>
                      </a:r>
                    </a:p>
                  </a:txBody>
                  <a:tcPr marL="10510" marR="10510" marT="4343" marB="4343" anchor="ctr"/>
                </a:tc>
                <a:tc>
                  <a:txBody>
                    <a:bodyPr/>
                    <a:lstStyle/>
                    <a:p>
                      <a:pPr algn="ctr">
                        <a:buNone/>
                      </a:pPr>
                      <a:r>
                        <a:rPr lang="en-US" sz="1200"/>
                        <a:t>11</a:t>
                      </a:r>
                    </a:p>
                  </a:txBody>
                  <a:tcPr marL="10510" marR="10510" marT="4343" marB="4343" anchor="ctr"/>
                </a:tc>
                <a:tc>
                  <a:txBody>
                    <a:bodyPr/>
                    <a:lstStyle/>
                    <a:p>
                      <a:pPr algn="ctr">
                        <a:buNone/>
                      </a:pPr>
                      <a:r>
                        <a:rPr lang="en-US" sz="1200"/>
                        <a:t>26</a:t>
                      </a:r>
                    </a:p>
                  </a:txBody>
                  <a:tcPr marL="10510" marR="10510" marT="4343" marB="4343" anchor="ctr"/>
                </a:tc>
                <a:tc>
                  <a:txBody>
                    <a:bodyPr/>
                    <a:lstStyle/>
                    <a:p>
                      <a:pPr algn="ctr">
                        <a:buNone/>
                      </a:pPr>
                      <a:r>
                        <a:rPr lang="en-US" sz="1200"/>
                        <a:t>13, 14, 19, 21, 24, 27, 30,  33 </a:t>
                      </a:r>
                    </a:p>
                  </a:txBody>
                  <a:tcPr marL="10510" marR="10510" marT="4343" marB="4343" anchor="ctr"/>
                </a:tc>
                <a:extLst>
                  <a:ext uri="{0D108BD9-81ED-4DB2-BD59-A6C34878D82A}">
                    <a16:rowId xmlns:a16="http://schemas.microsoft.com/office/drawing/2014/main" val="1002261107"/>
                  </a:ext>
                </a:extLst>
              </a:tr>
              <a:tr h="188795">
                <a:tc>
                  <a:txBody>
                    <a:bodyPr/>
                    <a:lstStyle/>
                    <a:p>
                      <a:pPr>
                        <a:buNone/>
                      </a:pPr>
                      <a:r>
                        <a:rPr lang="en-US" sz="1200">
                          <a:solidFill>
                            <a:schemeClr val="bg1"/>
                          </a:solidFill>
                        </a:rPr>
                        <a:t>Mxa (M3)</a:t>
                      </a:r>
                    </a:p>
                  </a:txBody>
                  <a:tcPr marL="10510" marR="10510" marT="4343" marB="4343" anchor="ctr"/>
                </a:tc>
                <a:tc>
                  <a:txBody>
                    <a:bodyPr/>
                    <a:lstStyle/>
                    <a:p>
                      <a:pPr algn="ctr">
                        <a:buNone/>
                      </a:pPr>
                      <a:r>
                        <a:rPr lang="en-US" sz="1200"/>
                        <a:t>18/15</a:t>
                      </a:r>
                    </a:p>
                  </a:txBody>
                  <a:tcPr marL="10510" marR="10510" marT="4343" marB="4343" anchor="ctr"/>
                </a:tc>
                <a:tc>
                  <a:txBody>
                    <a:bodyPr/>
                    <a:lstStyle/>
                    <a:p>
                      <a:pPr algn="ctr">
                        <a:buNone/>
                      </a:pPr>
                      <a:r>
                        <a:rPr lang="en-US" sz="1200"/>
                        <a:t>18</a:t>
                      </a:r>
                    </a:p>
                  </a:txBody>
                  <a:tcPr marL="10510" marR="10510" marT="4343" marB="4343" anchor="ctr"/>
                </a:tc>
                <a:tc>
                  <a:txBody>
                    <a:bodyPr/>
                    <a:lstStyle/>
                    <a:p>
                      <a:pPr algn="ctr">
                        <a:buNone/>
                      </a:pPr>
                      <a:r>
                        <a:rPr lang="en-US" sz="1200"/>
                        <a:t>15</a:t>
                      </a:r>
                    </a:p>
                  </a:txBody>
                  <a:tcPr marL="10510" marR="10510" marT="4343" marB="4343" anchor="ctr"/>
                </a:tc>
                <a:tc>
                  <a:txBody>
                    <a:bodyPr/>
                    <a:lstStyle/>
                    <a:p>
                      <a:pPr algn="ctr">
                        <a:buNone/>
                      </a:pPr>
                      <a:r>
                        <a:rPr lang="en-US" sz="1200"/>
                        <a:t>33</a:t>
                      </a:r>
                    </a:p>
                  </a:txBody>
                  <a:tcPr marL="10510" marR="10510" marT="4343" marB="4343" anchor="ctr"/>
                </a:tc>
                <a:tc>
                  <a:txBody>
                    <a:bodyPr/>
                    <a:lstStyle/>
                    <a:p>
                      <a:pPr algn="ctr">
                        <a:buNone/>
                      </a:pPr>
                      <a:r>
                        <a:rPr lang="en-US" sz="1200"/>
                        <a:t>18, 20, 24, 36, 48, 60</a:t>
                      </a:r>
                    </a:p>
                  </a:txBody>
                  <a:tcPr marL="10510" marR="10510" marT="4343" marB="4343" anchor="ctr"/>
                </a:tc>
                <a:extLst>
                  <a:ext uri="{0D108BD9-81ED-4DB2-BD59-A6C34878D82A}">
                    <a16:rowId xmlns:a16="http://schemas.microsoft.com/office/drawing/2014/main" val="915126203"/>
                  </a:ext>
                </a:extLst>
              </a:tr>
              <a:tr h="188795">
                <a:tc>
                  <a:txBody>
                    <a:bodyPr/>
                    <a:lstStyle/>
                    <a:p>
                      <a:pPr>
                        <a:buNone/>
                      </a:pPr>
                      <a:r>
                        <a:rPr lang="en-US" sz="1200">
                          <a:solidFill>
                            <a:schemeClr val="bg1"/>
                          </a:solidFill>
                        </a:rPr>
                        <a:t>Mxb (M4)</a:t>
                      </a:r>
                    </a:p>
                  </a:txBody>
                  <a:tcPr marL="10510" marR="10510" marT="4343" marB="4343" anchor="ctr"/>
                </a:tc>
                <a:tc>
                  <a:txBody>
                    <a:bodyPr/>
                    <a:lstStyle/>
                    <a:p>
                      <a:pPr algn="ctr">
                        <a:buNone/>
                      </a:pPr>
                      <a:r>
                        <a:rPr lang="en-US" sz="1200"/>
                        <a:t>18/15</a:t>
                      </a:r>
                    </a:p>
                  </a:txBody>
                  <a:tcPr marL="10510" marR="10510" marT="4343" marB="4343" anchor="ctr"/>
                </a:tc>
                <a:tc>
                  <a:txBody>
                    <a:bodyPr/>
                    <a:lstStyle/>
                    <a:p>
                      <a:pPr algn="ctr">
                        <a:buNone/>
                      </a:pPr>
                      <a:r>
                        <a:rPr lang="en-US" sz="1200"/>
                        <a:t>18</a:t>
                      </a:r>
                    </a:p>
                  </a:txBody>
                  <a:tcPr marL="10510" marR="10510" marT="4343" marB="4343" anchor="ctr"/>
                </a:tc>
                <a:tc>
                  <a:txBody>
                    <a:bodyPr/>
                    <a:lstStyle/>
                    <a:p>
                      <a:pPr algn="ctr">
                        <a:buNone/>
                      </a:pPr>
                      <a:r>
                        <a:rPr lang="en-US" sz="1200"/>
                        <a:t>15</a:t>
                      </a:r>
                    </a:p>
                  </a:txBody>
                  <a:tcPr marL="10510" marR="10510" marT="4343" marB="4343" anchor="ctr"/>
                </a:tc>
                <a:tc>
                  <a:txBody>
                    <a:bodyPr/>
                    <a:lstStyle/>
                    <a:p>
                      <a:pPr algn="ctr">
                        <a:buNone/>
                      </a:pPr>
                      <a:r>
                        <a:rPr lang="en-US" sz="1200"/>
                        <a:t>33</a:t>
                      </a:r>
                    </a:p>
                  </a:txBody>
                  <a:tcPr marL="10510" marR="10510" marT="4343" marB="4343" anchor="ctr"/>
                </a:tc>
                <a:tc>
                  <a:txBody>
                    <a:bodyPr/>
                    <a:lstStyle/>
                    <a:p>
                      <a:pPr algn="ctr">
                        <a:buNone/>
                      </a:pPr>
                      <a:r>
                        <a:rPr lang="en-US" sz="1200"/>
                        <a:t>18, 20, 24, 36, 48, 60</a:t>
                      </a:r>
                    </a:p>
                  </a:txBody>
                  <a:tcPr marL="10510" marR="10510" marT="4343" marB="4343" anchor="ctr"/>
                </a:tc>
                <a:extLst>
                  <a:ext uri="{0D108BD9-81ED-4DB2-BD59-A6C34878D82A}">
                    <a16:rowId xmlns:a16="http://schemas.microsoft.com/office/drawing/2014/main" val="3379863364"/>
                  </a:ext>
                </a:extLst>
              </a:tr>
              <a:tr h="188795">
                <a:tc>
                  <a:txBody>
                    <a:bodyPr/>
                    <a:lstStyle/>
                    <a:p>
                      <a:pPr>
                        <a:buNone/>
                      </a:pPr>
                      <a:r>
                        <a:rPr lang="en-US" sz="1200">
                          <a:solidFill>
                            <a:schemeClr val="bg1"/>
                          </a:solidFill>
                        </a:rPr>
                        <a:t>Mxc (M5)</a:t>
                      </a:r>
                    </a:p>
                  </a:txBody>
                  <a:tcPr marL="10510" marR="10510" marT="4343" marB="4343" anchor="ctr"/>
                </a:tc>
                <a:tc>
                  <a:txBody>
                    <a:bodyPr/>
                    <a:lstStyle/>
                    <a:p>
                      <a:pPr algn="ctr">
                        <a:buNone/>
                      </a:pPr>
                      <a:r>
                        <a:rPr lang="en-US" sz="1200"/>
                        <a:t>24/16</a:t>
                      </a:r>
                    </a:p>
                  </a:txBody>
                  <a:tcPr marL="10510" marR="10510" marT="4343" marB="4343" anchor="ctr"/>
                </a:tc>
                <a:tc>
                  <a:txBody>
                    <a:bodyPr/>
                    <a:lstStyle/>
                    <a:p>
                      <a:pPr algn="ctr">
                        <a:buNone/>
                      </a:pPr>
                      <a:r>
                        <a:rPr lang="en-US" sz="1200"/>
                        <a:t>24</a:t>
                      </a:r>
                    </a:p>
                  </a:txBody>
                  <a:tcPr marL="10510" marR="10510" marT="4343" marB="4343" anchor="ctr"/>
                </a:tc>
                <a:tc>
                  <a:txBody>
                    <a:bodyPr/>
                    <a:lstStyle/>
                    <a:p>
                      <a:pPr algn="ctr">
                        <a:buNone/>
                      </a:pPr>
                      <a:r>
                        <a:rPr lang="en-US" sz="1200"/>
                        <a:t>16</a:t>
                      </a:r>
                    </a:p>
                  </a:txBody>
                  <a:tcPr marL="10510" marR="10510" marT="4343" marB="4343" anchor="ctr"/>
                </a:tc>
                <a:tc>
                  <a:txBody>
                    <a:bodyPr/>
                    <a:lstStyle/>
                    <a:p>
                      <a:pPr algn="ctr">
                        <a:buNone/>
                      </a:pPr>
                      <a:r>
                        <a:rPr lang="en-US" sz="1200"/>
                        <a:t>40</a:t>
                      </a:r>
                    </a:p>
                  </a:txBody>
                  <a:tcPr marL="10510" marR="10510" marT="4343" marB="4343" anchor="ctr"/>
                </a:tc>
                <a:tc>
                  <a:txBody>
                    <a:bodyPr/>
                    <a:lstStyle/>
                    <a:p>
                      <a:pPr algn="ctr">
                        <a:buNone/>
                      </a:pPr>
                      <a:r>
                        <a:rPr lang="en-US" sz="1200"/>
                        <a:t>24, 36, 48, 60</a:t>
                      </a:r>
                    </a:p>
                  </a:txBody>
                  <a:tcPr marL="10510" marR="10510" marT="4343" marB="4343" anchor="ctr"/>
                </a:tc>
                <a:extLst>
                  <a:ext uri="{0D108BD9-81ED-4DB2-BD59-A6C34878D82A}">
                    <a16:rowId xmlns:a16="http://schemas.microsoft.com/office/drawing/2014/main" val="4022925273"/>
                  </a:ext>
                </a:extLst>
              </a:tr>
              <a:tr h="368904">
                <a:tc>
                  <a:txBody>
                    <a:bodyPr/>
                    <a:lstStyle/>
                    <a:p>
                      <a:pPr>
                        <a:buNone/>
                      </a:pPr>
                      <a:r>
                        <a:rPr lang="en-US" sz="1200">
                          <a:solidFill>
                            <a:schemeClr val="bg1"/>
                          </a:solidFill>
                        </a:rPr>
                        <a:t>Myl (M6)</a:t>
                      </a:r>
                    </a:p>
                  </a:txBody>
                  <a:tcPr marL="10510" marR="10510" marT="4343" marB="4343" anchor="ctr"/>
                </a:tc>
                <a:tc>
                  <a:txBody>
                    <a:bodyPr/>
                    <a:lstStyle/>
                    <a:p>
                      <a:pPr algn="ctr">
                        <a:buNone/>
                      </a:pPr>
                      <a:r>
                        <a:rPr lang="en-US" sz="1200"/>
                        <a:t>38/38</a:t>
                      </a:r>
                    </a:p>
                  </a:txBody>
                  <a:tcPr marL="10510" marR="10510" marT="4343" marB="4343" anchor="ctr"/>
                </a:tc>
                <a:tc>
                  <a:txBody>
                    <a:bodyPr/>
                    <a:lstStyle/>
                    <a:p>
                      <a:pPr algn="ctr">
                        <a:buNone/>
                      </a:pPr>
                      <a:r>
                        <a:rPr lang="en-US" sz="1200"/>
                        <a:t>38</a:t>
                      </a:r>
                    </a:p>
                  </a:txBody>
                  <a:tcPr marL="10510" marR="10510" marT="4343" marB="4343" anchor="ctr"/>
                </a:tc>
                <a:tc>
                  <a:txBody>
                    <a:bodyPr/>
                    <a:lstStyle/>
                    <a:p>
                      <a:pPr algn="ctr">
                        <a:buNone/>
                      </a:pPr>
                      <a:r>
                        <a:rPr lang="en-US" sz="1200"/>
                        <a:t>38</a:t>
                      </a:r>
                    </a:p>
                  </a:txBody>
                  <a:tcPr marL="10510" marR="10510" marT="4343" marB="4343" anchor="ctr"/>
                </a:tc>
                <a:tc>
                  <a:txBody>
                    <a:bodyPr/>
                    <a:lstStyle/>
                    <a:p>
                      <a:pPr algn="ctr">
                        <a:buNone/>
                      </a:pPr>
                      <a:r>
                        <a:rPr lang="en-US" sz="1200"/>
                        <a:t>76</a:t>
                      </a:r>
                    </a:p>
                  </a:txBody>
                  <a:tcPr marL="10510" marR="10510" marT="4343" marB="4343" anchor="ctr"/>
                </a:tc>
                <a:tc>
                  <a:txBody>
                    <a:bodyPr/>
                    <a:lstStyle/>
                    <a:p>
                      <a:pPr algn="ctr">
                        <a:buNone/>
                      </a:pPr>
                      <a:r>
                        <a:rPr lang="en-US" sz="1200"/>
                        <a:t>38, 40, 42, 44, 46, 48, 54, 60, 80, 120, 160, 200, 320, 440, 560, 680, 800, 920, 1040</a:t>
                      </a:r>
                    </a:p>
                  </a:txBody>
                  <a:tcPr marL="10510" marR="10510" marT="4343" marB="4343" anchor="ctr"/>
                </a:tc>
                <a:extLst>
                  <a:ext uri="{0D108BD9-81ED-4DB2-BD59-A6C34878D82A}">
                    <a16:rowId xmlns:a16="http://schemas.microsoft.com/office/drawing/2014/main" val="3584333264"/>
                  </a:ext>
                </a:extLst>
              </a:tr>
              <a:tr h="368904">
                <a:tc>
                  <a:txBody>
                    <a:bodyPr/>
                    <a:lstStyle/>
                    <a:p>
                      <a:pPr>
                        <a:buNone/>
                      </a:pPr>
                      <a:r>
                        <a:rPr lang="en-US" sz="1200">
                          <a:solidFill>
                            <a:schemeClr val="bg1"/>
                          </a:solidFill>
                        </a:rPr>
                        <a:t>Mya (M7+)</a:t>
                      </a:r>
                    </a:p>
                  </a:txBody>
                  <a:tcPr marL="10510" marR="10510" marT="4343" marB="4343" anchor="ctr"/>
                </a:tc>
                <a:tc>
                  <a:txBody>
                    <a:bodyPr/>
                    <a:lstStyle/>
                    <a:p>
                      <a:pPr algn="ctr">
                        <a:buNone/>
                      </a:pPr>
                      <a:r>
                        <a:rPr lang="en-US" sz="1200"/>
                        <a:t>38/38</a:t>
                      </a:r>
                    </a:p>
                  </a:txBody>
                  <a:tcPr marL="10510" marR="10510" marT="4343" marB="4343" anchor="ctr"/>
                </a:tc>
                <a:tc>
                  <a:txBody>
                    <a:bodyPr/>
                    <a:lstStyle/>
                    <a:p>
                      <a:pPr algn="ctr">
                        <a:buNone/>
                      </a:pPr>
                      <a:r>
                        <a:rPr lang="en-US" sz="1200"/>
                        <a:t>38</a:t>
                      </a:r>
                    </a:p>
                  </a:txBody>
                  <a:tcPr marL="10510" marR="10510" marT="4343" marB="4343" anchor="ctr"/>
                </a:tc>
                <a:tc>
                  <a:txBody>
                    <a:bodyPr/>
                    <a:lstStyle/>
                    <a:p>
                      <a:pPr algn="ctr">
                        <a:buNone/>
                      </a:pPr>
                      <a:r>
                        <a:rPr lang="en-US" sz="1200"/>
                        <a:t>38</a:t>
                      </a:r>
                    </a:p>
                  </a:txBody>
                  <a:tcPr marL="10510" marR="10510" marT="4343" marB="4343" anchor="ctr"/>
                </a:tc>
                <a:tc>
                  <a:txBody>
                    <a:bodyPr/>
                    <a:lstStyle/>
                    <a:p>
                      <a:pPr algn="ctr">
                        <a:buNone/>
                      </a:pPr>
                      <a:r>
                        <a:rPr lang="en-US" sz="1200"/>
                        <a:t>76</a:t>
                      </a:r>
                    </a:p>
                  </a:txBody>
                  <a:tcPr marL="10510" marR="10510" marT="4343" marB="4343" anchor="ctr"/>
                </a:tc>
                <a:tc>
                  <a:txBody>
                    <a:bodyPr/>
                    <a:lstStyle/>
                    <a:p>
                      <a:pPr algn="ctr">
                        <a:buNone/>
                      </a:pPr>
                      <a:r>
                        <a:rPr lang="en-US" sz="1200"/>
                        <a:t>38, 40, 42, 44, 46, 48, 54, 60, 80, 120, 160, 200, 320, 440, 560, 680, 800, 920, 1040</a:t>
                      </a:r>
                    </a:p>
                  </a:txBody>
                  <a:tcPr marL="10510" marR="10510" marT="4343" marB="4343" anchor="ctr"/>
                </a:tc>
                <a:extLst>
                  <a:ext uri="{0D108BD9-81ED-4DB2-BD59-A6C34878D82A}">
                    <a16:rowId xmlns:a16="http://schemas.microsoft.com/office/drawing/2014/main" val="3970157992"/>
                  </a:ext>
                </a:extLst>
              </a:tr>
              <a:tr h="209238">
                <a:tc>
                  <a:txBody>
                    <a:bodyPr/>
                    <a:lstStyle/>
                    <a:p>
                      <a:pPr>
                        <a:buNone/>
                      </a:pPr>
                      <a:r>
                        <a:rPr lang="en-US" sz="1200">
                          <a:solidFill>
                            <a:schemeClr val="bg1"/>
                          </a:solidFill>
                        </a:rPr>
                        <a:t>Myb</a:t>
                      </a:r>
                    </a:p>
                  </a:txBody>
                  <a:tcPr marL="10510" marR="10510" marT="4343" marB="4343" anchor="ctr"/>
                </a:tc>
                <a:tc>
                  <a:txBody>
                    <a:bodyPr/>
                    <a:lstStyle/>
                    <a:p>
                      <a:pPr algn="ctr">
                        <a:buNone/>
                      </a:pPr>
                      <a:r>
                        <a:rPr lang="en-US" sz="1200"/>
                        <a:t>60/60</a:t>
                      </a:r>
                    </a:p>
                  </a:txBody>
                  <a:tcPr marL="10510" marR="10510" marT="4343" marB="4343" anchor="ctr"/>
                </a:tc>
                <a:tc>
                  <a:txBody>
                    <a:bodyPr/>
                    <a:lstStyle/>
                    <a:p>
                      <a:pPr algn="ctr">
                        <a:buNone/>
                      </a:pPr>
                      <a:r>
                        <a:rPr lang="en-US" sz="1200"/>
                        <a:t>60</a:t>
                      </a:r>
                    </a:p>
                  </a:txBody>
                  <a:tcPr marL="10510" marR="10510" marT="4343" marB="4343" anchor="ctr"/>
                </a:tc>
                <a:tc>
                  <a:txBody>
                    <a:bodyPr/>
                    <a:lstStyle/>
                    <a:p>
                      <a:pPr algn="ctr">
                        <a:buNone/>
                      </a:pPr>
                      <a:r>
                        <a:rPr lang="en-US" sz="1200"/>
                        <a:t>60</a:t>
                      </a:r>
                    </a:p>
                  </a:txBody>
                  <a:tcPr marL="10510" marR="10510" marT="4343" marB="4343" anchor="ctr"/>
                </a:tc>
                <a:tc>
                  <a:txBody>
                    <a:bodyPr/>
                    <a:lstStyle/>
                    <a:p>
                      <a:pPr algn="ctr">
                        <a:buNone/>
                      </a:pPr>
                      <a:r>
                        <a:rPr lang="en-US" sz="1200"/>
                        <a:t>120</a:t>
                      </a:r>
                    </a:p>
                  </a:txBody>
                  <a:tcPr marL="10510" marR="10510" marT="4343" marB="4343" anchor="ctr"/>
                </a:tc>
                <a:tc>
                  <a:txBody>
                    <a:bodyPr/>
                    <a:lstStyle/>
                    <a:p>
                      <a:pPr algn="ctr">
                        <a:buNone/>
                      </a:pPr>
                      <a:r>
                        <a:rPr lang="en-US" sz="1200"/>
                        <a:t>60, 90, 120, 160, 200, 240, 320, 440, 560, 680, 800, 920, 1040</a:t>
                      </a:r>
                    </a:p>
                  </a:txBody>
                  <a:tcPr marL="10510" marR="10510" marT="4343" marB="4343" anchor="ctr"/>
                </a:tc>
                <a:extLst>
                  <a:ext uri="{0D108BD9-81ED-4DB2-BD59-A6C34878D82A}">
                    <a16:rowId xmlns:a16="http://schemas.microsoft.com/office/drawing/2014/main" val="2105667216"/>
                  </a:ext>
                </a:extLst>
              </a:tr>
              <a:tr h="188795">
                <a:tc>
                  <a:txBody>
                    <a:bodyPr/>
                    <a:lstStyle/>
                    <a:p>
                      <a:pPr>
                        <a:buNone/>
                      </a:pPr>
                      <a:r>
                        <a:rPr lang="en-US" sz="1200">
                          <a:solidFill>
                            <a:schemeClr val="bg1"/>
                          </a:solidFill>
                        </a:rPr>
                        <a:t>Mga</a:t>
                      </a:r>
                    </a:p>
                  </a:txBody>
                  <a:tcPr marL="10510" marR="10510" marT="4343" marB="4343" anchor="ctr"/>
                </a:tc>
                <a:tc>
                  <a:txBody>
                    <a:bodyPr/>
                    <a:lstStyle/>
                    <a:p>
                      <a:pPr algn="ctr">
                        <a:buNone/>
                      </a:pPr>
                      <a:r>
                        <a:rPr lang="en-US" sz="1200"/>
                        <a:t>380/380</a:t>
                      </a:r>
                    </a:p>
                  </a:txBody>
                  <a:tcPr marL="10510" marR="10510" marT="4343" marB="4343" anchor="ctr"/>
                </a:tc>
                <a:tc>
                  <a:txBody>
                    <a:bodyPr/>
                    <a:lstStyle/>
                    <a:p>
                      <a:pPr algn="ctr">
                        <a:buNone/>
                      </a:pPr>
                      <a:r>
                        <a:rPr lang="en-US" sz="1200"/>
                        <a:t>380</a:t>
                      </a:r>
                    </a:p>
                  </a:txBody>
                  <a:tcPr marL="10510" marR="10510" marT="4343" marB="4343" anchor="ctr"/>
                </a:tc>
                <a:tc>
                  <a:txBody>
                    <a:bodyPr/>
                    <a:lstStyle/>
                    <a:p>
                      <a:pPr algn="ctr">
                        <a:buNone/>
                      </a:pPr>
                      <a:r>
                        <a:rPr lang="en-US" sz="1200"/>
                        <a:t>380</a:t>
                      </a:r>
                    </a:p>
                  </a:txBody>
                  <a:tcPr marL="10510" marR="10510" marT="4343" marB="4343" anchor="ctr"/>
                </a:tc>
                <a:tc>
                  <a:txBody>
                    <a:bodyPr/>
                    <a:lstStyle/>
                    <a:p>
                      <a:pPr algn="ctr">
                        <a:buNone/>
                      </a:pPr>
                      <a:r>
                        <a:rPr lang="en-US" sz="1200"/>
                        <a:t>760</a:t>
                      </a:r>
                    </a:p>
                  </a:txBody>
                  <a:tcPr marL="10510" marR="10510" marT="4343" marB="4343" anchor="ctr"/>
                </a:tc>
                <a:tc>
                  <a:txBody>
                    <a:bodyPr/>
                    <a:lstStyle/>
                    <a:p>
                      <a:pPr algn="ctr">
                        <a:buNone/>
                      </a:pPr>
                      <a:r>
                        <a:rPr lang="en-US" sz="1200"/>
                        <a:t>380nm-6um</a:t>
                      </a:r>
                    </a:p>
                  </a:txBody>
                  <a:tcPr marL="10510" marR="10510" marT="4343" marB="4343" anchor="ctr"/>
                </a:tc>
                <a:extLst>
                  <a:ext uri="{0D108BD9-81ED-4DB2-BD59-A6C34878D82A}">
                    <a16:rowId xmlns:a16="http://schemas.microsoft.com/office/drawing/2014/main" val="3174291900"/>
                  </a:ext>
                </a:extLst>
              </a:tr>
              <a:tr h="188795">
                <a:tc>
                  <a:txBody>
                    <a:bodyPr/>
                    <a:lstStyle/>
                    <a:p>
                      <a:pPr>
                        <a:buNone/>
                      </a:pPr>
                      <a:r>
                        <a:rPr lang="en-US" sz="1200">
                          <a:solidFill>
                            <a:schemeClr val="bg1"/>
                          </a:solidFill>
                        </a:rPr>
                        <a:t>Mgb</a:t>
                      </a:r>
                    </a:p>
                  </a:txBody>
                  <a:tcPr marL="10510" marR="10510" marT="4343" marB="4343" anchor="ctr"/>
                </a:tc>
                <a:tc>
                  <a:txBody>
                    <a:bodyPr/>
                    <a:lstStyle/>
                    <a:p>
                      <a:pPr algn="ctr">
                        <a:buNone/>
                      </a:pPr>
                      <a:r>
                        <a:rPr lang="en-US" sz="1200"/>
                        <a:t>1500/1500</a:t>
                      </a:r>
                    </a:p>
                  </a:txBody>
                  <a:tcPr marL="10510" marR="10510" marT="4343" marB="4343" anchor="ctr"/>
                </a:tc>
                <a:tc>
                  <a:txBody>
                    <a:bodyPr/>
                    <a:lstStyle/>
                    <a:p>
                      <a:pPr algn="ctr">
                        <a:buNone/>
                      </a:pPr>
                      <a:r>
                        <a:rPr lang="en-US" sz="1200"/>
                        <a:t>1500</a:t>
                      </a:r>
                    </a:p>
                  </a:txBody>
                  <a:tcPr marL="10510" marR="10510" marT="4343" marB="4343" anchor="ctr"/>
                </a:tc>
                <a:tc>
                  <a:txBody>
                    <a:bodyPr/>
                    <a:lstStyle/>
                    <a:p>
                      <a:pPr algn="ctr">
                        <a:buNone/>
                      </a:pPr>
                      <a:r>
                        <a:rPr lang="en-US" sz="1200"/>
                        <a:t>1500</a:t>
                      </a:r>
                    </a:p>
                  </a:txBody>
                  <a:tcPr marL="10510" marR="10510" marT="4343" marB="4343" anchor="ctr"/>
                </a:tc>
                <a:tc>
                  <a:txBody>
                    <a:bodyPr/>
                    <a:lstStyle/>
                    <a:p>
                      <a:pPr algn="ctr">
                        <a:buNone/>
                      </a:pPr>
                      <a:r>
                        <a:rPr lang="en-US" sz="1200"/>
                        <a:t>3000</a:t>
                      </a:r>
                    </a:p>
                  </a:txBody>
                  <a:tcPr marL="10510" marR="10510" marT="4343" marB="4343" anchor="ctr"/>
                </a:tc>
                <a:tc>
                  <a:txBody>
                    <a:bodyPr/>
                    <a:lstStyle/>
                    <a:p>
                      <a:pPr algn="ctr">
                        <a:buNone/>
                      </a:pPr>
                      <a:r>
                        <a:rPr lang="en-US" sz="1200"/>
                        <a:t>1.5um-17um</a:t>
                      </a:r>
                    </a:p>
                  </a:txBody>
                  <a:tcPr marL="10510" marR="10510" marT="4343" marB="4343" anchor="ctr"/>
                </a:tc>
                <a:extLst>
                  <a:ext uri="{0D108BD9-81ED-4DB2-BD59-A6C34878D82A}">
                    <a16:rowId xmlns:a16="http://schemas.microsoft.com/office/drawing/2014/main" val="3905312257"/>
                  </a:ext>
                </a:extLst>
              </a:tr>
            </a:tbl>
          </a:graphicData>
        </a:graphic>
      </p:graphicFrame>
      <p:sp>
        <p:nvSpPr>
          <p:cNvPr id="2" name="Title 1">
            <a:extLst>
              <a:ext uri="{FF2B5EF4-FFF2-40B4-BE49-F238E27FC236}">
                <a16:creationId xmlns:a16="http://schemas.microsoft.com/office/drawing/2014/main" id="{67C8FCC6-D372-BC01-DDB5-9731C7BD5B9F}"/>
              </a:ext>
            </a:extLst>
          </p:cNvPr>
          <p:cNvSpPr>
            <a:spLocks noGrp="1"/>
          </p:cNvSpPr>
          <p:nvPr>
            <p:ph type="title"/>
          </p:nvPr>
        </p:nvSpPr>
        <p:spPr>
          <a:xfrm>
            <a:off x="-1" y="-3482"/>
            <a:ext cx="10515600" cy="905377"/>
          </a:xfrm>
        </p:spPr>
        <p:txBody>
          <a:bodyPr/>
          <a:lstStyle/>
          <a:p>
            <a:pPr rtl="0" eaLnBrk="1" fontAlgn="auto" latinLnBrk="0" hangingPunct="1"/>
            <a:r>
              <a:rPr lang="en-US" sz="3600" b="1" kern="1200">
                <a:solidFill>
                  <a:srgbClr val="000000"/>
                </a:solidFill>
                <a:effectLst/>
                <a:latin typeface="Calibri Light" panose="020F0302020204030204" pitchFamily="34" charset="0"/>
                <a:ea typeface="+mn-ea"/>
                <a:cs typeface="+mn-cs"/>
              </a:rPr>
              <a:t>X81A</a:t>
            </a:r>
            <a:r>
              <a:rPr lang="en-US" sz="3600" b="1" i="0" kern="1200" spc="0" baseline="0">
                <a:ln>
                  <a:noFill/>
                </a:ln>
                <a:solidFill>
                  <a:srgbClr val="000000"/>
                </a:solidFill>
                <a:effectLst/>
                <a:latin typeface="Calibri Light" panose="020F0302020204030204" pitchFamily="34" charset="0"/>
                <a:ea typeface="+mn-ea"/>
                <a:cs typeface="+mn-cs"/>
              </a:rPr>
              <a:t> Metal Stack Info</a:t>
            </a:r>
            <a:endParaRPr lang="en-US">
              <a:effectLst/>
            </a:endParaRPr>
          </a:p>
        </p:txBody>
      </p:sp>
    </p:spTree>
    <p:extLst>
      <p:ext uri="{BB962C8B-B14F-4D97-AF65-F5344CB8AC3E}">
        <p14:creationId xmlns:p14="http://schemas.microsoft.com/office/powerpoint/2010/main" val="163937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1A864-53A1-F2CF-7180-C361BE09C1DF}"/>
              </a:ext>
            </a:extLst>
          </p:cNvPr>
          <p:cNvSpPr>
            <a:spLocks noGrp="1"/>
          </p:cNvSpPr>
          <p:nvPr>
            <p:ph type="title" idx="4294967295"/>
          </p:nvPr>
        </p:nvSpPr>
        <p:spPr>
          <a:xfrm>
            <a:off x="-1" y="-3482"/>
            <a:ext cx="10515600" cy="905377"/>
          </a:xfrm>
        </p:spPr>
        <p:txBody>
          <a:bodyPr/>
          <a:lstStyle/>
          <a:p>
            <a:r>
              <a:rPr lang="en-US"/>
              <a:t>Vt array</a:t>
            </a:r>
          </a:p>
        </p:txBody>
      </p:sp>
      <p:sp>
        <p:nvSpPr>
          <p:cNvPr id="18" name="Rectangle 17">
            <a:extLst>
              <a:ext uri="{FF2B5EF4-FFF2-40B4-BE49-F238E27FC236}">
                <a16:creationId xmlns:a16="http://schemas.microsoft.com/office/drawing/2014/main" id="{165F303B-7C1D-880A-9AA5-36EED068B5EC}"/>
              </a:ext>
            </a:extLst>
          </p:cNvPr>
          <p:cNvSpPr/>
          <p:nvPr/>
        </p:nvSpPr>
        <p:spPr>
          <a:xfrm>
            <a:off x="4430476" y="1776501"/>
            <a:ext cx="756458" cy="374073"/>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19" name="Rectangle 18">
            <a:extLst>
              <a:ext uri="{FF2B5EF4-FFF2-40B4-BE49-F238E27FC236}">
                <a16:creationId xmlns:a16="http://schemas.microsoft.com/office/drawing/2014/main" id="{D9B1BA81-C809-B639-AA04-E886CF97E4F5}"/>
              </a:ext>
            </a:extLst>
          </p:cNvPr>
          <p:cNvSpPr/>
          <p:nvPr/>
        </p:nvSpPr>
        <p:spPr>
          <a:xfrm>
            <a:off x="5777194" y="1776501"/>
            <a:ext cx="756458" cy="374073"/>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0" name="Rectangle 19">
            <a:extLst>
              <a:ext uri="{FF2B5EF4-FFF2-40B4-BE49-F238E27FC236}">
                <a16:creationId xmlns:a16="http://schemas.microsoft.com/office/drawing/2014/main" id="{49A47300-15E1-6667-09D1-B221F6A9B222}"/>
              </a:ext>
            </a:extLst>
          </p:cNvPr>
          <p:cNvSpPr/>
          <p:nvPr/>
        </p:nvSpPr>
        <p:spPr>
          <a:xfrm>
            <a:off x="1391248" y="1508748"/>
            <a:ext cx="5474369" cy="890336"/>
          </a:xfrm>
          <a:prstGeom prst="rect">
            <a:avLst/>
          </a:prstGeom>
          <a:noFill/>
          <a:ln w="38100" cap="rnd">
            <a:solidFill>
              <a:srgbClr val="0070C0"/>
            </a:solidFill>
            <a:prstDash val="dash"/>
            <a:miter lim="400000"/>
            <a:tailEnd type="none"/>
          </a:ln>
          <a:effectLst/>
          <a:sp3d/>
          <a:extLst>
            <a:ext uri="{909E8E84-426E-40DD-AFC4-6F175D3DCCD1}">
              <a14:hiddenFill xmlns:a14="http://schemas.microsoft.com/office/drawing/2010/main">
                <a:solidFill>
                  <a:srgbClr val="FFFFFF">
                    <a:alpha val="69804"/>
                  </a:srgbClr>
                </a:solidFill>
              </a14:hiddenFill>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cxnSp>
        <p:nvCxnSpPr>
          <p:cNvPr id="21" name="Straight Arrow Connector 20">
            <a:extLst>
              <a:ext uri="{FF2B5EF4-FFF2-40B4-BE49-F238E27FC236}">
                <a16:creationId xmlns:a16="http://schemas.microsoft.com/office/drawing/2014/main" id="{8111C640-A619-D5B2-245C-3F35BCE29C9E}"/>
              </a:ext>
            </a:extLst>
          </p:cNvPr>
          <p:cNvCxnSpPr/>
          <p:nvPr/>
        </p:nvCxnSpPr>
        <p:spPr>
          <a:xfrm>
            <a:off x="6763348" y="1973602"/>
            <a:ext cx="1329490" cy="0"/>
          </a:xfrm>
          <a:prstGeom prst="straightConnector1">
            <a:avLst/>
          </a:prstGeom>
          <a:noFill/>
          <a:ln w="38100" cap="rnd">
            <a:solidFill>
              <a:srgbClr val="0070C0"/>
            </a:solidFill>
            <a:prstDash val="solid"/>
            <a:miter lim="400000"/>
            <a:headEnd type="triangle" w="med" len="med"/>
            <a:tailEnd type="triangle"/>
          </a:ln>
          <a:effectLst/>
          <a:sp3d/>
          <a:extLst>
            <a:ext uri="{909E8E84-426E-40DD-AFC4-6F175D3DCCD1}">
              <a14:hiddenFill xmlns:a14="http://schemas.microsoft.com/office/drawing/2010/main">
                <a:solidFill>
                  <a:srgbClr val="FFFFFF">
                    <a:alpha val="69804"/>
                  </a:srgbClr>
                </a:solidFill>
              </a14:hiddenFill>
            </a:ext>
          </a:extLst>
        </p:spPr>
      </p:cxnSp>
      <p:sp>
        <p:nvSpPr>
          <p:cNvPr id="22" name="Rectangle 21">
            <a:extLst>
              <a:ext uri="{FF2B5EF4-FFF2-40B4-BE49-F238E27FC236}">
                <a16:creationId xmlns:a16="http://schemas.microsoft.com/office/drawing/2014/main" id="{06903A44-1AB5-6C81-5709-BCCC355343C0}"/>
              </a:ext>
            </a:extLst>
          </p:cNvPr>
          <p:cNvSpPr/>
          <p:nvPr/>
        </p:nvSpPr>
        <p:spPr>
          <a:xfrm>
            <a:off x="8470629" y="1776501"/>
            <a:ext cx="756458" cy="374073"/>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3" name="TextBox 22">
            <a:extLst>
              <a:ext uri="{FF2B5EF4-FFF2-40B4-BE49-F238E27FC236}">
                <a16:creationId xmlns:a16="http://schemas.microsoft.com/office/drawing/2014/main" id="{95780520-91FF-E875-9D2B-8DE3BA122DF7}"/>
              </a:ext>
            </a:extLst>
          </p:cNvPr>
          <p:cNvSpPr txBox="1"/>
          <p:nvPr/>
        </p:nvSpPr>
        <p:spPr>
          <a:xfrm>
            <a:off x="7077428" y="2359409"/>
            <a:ext cx="1206657" cy="450913"/>
          </a:xfrm>
          <a:prstGeom prst="rect">
            <a:avLst/>
          </a:prstGeom>
          <a:solidFill>
            <a:srgbClr val="FFFFFF">
              <a:alpha val="10196"/>
            </a:srgbClr>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Skip-track</a:t>
            </a:r>
          </a:p>
          <a:p>
            <a:pPr algn="ctr"/>
            <a:r>
              <a:rPr lang="en-US" sz="1100">
                <a:solidFill>
                  <a:srgbClr val="000000"/>
                </a:solidFill>
                <a:latin typeface="Intel Clear"/>
              </a:rPr>
              <a:t>&gt;=76nm</a:t>
            </a:r>
          </a:p>
        </p:txBody>
      </p:sp>
      <p:sp>
        <p:nvSpPr>
          <p:cNvPr id="24" name="Rectangle 23">
            <a:extLst>
              <a:ext uri="{FF2B5EF4-FFF2-40B4-BE49-F238E27FC236}">
                <a16:creationId xmlns:a16="http://schemas.microsoft.com/office/drawing/2014/main" id="{9CB22176-2C54-847E-6A01-2250FC89B730}"/>
              </a:ext>
            </a:extLst>
          </p:cNvPr>
          <p:cNvSpPr/>
          <p:nvPr/>
        </p:nvSpPr>
        <p:spPr>
          <a:xfrm>
            <a:off x="1737040" y="1776501"/>
            <a:ext cx="756458" cy="374073"/>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5" name="Rectangle 24">
            <a:extLst>
              <a:ext uri="{FF2B5EF4-FFF2-40B4-BE49-F238E27FC236}">
                <a16:creationId xmlns:a16="http://schemas.microsoft.com/office/drawing/2014/main" id="{5DB0A4E5-FF8C-293F-65FC-82FB8D167D3C}"/>
              </a:ext>
            </a:extLst>
          </p:cNvPr>
          <p:cNvSpPr/>
          <p:nvPr/>
        </p:nvSpPr>
        <p:spPr>
          <a:xfrm>
            <a:off x="3083758" y="1776501"/>
            <a:ext cx="756458" cy="374073"/>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cxnSp>
        <p:nvCxnSpPr>
          <p:cNvPr id="26" name="Straight Arrow Connector 25">
            <a:extLst>
              <a:ext uri="{FF2B5EF4-FFF2-40B4-BE49-F238E27FC236}">
                <a16:creationId xmlns:a16="http://schemas.microsoft.com/office/drawing/2014/main" id="{4FAC1EDA-833F-88C9-8576-5585599CC647}"/>
              </a:ext>
            </a:extLst>
          </p:cNvPr>
          <p:cNvCxnSpPr/>
          <p:nvPr/>
        </p:nvCxnSpPr>
        <p:spPr>
          <a:xfrm>
            <a:off x="2546989" y="2015713"/>
            <a:ext cx="378995" cy="0"/>
          </a:xfrm>
          <a:prstGeom prst="straightConnector1">
            <a:avLst/>
          </a:prstGeom>
          <a:noFill/>
          <a:ln w="38100" cap="rnd">
            <a:solidFill>
              <a:srgbClr val="0070C0"/>
            </a:solidFill>
            <a:prstDash val="solid"/>
            <a:miter lim="400000"/>
            <a:headEnd type="triangle" w="med" len="med"/>
            <a:tailEnd type="triangle"/>
          </a:ln>
          <a:effectLst/>
          <a:sp3d/>
          <a:extLst>
            <a:ext uri="{909E8E84-426E-40DD-AFC4-6F175D3DCCD1}">
              <a14:hiddenFill xmlns:a14="http://schemas.microsoft.com/office/drawing/2010/main">
                <a:solidFill>
                  <a:srgbClr val="FFFFFF">
                    <a:alpha val="69804"/>
                  </a:srgbClr>
                </a:solidFill>
              </a14:hiddenFill>
            </a:ext>
          </a:extLst>
        </p:spPr>
      </p:cxnSp>
      <p:sp>
        <p:nvSpPr>
          <p:cNvPr id="27" name="TextBox 26">
            <a:extLst>
              <a:ext uri="{FF2B5EF4-FFF2-40B4-BE49-F238E27FC236}">
                <a16:creationId xmlns:a16="http://schemas.microsoft.com/office/drawing/2014/main" id="{C365DEAE-5F6A-07D0-04BF-0BAE1D781229}"/>
              </a:ext>
            </a:extLst>
          </p:cNvPr>
          <p:cNvSpPr txBox="1"/>
          <p:nvPr/>
        </p:nvSpPr>
        <p:spPr>
          <a:xfrm>
            <a:off x="2526166" y="1663034"/>
            <a:ext cx="517358" cy="261610"/>
          </a:xfrm>
          <a:prstGeom prst="rect">
            <a:avLst/>
          </a:prstGeom>
          <a:solidFill>
            <a:srgbClr val="FFFFFF">
              <a:alpha val="10196"/>
            </a:srgbClr>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=32</a:t>
            </a:r>
          </a:p>
        </p:txBody>
      </p:sp>
      <p:sp>
        <p:nvSpPr>
          <p:cNvPr id="28" name="Rectangle 27">
            <a:extLst>
              <a:ext uri="{FF2B5EF4-FFF2-40B4-BE49-F238E27FC236}">
                <a16:creationId xmlns:a16="http://schemas.microsoft.com/office/drawing/2014/main" id="{0FA32180-BA61-5DD0-3265-3B1050C34EC3}"/>
              </a:ext>
            </a:extLst>
          </p:cNvPr>
          <p:cNvSpPr/>
          <p:nvPr/>
        </p:nvSpPr>
        <p:spPr>
          <a:xfrm>
            <a:off x="11239066" y="3847446"/>
            <a:ext cx="839586" cy="365760"/>
          </a:xfrm>
          <a:prstGeom prst="rect">
            <a:avLst/>
          </a:prstGeom>
          <a:solidFill>
            <a:srgbClr val="8F5DA2"/>
          </a:solidFill>
          <a:ln w="381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VT</a:t>
            </a:r>
          </a:p>
        </p:txBody>
      </p:sp>
      <p:sp>
        <p:nvSpPr>
          <p:cNvPr id="29" name="Rectangle 28">
            <a:extLst>
              <a:ext uri="{FF2B5EF4-FFF2-40B4-BE49-F238E27FC236}">
                <a16:creationId xmlns:a16="http://schemas.microsoft.com/office/drawing/2014/main" id="{511C3A5C-BC9C-0A54-E732-896DDB8038EC}"/>
              </a:ext>
            </a:extLst>
          </p:cNvPr>
          <p:cNvSpPr/>
          <p:nvPr/>
        </p:nvSpPr>
        <p:spPr>
          <a:xfrm>
            <a:off x="11239066" y="4570653"/>
            <a:ext cx="839586" cy="365760"/>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VG</a:t>
            </a:r>
          </a:p>
        </p:txBody>
      </p:sp>
      <p:sp>
        <p:nvSpPr>
          <p:cNvPr id="30" name="Rectangle 29">
            <a:extLst>
              <a:ext uri="{FF2B5EF4-FFF2-40B4-BE49-F238E27FC236}">
                <a16:creationId xmlns:a16="http://schemas.microsoft.com/office/drawing/2014/main" id="{75926300-3CF4-CE19-C0CD-B3C3A836D1D9}"/>
              </a:ext>
            </a:extLst>
          </p:cNvPr>
          <p:cNvSpPr/>
          <p:nvPr/>
        </p:nvSpPr>
        <p:spPr>
          <a:xfrm>
            <a:off x="11239066" y="3182428"/>
            <a:ext cx="839586" cy="365760"/>
          </a:xfrm>
          <a:prstGeom prst="rect">
            <a:avLst/>
          </a:prstGeom>
          <a:noFill/>
          <a:ln w="38100" cap="rnd">
            <a:solidFill>
              <a:srgbClr val="0070C0"/>
            </a:solidFill>
            <a:prstDash val="dash"/>
            <a:miter lim="400000"/>
            <a:tailEnd type="none"/>
          </a:ln>
          <a:effectLst/>
          <a:sp3d/>
          <a:extLst>
            <a:ext uri="{909E8E84-426E-40DD-AFC4-6F175D3DCCD1}">
              <a14:hiddenFill xmlns:a14="http://schemas.microsoft.com/office/drawing/2010/main">
                <a:solidFill>
                  <a:srgbClr val="FFFFFF">
                    <a:alpha val="69804"/>
                  </a:srgbClr>
                </a:solidFill>
              </a14:hiddenFill>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Linear Array</a:t>
            </a:r>
          </a:p>
        </p:txBody>
      </p:sp>
      <p:sp>
        <p:nvSpPr>
          <p:cNvPr id="31" name="TextBox 30">
            <a:extLst>
              <a:ext uri="{FF2B5EF4-FFF2-40B4-BE49-F238E27FC236}">
                <a16:creationId xmlns:a16="http://schemas.microsoft.com/office/drawing/2014/main" id="{4776052A-6195-E5DA-8C49-2F275AFC7EF4}"/>
              </a:ext>
            </a:extLst>
          </p:cNvPr>
          <p:cNvSpPr txBox="1"/>
          <p:nvPr/>
        </p:nvSpPr>
        <p:spPr>
          <a:xfrm>
            <a:off x="3587461" y="1274446"/>
            <a:ext cx="2143052" cy="338777"/>
          </a:xfrm>
          <a:prstGeom prst="rect">
            <a:avLst/>
          </a:prstGeom>
          <a:solidFill>
            <a:srgbClr val="FFFFFF"/>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Maximum of 4 in a row</a:t>
            </a:r>
          </a:p>
        </p:txBody>
      </p:sp>
      <p:sp>
        <p:nvSpPr>
          <p:cNvPr id="32" name="Rectangle 31">
            <a:extLst>
              <a:ext uri="{FF2B5EF4-FFF2-40B4-BE49-F238E27FC236}">
                <a16:creationId xmlns:a16="http://schemas.microsoft.com/office/drawing/2014/main" id="{90C29AA4-E980-F751-6CB1-C5ABF496F18F}"/>
              </a:ext>
            </a:extLst>
          </p:cNvPr>
          <p:cNvSpPr/>
          <p:nvPr/>
        </p:nvSpPr>
        <p:spPr>
          <a:xfrm>
            <a:off x="4410307" y="3410682"/>
            <a:ext cx="756458" cy="374073"/>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sp>
        <p:nvSpPr>
          <p:cNvPr id="33" name="Rectangle 32">
            <a:extLst>
              <a:ext uri="{FF2B5EF4-FFF2-40B4-BE49-F238E27FC236}">
                <a16:creationId xmlns:a16="http://schemas.microsoft.com/office/drawing/2014/main" id="{43582922-FBA7-1863-1221-571BB204AD6F}"/>
              </a:ext>
            </a:extLst>
          </p:cNvPr>
          <p:cNvSpPr/>
          <p:nvPr/>
        </p:nvSpPr>
        <p:spPr>
          <a:xfrm>
            <a:off x="5757025" y="3410682"/>
            <a:ext cx="756458" cy="374073"/>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sp>
        <p:nvSpPr>
          <p:cNvPr id="34" name="Rectangle 33">
            <a:extLst>
              <a:ext uri="{FF2B5EF4-FFF2-40B4-BE49-F238E27FC236}">
                <a16:creationId xmlns:a16="http://schemas.microsoft.com/office/drawing/2014/main" id="{04ACF828-22A4-41DB-0389-7ACFF3DC0AD3}"/>
              </a:ext>
            </a:extLst>
          </p:cNvPr>
          <p:cNvSpPr/>
          <p:nvPr/>
        </p:nvSpPr>
        <p:spPr>
          <a:xfrm>
            <a:off x="1391248" y="3157343"/>
            <a:ext cx="5474369" cy="890336"/>
          </a:xfrm>
          <a:prstGeom prst="rect">
            <a:avLst/>
          </a:prstGeom>
          <a:noFill/>
          <a:ln w="38100" cap="rnd">
            <a:solidFill>
              <a:srgbClr val="0070C0"/>
            </a:solidFill>
            <a:prstDash val="dash"/>
            <a:miter lim="400000"/>
            <a:tailEnd type="none"/>
          </a:ln>
          <a:effectLst/>
          <a:sp3d/>
          <a:extLst>
            <a:ext uri="{909E8E84-426E-40DD-AFC4-6F175D3DCCD1}">
              <a14:hiddenFill xmlns:a14="http://schemas.microsoft.com/office/drawing/2010/main">
                <a:solidFill>
                  <a:srgbClr val="FFFFFF">
                    <a:alpha val="69804"/>
                  </a:srgbClr>
                </a:solidFill>
              </a14:hiddenFill>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cxnSp>
        <p:nvCxnSpPr>
          <p:cNvPr id="35" name="Straight Arrow Connector 34">
            <a:extLst>
              <a:ext uri="{FF2B5EF4-FFF2-40B4-BE49-F238E27FC236}">
                <a16:creationId xmlns:a16="http://schemas.microsoft.com/office/drawing/2014/main" id="{4875CCF4-FFA2-F3BE-6FFC-EE1CFDA685D9}"/>
              </a:ext>
            </a:extLst>
          </p:cNvPr>
          <p:cNvCxnSpPr/>
          <p:nvPr/>
        </p:nvCxnSpPr>
        <p:spPr>
          <a:xfrm>
            <a:off x="6763348" y="3622197"/>
            <a:ext cx="1329490" cy="0"/>
          </a:xfrm>
          <a:prstGeom prst="straightConnector1">
            <a:avLst/>
          </a:prstGeom>
          <a:noFill/>
          <a:ln w="38100" cap="rnd">
            <a:solidFill>
              <a:srgbClr val="0070C0"/>
            </a:solidFill>
            <a:prstDash val="solid"/>
            <a:miter lim="400000"/>
            <a:headEnd type="triangle" w="med" len="med"/>
            <a:tailEnd type="triangle"/>
          </a:ln>
          <a:effectLst/>
          <a:sp3d/>
          <a:extLst>
            <a:ext uri="{909E8E84-426E-40DD-AFC4-6F175D3DCCD1}">
              <a14:hiddenFill xmlns:a14="http://schemas.microsoft.com/office/drawing/2010/main">
                <a:solidFill>
                  <a:srgbClr val="FFFFFF">
                    <a:alpha val="69804"/>
                  </a:srgbClr>
                </a:solidFill>
              </a14:hiddenFill>
            </a:ext>
          </a:extLst>
        </p:spPr>
      </p:cxnSp>
      <p:sp>
        <p:nvSpPr>
          <p:cNvPr id="36" name="Rectangle 35">
            <a:extLst>
              <a:ext uri="{FF2B5EF4-FFF2-40B4-BE49-F238E27FC236}">
                <a16:creationId xmlns:a16="http://schemas.microsoft.com/office/drawing/2014/main" id="{962ACCE3-1EB0-A892-5CD4-9E9F321C9183}"/>
              </a:ext>
            </a:extLst>
          </p:cNvPr>
          <p:cNvSpPr/>
          <p:nvPr/>
        </p:nvSpPr>
        <p:spPr>
          <a:xfrm>
            <a:off x="8450460" y="3410682"/>
            <a:ext cx="756458" cy="374073"/>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sp>
        <p:nvSpPr>
          <p:cNvPr id="37" name="TextBox 36">
            <a:extLst>
              <a:ext uri="{FF2B5EF4-FFF2-40B4-BE49-F238E27FC236}">
                <a16:creationId xmlns:a16="http://schemas.microsoft.com/office/drawing/2014/main" id="{3D25AC45-71BC-A2DE-2441-9B5747466FFC}"/>
              </a:ext>
            </a:extLst>
          </p:cNvPr>
          <p:cNvSpPr txBox="1"/>
          <p:nvPr/>
        </p:nvSpPr>
        <p:spPr>
          <a:xfrm>
            <a:off x="7077428" y="4008004"/>
            <a:ext cx="1206657" cy="450913"/>
          </a:xfrm>
          <a:prstGeom prst="rect">
            <a:avLst/>
          </a:prstGeom>
          <a:solidFill>
            <a:srgbClr val="FFFFFF">
              <a:alpha val="10196"/>
            </a:srgbClr>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Skip-track</a:t>
            </a:r>
          </a:p>
          <a:p>
            <a:pPr algn="ctr"/>
            <a:r>
              <a:rPr lang="en-US" sz="1100">
                <a:solidFill>
                  <a:srgbClr val="000000"/>
                </a:solidFill>
                <a:latin typeface="Intel Clear"/>
              </a:rPr>
              <a:t>&gt;=76nm</a:t>
            </a:r>
          </a:p>
        </p:txBody>
      </p:sp>
      <p:sp>
        <p:nvSpPr>
          <p:cNvPr id="38" name="Rectangle 37">
            <a:extLst>
              <a:ext uri="{FF2B5EF4-FFF2-40B4-BE49-F238E27FC236}">
                <a16:creationId xmlns:a16="http://schemas.microsoft.com/office/drawing/2014/main" id="{E5ACC494-8DD5-5999-B690-F79D0679D41B}"/>
              </a:ext>
            </a:extLst>
          </p:cNvPr>
          <p:cNvSpPr/>
          <p:nvPr/>
        </p:nvSpPr>
        <p:spPr>
          <a:xfrm>
            <a:off x="1716871" y="3410682"/>
            <a:ext cx="756458" cy="374073"/>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sp>
        <p:nvSpPr>
          <p:cNvPr id="39" name="Rectangle 38">
            <a:extLst>
              <a:ext uri="{FF2B5EF4-FFF2-40B4-BE49-F238E27FC236}">
                <a16:creationId xmlns:a16="http://schemas.microsoft.com/office/drawing/2014/main" id="{8D020B4F-3253-1A04-DCB6-3BEEBD625C0B}"/>
              </a:ext>
            </a:extLst>
          </p:cNvPr>
          <p:cNvSpPr/>
          <p:nvPr/>
        </p:nvSpPr>
        <p:spPr>
          <a:xfrm>
            <a:off x="3063589" y="3410682"/>
            <a:ext cx="756458" cy="374073"/>
          </a:xfrm>
          <a:prstGeom prst="rect">
            <a:avLst/>
          </a:prstGeom>
          <a:solidFill>
            <a:srgbClr val="00C7FD"/>
          </a:solidFill>
          <a:ln w="38100" cap="rnd" cmpd="sng" algn="ctr">
            <a:solidFill>
              <a:srgbClr val="00C7FD"/>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cxnSp>
        <p:nvCxnSpPr>
          <p:cNvPr id="40" name="Straight Arrow Connector 39">
            <a:extLst>
              <a:ext uri="{FF2B5EF4-FFF2-40B4-BE49-F238E27FC236}">
                <a16:creationId xmlns:a16="http://schemas.microsoft.com/office/drawing/2014/main" id="{8FCC53E8-D0C9-0563-17C9-548F9303CDF6}"/>
              </a:ext>
            </a:extLst>
          </p:cNvPr>
          <p:cNvCxnSpPr/>
          <p:nvPr/>
        </p:nvCxnSpPr>
        <p:spPr>
          <a:xfrm>
            <a:off x="2567165" y="3664308"/>
            <a:ext cx="378995" cy="0"/>
          </a:xfrm>
          <a:prstGeom prst="straightConnector1">
            <a:avLst/>
          </a:prstGeom>
          <a:noFill/>
          <a:ln w="38100" cap="rnd">
            <a:solidFill>
              <a:srgbClr val="0070C0"/>
            </a:solidFill>
            <a:prstDash val="solid"/>
            <a:miter lim="400000"/>
            <a:headEnd type="triangle" w="med" len="med"/>
            <a:tailEnd type="triangle"/>
          </a:ln>
          <a:effectLst/>
          <a:sp3d/>
          <a:extLst>
            <a:ext uri="{909E8E84-426E-40DD-AFC4-6F175D3DCCD1}">
              <a14:hiddenFill xmlns:a14="http://schemas.microsoft.com/office/drawing/2010/main">
                <a:solidFill>
                  <a:srgbClr val="FFFFFF">
                    <a:alpha val="69804"/>
                  </a:srgbClr>
                </a:solidFill>
              </a14:hiddenFill>
            </a:ext>
          </a:extLst>
        </p:spPr>
      </p:cxnSp>
      <p:sp>
        <p:nvSpPr>
          <p:cNvPr id="41" name="TextBox 40">
            <a:extLst>
              <a:ext uri="{FF2B5EF4-FFF2-40B4-BE49-F238E27FC236}">
                <a16:creationId xmlns:a16="http://schemas.microsoft.com/office/drawing/2014/main" id="{555D2723-E48C-7D8A-1D4F-AC6FF00F51BA}"/>
              </a:ext>
            </a:extLst>
          </p:cNvPr>
          <p:cNvSpPr txBox="1"/>
          <p:nvPr/>
        </p:nvSpPr>
        <p:spPr>
          <a:xfrm>
            <a:off x="2546342" y="3311629"/>
            <a:ext cx="517358" cy="261610"/>
          </a:xfrm>
          <a:prstGeom prst="rect">
            <a:avLst/>
          </a:prstGeom>
          <a:solidFill>
            <a:srgbClr val="FFFFFF">
              <a:alpha val="10196"/>
            </a:srgbClr>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=32</a:t>
            </a:r>
          </a:p>
        </p:txBody>
      </p:sp>
      <p:sp>
        <p:nvSpPr>
          <p:cNvPr id="42" name="TextBox 41">
            <a:extLst>
              <a:ext uri="{FF2B5EF4-FFF2-40B4-BE49-F238E27FC236}">
                <a16:creationId xmlns:a16="http://schemas.microsoft.com/office/drawing/2014/main" id="{6D58D37D-F3C5-C74A-BF64-C7A050A18E32}"/>
              </a:ext>
            </a:extLst>
          </p:cNvPr>
          <p:cNvSpPr txBox="1"/>
          <p:nvPr/>
        </p:nvSpPr>
        <p:spPr>
          <a:xfrm>
            <a:off x="3587461" y="2923041"/>
            <a:ext cx="2143052" cy="338777"/>
          </a:xfrm>
          <a:prstGeom prst="rect">
            <a:avLst/>
          </a:prstGeom>
          <a:solidFill>
            <a:srgbClr val="FFFFFF"/>
          </a:solidFill>
          <a:ln w="19050" cap="rnd">
            <a:solidFill>
              <a:srgbClr val="000000"/>
            </a:solidFill>
            <a:prstDash val="lgDash"/>
          </a:ln>
        </p:spPr>
        <p:txBody>
          <a:bodyPr wrap="square" rtlCol="0">
            <a:spAutoFit/>
          </a:bodyPr>
          <a:lstStyle/>
          <a:p>
            <a:pPr algn="ctr"/>
            <a:r>
              <a:rPr lang="en-US" sz="1100">
                <a:solidFill>
                  <a:srgbClr val="000000"/>
                </a:solidFill>
                <a:latin typeface="Intel Clear"/>
              </a:rPr>
              <a:t>Maximum of 4 in a row</a:t>
            </a:r>
          </a:p>
        </p:txBody>
      </p:sp>
    </p:spTree>
    <p:extLst>
      <p:ext uri="{BB962C8B-B14F-4D97-AF65-F5344CB8AC3E}">
        <p14:creationId xmlns:p14="http://schemas.microsoft.com/office/powerpoint/2010/main" val="2213616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A67AE-7474-7C06-C0FC-D01852B85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C5514-8620-1B31-93AA-D4B1E2EFC263}"/>
              </a:ext>
            </a:extLst>
          </p:cNvPr>
          <p:cNvSpPr>
            <a:spLocks noGrp="1"/>
          </p:cNvSpPr>
          <p:nvPr>
            <p:ph type="title" idx="4294967295"/>
          </p:nvPr>
        </p:nvSpPr>
        <p:spPr>
          <a:xfrm>
            <a:off x="-1" y="-3482"/>
            <a:ext cx="10515600" cy="905377"/>
          </a:xfrm>
        </p:spPr>
        <p:txBody>
          <a:bodyPr/>
          <a:lstStyle/>
          <a:p>
            <a:r>
              <a:rPr lang="en-US"/>
              <a:t>VGVT</a:t>
            </a:r>
          </a:p>
        </p:txBody>
      </p:sp>
      <p:pic>
        <p:nvPicPr>
          <p:cNvPr id="4" name="Picture 3">
            <a:extLst>
              <a:ext uri="{FF2B5EF4-FFF2-40B4-BE49-F238E27FC236}">
                <a16:creationId xmlns:a16="http://schemas.microsoft.com/office/drawing/2014/main" id="{7CE71414-E4F0-C936-1E82-C784C12E67EC}"/>
              </a:ext>
            </a:extLst>
          </p:cNvPr>
          <p:cNvPicPr>
            <a:picLocks noChangeAspect="1"/>
          </p:cNvPicPr>
          <p:nvPr/>
        </p:nvPicPr>
        <p:blipFill>
          <a:blip r:embed="rId2"/>
          <a:stretch>
            <a:fillRect/>
          </a:stretch>
        </p:blipFill>
        <p:spPr>
          <a:xfrm>
            <a:off x="2037998" y="1363801"/>
            <a:ext cx="8116003" cy="4130398"/>
          </a:xfrm>
          <a:prstGeom prst="rect">
            <a:avLst/>
          </a:prstGeom>
        </p:spPr>
      </p:pic>
    </p:spTree>
    <p:extLst>
      <p:ext uri="{BB962C8B-B14F-4D97-AF65-F5344CB8AC3E}">
        <p14:creationId xmlns:p14="http://schemas.microsoft.com/office/powerpoint/2010/main" val="2464162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AD172-3965-C71C-3F45-6804C16F4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F8615-1C91-4B21-029C-D715BCC987AF}"/>
              </a:ext>
            </a:extLst>
          </p:cNvPr>
          <p:cNvSpPr>
            <a:spLocks noGrp="1"/>
          </p:cNvSpPr>
          <p:nvPr>
            <p:ph type="title" idx="4294967295"/>
          </p:nvPr>
        </p:nvSpPr>
        <p:spPr>
          <a:xfrm>
            <a:off x="-1" y="-3482"/>
            <a:ext cx="10515600" cy="905377"/>
          </a:xfrm>
        </p:spPr>
        <p:txBody>
          <a:bodyPr/>
          <a:lstStyle/>
          <a:p>
            <a:r>
              <a:rPr lang="en-US"/>
              <a:t>Bigger Feedthrough (Length + ETE)</a:t>
            </a:r>
          </a:p>
        </p:txBody>
      </p:sp>
      <p:pic>
        <p:nvPicPr>
          <p:cNvPr id="3" name="Picture 2">
            <a:extLst>
              <a:ext uri="{FF2B5EF4-FFF2-40B4-BE49-F238E27FC236}">
                <a16:creationId xmlns:a16="http://schemas.microsoft.com/office/drawing/2014/main" id="{5813E5F9-BCB1-701B-1829-2A5F286BBD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31" b="6481"/>
          <a:stretch>
            <a:fillRect/>
          </a:stretch>
        </p:blipFill>
        <p:spPr bwMode="auto">
          <a:xfrm>
            <a:off x="521207" y="1328875"/>
            <a:ext cx="8217549" cy="44501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7488975-E9E8-325A-5D65-FD44B86B6437}"/>
              </a:ext>
            </a:extLst>
          </p:cNvPr>
          <p:cNvSpPr txBox="1"/>
          <p:nvPr/>
        </p:nvSpPr>
        <p:spPr>
          <a:xfrm>
            <a:off x="7398619" y="4527483"/>
            <a:ext cx="1925053" cy="1077218"/>
          </a:xfrm>
          <a:prstGeom prst="rect">
            <a:avLst/>
          </a:prstGeom>
          <a:noFill/>
          <a:ln w="25400">
            <a:solidFill>
              <a:prstClr val="black"/>
            </a:solidFill>
          </a:ln>
        </p:spPr>
        <p:txBody>
          <a:bodyPr wrap="square" rtlCol="0">
            <a:spAutoFit/>
          </a:bodyPr>
          <a:lstStyle/>
          <a:p>
            <a:r>
              <a:rPr lang="en-US" sz="1600"/>
              <a:t>M2: 92+31</a:t>
            </a:r>
          </a:p>
          <a:p>
            <a:r>
              <a:rPr lang="en-US" sz="1600"/>
              <a:t>M3: 120+37</a:t>
            </a:r>
          </a:p>
          <a:p>
            <a:r>
              <a:rPr lang="en-US" sz="1600"/>
              <a:t>M4: 120+40</a:t>
            </a:r>
          </a:p>
          <a:p>
            <a:r>
              <a:rPr lang="en-US" sz="1600"/>
              <a:t>M5, M6: 120+40</a:t>
            </a:r>
          </a:p>
        </p:txBody>
      </p:sp>
      <p:sp>
        <p:nvSpPr>
          <p:cNvPr id="5" name="TextBox 4">
            <a:extLst>
              <a:ext uri="{FF2B5EF4-FFF2-40B4-BE49-F238E27FC236}">
                <a16:creationId xmlns:a16="http://schemas.microsoft.com/office/drawing/2014/main" id="{9E7600F4-9968-2A67-4F93-BAD3C237BCC1}"/>
              </a:ext>
            </a:extLst>
          </p:cNvPr>
          <p:cNvSpPr txBox="1"/>
          <p:nvPr/>
        </p:nvSpPr>
        <p:spPr>
          <a:xfrm>
            <a:off x="9323672" y="1371600"/>
            <a:ext cx="2868328" cy="646331"/>
          </a:xfrm>
          <a:prstGeom prst="rect">
            <a:avLst/>
          </a:prstGeom>
          <a:solidFill>
            <a:schemeClr val="accent2">
              <a:lumMod val="100000"/>
            </a:schemeClr>
          </a:solidFill>
          <a:ln w="9525" cap="flat" cmpd="sng" algn="ctr">
            <a:solidFill>
              <a:schemeClr val="accent2">
                <a:lumMod val="100000"/>
              </a:schemeClr>
            </a:solidFill>
            <a:prstDash val="solid"/>
            <a:round/>
            <a:headEnd type="none" w="med" len="med"/>
            <a:tailEnd type="none" w="med" len="med"/>
          </a:ln>
        </p:spPr>
        <p:txBody>
          <a:bodyPr wrap="square" rtlCol="0">
            <a:spAutoFit/>
          </a:bodyPr>
          <a:lstStyle/>
          <a:p>
            <a:r>
              <a:rPr lang="en-US"/>
              <a:t>Feedthru/Feedthrough = Length + ETE</a:t>
            </a:r>
          </a:p>
        </p:txBody>
      </p:sp>
    </p:spTree>
    <p:extLst>
      <p:ext uri="{BB962C8B-B14F-4D97-AF65-F5344CB8AC3E}">
        <p14:creationId xmlns:p14="http://schemas.microsoft.com/office/powerpoint/2010/main" val="664151850"/>
      </p:ext>
    </p:extLst>
  </p:cSld>
  <p:clrMapOvr>
    <a:masterClrMapping/>
  </p:clrMapOvr>
  <p:extLst>
    <p:ext uri="{6950BFC3-D8DA-4A85-94F7-54DA5524770B}">
      <p188:commentRel xmlns:p188="http://schemas.microsoft.com/office/powerpoint/2018/8/main" r:id="rId2"/>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B1198-8C1B-08A9-33E4-BFF2B8AD2D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70E92-FE81-C2C6-334A-7AB91C549E60}"/>
              </a:ext>
            </a:extLst>
          </p:cNvPr>
          <p:cNvSpPr>
            <a:spLocks noGrp="1"/>
          </p:cNvSpPr>
          <p:nvPr>
            <p:ph type="title" idx="4294967295"/>
          </p:nvPr>
        </p:nvSpPr>
        <p:spPr>
          <a:xfrm>
            <a:off x="-1" y="-3482"/>
            <a:ext cx="10515600" cy="905377"/>
          </a:xfrm>
        </p:spPr>
        <p:txBody>
          <a:bodyPr/>
          <a:lstStyle/>
          <a:p>
            <a:r>
              <a:rPr lang="en-US"/>
              <a:t>TFR</a:t>
            </a:r>
          </a:p>
        </p:txBody>
      </p:sp>
      <p:pic>
        <p:nvPicPr>
          <p:cNvPr id="4" name="Picture 3">
            <a:extLst>
              <a:ext uri="{FF2B5EF4-FFF2-40B4-BE49-F238E27FC236}">
                <a16:creationId xmlns:a16="http://schemas.microsoft.com/office/drawing/2014/main" id="{9E6BC494-D711-EC87-4296-7A77669CC33F}"/>
              </a:ext>
            </a:extLst>
          </p:cNvPr>
          <p:cNvPicPr>
            <a:picLocks noChangeAspect="1"/>
          </p:cNvPicPr>
          <p:nvPr/>
        </p:nvPicPr>
        <p:blipFill>
          <a:blip r:embed="rId2"/>
          <a:srcRect t="14609"/>
          <a:stretch>
            <a:fillRect/>
          </a:stretch>
        </p:blipFill>
        <p:spPr>
          <a:xfrm>
            <a:off x="4827681" y="3712464"/>
            <a:ext cx="4280788" cy="2058979"/>
          </a:xfrm>
          <a:prstGeom prst="rect">
            <a:avLst/>
          </a:prstGeom>
        </p:spPr>
      </p:pic>
      <p:graphicFrame>
        <p:nvGraphicFramePr>
          <p:cNvPr id="6" name="Table 5">
            <a:extLst>
              <a:ext uri="{FF2B5EF4-FFF2-40B4-BE49-F238E27FC236}">
                <a16:creationId xmlns:a16="http://schemas.microsoft.com/office/drawing/2014/main" id="{AAE2AF4A-F164-2DDF-7DD9-612F00D392F9}"/>
              </a:ext>
            </a:extLst>
          </p:cNvPr>
          <p:cNvGraphicFramePr>
            <a:graphicFrameLocks noGrp="1"/>
          </p:cNvGraphicFramePr>
          <p:nvPr>
            <p:extLst>
              <p:ext uri="{D42A27DB-BD31-4B8C-83A1-F6EECF244321}">
                <p14:modId xmlns:p14="http://schemas.microsoft.com/office/powerpoint/2010/main" val="3042295123"/>
              </p:ext>
            </p:extLst>
          </p:nvPr>
        </p:nvGraphicFramePr>
        <p:xfrm>
          <a:off x="0" y="1179647"/>
          <a:ext cx="12192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714972510"/>
                    </a:ext>
                  </a:extLst>
                </a:gridCol>
                <a:gridCol w="4064000">
                  <a:extLst>
                    <a:ext uri="{9D8B030D-6E8A-4147-A177-3AD203B41FA5}">
                      <a16:colId xmlns:a16="http://schemas.microsoft.com/office/drawing/2014/main" val="787182542"/>
                    </a:ext>
                  </a:extLst>
                </a:gridCol>
                <a:gridCol w="4064000">
                  <a:extLst>
                    <a:ext uri="{9D8B030D-6E8A-4147-A177-3AD203B41FA5}">
                      <a16:colId xmlns:a16="http://schemas.microsoft.com/office/drawing/2014/main" val="2631902076"/>
                    </a:ext>
                  </a:extLst>
                </a:gridCol>
              </a:tblGrid>
              <a:tr h="370840">
                <a:tc>
                  <a:txBody>
                    <a:bodyPr/>
                    <a:lstStyle/>
                    <a:p>
                      <a:pPr algn="ctr"/>
                      <a:r>
                        <a:rPr lang="en-US"/>
                        <a:t>Feature</a:t>
                      </a:r>
                    </a:p>
                  </a:txBody>
                  <a:tcPr/>
                </a:tc>
                <a:tc>
                  <a:txBody>
                    <a:bodyPr/>
                    <a:lstStyle/>
                    <a:p>
                      <a:pPr algn="ctr"/>
                      <a:r>
                        <a:rPr lang="en-US"/>
                        <a:t>P1280</a:t>
                      </a:r>
                    </a:p>
                  </a:txBody>
                  <a:tcPr/>
                </a:tc>
                <a:tc>
                  <a:txBody>
                    <a:bodyPr/>
                    <a:lstStyle/>
                    <a:p>
                      <a:pPr algn="ctr"/>
                      <a:r>
                        <a:rPr lang="en-US"/>
                        <a:t>P1281</a:t>
                      </a:r>
                    </a:p>
                  </a:txBody>
                  <a:tcPr/>
                </a:tc>
                <a:extLst>
                  <a:ext uri="{0D108BD9-81ED-4DB2-BD59-A6C34878D82A}">
                    <a16:rowId xmlns:a16="http://schemas.microsoft.com/office/drawing/2014/main" val="3631216349"/>
                  </a:ext>
                </a:extLst>
              </a:tr>
              <a:tr h="370840">
                <a:tc>
                  <a:txBody>
                    <a:bodyPr/>
                    <a:lstStyle/>
                    <a:p>
                      <a:pPr algn="ctr"/>
                      <a:r>
                        <a:rPr lang="en-US"/>
                        <a:t>Layer</a:t>
                      </a:r>
                    </a:p>
                  </a:txBody>
                  <a:tcPr/>
                </a:tc>
                <a:tc>
                  <a:txBody>
                    <a:bodyPr/>
                    <a:lstStyle/>
                    <a:p>
                      <a:pPr algn="ctr"/>
                      <a:r>
                        <a:rPr lang="en-US"/>
                        <a:t>M1, V1, M2</a:t>
                      </a:r>
                    </a:p>
                  </a:txBody>
                  <a:tcPr/>
                </a:tc>
                <a:tc>
                  <a:txBody>
                    <a:bodyPr/>
                    <a:lstStyle/>
                    <a:p>
                      <a:pPr algn="ctr"/>
                      <a:r>
                        <a:rPr lang="en-US"/>
                        <a:t>M7, V7, M8</a:t>
                      </a:r>
                    </a:p>
                  </a:txBody>
                  <a:tcPr/>
                </a:tc>
                <a:extLst>
                  <a:ext uri="{0D108BD9-81ED-4DB2-BD59-A6C34878D82A}">
                    <a16:rowId xmlns:a16="http://schemas.microsoft.com/office/drawing/2014/main" val="1488741036"/>
                  </a:ext>
                </a:extLst>
              </a:tr>
              <a:tr h="370840">
                <a:tc>
                  <a:txBody>
                    <a:bodyPr/>
                    <a:lstStyle/>
                    <a:p>
                      <a:pPr algn="ctr"/>
                      <a:r>
                        <a:rPr lang="en-US"/>
                        <a:t>Rectangular</a:t>
                      </a:r>
                    </a:p>
                  </a:txBody>
                  <a:tcPr/>
                </a:tc>
                <a:tc>
                  <a:txBody>
                    <a:bodyPr/>
                    <a:lstStyle/>
                    <a:p>
                      <a:pPr algn="ctr"/>
                      <a:r>
                        <a:rPr lang="en-US"/>
                        <a:t>YES</a:t>
                      </a:r>
                    </a:p>
                  </a:txBody>
                  <a:tcPr/>
                </a:tc>
                <a:tc>
                  <a:txBody>
                    <a:bodyPr/>
                    <a:lstStyle/>
                    <a:p>
                      <a:pPr algn="ctr"/>
                      <a:r>
                        <a:rPr lang="en-US"/>
                        <a:t>Non-rectangular is allowed</a:t>
                      </a:r>
                    </a:p>
                  </a:txBody>
                  <a:tcPr/>
                </a:tc>
                <a:extLst>
                  <a:ext uri="{0D108BD9-81ED-4DB2-BD59-A6C34878D82A}">
                    <a16:rowId xmlns:a16="http://schemas.microsoft.com/office/drawing/2014/main" val="4184756354"/>
                  </a:ext>
                </a:extLst>
              </a:tr>
            </a:tbl>
          </a:graphicData>
        </a:graphic>
      </p:graphicFrame>
    </p:spTree>
    <p:extLst>
      <p:ext uri="{BB962C8B-B14F-4D97-AF65-F5344CB8AC3E}">
        <p14:creationId xmlns:p14="http://schemas.microsoft.com/office/powerpoint/2010/main" val="1173507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1221F-8358-B47F-F9F4-287FC34B2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FEA5A-3117-A9E8-65C1-317322A4A72E}"/>
              </a:ext>
            </a:extLst>
          </p:cNvPr>
          <p:cNvSpPr>
            <a:spLocks noGrp="1"/>
          </p:cNvSpPr>
          <p:nvPr>
            <p:ph type="title" idx="4294967295"/>
          </p:nvPr>
        </p:nvSpPr>
        <p:spPr>
          <a:xfrm>
            <a:off x="-1" y="-3482"/>
            <a:ext cx="10515600" cy="905377"/>
          </a:xfrm>
        </p:spPr>
        <p:txBody>
          <a:bodyPr/>
          <a:lstStyle/>
          <a:p>
            <a:r>
              <a:rPr lang="en-US"/>
              <a:t>Non-self-aligned vias</a:t>
            </a:r>
          </a:p>
        </p:txBody>
      </p:sp>
      <p:pic>
        <p:nvPicPr>
          <p:cNvPr id="4" name="Picture 3">
            <a:extLst>
              <a:ext uri="{FF2B5EF4-FFF2-40B4-BE49-F238E27FC236}">
                <a16:creationId xmlns:a16="http://schemas.microsoft.com/office/drawing/2014/main" id="{18C2F122-F05E-2E4B-66F7-B7BD9CFF0AC0}"/>
              </a:ext>
            </a:extLst>
          </p:cNvPr>
          <p:cNvPicPr>
            <a:picLocks noChangeAspect="1"/>
          </p:cNvPicPr>
          <p:nvPr/>
        </p:nvPicPr>
        <p:blipFill>
          <a:blip r:embed="rId2"/>
          <a:srcRect l="3933"/>
          <a:stretch>
            <a:fillRect/>
          </a:stretch>
        </p:blipFill>
        <p:spPr>
          <a:xfrm>
            <a:off x="3044952" y="1606059"/>
            <a:ext cx="5944081" cy="4341900"/>
          </a:xfrm>
          <a:prstGeom prst="rect">
            <a:avLst/>
          </a:prstGeom>
        </p:spPr>
      </p:pic>
    </p:spTree>
    <p:extLst>
      <p:ext uri="{BB962C8B-B14F-4D97-AF65-F5344CB8AC3E}">
        <p14:creationId xmlns:p14="http://schemas.microsoft.com/office/powerpoint/2010/main" val="3915706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CA300-CD2E-7A1C-36A8-8C692E5118E0}"/>
              </a:ext>
            </a:extLst>
          </p:cNvPr>
          <p:cNvSpPr>
            <a:spLocks noGrp="1"/>
          </p:cNvSpPr>
          <p:nvPr>
            <p:ph type="title" idx="4294967295"/>
          </p:nvPr>
        </p:nvSpPr>
        <p:spPr>
          <a:xfrm>
            <a:off x="-1" y="7765"/>
            <a:ext cx="12192000" cy="758194"/>
          </a:xfrm>
        </p:spPr>
        <p:txBody>
          <a:bodyPr>
            <a:normAutofit/>
          </a:bodyPr>
          <a:lstStyle/>
          <a:p>
            <a:r>
              <a:rPr lang="en-US" sz="4000"/>
              <a:t>Large Vt</a:t>
            </a:r>
          </a:p>
        </p:txBody>
      </p:sp>
      <p:pic>
        <p:nvPicPr>
          <p:cNvPr id="4" name="Picture 3">
            <a:extLst>
              <a:ext uri="{FF2B5EF4-FFF2-40B4-BE49-F238E27FC236}">
                <a16:creationId xmlns:a16="http://schemas.microsoft.com/office/drawing/2014/main" id="{B63EF7B9-DA9F-917C-EF15-8DE39399F6DA}"/>
              </a:ext>
            </a:extLst>
          </p:cNvPr>
          <p:cNvPicPr>
            <a:picLocks noChangeAspect="1"/>
          </p:cNvPicPr>
          <p:nvPr/>
        </p:nvPicPr>
        <p:blipFill>
          <a:blip r:embed="rId2"/>
          <a:stretch>
            <a:fillRect/>
          </a:stretch>
        </p:blipFill>
        <p:spPr>
          <a:xfrm>
            <a:off x="1897016" y="1078026"/>
            <a:ext cx="8397968" cy="4701947"/>
          </a:xfrm>
          <a:prstGeom prst="rect">
            <a:avLst/>
          </a:prstGeom>
        </p:spPr>
      </p:pic>
    </p:spTree>
    <p:extLst>
      <p:ext uri="{BB962C8B-B14F-4D97-AF65-F5344CB8AC3E}">
        <p14:creationId xmlns:p14="http://schemas.microsoft.com/office/powerpoint/2010/main" val="25585791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D8A6-5B4E-3BDB-16AF-1E6793BF7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D3413-FE56-AF4B-B2AE-831611575092}"/>
              </a:ext>
            </a:extLst>
          </p:cNvPr>
          <p:cNvSpPr>
            <a:spLocks noGrp="1"/>
          </p:cNvSpPr>
          <p:nvPr>
            <p:ph type="title" idx="4294967295"/>
          </p:nvPr>
        </p:nvSpPr>
        <p:spPr>
          <a:xfrm>
            <a:off x="-1" y="7765"/>
            <a:ext cx="12192000" cy="758194"/>
          </a:xfrm>
        </p:spPr>
        <p:txBody>
          <a:bodyPr>
            <a:normAutofit/>
          </a:bodyPr>
          <a:lstStyle/>
          <a:p>
            <a:r>
              <a:rPr lang="en-US" sz="4000"/>
              <a:t>Bridge V0 is removed</a:t>
            </a:r>
          </a:p>
        </p:txBody>
      </p:sp>
      <p:sp>
        <p:nvSpPr>
          <p:cNvPr id="15" name="Rectangle 14">
            <a:extLst>
              <a:ext uri="{FF2B5EF4-FFF2-40B4-BE49-F238E27FC236}">
                <a16:creationId xmlns:a16="http://schemas.microsoft.com/office/drawing/2014/main" id="{E632C902-D7F7-8A7C-6E6A-150EDC732E90}"/>
              </a:ext>
            </a:extLst>
          </p:cNvPr>
          <p:cNvSpPr/>
          <p:nvPr/>
        </p:nvSpPr>
        <p:spPr>
          <a:xfrm>
            <a:off x="1663785" y="2375515"/>
            <a:ext cx="1762626"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16" name="Rectangle 15">
            <a:extLst>
              <a:ext uri="{FF2B5EF4-FFF2-40B4-BE49-F238E27FC236}">
                <a16:creationId xmlns:a16="http://schemas.microsoft.com/office/drawing/2014/main" id="{B8E2F5E2-F19D-BC0C-E6C7-BC1C6F18267E}"/>
              </a:ext>
            </a:extLst>
          </p:cNvPr>
          <p:cNvSpPr/>
          <p:nvPr/>
        </p:nvSpPr>
        <p:spPr>
          <a:xfrm>
            <a:off x="10160307" y="1938948"/>
            <a:ext cx="735815" cy="247490"/>
          </a:xfrm>
          <a:prstGeom prst="rect">
            <a:avLst/>
          </a:prstGeom>
          <a:noFill/>
          <a:ln w="38100" cap="rnd">
            <a:solidFill>
              <a:srgbClr val="0070C0"/>
            </a:solidFill>
            <a:prstDash val="solid"/>
            <a:miter lim="400000"/>
            <a:tailEnd type="none"/>
          </a:ln>
          <a:effectLst/>
          <a:sp3d/>
          <a:extLst>
            <a:ext uri="{909E8E84-426E-40DD-AFC4-6F175D3DCCD1}">
              <a14:hiddenFill xmlns:a14="http://schemas.microsoft.com/office/drawing/2010/main">
                <a:solidFill>
                  <a:srgbClr val="FFFFFF">
                    <a:alpha val="69804"/>
                  </a:srgbClr>
                </a:solidFill>
              </a14:hiddenFill>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M1</a:t>
            </a:r>
          </a:p>
        </p:txBody>
      </p:sp>
      <p:sp>
        <p:nvSpPr>
          <p:cNvPr id="17" name="Rectangle 16">
            <a:extLst>
              <a:ext uri="{FF2B5EF4-FFF2-40B4-BE49-F238E27FC236}">
                <a16:creationId xmlns:a16="http://schemas.microsoft.com/office/drawing/2014/main" id="{21DB4733-7B05-E9B3-72D1-17B7266A4346}"/>
              </a:ext>
            </a:extLst>
          </p:cNvPr>
          <p:cNvSpPr/>
          <p:nvPr/>
        </p:nvSpPr>
        <p:spPr>
          <a:xfrm>
            <a:off x="10160307" y="2435251"/>
            <a:ext cx="735815" cy="247490"/>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M0</a:t>
            </a:r>
          </a:p>
        </p:txBody>
      </p:sp>
      <p:sp>
        <p:nvSpPr>
          <p:cNvPr id="18" name="Rectangle 17">
            <a:extLst>
              <a:ext uri="{FF2B5EF4-FFF2-40B4-BE49-F238E27FC236}">
                <a16:creationId xmlns:a16="http://schemas.microsoft.com/office/drawing/2014/main" id="{8EEDD954-9F63-9F3B-19BA-803F1B284281}"/>
              </a:ext>
            </a:extLst>
          </p:cNvPr>
          <p:cNvSpPr/>
          <p:nvPr/>
        </p:nvSpPr>
        <p:spPr>
          <a:xfrm>
            <a:off x="10160307" y="2931554"/>
            <a:ext cx="735815" cy="247490"/>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V0</a:t>
            </a:r>
          </a:p>
        </p:txBody>
      </p:sp>
      <p:sp>
        <p:nvSpPr>
          <p:cNvPr id="19" name="Rectangle 18">
            <a:extLst>
              <a:ext uri="{FF2B5EF4-FFF2-40B4-BE49-F238E27FC236}">
                <a16:creationId xmlns:a16="http://schemas.microsoft.com/office/drawing/2014/main" id="{708828F2-91E2-3B11-1AF8-55FA736F106A}"/>
              </a:ext>
            </a:extLst>
          </p:cNvPr>
          <p:cNvSpPr/>
          <p:nvPr/>
        </p:nvSpPr>
        <p:spPr>
          <a:xfrm>
            <a:off x="2185152" y="2375515"/>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4" name="Rectangle 23">
            <a:extLst>
              <a:ext uri="{FF2B5EF4-FFF2-40B4-BE49-F238E27FC236}">
                <a16:creationId xmlns:a16="http://schemas.microsoft.com/office/drawing/2014/main" id="{3C3E0A83-12CC-0FF2-6CB8-9476E0BC974B}"/>
              </a:ext>
            </a:extLst>
          </p:cNvPr>
          <p:cNvSpPr/>
          <p:nvPr/>
        </p:nvSpPr>
        <p:spPr>
          <a:xfrm>
            <a:off x="1663785" y="3179044"/>
            <a:ext cx="1762626"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5" name="Rectangle 24">
            <a:extLst>
              <a:ext uri="{FF2B5EF4-FFF2-40B4-BE49-F238E27FC236}">
                <a16:creationId xmlns:a16="http://schemas.microsoft.com/office/drawing/2014/main" id="{73C6BE03-F34C-F835-E055-DF9AA9661A92}"/>
              </a:ext>
            </a:extLst>
          </p:cNvPr>
          <p:cNvSpPr/>
          <p:nvPr/>
        </p:nvSpPr>
        <p:spPr>
          <a:xfrm>
            <a:off x="2185152" y="3179044"/>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27" name="Rectangle 26">
            <a:extLst>
              <a:ext uri="{FF2B5EF4-FFF2-40B4-BE49-F238E27FC236}">
                <a16:creationId xmlns:a16="http://schemas.microsoft.com/office/drawing/2014/main" id="{46BAD99F-5374-FD80-1194-EC9BAC799F43}"/>
              </a:ext>
            </a:extLst>
          </p:cNvPr>
          <p:cNvSpPr/>
          <p:nvPr/>
        </p:nvSpPr>
        <p:spPr>
          <a:xfrm>
            <a:off x="10160307" y="3422262"/>
            <a:ext cx="735815" cy="247490"/>
          </a:xfrm>
          <a:prstGeom prst="rect">
            <a:avLst/>
          </a:prstGeom>
          <a:solidFill>
            <a:srgbClr val="8F5DA2">
              <a:alpha val="50196"/>
            </a:srgbClr>
          </a:solidFill>
          <a:ln w="508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Bridge</a:t>
            </a:r>
          </a:p>
        </p:txBody>
      </p:sp>
      <p:sp>
        <p:nvSpPr>
          <p:cNvPr id="29" name="Rectangle 28">
            <a:extLst>
              <a:ext uri="{FF2B5EF4-FFF2-40B4-BE49-F238E27FC236}">
                <a16:creationId xmlns:a16="http://schemas.microsoft.com/office/drawing/2014/main" id="{FE8628F8-3399-ECC9-4E20-B08648C07D00}"/>
              </a:ext>
            </a:extLst>
          </p:cNvPr>
          <p:cNvSpPr/>
          <p:nvPr/>
        </p:nvSpPr>
        <p:spPr>
          <a:xfrm>
            <a:off x="4912703" y="2375515"/>
            <a:ext cx="1762626"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0" name="Rectangle 29">
            <a:extLst>
              <a:ext uri="{FF2B5EF4-FFF2-40B4-BE49-F238E27FC236}">
                <a16:creationId xmlns:a16="http://schemas.microsoft.com/office/drawing/2014/main" id="{D096AB5F-1E71-5B83-DD63-FF04AC2A8BFC}"/>
              </a:ext>
            </a:extLst>
          </p:cNvPr>
          <p:cNvSpPr/>
          <p:nvPr/>
        </p:nvSpPr>
        <p:spPr>
          <a:xfrm>
            <a:off x="5434070" y="2375515"/>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1" name="Rectangle 30">
            <a:extLst>
              <a:ext uri="{FF2B5EF4-FFF2-40B4-BE49-F238E27FC236}">
                <a16:creationId xmlns:a16="http://schemas.microsoft.com/office/drawing/2014/main" id="{802CB8D4-C348-BD66-856C-C335ED7998BB}"/>
              </a:ext>
            </a:extLst>
          </p:cNvPr>
          <p:cNvSpPr/>
          <p:nvPr/>
        </p:nvSpPr>
        <p:spPr>
          <a:xfrm>
            <a:off x="4912703" y="3179044"/>
            <a:ext cx="1762626"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2" name="Rectangle 31">
            <a:extLst>
              <a:ext uri="{FF2B5EF4-FFF2-40B4-BE49-F238E27FC236}">
                <a16:creationId xmlns:a16="http://schemas.microsoft.com/office/drawing/2014/main" id="{10EC93D5-0937-56AC-478F-57D0EFE67273}"/>
              </a:ext>
            </a:extLst>
          </p:cNvPr>
          <p:cNvSpPr/>
          <p:nvPr/>
        </p:nvSpPr>
        <p:spPr>
          <a:xfrm>
            <a:off x="5434070" y="3179044"/>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3" name="Rectangle 32">
            <a:extLst>
              <a:ext uri="{FF2B5EF4-FFF2-40B4-BE49-F238E27FC236}">
                <a16:creationId xmlns:a16="http://schemas.microsoft.com/office/drawing/2014/main" id="{E6EFEDBB-0660-B278-7DD9-8F4FE3F3A8B7}"/>
              </a:ext>
            </a:extLst>
          </p:cNvPr>
          <p:cNvSpPr/>
          <p:nvPr/>
        </p:nvSpPr>
        <p:spPr>
          <a:xfrm>
            <a:off x="5434070" y="2375515"/>
            <a:ext cx="519364" cy="1170492"/>
          </a:xfrm>
          <a:prstGeom prst="rect">
            <a:avLst/>
          </a:prstGeom>
          <a:solidFill>
            <a:srgbClr val="8F5DA2">
              <a:alpha val="50196"/>
            </a:srgbClr>
          </a:solidFill>
          <a:ln w="508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algn="ctr">
              <a:spcBef>
                <a:spcPct val="0"/>
              </a:spcBef>
              <a:spcAft>
                <a:spcPct val="0"/>
              </a:spcAft>
            </a:pPr>
            <a:endParaRPr lang="en-US" sz="1200" kern="0">
              <a:solidFill>
                <a:srgbClr val="000000"/>
              </a:solidFill>
              <a:latin typeface="Intel Clear"/>
            </a:endParaRPr>
          </a:p>
        </p:txBody>
      </p:sp>
      <p:sp>
        <p:nvSpPr>
          <p:cNvPr id="34" name="Arrow: Right 33">
            <a:extLst>
              <a:ext uri="{FF2B5EF4-FFF2-40B4-BE49-F238E27FC236}">
                <a16:creationId xmlns:a16="http://schemas.microsoft.com/office/drawing/2014/main" id="{E8C28ABC-6104-3149-6F8E-B89EB0897C14}"/>
              </a:ext>
            </a:extLst>
          </p:cNvPr>
          <p:cNvSpPr/>
          <p:nvPr/>
        </p:nvSpPr>
        <p:spPr>
          <a:xfrm>
            <a:off x="3675888" y="2742478"/>
            <a:ext cx="633951" cy="3669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DACAAF7-0514-F898-EDBD-F4931B6AC3B0}"/>
              </a:ext>
            </a:extLst>
          </p:cNvPr>
          <p:cNvSpPr txBox="1"/>
          <p:nvPr/>
        </p:nvSpPr>
        <p:spPr>
          <a:xfrm>
            <a:off x="2779776" y="4809744"/>
            <a:ext cx="2788920" cy="369332"/>
          </a:xfrm>
          <a:prstGeom prst="rect">
            <a:avLst/>
          </a:prstGeom>
          <a:noFill/>
        </p:spPr>
        <p:txBody>
          <a:bodyPr wrap="square" rtlCol="0">
            <a:spAutoFit/>
          </a:bodyPr>
          <a:lstStyle/>
          <a:p>
            <a:r>
              <a:rPr lang="en-US"/>
              <a:t>NOT ALLOWED IN P1281</a:t>
            </a:r>
          </a:p>
        </p:txBody>
      </p:sp>
    </p:spTree>
    <p:extLst>
      <p:ext uri="{BB962C8B-B14F-4D97-AF65-F5344CB8AC3E}">
        <p14:creationId xmlns:p14="http://schemas.microsoft.com/office/powerpoint/2010/main" val="1331760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930A-35B1-778E-61EC-DF71FB795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C446C-488A-D909-9434-0AC53AF4796D}"/>
              </a:ext>
            </a:extLst>
          </p:cNvPr>
          <p:cNvSpPr>
            <a:spLocks noGrp="1"/>
          </p:cNvSpPr>
          <p:nvPr>
            <p:ph type="title" idx="4294967295"/>
          </p:nvPr>
        </p:nvSpPr>
        <p:spPr>
          <a:xfrm>
            <a:off x="-1" y="7765"/>
            <a:ext cx="12192000" cy="758194"/>
          </a:xfrm>
        </p:spPr>
        <p:txBody>
          <a:bodyPr>
            <a:normAutofit/>
          </a:bodyPr>
          <a:lstStyle/>
          <a:p>
            <a:r>
              <a:rPr lang="en-US" sz="4000"/>
              <a:t>Tight Corner-to-Corner is allowed for PPA for V2+</a:t>
            </a:r>
          </a:p>
        </p:txBody>
      </p:sp>
      <p:sp>
        <p:nvSpPr>
          <p:cNvPr id="16" name="Rectangle 15">
            <a:extLst>
              <a:ext uri="{FF2B5EF4-FFF2-40B4-BE49-F238E27FC236}">
                <a16:creationId xmlns:a16="http://schemas.microsoft.com/office/drawing/2014/main" id="{D6FEA1C5-C692-12D8-6253-DF764007209B}"/>
              </a:ext>
            </a:extLst>
          </p:cNvPr>
          <p:cNvSpPr/>
          <p:nvPr/>
        </p:nvSpPr>
        <p:spPr>
          <a:xfrm>
            <a:off x="10160307" y="1938948"/>
            <a:ext cx="735815" cy="247490"/>
          </a:xfrm>
          <a:prstGeom prst="rect">
            <a:avLst/>
          </a:prstGeom>
          <a:noFill/>
          <a:ln w="38100" cap="rnd">
            <a:solidFill>
              <a:srgbClr val="0070C0"/>
            </a:solidFill>
            <a:prstDash val="solid"/>
            <a:miter lim="400000"/>
            <a:tailEnd type="none"/>
          </a:ln>
          <a:effectLst/>
          <a:sp3d/>
          <a:extLst>
            <a:ext uri="{909E8E84-426E-40DD-AFC4-6F175D3DCCD1}">
              <a14:hiddenFill xmlns:a14="http://schemas.microsoft.com/office/drawing/2010/main">
                <a:solidFill>
                  <a:srgbClr val="FFFFFF">
                    <a:alpha val="69804"/>
                  </a:srgbClr>
                </a:solidFill>
              </a14:hiddenFill>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M1</a:t>
            </a:r>
          </a:p>
        </p:txBody>
      </p:sp>
      <p:sp>
        <p:nvSpPr>
          <p:cNvPr id="17" name="Rectangle 16">
            <a:extLst>
              <a:ext uri="{FF2B5EF4-FFF2-40B4-BE49-F238E27FC236}">
                <a16:creationId xmlns:a16="http://schemas.microsoft.com/office/drawing/2014/main" id="{9D0039DB-2F49-7006-497A-CB0B17A49FA8}"/>
              </a:ext>
            </a:extLst>
          </p:cNvPr>
          <p:cNvSpPr/>
          <p:nvPr/>
        </p:nvSpPr>
        <p:spPr>
          <a:xfrm>
            <a:off x="10160307" y="2435251"/>
            <a:ext cx="735815" cy="247490"/>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M0</a:t>
            </a:r>
          </a:p>
        </p:txBody>
      </p:sp>
      <p:sp>
        <p:nvSpPr>
          <p:cNvPr id="18" name="Rectangle 17">
            <a:extLst>
              <a:ext uri="{FF2B5EF4-FFF2-40B4-BE49-F238E27FC236}">
                <a16:creationId xmlns:a16="http://schemas.microsoft.com/office/drawing/2014/main" id="{F0845B67-1407-357A-FF27-86D0894A4509}"/>
              </a:ext>
            </a:extLst>
          </p:cNvPr>
          <p:cNvSpPr/>
          <p:nvPr/>
        </p:nvSpPr>
        <p:spPr>
          <a:xfrm>
            <a:off x="10160307" y="2931554"/>
            <a:ext cx="735815" cy="247490"/>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Via</a:t>
            </a:r>
          </a:p>
        </p:txBody>
      </p:sp>
      <p:sp>
        <p:nvSpPr>
          <p:cNvPr id="27" name="Rectangle 26">
            <a:extLst>
              <a:ext uri="{FF2B5EF4-FFF2-40B4-BE49-F238E27FC236}">
                <a16:creationId xmlns:a16="http://schemas.microsoft.com/office/drawing/2014/main" id="{DE772AE8-FAC2-BCFC-431D-71896CD2BF42}"/>
              </a:ext>
            </a:extLst>
          </p:cNvPr>
          <p:cNvSpPr/>
          <p:nvPr/>
        </p:nvSpPr>
        <p:spPr>
          <a:xfrm>
            <a:off x="10160307" y="3422262"/>
            <a:ext cx="735815" cy="247490"/>
          </a:xfrm>
          <a:prstGeom prst="rect">
            <a:avLst/>
          </a:prstGeom>
          <a:solidFill>
            <a:srgbClr val="8F5DA2">
              <a:alpha val="50196"/>
            </a:srgbClr>
          </a:solidFill>
          <a:ln w="50800" cap="rnd" cmpd="sng" algn="ctr">
            <a:solidFill>
              <a:srgbClr val="8F5DA2"/>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00000"/>
                </a:solidFill>
                <a:effectLst/>
                <a:uLnTx/>
                <a:uFillTx/>
                <a:latin typeface="Intel Clear"/>
              </a:rPr>
              <a:t>Bridge</a:t>
            </a:r>
          </a:p>
        </p:txBody>
      </p:sp>
      <p:sp>
        <p:nvSpPr>
          <p:cNvPr id="29" name="Rectangle 28">
            <a:extLst>
              <a:ext uri="{FF2B5EF4-FFF2-40B4-BE49-F238E27FC236}">
                <a16:creationId xmlns:a16="http://schemas.microsoft.com/office/drawing/2014/main" id="{ACD2343E-927C-8C84-40B5-CF1629F5473A}"/>
              </a:ext>
            </a:extLst>
          </p:cNvPr>
          <p:cNvSpPr/>
          <p:nvPr/>
        </p:nvSpPr>
        <p:spPr>
          <a:xfrm>
            <a:off x="1172806" y="2375515"/>
            <a:ext cx="3115729"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0" name="Rectangle 29">
            <a:extLst>
              <a:ext uri="{FF2B5EF4-FFF2-40B4-BE49-F238E27FC236}">
                <a16:creationId xmlns:a16="http://schemas.microsoft.com/office/drawing/2014/main" id="{539D97A2-4C2F-7CE8-3DAB-719A4540101C}"/>
              </a:ext>
            </a:extLst>
          </p:cNvPr>
          <p:cNvSpPr/>
          <p:nvPr/>
        </p:nvSpPr>
        <p:spPr>
          <a:xfrm>
            <a:off x="2835826" y="2375515"/>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1" name="Rectangle 30">
            <a:extLst>
              <a:ext uri="{FF2B5EF4-FFF2-40B4-BE49-F238E27FC236}">
                <a16:creationId xmlns:a16="http://schemas.microsoft.com/office/drawing/2014/main" id="{017C41DF-B926-C45E-16F7-E366A1D5075B}"/>
              </a:ext>
            </a:extLst>
          </p:cNvPr>
          <p:cNvSpPr/>
          <p:nvPr/>
        </p:nvSpPr>
        <p:spPr>
          <a:xfrm>
            <a:off x="1172806" y="3179044"/>
            <a:ext cx="3326041" cy="366963"/>
          </a:xfrm>
          <a:prstGeom prst="rect">
            <a:avLst/>
          </a:prstGeom>
          <a:solidFill>
            <a:srgbClr val="F6CB4B">
              <a:lumMod val="100000"/>
            </a:srgbClr>
          </a:solidFill>
          <a:ln w="38100" cap="rnd" cmpd="sng" algn="ctr">
            <a:solidFill>
              <a:srgbClr val="F6CB4B">
                <a:lumMod val="100000"/>
              </a:srgbClr>
            </a:solidFill>
            <a:prstDash val="solid"/>
            <a:miter lim="400000"/>
            <a:headEnd type="none" w="med" len="med"/>
            <a:tailEnd type="none" w="med" len="med"/>
          </a:ln>
          <a:effectLst/>
          <a:sp3d/>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sp>
        <p:nvSpPr>
          <p:cNvPr id="32" name="Rectangle 31">
            <a:extLst>
              <a:ext uri="{FF2B5EF4-FFF2-40B4-BE49-F238E27FC236}">
                <a16:creationId xmlns:a16="http://schemas.microsoft.com/office/drawing/2014/main" id="{79765321-35C0-0A9A-E0AF-E9D2AE64DF28}"/>
              </a:ext>
            </a:extLst>
          </p:cNvPr>
          <p:cNvSpPr/>
          <p:nvPr/>
        </p:nvSpPr>
        <p:spPr>
          <a:xfrm>
            <a:off x="1694174" y="3179044"/>
            <a:ext cx="519364" cy="366963"/>
          </a:xfrm>
          <a:prstGeom prst="rect">
            <a:avLst/>
          </a:prstGeom>
          <a:pattFill prst="pct90">
            <a:fgClr>
              <a:srgbClr val="FF0000"/>
            </a:fgClr>
            <a:bgClr>
              <a:srgbClr val="FFFFFF"/>
            </a:bgClr>
          </a:pattFill>
          <a:ln w="38100" cap="rnd" cmpd="sng" algn="ctr">
            <a:noFill/>
            <a:prstDash val="solid"/>
            <a:miter lim="400000"/>
            <a:headEnd type="none" w="med" len="med"/>
            <a:tailEnd type="none" w="med" len="med"/>
          </a:ln>
          <a:effectLst/>
          <a:sp3d/>
          <a:extLst>
            <a:ext uri="{91240B29-F687-4F45-9708-019B960494DF}">
              <a14:hiddenLine xmlns:a14="http://schemas.microsoft.com/office/drawing/2010/main" w="38100" cap="rnd" cmpd="sng" algn="ctr">
                <a:solidFill>
                  <a:srgbClr val="FFFFFF"/>
                </a:solidFill>
                <a:prstDash val="solid"/>
                <a:miter lim="400000"/>
                <a:headEnd type="none" w="med" len="med"/>
                <a:tailEnd type="none" w="med" len="med"/>
              </a14:hiddenLine>
            </a:ext>
          </a:extLst>
        </p:spPr>
        <p:txBody>
          <a:bodyPr rot="0" spcFirstLastPara="0" vertOverflow="overflow" horzOverflow="overflow" vert="horz" wrap="none" lIns="0" tIns="48009" rIns="0" bIns="48009"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Intel Clear"/>
            </a:endParaRPr>
          </a:p>
        </p:txBody>
      </p:sp>
      <p:cxnSp>
        <p:nvCxnSpPr>
          <p:cNvPr id="4" name="Straight Arrow Connector 3">
            <a:extLst>
              <a:ext uri="{FF2B5EF4-FFF2-40B4-BE49-F238E27FC236}">
                <a16:creationId xmlns:a16="http://schemas.microsoft.com/office/drawing/2014/main" id="{01CD5D23-01CD-9015-4861-3DE5C3BA5DC7}"/>
              </a:ext>
            </a:extLst>
          </p:cNvPr>
          <p:cNvCxnSpPr/>
          <p:nvPr/>
        </p:nvCxnSpPr>
        <p:spPr>
          <a:xfrm flipV="1">
            <a:off x="2213538" y="2834640"/>
            <a:ext cx="622288" cy="344404"/>
          </a:xfrm>
          <a:prstGeom prst="straightConnector1">
            <a:avLst/>
          </a:prstGeom>
          <a:ln>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5" name="Speech Bubble: Rectangle with Corners Rounded 4">
            <a:extLst>
              <a:ext uri="{FF2B5EF4-FFF2-40B4-BE49-F238E27FC236}">
                <a16:creationId xmlns:a16="http://schemas.microsoft.com/office/drawing/2014/main" id="{BE1E044A-C785-3751-3216-B7CBE0F931ED}"/>
              </a:ext>
            </a:extLst>
          </p:cNvPr>
          <p:cNvSpPr/>
          <p:nvPr/>
        </p:nvSpPr>
        <p:spPr>
          <a:xfrm>
            <a:off x="4498847" y="4654296"/>
            <a:ext cx="1597153" cy="758194"/>
          </a:xfrm>
          <a:prstGeom prst="wedgeRoundRectCallout">
            <a:avLst>
              <a:gd name="adj1" fmla="val -171405"/>
              <a:gd name="adj2" fmla="val -25950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Tight C2C is allowed</a:t>
            </a:r>
          </a:p>
        </p:txBody>
      </p:sp>
    </p:spTree>
    <p:extLst>
      <p:ext uri="{BB962C8B-B14F-4D97-AF65-F5344CB8AC3E}">
        <p14:creationId xmlns:p14="http://schemas.microsoft.com/office/powerpoint/2010/main" val="1415699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0301-2873-907F-FAD2-EFBB9F869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FC7A7-0FB9-1C2E-72A4-1F37C6CDC667}"/>
              </a:ext>
            </a:extLst>
          </p:cNvPr>
          <p:cNvSpPr>
            <a:spLocks noGrp="1"/>
          </p:cNvSpPr>
          <p:nvPr>
            <p:ph type="title" idx="4294967295"/>
          </p:nvPr>
        </p:nvSpPr>
        <p:spPr>
          <a:xfrm>
            <a:off x="-1" y="-3482"/>
            <a:ext cx="10515600" cy="905377"/>
          </a:xfrm>
        </p:spPr>
        <p:txBody>
          <a:bodyPr/>
          <a:lstStyle/>
          <a:p>
            <a:r>
              <a:rPr lang="en-US"/>
              <a:t>TBD</a:t>
            </a:r>
          </a:p>
        </p:txBody>
      </p:sp>
    </p:spTree>
    <p:extLst>
      <p:ext uri="{BB962C8B-B14F-4D97-AF65-F5344CB8AC3E}">
        <p14:creationId xmlns:p14="http://schemas.microsoft.com/office/powerpoint/2010/main" val="16044212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DCAA3-6ABB-99FE-EE1E-E77F9F774DD8}"/>
              </a:ext>
            </a:extLst>
          </p:cNvPr>
          <p:cNvSpPr>
            <a:spLocks noGrp="1"/>
          </p:cNvSpPr>
          <p:nvPr>
            <p:ph type="title" idx="4294967295"/>
          </p:nvPr>
        </p:nvSpPr>
        <p:spPr>
          <a:xfrm>
            <a:off x="0" y="-19464"/>
            <a:ext cx="10515600" cy="823070"/>
          </a:xfrm>
        </p:spPr>
        <p:txBody>
          <a:bodyPr>
            <a:normAutofit/>
          </a:bodyPr>
          <a:lstStyle/>
          <a:p>
            <a:r>
              <a:rPr lang="en-US" sz="3200"/>
              <a:t>Vt, Vg</a:t>
            </a:r>
          </a:p>
        </p:txBody>
      </p:sp>
      <p:graphicFrame>
        <p:nvGraphicFramePr>
          <p:cNvPr id="3" name="Table 4">
            <a:extLst>
              <a:ext uri="{FF2B5EF4-FFF2-40B4-BE49-F238E27FC236}">
                <a16:creationId xmlns:a16="http://schemas.microsoft.com/office/drawing/2014/main" id="{50B7719A-9346-46F5-D21B-DE6A92E03D4D}"/>
              </a:ext>
            </a:extLst>
          </p:cNvPr>
          <p:cNvGraphicFramePr>
            <a:graphicFrameLocks noGrp="1"/>
          </p:cNvGraphicFramePr>
          <p:nvPr>
            <p:extLst>
              <p:ext uri="{D42A27DB-BD31-4B8C-83A1-F6EECF244321}">
                <p14:modId xmlns:p14="http://schemas.microsoft.com/office/powerpoint/2010/main" val="2331144113"/>
              </p:ext>
            </p:extLst>
          </p:nvPr>
        </p:nvGraphicFramePr>
        <p:xfrm>
          <a:off x="0" y="680619"/>
          <a:ext cx="12192000" cy="5165689"/>
        </p:xfrm>
        <a:graphic>
          <a:graphicData uri="http://schemas.openxmlformats.org/drawingml/2006/table">
            <a:tbl>
              <a:tblPr>
                <a:tableStyleId>{5C22544A-7EE6-4342-B048-85BDC9FD1C3A}</a:tableStyleId>
              </a:tblPr>
              <a:tblGrid>
                <a:gridCol w="1290024">
                  <a:extLst>
                    <a:ext uri="{9D8B030D-6E8A-4147-A177-3AD203B41FA5}">
                      <a16:colId xmlns:a16="http://schemas.microsoft.com/office/drawing/2014/main" val="3024362788"/>
                    </a:ext>
                  </a:extLst>
                </a:gridCol>
                <a:gridCol w="2706523">
                  <a:extLst>
                    <a:ext uri="{9D8B030D-6E8A-4147-A177-3AD203B41FA5}">
                      <a16:colId xmlns:a16="http://schemas.microsoft.com/office/drawing/2014/main" val="1531897676"/>
                    </a:ext>
                  </a:extLst>
                </a:gridCol>
                <a:gridCol w="4350675">
                  <a:extLst>
                    <a:ext uri="{9D8B030D-6E8A-4147-A177-3AD203B41FA5}">
                      <a16:colId xmlns:a16="http://schemas.microsoft.com/office/drawing/2014/main" val="779893350"/>
                    </a:ext>
                  </a:extLst>
                </a:gridCol>
                <a:gridCol w="3844778">
                  <a:extLst>
                    <a:ext uri="{9D8B030D-6E8A-4147-A177-3AD203B41FA5}">
                      <a16:colId xmlns:a16="http://schemas.microsoft.com/office/drawing/2014/main" val="3822935139"/>
                    </a:ext>
                  </a:extLst>
                </a:gridCol>
              </a:tblGrid>
              <a:tr h="597846">
                <a:tc>
                  <a:txBody>
                    <a:bodyPr/>
                    <a:lstStyle/>
                    <a:p>
                      <a:pPr algn="ctr"/>
                      <a:r>
                        <a:rPr lang="en-US" sz="1300" b="0">
                          <a:solidFill>
                            <a:schemeClr val="dk1"/>
                          </a:solidFill>
                          <a:latin typeface="Calibri" panose="020F0502020204030204" pitchFamily="34" charset="0"/>
                        </a:rPr>
                        <a:t>Layer</a:t>
                      </a:r>
                    </a:p>
                  </a:txBody>
                  <a:tcPr marL="0" marR="0" marT="0" marB="0" vert="vert27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ED7D31"/>
                    </a:solidFill>
                  </a:tcPr>
                </a:tc>
                <a:tc>
                  <a:txBody>
                    <a:bodyPr/>
                    <a:lstStyle/>
                    <a:p>
                      <a:pPr algn="ctr"/>
                      <a:r>
                        <a:rPr lang="en-US" sz="1300" b="0">
                          <a:solidFill>
                            <a:schemeClr val="dk1"/>
                          </a:solidFill>
                          <a:latin typeface="Calibri" panose="020F0502020204030204" pitchFamily="34" charset="0"/>
                        </a:rPr>
                        <a:t>Feature</a:t>
                      </a:r>
                    </a:p>
                  </a:txBody>
                  <a:tcPr marL="0" marR="0" marT="0" marB="0" vert="vert27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ED7D31"/>
                    </a:solidFill>
                  </a:tcPr>
                </a:tc>
                <a:tc>
                  <a:txBody>
                    <a:bodyPr/>
                    <a:lstStyle/>
                    <a:p>
                      <a:pPr algn="ctr"/>
                      <a:r>
                        <a:rPr lang="en-US" sz="1300" b="0">
                          <a:solidFill>
                            <a:schemeClr val="dk1"/>
                          </a:solidFill>
                          <a:latin typeface="Calibri" panose="020F0502020204030204" pitchFamily="34" charset="0"/>
                        </a:rPr>
                        <a:t>P1280 Reference</a:t>
                      </a:r>
                    </a:p>
                  </a:txBody>
                  <a:tcPr marL="0" marR="0" marT="0" marB="0" vert="vert27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8EA9DB"/>
                    </a:solidFill>
                  </a:tcPr>
                </a:tc>
                <a:tc>
                  <a:txBody>
                    <a:bodyPr/>
                    <a:lstStyle/>
                    <a:p>
                      <a:pPr algn="ctr"/>
                      <a:r>
                        <a:rPr lang="en-US" sz="1300" b="0">
                          <a:solidFill>
                            <a:schemeClr val="dk1"/>
                          </a:solidFill>
                          <a:latin typeface="Calibri" panose="020F0502020204030204" pitchFamily="34" charset="0"/>
                        </a:rPr>
                        <a:t>Working Assumption</a:t>
                      </a:r>
                    </a:p>
                  </a:txBody>
                  <a:tcPr marL="0" marR="0" marT="0" marB="0" vert="vert27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ED7D31"/>
                    </a:solidFill>
                  </a:tcPr>
                </a:tc>
                <a:extLst>
                  <a:ext uri="{0D108BD9-81ED-4DB2-BD59-A6C34878D82A}">
                    <a16:rowId xmlns:a16="http://schemas.microsoft.com/office/drawing/2014/main" val="3525637716"/>
                  </a:ext>
                </a:extLst>
              </a:tr>
              <a:tr h="193964">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Metal Transition</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48-27</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44-21</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2339629325"/>
                  </a:ext>
                </a:extLst>
              </a:tr>
              <a:tr h="193964">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Sizes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6 sizes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4-5 sizes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3467110862"/>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PGD Space</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&gt;=40nm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kern="1200">
                          <a:solidFill>
                            <a:schemeClr val="dk1"/>
                          </a:solidFill>
                          <a:latin typeface="Calibri" panose="020F0502020204030204" pitchFamily="34" charset="0"/>
                          <a:ea typeface="+mn-ea"/>
                          <a:cs typeface="+mn-cs"/>
                        </a:rPr>
                        <a:t>&gt;=30nm if PGD width &lt;=15</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kern="1200">
                          <a:solidFill>
                            <a:schemeClr val="dk1"/>
                          </a:solidFill>
                          <a:latin typeface="Calibri" panose="020F0502020204030204" pitchFamily="34" charset="0"/>
                          <a:ea typeface="+mn-ea"/>
                          <a:cs typeface="+mn-cs"/>
                        </a:rPr>
                        <a:t>&gt;=35nm if PGD width &gt;15</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1738903863"/>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OGD Space</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da-DK" sz="1300">
                          <a:latin typeface="Calibri" panose="020F0502020204030204" pitchFamily="34" charset="0"/>
                        </a:rPr>
                        <a:t>&gt;=82nm</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da-DK" sz="1300" b="1">
                          <a:latin typeface="Calibri" panose="020F0502020204030204" pitchFamily="34" charset="0"/>
                        </a:rPr>
                        <a:t>Exception: </a:t>
                      </a:r>
                      <a:r>
                        <a:rPr lang="da-DK" sz="1300">
                          <a:latin typeface="Calibri" panose="020F0502020204030204" pitchFamily="34" charset="0"/>
                        </a:rPr>
                        <a:t>&gt;=34 for via &lt;=20nm</a:t>
                      </a:r>
                      <a:endParaRPr lang="en-US" sz="1300">
                        <a:latin typeface="Calibri" panose="020F0502020204030204" pitchFamily="34" charset="0"/>
                      </a:endParaRP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&gt;=76nm </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b="1">
                          <a:latin typeface="Calibri" panose="020F0502020204030204" pitchFamily="34" charset="0"/>
                        </a:rPr>
                        <a:t>Exception: </a:t>
                      </a:r>
                      <a:r>
                        <a:rPr lang="en-US" sz="1300">
                          <a:latin typeface="Calibri" panose="020F0502020204030204" pitchFamily="34" charset="0"/>
                        </a:rPr>
                        <a:t>&gt;=32 for full-facing</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2559334320"/>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C2C Space</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&gt;=35.5nm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lvl="0" indent="-171450" algn="l" defTabSz="60960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300">
                          <a:latin typeface="Calibri" panose="020F0502020204030204" pitchFamily="34" charset="0"/>
                        </a:rPr>
                        <a:t>&gt;=38 (general rule)</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&gt;=33.2  if PGD width &lt;=15 + some select use-cases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1019564987"/>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Consecutive via rules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OGD: &lt;=6 (adjacent </a:t>
                      </a:r>
                      <a:r>
                        <a:rPr lang="en-US" sz="1300" err="1">
                          <a:latin typeface="Calibri" panose="020F0502020204030204" pitchFamily="34" charset="0"/>
                        </a:rPr>
                        <a:t>vt</a:t>
                      </a:r>
                      <a:r>
                        <a:rPr lang="en-US" sz="1300">
                          <a:latin typeface="Calibri" panose="020F0502020204030204" pitchFamily="34" charset="0"/>
                        </a:rPr>
                        <a:t>)</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b="1">
                          <a:latin typeface="Calibri" panose="020F0502020204030204" pitchFamily="34" charset="0"/>
                        </a:rPr>
                        <a:t>Exception:</a:t>
                      </a:r>
                      <a:r>
                        <a:rPr lang="en-US" sz="1300">
                          <a:latin typeface="Calibri" panose="020F0502020204030204" pitchFamily="34" charset="0"/>
                        </a:rPr>
                        <a:t>  &lt;=130 memory or custom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OGD: &lt;=4 (adjacent vt) </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3020609181"/>
                  </a:ext>
                </a:extLst>
              </a:tr>
              <a:tr h="193964">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Enclosure (tcn)</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&gt;=0 (must be inside)</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&gt;=0.5nm with more details per via type</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74580372"/>
                  </a:ext>
                </a:extLst>
              </a:tr>
              <a:tr h="415636">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Enclosure (Mx+1)</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General: &gt;=17nm </a:t>
                      </a:r>
                      <a:br>
                        <a:rPr lang="en-US" sz="1300">
                          <a:latin typeface="Calibri" panose="020F0502020204030204" pitchFamily="34" charset="0"/>
                        </a:rPr>
                      </a:br>
                      <a:r>
                        <a:rPr lang="en-US" sz="1300" err="1">
                          <a:latin typeface="Calibri" panose="020F0502020204030204" pitchFamily="34" charset="0"/>
                        </a:rPr>
                        <a:t>MinpitchID</a:t>
                      </a:r>
                      <a:r>
                        <a:rPr lang="en-US" sz="1300">
                          <a:latin typeface="Calibri" panose="020F0502020204030204" pitchFamily="34" charset="0"/>
                        </a:rPr>
                        <a:t> &gt;=8nm (if &lt; 20nm)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&gt;=5nm, &gt;=7nm, &gt;=16nm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515756637"/>
                  </a:ext>
                </a:extLst>
              </a:tr>
              <a:tr h="581891">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{TRM} handling</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PGD space: &gt;=54nm</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PGD space to another vt: &gt;=47nm</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PGD space to mergedm0_vt: &gt;=20nm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ALLOWED with no restrictions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1447195584"/>
                  </a:ext>
                </a:extLst>
              </a:tr>
              <a:tr h="581891">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Large VT handling</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NA</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Keepout zone: 18/38 (PGD/OGD)</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PGD space: &gt;=35nm</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C2C space: &gt;=38nm</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2964277555"/>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Centering with Mx and Mx+1</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YES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highlight>
                            <a:srgbClr val="00FF00"/>
                          </a:highlight>
                          <a:latin typeface="Calibri" panose="020F0502020204030204" pitchFamily="34" charset="0"/>
                        </a:rPr>
                        <a:t>edge aligned (away from CRL/DKA) or center aligned</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3755041477"/>
                  </a:ext>
                </a:extLst>
              </a:tr>
              <a:tr h="387927">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algn="l"/>
                      <a:r>
                        <a:rPr lang="en-US" sz="1300">
                          <a:latin typeface="Calibri" panose="020F0502020204030204" pitchFamily="34" charset="0"/>
                        </a:rPr>
                        <a:t>vt</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YES</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300">
                          <a:latin typeface="Calibri" panose="020F0502020204030204" pitchFamily="34" charset="0"/>
                        </a:rPr>
                        <a:t>Consecutive two Vias space: &gt;=33nm in PGD (allows adjacent track for 132h and 165h)</a:t>
                      </a:r>
                    </a:p>
                  </a:txBody>
                  <a:tcPr marL="0" marR="0" marT="0" marB="0" anchor="ctr">
                    <a:lnL w="6350" cmpd="sng">
                      <a:solidFill>
                        <a:srgbClr val="BFBFBF"/>
                      </a:solidFill>
                    </a:lnL>
                    <a:lnR w="6350" cmpd="sng">
                      <a:solidFill>
                        <a:srgbClr val="BFBFBF"/>
                      </a:solidFill>
                    </a:lnR>
                    <a:lnT w="6350" cmpd="sng">
                      <a:solidFill>
                        <a:srgbClr val="BFBFBF"/>
                      </a:solidFill>
                    </a:lnT>
                    <a:lnB w="6350" cmpd="sng">
                      <a:solidFill>
                        <a:srgbClr val="BFBFBF"/>
                      </a:solidFill>
                    </a:lnB>
                    <a:solidFill>
                      <a:srgbClr val="FFFFFF"/>
                    </a:solidFill>
                  </a:tcPr>
                </a:tc>
                <a:extLst>
                  <a:ext uri="{0D108BD9-81ED-4DB2-BD59-A6C34878D82A}">
                    <a16:rowId xmlns:a16="http://schemas.microsoft.com/office/drawing/2014/main" val="1022503835"/>
                  </a:ext>
                </a:extLst>
              </a:tr>
            </a:tbl>
          </a:graphicData>
        </a:graphic>
      </p:graphicFrame>
    </p:spTree>
    <p:extLst>
      <p:ext uri="{BB962C8B-B14F-4D97-AF65-F5344CB8AC3E}">
        <p14:creationId xmlns:p14="http://schemas.microsoft.com/office/powerpoint/2010/main" val="3298033898"/>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1D93-0F7C-4F76-4DB0-5B0011C007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25B21-218E-3A62-2263-F59DBA1F4C7D}"/>
              </a:ext>
            </a:extLst>
          </p:cNvPr>
          <p:cNvSpPr>
            <a:spLocks noGrp="1"/>
          </p:cNvSpPr>
          <p:nvPr>
            <p:ph type="title" idx="4294967295"/>
          </p:nvPr>
        </p:nvSpPr>
        <p:spPr>
          <a:xfrm>
            <a:off x="0" y="-19464"/>
            <a:ext cx="10515600" cy="823070"/>
          </a:xfrm>
        </p:spPr>
        <p:txBody>
          <a:bodyPr>
            <a:normAutofit/>
          </a:bodyPr>
          <a:lstStyle/>
          <a:p>
            <a:r>
              <a:rPr lang="en-US" sz="3200"/>
              <a:t>Vt, Vg</a:t>
            </a:r>
          </a:p>
        </p:txBody>
      </p:sp>
      <p:graphicFrame>
        <p:nvGraphicFramePr>
          <p:cNvPr id="4" name="Table 3">
            <a:extLst>
              <a:ext uri="{FF2B5EF4-FFF2-40B4-BE49-F238E27FC236}">
                <a16:creationId xmlns:a16="http://schemas.microsoft.com/office/drawing/2014/main" id="{5204F92B-4D20-8B65-E8FD-4B156DD4551C}"/>
              </a:ext>
            </a:extLst>
          </p:cNvPr>
          <p:cNvGraphicFramePr>
            <a:graphicFrameLocks noGrp="1"/>
          </p:cNvGraphicFramePr>
          <p:nvPr>
            <p:extLst>
              <p:ext uri="{D42A27DB-BD31-4B8C-83A1-F6EECF244321}">
                <p14:modId xmlns:p14="http://schemas.microsoft.com/office/powerpoint/2010/main" val="3495201782"/>
              </p:ext>
            </p:extLst>
          </p:nvPr>
        </p:nvGraphicFramePr>
        <p:xfrm>
          <a:off x="0" y="624749"/>
          <a:ext cx="12192000" cy="4597588"/>
        </p:xfrm>
        <a:graphic>
          <a:graphicData uri="http://schemas.openxmlformats.org/drawingml/2006/table">
            <a:tbl>
              <a:tblPr/>
              <a:tblGrid>
                <a:gridCol w="1290025">
                  <a:extLst>
                    <a:ext uri="{9D8B030D-6E8A-4147-A177-3AD203B41FA5}">
                      <a16:colId xmlns:a16="http://schemas.microsoft.com/office/drawing/2014/main" val="2035151614"/>
                    </a:ext>
                  </a:extLst>
                </a:gridCol>
                <a:gridCol w="2706523">
                  <a:extLst>
                    <a:ext uri="{9D8B030D-6E8A-4147-A177-3AD203B41FA5}">
                      <a16:colId xmlns:a16="http://schemas.microsoft.com/office/drawing/2014/main" val="2346600938"/>
                    </a:ext>
                  </a:extLst>
                </a:gridCol>
                <a:gridCol w="4350673">
                  <a:extLst>
                    <a:ext uri="{9D8B030D-6E8A-4147-A177-3AD203B41FA5}">
                      <a16:colId xmlns:a16="http://schemas.microsoft.com/office/drawing/2014/main" val="421770559"/>
                    </a:ext>
                  </a:extLst>
                </a:gridCol>
                <a:gridCol w="3844779">
                  <a:extLst>
                    <a:ext uri="{9D8B030D-6E8A-4147-A177-3AD203B41FA5}">
                      <a16:colId xmlns:a16="http://schemas.microsoft.com/office/drawing/2014/main" val="1701815181"/>
                    </a:ext>
                  </a:extLst>
                </a:gridCol>
              </a:tblGrid>
              <a:tr h="756056">
                <a:tc>
                  <a:txBody>
                    <a:bodyPr/>
                    <a:lstStyle/>
                    <a:p>
                      <a:pPr algn="ctr" fontAlgn="ctr">
                        <a:buNone/>
                      </a:pPr>
                      <a:r>
                        <a:rPr lang="en-US" sz="12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2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2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2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886637280"/>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200" b="0" i="0" u="none" strike="noStrike">
                          <a:solidFill>
                            <a:srgbClr val="000000"/>
                          </a:solidFill>
                          <a:effectLst/>
                          <a:latin typeface="Calibri" panose="020F0502020204030204" pitchFamily="34" charset="0"/>
                        </a:rPr>
                        <a:t>48-27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200" b="0" i="0" u="none" strike="noStrike">
                          <a:solidFill>
                            <a:srgbClr val="000000"/>
                          </a:solidFill>
                          <a:effectLst/>
                          <a:latin typeface="Calibri" panose="020F0502020204030204" pitchFamily="34" charset="0"/>
                        </a:rPr>
                        <a:t>44-21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249443027"/>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4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200" b="0" i="0" u="none" strike="noStrike">
                          <a:solidFill>
                            <a:srgbClr val="000000"/>
                          </a:solidFill>
                          <a:effectLst/>
                          <a:latin typeface="Calibri" panose="020F0502020204030204" pitchFamily="34" charset="0"/>
                        </a:rPr>
                        <a:t>Limit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03982722"/>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&gt;=40nm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a:ln>
                            <a:noFill/>
                          </a:ln>
                          <a:solidFill>
                            <a:srgbClr val="000000"/>
                          </a:solidFill>
                          <a:effectLst/>
                          <a:uLnTx/>
                          <a:uFillTx/>
                          <a:latin typeface="+mn-lt"/>
                        </a:rPr>
                        <a:t>&gt;=32nm if PGD width &lt;=15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200" b="0" i="0" u="none" strike="noStrike" kern="1200" cap="none" spc="0" normalizeH="0" baseline="0" noProof="0">
                          <a:ln>
                            <a:noFill/>
                          </a:ln>
                          <a:solidFill>
                            <a:srgbClr val="000000"/>
                          </a:solidFill>
                          <a:effectLst/>
                          <a:uLnTx/>
                          <a:uFillTx/>
                          <a:latin typeface="+mn-lt"/>
                        </a:rPr>
                        <a:t>&gt;=35nm if PGD width &gt;15 (this is likely not needed)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91005329"/>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&gt;=34nm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fr-FR" sz="1200" b="0" i="0" u="none" strike="noStrike">
                          <a:solidFill>
                            <a:srgbClr val="000000"/>
                          </a:solidFill>
                          <a:effectLst/>
                          <a:latin typeface="Calibri" panose="020F0502020204030204" pitchFamily="34" charset="0"/>
                        </a:rPr>
                        <a:t>&gt;=76nm </a:t>
                      </a:r>
                    </a:p>
                    <a:p>
                      <a:pPr marL="171450" indent="-171450" algn="l" fontAlgn="b">
                        <a:buFont typeface="Wingdings" panose="05000000000000000000" pitchFamily="2" charset="2"/>
                        <a:buChar char="v"/>
                      </a:pPr>
                      <a:r>
                        <a:rPr lang="fr-FR" sz="1200" b="1" i="0" u="none" strike="noStrike">
                          <a:solidFill>
                            <a:srgbClr val="000000"/>
                          </a:solidFill>
                          <a:effectLst/>
                          <a:latin typeface="Calibri" panose="020F0502020204030204" pitchFamily="34" charset="0"/>
                        </a:rPr>
                        <a:t>Exception: </a:t>
                      </a:r>
                      <a:r>
                        <a:rPr lang="fr-FR" sz="1200" b="0" i="0" u="none" strike="noStrike">
                          <a:solidFill>
                            <a:srgbClr val="000000"/>
                          </a:solidFill>
                          <a:effectLst/>
                          <a:latin typeface="Calibri" panose="020F0502020204030204" pitchFamily="34" charset="0"/>
                        </a:rPr>
                        <a:t>&gt;=32 for full-facing</a:t>
                      </a:r>
                      <a:endParaRPr lang="fr-FR" sz="1200" b="0" i="0" u="none" strike="noStrike" cap="none" spc="0" baseline="0">
                        <a:solidFill>
                          <a:srgbClr val="000000"/>
                        </a:solidFill>
                        <a:effectLst/>
                        <a:uFillTx/>
                        <a:latin typeface="Calibri" panose="020F0502020204030204" pitchFamily="34" charset="0"/>
                        <a:ea typeface="+mn-ea"/>
                        <a:cs typeface="+mn-cs"/>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58372413"/>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&gt;=35.5nm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cap="none" spc="0" baseline="0">
                          <a:solidFill>
                            <a:srgbClr val="000000"/>
                          </a:solidFill>
                          <a:effectLst/>
                          <a:uFillTx/>
                          <a:latin typeface="Calibri" panose="020F0502020204030204" pitchFamily="34" charset="0"/>
                          <a:ea typeface="+mn-ea"/>
                          <a:cs typeface="+mn-cs"/>
                          <a:sym typeface="Intel Clear"/>
                        </a:rPr>
                        <a:t>&gt;=33.2nm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3329751"/>
                  </a:ext>
                </a:extLst>
              </a:tr>
              <a:tr h="54864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OGD: &lt;=16 (adjacent vg)</a:t>
                      </a:r>
                      <a:br>
                        <a:rPr lang="en-US" sz="1200" b="0" i="0" u="none" strike="noStrike">
                          <a:solidFill>
                            <a:srgbClr val="000000"/>
                          </a:solidFill>
                          <a:effectLst/>
                          <a:latin typeface="Calibri" panose="020F0502020204030204" pitchFamily="34" charset="0"/>
                        </a:rPr>
                      </a:br>
                      <a:r>
                        <a:rPr lang="en-US" sz="1200" b="1" i="0" u="none" strike="noStrike">
                          <a:solidFill>
                            <a:srgbClr val="000000"/>
                          </a:solidFill>
                          <a:effectLst/>
                          <a:latin typeface="Calibri" panose="020F0502020204030204" pitchFamily="34" charset="0"/>
                        </a:rPr>
                        <a:t>Exception:</a:t>
                      </a:r>
                      <a:r>
                        <a:rPr lang="en-US" sz="1200" b="0" i="0" u="none" strike="noStrike">
                          <a:solidFill>
                            <a:srgbClr val="000000"/>
                          </a:solidFill>
                          <a:effectLst/>
                          <a:latin typeface="Calibri" panose="020F0502020204030204" pitchFamily="34" charset="0"/>
                        </a:rPr>
                        <a:t>  &lt;=260 memory or custom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OGD: &lt;=4 (adjacent vg)</a:t>
                      </a:r>
                      <a:br>
                        <a:rPr lang="en-US" sz="1200" b="0" i="0" u="none" strike="noStrike" cap="none" spc="0" baseline="0">
                          <a:solidFill>
                            <a:srgbClr val="000000"/>
                          </a:solidFill>
                          <a:effectLst/>
                          <a:uFillTx/>
                          <a:latin typeface="Calibri" panose="020F0502020204030204" pitchFamily="34" charset="0"/>
                          <a:ea typeface="+mn-ea"/>
                          <a:cs typeface="+mn-cs"/>
                          <a:sym typeface="Intel Clear"/>
                        </a:rPr>
                      </a:br>
                      <a:endParaRPr lang="en-US" sz="1200" b="0" i="0" u="none" strike="noStrike" cap="none" spc="0" baseline="0">
                        <a:solidFill>
                          <a:srgbClr val="000000"/>
                        </a:solidFill>
                        <a:effectLst/>
                        <a:uFillTx/>
                        <a:latin typeface="Calibri" panose="020F0502020204030204" pitchFamily="34" charset="0"/>
                        <a:ea typeface="+mn-ea"/>
                        <a:cs typeface="+mn-cs"/>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8026328"/>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Enclosure (poly)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&lt;=2.5nm (extension)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cap="none" spc="0" baseline="0">
                          <a:solidFill>
                            <a:srgbClr val="000000"/>
                          </a:solidFill>
                          <a:effectLst/>
                          <a:uFillTx/>
                          <a:latin typeface="Calibri" panose="020F0502020204030204" pitchFamily="34" charset="0"/>
                          <a:ea typeface="+mn-ea"/>
                          <a:cs typeface="+mn-cs"/>
                          <a:sym typeface="Intel Clear"/>
                        </a:rPr>
                        <a:t>&lt;=0.5nm (extension, i.e., unlanded vias)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72480499"/>
                  </a:ext>
                </a:extLst>
              </a:tr>
              <a:tr h="36576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2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General: &gt;=17nm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MinpitchID: &gt;=8nm (&lt;=19nm)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200" b="0" i="0" u="none" strike="noStrike">
                          <a:solidFill>
                            <a:srgbClr val="000000"/>
                          </a:solidFill>
                          <a:effectLst/>
                          <a:latin typeface="Calibri" panose="020F0502020204030204" pitchFamily="34" charset="0"/>
                        </a:rPr>
                        <a:t>&gt;=5nm, &gt;=7nm, &gt;=16nm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42391561"/>
                  </a:ext>
                </a:extLst>
              </a:tr>
              <a:tr h="182880">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{TRM} handling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PGD space: &gt;=54nm</a:t>
                      </a:r>
                    </a:p>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PGD space to another vt: &gt;=47nm</a:t>
                      </a:r>
                    </a:p>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PGD space to mergedm0_vt: &gt;=20nm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kumimoji="0" lang="de-DE" sz="1200" b="0" i="0" u="none" strike="noStrike" kern="0" cap="none" spc="0" normalizeH="0" baseline="0" noProof="0">
                          <a:ln>
                            <a:noFill/>
                          </a:ln>
                          <a:solidFill>
                            <a:srgbClr val="000000"/>
                          </a:solidFill>
                          <a:effectLst/>
                          <a:uLnTx/>
                          <a:uFillTx/>
                          <a:latin typeface="Calibri" panose="020F0502020204030204" pitchFamily="34" charset="0"/>
                          <a:sym typeface="Intel Clear"/>
                        </a:rPr>
                        <a:t>PGD space: </a:t>
                      </a:r>
                      <a:r>
                        <a:rPr kumimoji="0" lang="de-DE" sz="1200" b="0" i="0" u="none" strike="noStrike" kern="0" cap="none" spc="0" normalizeH="0" baseline="0" noProof="0">
                          <a:ln>
                            <a:noFill/>
                          </a:ln>
                          <a:solidFill>
                            <a:srgbClr val="000000"/>
                          </a:solidFill>
                          <a:effectLst/>
                          <a:highlight>
                            <a:srgbClr val="00FF00"/>
                          </a:highlight>
                          <a:uLnTx/>
                          <a:uFillTx/>
                          <a:latin typeface="Calibri" panose="020F0502020204030204" pitchFamily="34" charset="0"/>
                          <a:sym typeface="Intel Clear"/>
                        </a:rPr>
                        <a:t>69.5nm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62242766"/>
                  </a:ext>
                </a:extLst>
              </a:tr>
              <a:tr h="229652">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Centering with Mx and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YES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de-DE" sz="1200" b="0" i="0" u="none" strike="noStrike" cap="none" spc="0" baseline="0" noProof="0">
                          <a:solidFill>
                            <a:srgbClr val="000000"/>
                          </a:solidFill>
                          <a:effectLst/>
                          <a:uFillTx/>
                          <a:latin typeface="Calibri" panose="020F0502020204030204" pitchFamily="34" charset="0"/>
                          <a:ea typeface="+mn-ea"/>
                          <a:cs typeface="+mn-cs"/>
                          <a:sym typeface="Intel Clear"/>
                        </a:rPr>
                        <a:t>edge aligned or center aligned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91223580"/>
                  </a:ext>
                </a:extLst>
              </a:tr>
              <a:tr h="229652">
                <a:tc>
                  <a:txBody>
                    <a:bodyPr/>
                    <a:lstStyle/>
                    <a:p>
                      <a:pPr algn="l" fontAlgn="b">
                        <a:buNone/>
                      </a:pPr>
                      <a:r>
                        <a:rPr lang="en-US" sz="120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Vgvt pair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YES (10nm space and same size)</a:t>
                      </a:r>
                    </a:p>
                    <a:p>
                      <a:pPr marL="171450" indent="-171450" algn="l" fontAlgn="b">
                        <a:buFont typeface="Wingdings" panose="05000000000000000000" pitchFamily="2" charset="2"/>
                        <a:buChar char="v"/>
                      </a:pPr>
                      <a:r>
                        <a:rPr lang="de-DE" sz="1200" b="0" i="0" u="none" strike="noStrike">
                          <a:solidFill>
                            <a:srgbClr val="000000"/>
                          </a:solidFill>
                          <a:effectLst/>
                          <a:latin typeface="Calibri" panose="020F0502020204030204" pitchFamily="34" charset="0"/>
                        </a:rPr>
                        <a:t>NOT allowed in m0Minpitch;id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de-DE" sz="1200" b="0" i="0" u="none" strike="noStrike" cap="none" spc="0" baseline="0" noProof="0">
                          <a:solidFill>
                            <a:srgbClr val="000000"/>
                          </a:solidFill>
                          <a:effectLst/>
                          <a:uFillTx/>
                          <a:latin typeface="Calibri" panose="020F0502020204030204" pitchFamily="34" charset="0"/>
                          <a:ea typeface="+mn-ea"/>
                          <a:cs typeface="+mn-cs"/>
                          <a:sym typeface="Intel Clear"/>
                        </a:rPr>
                        <a:t>YES </a:t>
                      </a:r>
                      <a:r>
                        <a:rPr lang="de-DE" sz="1200" b="0" i="0" u="none" strike="noStrike" cap="none" spc="0" baseline="0" noProof="0">
                          <a:solidFill>
                            <a:srgbClr val="000000"/>
                          </a:solidFill>
                          <a:effectLst/>
                          <a:highlight>
                            <a:srgbClr val="00FF00"/>
                          </a:highlight>
                          <a:uFillTx/>
                          <a:latin typeface="Calibri" panose="020F0502020204030204" pitchFamily="34" charset="0"/>
                          <a:ea typeface="+mn-ea"/>
                          <a:cs typeface="+mn-cs"/>
                          <a:sym typeface="Intel Clear"/>
                        </a:rPr>
                        <a:t>with no new restrictions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34777366"/>
                  </a:ext>
                </a:extLst>
              </a:tr>
              <a:tr h="229652">
                <a:tc>
                  <a:txBody>
                    <a:bodyPr/>
                    <a:lstStyle/>
                    <a:p>
                      <a:pPr algn="l" fontAlgn="b">
                        <a:buNone/>
                      </a:pPr>
                      <a:r>
                        <a:rPr lang="en-US" sz="1050" b="0" i="0" u="none" strike="noStrike">
                          <a:solidFill>
                            <a:srgbClr val="000000"/>
                          </a:solidFill>
                          <a:effectLst/>
                          <a:latin typeface="Calibri" panose="020F0502020204030204" pitchFamily="34" charset="0"/>
                        </a:rPr>
                        <a:t>Vg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50" b="0" i="0" u="none" strike="noStrike">
                          <a:solidFill>
                            <a:srgbClr val="000000"/>
                          </a:solidFill>
                          <a:effectLst/>
                          <a:latin typeface="Calibri" panose="020F0502020204030204" pitchFamily="34" charset="0"/>
                        </a:rPr>
                        <a:t>Vg patterns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050" b="0" i="0" u="none" strike="noStrike">
                          <a:solidFill>
                            <a:srgbClr val="000000"/>
                          </a:solidFill>
                          <a:effectLst/>
                          <a:latin typeface="Calibri" panose="020F0502020204030204" pitchFamily="34" charset="0"/>
                        </a:rPr>
                        <a:t>YES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de-DE" sz="1050" b="0" i="0" u="none" strike="noStrike" cap="none" spc="0" baseline="0" noProof="0">
                          <a:solidFill>
                            <a:srgbClr val="000000"/>
                          </a:solidFill>
                          <a:effectLst/>
                          <a:uFillTx/>
                          <a:latin typeface="Calibri" panose="020F0502020204030204" pitchFamily="34" charset="0"/>
                          <a:ea typeface="+mn-ea"/>
                          <a:cs typeface="+mn-cs"/>
                          <a:sym typeface="Intel Clear"/>
                        </a:rPr>
                        <a:t>Consecutive two Vias space: &gt;=32.8nm in PGD (allows adjacent track for 132h and 165h)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20004174"/>
                  </a:ext>
                </a:extLst>
              </a:tr>
            </a:tbl>
          </a:graphicData>
        </a:graphic>
      </p:graphicFrame>
    </p:spTree>
    <p:extLst>
      <p:ext uri="{BB962C8B-B14F-4D97-AF65-F5344CB8AC3E}">
        <p14:creationId xmlns:p14="http://schemas.microsoft.com/office/powerpoint/2010/main" val="1349069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1309AB-FDDC-F5E5-E264-CDB12C1B6AA6}"/>
              </a:ext>
            </a:extLst>
          </p:cNvPr>
          <p:cNvGraphicFramePr>
            <a:graphicFrameLocks noGrp="1"/>
          </p:cNvGraphicFramePr>
          <p:nvPr>
            <p:extLst>
              <p:ext uri="{D42A27DB-BD31-4B8C-83A1-F6EECF244321}">
                <p14:modId xmlns:p14="http://schemas.microsoft.com/office/powerpoint/2010/main" val="405663534"/>
              </p:ext>
            </p:extLst>
          </p:nvPr>
        </p:nvGraphicFramePr>
        <p:xfrm>
          <a:off x="0" y="1328758"/>
          <a:ext cx="12192002" cy="3429000"/>
        </p:xfrm>
        <a:graphic>
          <a:graphicData uri="http://schemas.openxmlformats.org/drawingml/2006/table">
            <a:tbl>
              <a:tblPr/>
              <a:tblGrid>
                <a:gridCol w="1591434">
                  <a:extLst>
                    <a:ext uri="{9D8B030D-6E8A-4147-A177-3AD203B41FA5}">
                      <a16:colId xmlns:a16="http://schemas.microsoft.com/office/drawing/2014/main" val="82655388"/>
                    </a:ext>
                  </a:extLst>
                </a:gridCol>
                <a:gridCol w="1535738">
                  <a:extLst>
                    <a:ext uri="{9D8B030D-6E8A-4147-A177-3AD203B41FA5}">
                      <a16:colId xmlns:a16="http://schemas.microsoft.com/office/drawing/2014/main" val="3120135998"/>
                    </a:ext>
                  </a:extLst>
                </a:gridCol>
                <a:gridCol w="4240577">
                  <a:extLst>
                    <a:ext uri="{9D8B030D-6E8A-4147-A177-3AD203B41FA5}">
                      <a16:colId xmlns:a16="http://schemas.microsoft.com/office/drawing/2014/main" val="592065676"/>
                    </a:ext>
                  </a:extLst>
                </a:gridCol>
                <a:gridCol w="4824253">
                  <a:extLst>
                    <a:ext uri="{9D8B030D-6E8A-4147-A177-3AD203B41FA5}">
                      <a16:colId xmlns:a16="http://schemas.microsoft.com/office/drawing/2014/main" val="1510493627"/>
                    </a:ext>
                  </a:extLst>
                </a:gridCol>
              </a:tblGrid>
              <a:tr h="85344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2589210680"/>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SALELE:</a:t>
                      </a:r>
                      <a:r>
                        <a:rPr lang="en-US" sz="1100" b="0" i="0" u="none" strike="noStrike">
                          <a:solidFill>
                            <a:srgbClr val="000000"/>
                          </a:solidFill>
                          <a:effectLst/>
                          <a:latin typeface="Calibri" panose="020F0502020204030204" pitchFamily="34" charset="0"/>
                        </a:rPr>
                        <a:t> 14W/13S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SALELE:</a:t>
                      </a:r>
                      <a:r>
                        <a:rPr lang="en-US" sz="1100" b="0" i="0" u="none" strike="noStrike">
                          <a:solidFill>
                            <a:srgbClr val="000000"/>
                          </a:solidFill>
                          <a:effectLst/>
                          <a:latin typeface="Calibri" panose="020F0502020204030204" pitchFamily="34" charset="0"/>
                        </a:rPr>
                        <a:t> 12W/9S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52467948"/>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SALELE:</a:t>
                      </a:r>
                      <a:r>
                        <a:rPr lang="en-US" sz="1100" b="0" i="0" u="none" strike="noStrike">
                          <a:solidFill>
                            <a:srgbClr val="000000"/>
                          </a:solidFill>
                          <a:effectLst/>
                          <a:latin typeface="Calibri" panose="020F0502020204030204" pitchFamily="34" charset="0"/>
                        </a:rPr>
                        <a:t> &gt;=54nm (small ETE), &gt;=78nm (large ETE) </a:t>
                      </a:r>
                    </a:p>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LELE:</a:t>
                      </a:r>
                      <a:r>
                        <a:rPr lang="en-US" sz="1100" b="0" i="0" u="none" strike="noStrike">
                          <a:solidFill>
                            <a:srgbClr val="000000"/>
                          </a:solidFill>
                          <a:effectLst/>
                          <a:latin typeface="Calibri" panose="020F0502020204030204" pitchFamily="34" charset="0"/>
                        </a:rPr>
                        <a:t> &gt;=78nm (small ETE), &gt;=102nm (unrestricted)</a:t>
                      </a:r>
                    </a:p>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PGD:</a:t>
                      </a:r>
                      <a:r>
                        <a:rPr lang="en-US" sz="1100" b="0" i="0" u="none" strike="noStrike">
                          <a:solidFill>
                            <a:srgbClr val="000000"/>
                          </a:solidFill>
                          <a:effectLst/>
                          <a:latin typeface="Calibri" panose="020F0502020204030204" pitchFamily="34" charset="0"/>
                        </a:rPr>
                        <a:t> &gt;=160nm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cap="none" spc="0" baseline="0">
                          <a:solidFill>
                            <a:srgbClr val="000000"/>
                          </a:solidFill>
                          <a:effectLst/>
                          <a:uFillTx/>
                          <a:latin typeface="Calibri" panose="020F0502020204030204" pitchFamily="34" charset="0"/>
                          <a:ea typeface="+mn-ea"/>
                          <a:cs typeface="+mn-cs"/>
                          <a:sym typeface="Intel Clear"/>
                        </a:rPr>
                        <a:t>48, &gt;=66, 70, &gt;=88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59881329"/>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SALELE:</a:t>
                      </a:r>
                      <a:r>
                        <a:rPr lang="en-US" sz="1100" b="0" i="0" u="none" strike="noStrike">
                          <a:solidFill>
                            <a:srgbClr val="000000"/>
                          </a:solidFill>
                          <a:effectLst/>
                          <a:latin typeface="Calibri" panose="020F0502020204030204" pitchFamily="34" charset="0"/>
                        </a:rPr>
                        <a:t> Color1: ==18nm, Color2: &gt;=18nm (&lt;20nm), &gt;=42nm (&gt;=20nm) &lt;=114nm (2pp) for color2</a:t>
                      </a:r>
                    </a:p>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LELE:</a:t>
                      </a:r>
                      <a:r>
                        <a:rPr lang="en-US" sz="1100" b="0" i="0" u="none" strike="noStrike">
                          <a:solidFill>
                            <a:srgbClr val="000000"/>
                          </a:solidFill>
                          <a:effectLst/>
                          <a:latin typeface="Calibri" panose="020F0502020204030204" pitchFamily="34" charset="0"/>
                        </a:rPr>
                        <a:t> &gt;=66nm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Calibri" panose="020F0502020204030204" pitchFamily="34" charset="0"/>
                        </a:rPr>
                        <a:t>&gt;=18, &gt;=22, &gt;=44, &gt;=66nm</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sngStrike">
                          <a:solidFill>
                            <a:srgbClr val="000000"/>
                          </a:solidFill>
                          <a:effectLst/>
                          <a:latin typeface="Calibri" panose="020F0502020204030204" pitchFamily="34" charset="0"/>
                        </a:rPr>
                        <a:t>&lt;=106nm </a:t>
                      </a:r>
                      <a:r>
                        <a:rPr lang="en-US" sz="1100" b="0" i="0" u="none" strike="noStrike">
                          <a:solidFill>
                            <a:srgbClr val="000000"/>
                          </a:solidFill>
                          <a:effectLst/>
                          <a:highlight>
                            <a:srgbClr val="00FF00"/>
                          </a:highlight>
                          <a:latin typeface="Calibri" panose="020F0502020204030204" pitchFamily="34" charset="0"/>
                        </a:rPr>
                        <a:t>(no maximum 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78112606"/>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Clr>
                          <a:srgbClr val="000000"/>
                        </a:buClr>
                        <a:buSzPts val="1100"/>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PGD-OGD: &gt;=66nm, &gt;=35nm, &gt;=30nm</a:t>
                      </a:r>
                    </a:p>
                    <a:p>
                      <a:pPr marL="171450" indent="-171450" algn="l" fontAlgn="ctr">
                        <a:buClr>
                          <a:srgbClr val="000000"/>
                        </a:buClr>
                        <a:buSzPts val="1100"/>
                        <a:buFont typeface="Wingdings" panose="05000000000000000000" pitchFamily="2" charset="2"/>
                        <a:buChar char="v"/>
                      </a:pPr>
                      <a:r>
                        <a:rPr lang="en-US" sz="1100" b="0" i="0" u="none" strike="noStrike">
                          <a:solidFill>
                            <a:srgbClr val="000000"/>
                          </a:solidFill>
                          <a:effectLst/>
                          <a:latin typeface="Calibri" panose="020F0502020204030204" pitchFamily="34" charset="0"/>
                        </a:rPr>
                        <a:t>OGD-PGD: &gt;=63nm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Clr>
                          <a:srgbClr val="000000"/>
                        </a:buClr>
                        <a:buSzPts val="1100"/>
                        <a:buFont typeface="Wingdings" panose="05000000000000000000" pitchFamily="2" charset="2"/>
                        <a:buChar char="v"/>
                      </a:pPr>
                      <a:r>
                        <a:rPr lang="en-US" sz="1100" b="0" i="0" u="none" strike="noStrike">
                          <a:solidFill>
                            <a:srgbClr val="000000"/>
                          </a:solidFill>
                          <a:effectLst/>
                          <a:latin typeface="Calibri" panose="020F0502020204030204" pitchFamily="34" charset="0"/>
                        </a:rPr>
                        <a:t>No M0 PGD support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14870831"/>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Gridding with </a:t>
                      </a:r>
                      <a:r>
                        <a:rPr lang="en-US" sz="1100" b="0" i="0" u="none" strike="noStrike" cap="none" spc="0" baseline="0">
                          <a:solidFill>
                            <a:srgbClr val="000000"/>
                          </a:solidFill>
                          <a:effectLst/>
                          <a:uFillTx/>
                          <a:latin typeface="Calibri" panose="020F0502020204030204" pitchFamily="34" charset="0"/>
                          <a:ea typeface="+mn-ea"/>
                          <a:cs typeface="+mn-cs"/>
                          <a:sym typeface="Intel Clear"/>
                        </a:rPr>
                        <a:t>respect to poly or tcn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Gridding with </a:t>
                      </a:r>
                      <a:r>
                        <a:rPr lang="en-US" sz="1100" b="0" i="0" u="none" strike="noStrike" cap="none" spc="0" baseline="0">
                          <a:solidFill>
                            <a:srgbClr val="000000"/>
                          </a:solidFill>
                          <a:effectLst/>
                          <a:uFillTx/>
                          <a:latin typeface="Calibri" panose="020F0502020204030204" pitchFamily="34" charset="0"/>
                          <a:ea typeface="+mn-ea"/>
                          <a:cs typeface="+mn-cs"/>
                          <a:sym typeface="Intel Clear"/>
                        </a:rPr>
                        <a:t>respect to poly or tcn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698031"/>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l-NL" sz="1100" b="0" i="0" u="none" strike="noStrike">
                          <a:solidFill>
                            <a:srgbClr val="000000"/>
                          </a:solidFill>
                          <a:effectLst/>
                          <a:latin typeface="Calibri" panose="020F0502020204030204" pitchFamily="34" charset="0"/>
                        </a:rPr>
                        <a:t>&lt;=153nm in OGD, &lt;=165nm in PGD</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&lt;=4*44p in OGD and &lt;=3 wires at 21p in PGD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67134095"/>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Color 1 ETE space in PGD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18nm ETE to 42nm ETE: &gt;=52nm</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42nm ETE to 42nm ETE: &gt;=48nm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18nm ETE to 18nm ETE: &gt;=30nm is not needed</a:t>
                      </a:r>
                    </a:p>
                    <a:p>
                      <a:pPr marL="171450" indent="-171450" algn="l" fontAlgn="b">
                        <a:buFont typeface="Wingdings" panose="05000000000000000000" pitchFamily="2" charset="2"/>
                        <a:buChar char="v"/>
                      </a:pPr>
                      <a:r>
                        <a:rPr lang="en-US" sz="11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Only double is allowed at ==30nm space</a:t>
                      </a:r>
                    </a:p>
                    <a:p>
                      <a:pPr marL="171450" indent="-171450" algn="l" fontAlgn="b">
                        <a:buFont typeface="Wingdings" panose="05000000000000000000" pitchFamily="2" charset="2"/>
                        <a:buChar char="v"/>
                      </a:pPr>
                      <a:r>
                        <a:rPr lang="en-US" sz="11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Unrestricted space &gt;=32.8 (based on 165nm use case)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2953614"/>
                  </a:ext>
                </a:extLst>
              </a:tr>
            </a:tbl>
          </a:graphicData>
        </a:graphic>
      </p:graphicFrame>
      <p:sp>
        <p:nvSpPr>
          <p:cNvPr id="3" name="Title 2">
            <a:extLst>
              <a:ext uri="{FF2B5EF4-FFF2-40B4-BE49-F238E27FC236}">
                <a16:creationId xmlns:a16="http://schemas.microsoft.com/office/drawing/2014/main" id="{3894F6C8-3FB4-965E-4F83-EF8768B439CF}"/>
              </a:ext>
            </a:extLst>
          </p:cNvPr>
          <p:cNvSpPr>
            <a:spLocks noGrp="1"/>
          </p:cNvSpPr>
          <p:nvPr>
            <p:ph type="title" idx="4294967295"/>
          </p:nvPr>
        </p:nvSpPr>
        <p:spPr>
          <a:xfrm>
            <a:off x="2003" y="-13971"/>
            <a:ext cx="10515600" cy="748245"/>
          </a:xfrm>
        </p:spPr>
        <p:txBody>
          <a:bodyPr/>
          <a:lstStyle/>
          <a:p>
            <a:r>
              <a:rPr lang="en-US"/>
              <a:t>M0 Rules</a:t>
            </a:r>
          </a:p>
        </p:txBody>
      </p:sp>
    </p:spTree>
    <p:extLst>
      <p:ext uri="{BB962C8B-B14F-4D97-AF65-F5344CB8AC3E}">
        <p14:creationId xmlns:p14="http://schemas.microsoft.com/office/powerpoint/2010/main" val="30644085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B13C3-4FEB-1754-945F-B19A6CC327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FA4A29-6815-83E8-1F54-D010CA8EE0BB}"/>
              </a:ext>
            </a:extLst>
          </p:cNvPr>
          <p:cNvSpPr>
            <a:spLocks noGrp="1"/>
          </p:cNvSpPr>
          <p:nvPr>
            <p:ph type="title" idx="4294967295"/>
          </p:nvPr>
        </p:nvSpPr>
        <p:spPr>
          <a:xfrm>
            <a:off x="2003" y="-13971"/>
            <a:ext cx="10515600" cy="748245"/>
          </a:xfrm>
        </p:spPr>
        <p:txBody>
          <a:bodyPr/>
          <a:lstStyle/>
          <a:p>
            <a:r>
              <a:rPr lang="en-US"/>
              <a:t>M0 ETE, Length</a:t>
            </a:r>
          </a:p>
        </p:txBody>
      </p:sp>
      <p:graphicFrame>
        <p:nvGraphicFramePr>
          <p:cNvPr id="4" name="Table 3">
            <a:extLst>
              <a:ext uri="{FF2B5EF4-FFF2-40B4-BE49-F238E27FC236}">
                <a16:creationId xmlns:a16="http://schemas.microsoft.com/office/drawing/2014/main" id="{4BBCB9CC-05E5-FA2F-6234-CB2FC33816F2}"/>
              </a:ext>
            </a:extLst>
          </p:cNvPr>
          <p:cNvGraphicFramePr>
            <a:graphicFrameLocks noGrp="1"/>
          </p:cNvGraphicFramePr>
          <p:nvPr>
            <p:extLst>
              <p:ext uri="{D42A27DB-BD31-4B8C-83A1-F6EECF244321}">
                <p14:modId xmlns:p14="http://schemas.microsoft.com/office/powerpoint/2010/main" val="2525482307"/>
              </p:ext>
            </p:extLst>
          </p:nvPr>
        </p:nvGraphicFramePr>
        <p:xfrm>
          <a:off x="0" y="1762665"/>
          <a:ext cx="12192000" cy="2040647"/>
        </p:xfrm>
        <a:graphic>
          <a:graphicData uri="http://schemas.openxmlformats.org/drawingml/2006/table">
            <a:tbl>
              <a:tblPr/>
              <a:tblGrid>
                <a:gridCol w="1074267">
                  <a:extLst>
                    <a:ext uri="{9D8B030D-6E8A-4147-A177-3AD203B41FA5}">
                      <a16:colId xmlns:a16="http://schemas.microsoft.com/office/drawing/2014/main" val="789650756"/>
                    </a:ext>
                  </a:extLst>
                </a:gridCol>
                <a:gridCol w="1421616">
                  <a:extLst>
                    <a:ext uri="{9D8B030D-6E8A-4147-A177-3AD203B41FA5}">
                      <a16:colId xmlns:a16="http://schemas.microsoft.com/office/drawing/2014/main" val="1220624835"/>
                    </a:ext>
                  </a:extLst>
                </a:gridCol>
                <a:gridCol w="749391">
                  <a:extLst>
                    <a:ext uri="{9D8B030D-6E8A-4147-A177-3AD203B41FA5}">
                      <a16:colId xmlns:a16="http://schemas.microsoft.com/office/drawing/2014/main" val="1961561294"/>
                    </a:ext>
                  </a:extLst>
                </a:gridCol>
                <a:gridCol w="847033">
                  <a:extLst>
                    <a:ext uri="{9D8B030D-6E8A-4147-A177-3AD203B41FA5}">
                      <a16:colId xmlns:a16="http://schemas.microsoft.com/office/drawing/2014/main" val="3858537648"/>
                    </a:ext>
                  </a:extLst>
                </a:gridCol>
                <a:gridCol w="2170477">
                  <a:extLst>
                    <a:ext uri="{9D8B030D-6E8A-4147-A177-3AD203B41FA5}">
                      <a16:colId xmlns:a16="http://schemas.microsoft.com/office/drawing/2014/main" val="4293019931"/>
                    </a:ext>
                  </a:extLst>
                </a:gridCol>
                <a:gridCol w="2964608">
                  <a:extLst>
                    <a:ext uri="{9D8B030D-6E8A-4147-A177-3AD203B41FA5}">
                      <a16:colId xmlns:a16="http://schemas.microsoft.com/office/drawing/2014/main" val="3704909996"/>
                    </a:ext>
                  </a:extLst>
                </a:gridCol>
                <a:gridCol w="2964608">
                  <a:extLst>
                    <a:ext uri="{9D8B030D-6E8A-4147-A177-3AD203B41FA5}">
                      <a16:colId xmlns:a16="http://schemas.microsoft.com/office/drawing/2014/main" val="3748787595"/>
                    </a:ext>
                  </a:extLst>
                </a:gridCol>
              </a:tblGrid>
              <a:tr h="170986">
                <a:tc>
                  <a:txBody>
                    <a:bodyPr/>
                    <a:lstStyle/>
                    <a:p>
                      <a:pPr algn="l" fontAlgn="b">
                        <a:buNone/>
                      </a:pPr>
                      <a:r>
                        <a:rPr lang="en-US" sz="1100" b="0" i="0" u="none" strike="noStrike">
                          <a:solidFill>
                            <a:srgbClr val="000000"/>
                          </a:solidFill>
                          <a:effectLst/>
                          <a:latin typeface="Aptos Narrow" panose="020B0004020202020204" pitchFamily="34" charset="0"/>
                        </a:rPr>
                        <a:t>M0</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PATTERN</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Plug</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Width Range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r>
                        <a:rPr lang="en-US" sz="1100" b="0" i="0" u="none" strike="noStrike">
                          <a:solidFill>
                            <a:srgbClr val="000000"/>
                          </a:solidFill>
                          <a:effectLst/>
                          <a:latin typeface="Aptos Narrow" panose="020B0004020202020204" pitchFamily="34" charset="0"/>
                        </a:rPr>
                        <a:t>Widths</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ETE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Length</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2610082905"/>
                  </a:ext>
                </a:extLst>
              </a:tr>
              <a:tr h="503495">
                <a:tc>
                  <a:txBody>
                    <a:bodyPr/>
                    <a:lstStyle/>
                    <a:p>
                      <a:pPr algn="l" fontAlgn="b">
                        <a:buNone/>
                      </a:pPr>
                      <a:r>
                        <a:rPr lang="en-US" sz="1100" b="0" i="0" u="none" strike="noStrike">
                          <a:solidFill>
                            <a:srgbClr val="000000"/>
                          </a:solidFill>
                          <a:effectLst/>
                          <a:latin typeface="Aptos Narrow" panose="020B0004020202020204" pitchFamily="34" charset="0"/>
                        </a:rPr>
                        <a:t>Color1</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r>
                        <a:rPr lang="en-US" sz="1100" b="0" i="0" u="none" strike="noStrike">
                          <a:solidFill>
                            <a:srgbClr val="000000"/>
                          </a:solidFill>
                          <a:effectLst/>
                          <a:latin typeface="Aptos Narrow" panose="020B0004020202020204" pitchFamily="34" charset="0"/>
                        </a:rPr>
                        <a:t>SALELE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r>
                        <a:rPr lang="en-US" sz="1100" b="0" i="0" u="none" strike="noStrike">
                          <a:solidFill>
                            <a:srgbClr val="000000"/>
                          </a:solidFill>
                          <a:effectLst/>
                          <a:latin typeface="Aptos Narrow" panose="020B0004020202020204" pitchFamily="34" charset="0"/>
                        </a:rPr>
                        <a:t>YES==18</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&lt;=15</a:t>
                      </a:r>
                      <a:endParaRPr lang="en-US" sz="1100" b="0" i="0" u="none" strike="noStrike">
                        <a:solidFill>
                          <a:srgbClr val="000000"/>
                        </a:solidFill>
                        <a:effectLst/>
                        <a:highlight>
                          <a:srgbClr val="FFFF00"/>
                        </a:highlight>
                        <a:latin typeface="Aptos Narrow" panose="020B0004020202020204" pitchFamily="34" charset="0"/>
                      </a:endParaRP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12, 13,14, 14.8, 15</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==18nm (full-facing</a:t>
                      </a:r>
                      <a:r>
                        <a:rPr lang="en-US" sz="1100" b="0" i="0" u="none" strike="noStrike">
                          <a:solidFill>
                            <a:srgbClr val="000000"/>
                          </a:solidFill>
                          <a:effectLst/>
                          <a:highlight>
                            <a:srgbClr val="FFFF00"/>
                          </a:highlight>
                          <a:latin typeface="Aptos Narrow" panose="020B0004020202020204" pitchFamily="34" charset="0"/>
                        </a:rPr>
                        <a:t>), &gt;=62nm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Aptos Narrow" panose="020B0004020202020204" pitchFamily="34" charset="0"/>
                        </a:rPr>
                        <a:t>&gt;=48nm with TWO ETEs of ==18nm ETE</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Aptos Narrow" panose="020B0004020202020204" pitchFamily="34" charset="0"/>
                        </a:rPr>
                        <a:t>&gt;=70nm with ONE ETEs of ==18nm ETE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2278097106"/>
                  </a:ext>
                </a:extLst>
              </a:tr>
              <a:tr h="170986">
                <a:tc>
                  <a:txBody>
                    <a:bodyPr/>
                    <a:lstStyle/>
                    <a:p>
                      <a:pPr algn="l" fontAlgn="b">
                        <a:buNone/>
                      </a:pPr>
                      <a:r>
                        <a:rPr lang="en-US" sz="1100" b="0" i="0" u="none" strike="noStrike">
                          <a:solidFill>
                            <a:srgbClr val="000000"/>
                          </a:solidFill>
                          <a:effectLst/>
                          <a:latin typeface="Aptos Narrow" panose="020B0004020202020204" pitchFamily="34" charset="0"/>
                        </a:rPr>
                        <a:t>Color1</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r>
                        <a:rPr lang="en-US" sz="1100" b="0" i="0" u="none" strike="noStrike">
                          <a:solidFill>
                            <a:srgbClr val="000000"/>
                          </a:solidFill>
                          <a:effectLst/>
                          <a:latin typeface="Aptos Narrow" panose="020B0004020202020204" pitchFamily="34" charset="0"/>
                        </a:rPr>
                        <a:t>SALELE/LELE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YES==22</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&gt;15 and &lt;=20</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17, 20</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=22nm (full-facing), </a:t>
                      </a:r>
                      <a:r>
                        <a:rPr lang="en-US" sz="1100" b="0" i="0" u="none" strike="noStrike">
                          <a:solidFill>
                            <a:srgbClr val="000000"/>
                          </a:solidFill>
                          <a:effectLst/>
                          <a:highlight>
                            <a:srgbClr val="FFFF00"/>
                          </a:highlight>
                          <a:latin typeface="Aptos Narrow" panose="020B0004020202020204" pitchFamily="34" charset="0"/>
                        </a:rPr>
                        <a:t>&gt;=44nm (full-facing), &gt;=62nm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Aptos Narrow" panose="020B0004020202020204" pitchFamily="34" charset="0"/>
                        </a:rPr>
                        <a:t>&gt;=88nm with TWO ETEs of ==22nm ETE</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Aptos Narrow" panose="020B0004020202020204" pitchFamily="34" charset="0"/>
                        </a:rPr>
                        <a:t>&gt;=88nm with ONE ETEs of ==22nm ETE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4167998928"/>
                  </a:ext>
                </a:extLst>
              </a:tr>
              <a:tr h="170986">
                <a:tc>
                  <a:txBody>
                    <a:bodyPr/>
                    <a:lstStyle/>
                    <a:p>
                      <a:pPr algn="l" fontAlgn="b">
                        <a:buNone/>
                      </a:pPr>
                      <a:r>
                        <a:rPr lang="en-US" sz="1100" b="0" i="0" u="none" strike="noStrike">
                          <a:solidFill>
                            <a:srgbClr val="000000"/>
                          </a:solidFill>
                          <a:effectLst/>
                          <a:latin typeface="Aptos Narrow" panose="020B0004020202020204" pitchFamily="34" charset="0"/>
                        </a:rPr>
                        <a:t>Color1</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r>
                        <a:rPr lang="en-US" sz="1100" b="0" i="0" u="none" strike="noStrike">
                          <a:solidFill>
                            <a:srgbClr val="000000"/>
                          </a:solidFill>
                          <a:effectLst/>
                          <a:latin typeface="Aptos Narrow" panose="020B0004020202020204" pitchFamily="34" charset="0"/>
                        </a:rPr>
                        <a:t>SALELE/LELE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CC"/>
                    </a:solidFill>
                  </a:tcPr>
                </a:tc>
                <a:tc>
                  <a:txBody>
                    <a:bodyPr/>
                    <a:lstStyle/>
                    <a:p>
                      <a:pPr algn="l" fontAlgn="b">
                        <a:buNone/>
                      </a:pPr>
                      <a:r>
                        <a:rPr lang="en-US" sz="1100" b="0" i="0" u="none" strike="noStrike">
                          <a:solidFill>
                            <a:srgbClr val="000000"/>
                          </a:solidFill>
                          <a:effectLst/>
                          <a:latin typeface="Aptos Narrow" panose="020B0004020202020204" pitchFamily="34" charset="0"/>
                        </a:rPr>
                        <a:t>NO</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&gt;20</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22, 24, 27</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&gt;=44 (full-facing), &gt;=62nm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algn="l" fontAlgn="b">
                        <a:buNone/>
                      </a:pPr>
                      <a:r>
                        <a:rPr lang="en-US" sz="1100" b="0" i="0" u="none" strike="noStrike">
                          <a:solidFill>
                            <a:srgbClr val="000000"/>
                          </a:solidFill>
                          <a:effectLst/>
                          <a:latin typeface="Aptos Narrow" panose="020B0004020202020204" pitchFamily="34" charset="0"/>
                        </a:rPr>
                        <a:t>&gt;=92nm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3473804295"/>
                  </a:ext>
                </a:extLst>
              </a:tr>
              <a:tr h="170986">
                <a:tc>
                  <a:txBody>
                    <a:bodyPr/>
                    <a:lstStyle/>
                    <a:p>
                      <a:pPr algn="l" fontAlgn="b">
                        <a:buNone/>
                      </a:pPr>
                      <a:r>
                        <a:rPr lang="en-US" sz="1100" b="0" i="0" u="none" strike="noStrike">
                          <a:solidFill>
                            <a:srgbClr val="000000"/>
                          </a:solidFill>
                          <a:effectLst/>
                          <a:latin typeface="Aptos Narrow" panose="020B0004020202020204" pitchFamily="34" charset="0"/>
                        </a:rPr>
                        <a:t>Color2</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SALELE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NO</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&lt;=15</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12, 13, 14, 14.8, 15</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&gt;=18nm (full-facing)</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Aptos Narrow" panose="020B0004020202020204" pitchFamily="34" charset="0"/>
                        </a:rPr>
                        <a:t>&gt;=48nm with ONE ETEs of ==18nm ETE</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Aptos Narrow" panose="020B0004020202020204" pitchFamily="34" charset="0"/>
                        </a:rPr>
                        <a:t>&gt;=70nm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3575551079"/>
                  </a:ext>
                </a:extLst>
              </a:tr>
              <a:tr h="170986">
                <a:tc>
                  <a:txBody>
                    <a:bodyPr/>
                    <a:lstStyle/>
                    <a:p>
                      <a:pPr algn="l" fontAlgn="b">
                        <a:buNone/>
                      </a:pPr>
                      <a:r>
                        <a:rPr lang="en-US" sz="1100" b="0" i="0" u="none" strike="noStrike">
                          <a:solidFill>
                            <a:srgbClr val="000000"/>
                          </a:solidFill>
                          <a:effectLst/>
                          <a:latin typeface="Aptos Narrow" panose="020B0004020202020204" pitchFamily="34" charset="0"/>
                        </a:rPr>
                        <a:t>Color2</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SALELE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NO</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chemeClr val="tx1"/>
                          </a:solidFill>
                          <a:effectLst/>
                          <a:latin typeface="Aptos Narrow" panose="020B0004020202020204" pitchFamily="34" charset="0"/>
                        </a:rPr>
                        <a:t>&gt;15 and  &lt;=24</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17, 20, 22, 24</a:t>
                      </a:r>
                      <a:endParaRPr lang="en-US" sz="1100" b="0" i="0" u="none" strike="sngStrike">
                        <a:solidFill>
                          <a:srgbClr val="000000"/>
                        </a:solidFill>
                        <a:effectLst/>
                        <a:latin typeface="Aptos Narrow" panose="020B0004020202020204" pitchFamily="34" charset="0"/>
                      </a:endParaRP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&gt;=22nm (full-facing)</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Aptos Narrow" panose="020B0004020202020204" pitchFamily="34" charset="0"/>
                        </a:rPr>
                        <a:t>&gt;=66nm with ONE ETEs of ==18nm ETE</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Aptos Narrow" panose="020B0004020202020204" pitchFamily="34" charset="0"/>
                        </a:rPr>
                        <a:t>&gt;=70nm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3897472207"/>
                  </a:ext>
                </a:extLst>
              </a:tr>
              <a:tr h="170986">
                <a:tc>
                  <a:txBody>
                    <a:bodyPr/>
                    <a:lstStyle/>
                    <a:p>
                      <a:pPr algn="l" fontAlgn="b">
                        <a:buNone/>
                      </a:pPr>
                      <a:r>
                        <a:rPr lang="en-US" sz="1100" b="0" i="0" u="none" strike="noStrike">
                          <a:solidFill>
                            <a:srgbClr val="000000"/>
                          </a:solidFill>
                          <a:effectLst/>
                          <a:latin typeface="Aptos Narrow" panose="020B0004020202020204" pitchFamily="34" charset="0"/>
                        </a:rPr>
                        <a:t>Color2</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LELE</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l" fontAlgn="b">
                        <a:buNone/>
                      </a:pPr>
                      <a:r>
                        <a:rPr lang="en-US" sz="1100" b="0" i="0" u="none" strike="noStrike">
                          <a:solidFill>
                            <a:srgbClr val="000000"/>
                          </a:solidFill>
                          <a:effectLst/>
                          <a:latin typeface="Aptos Narrow" panose="020B0004020202020204" pitchFamily="34" charset="0"/>
                        </a:rPr>
                        <a:t>NO</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sym typeface="Wingdings" panose="05000000000000000000" pitchFamily="2" charset="2"/>
                        </a:rPr>
                        <a:t>&gt;24</a:t>
                      </a:r>
                      <a:endParaRPr lang="en-US" sz="1100" b="0" i="0" u="none" strike="noStrike">
                        <a:solidFill>
                          <a:srgbClr val="000000"/>
                        </a:solidFill>
                        <a:effectLst/>
                        <a:latin typeface="Aptos Narrow" panose="020B0004020202020204" pitchFamily="34" charset="0"/>
                      </a:endParaRP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Aptos Narrow" panose="020B0004020202020204" pitchFamily="34" charset="0"/>
                        </a:rPr>
                        <a:t>27, 32, 37</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&gt;=44 (full-facing), &gt;=62nm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&gt;=88nm</a:t>
                      </a:r>
                    </a:p>
                  </a:txBody>
                  <a:tcPr marL="4732" marR="4732" marT="47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68044830"/>
                  </a:ext>
                </a:extLst>
              </a:tr>
            </a:tbl>
          </a:graphicData>
        </a:graphic>
      </p:graphicFrame>
    </p:spTree>
    <p:extLst>
      <p:ext uri="{BB962C8B-B14F-4D97-AF65-F5344CB8AC3E}">
        <p14:creationId xmlns:p14="http://schemas.microsoft.com/office/powerpoint/2010/main" val="22361485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708E8-7B7E-9BE2-308B-97ECB0651C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1F6EAD-BB34-39F6-D2B3-EE6EDFF740CD}"/>
              </a:ext>
            </a:extLst>
          </p:cNvPr>
          <p:cNvSpPr>
            <a:spLocks noGrp="1"/>
          </p:cNvSpPr>
          <p:nvPr>
            <p:ph type="title" idx="4294967295"/>
          </p:nvPr>
        </p:nvSpPr>
        <p:spPr>
          <a:xfrm>
            <a:off x="2003" y="-13971"/>
            <a:ext cx="10515600" cy="748245"/>
          </a:xfrm>
        </p:spPr>
        <p:txBody>
          <a:bodyPr/>
          <a:lstStyle/>
          <a:p>
            <a:r>
              <a:rPr lang="en-US"/>
              <a:t>V0 Rules</a:t>
            </a:r>
          </a:p>
        </p:txBody>
      </p:sp>
      <p:graphicFrame>
        <p:nvGraphicFramePr>
          <p:cNvPr id="4" name="Table 3">
            <a:extLst>
              <a:ext uri="{FF2B5EF4-FFF2-40B4-BE49-F238E27FC236}">
                <a16:creationId xmlns:a16="http://schemas.microsoft.com/office/drawing/2014/main" id="{C111FCCB-BDAD-8C14-2AC3-8004DACB76C6}"/>
              </a:ext>
            </a:extLst>
          </p:cNvPr>
          <p:cNvGraphicFramePr>
            <a:graphicFrameLocks noGrp="1"/>
          </p:cNvGraphicFramePr>
          <p:nvPr>
            <p:extLst>
              <p:ext uri="{D42A27DB-BD31-4B8C-83A1-F6EECF244321}">
                <p14:modId xmlns:p14="http://schemas.microsoft.com/office/powerpoint/2010/main" val="158712803"/>
              </p:ext>
            </p:extLst>
          </p:nvPr>
        </p:nvGraphicFramePr>
        <p:xfrm>
          <a:off x="0" y="1547131"/>
          <a:ext cx="12191999" cy="3746236"/>
        </p:xfrm>
        <a:graphic>
          <a:graphicData uri="http://schemas.openxmlformats.org/drawingml/2006/table">
            <a:tbl>
              <a:tblPr/>
              <a:tblGrid>
                <a:gridCol w="963650">
                  <a:extLst>
                    <a:ext uri="{9D8B030D-6E8A-4147-A177-3AD203B41FA5}">
                      <a16:colId xmlns:a16="http://schemas.microsoft.com/office/drawing/2014/main" val="2858132584"/>
                    </a:ext>
                  </a:extLst>
                </a:gridCol>
                <a:gridCol w="2182665">
                  <a:extLst>
                    <a:ext uri="{9D8B030D-6E8A-4147-A177-3AD203B41FA5}">
                      <a16:colId xmlns:a16="http://schemas.microsoft.com/office/drawing/2014/main" val="1175769409"/>
                    </a:ext>
                  </a:extLst>
                </a:gridCol>
                <a:gridCol w="4477839">
                  <a:extLst>
                    <a:ext uri="{9D8B030D-6E8A-4147-A177-3AD203B41FA5}">
                      <a16:colId xmlns:a16="http://schemas.microsoft.com/office/drawing/2014/main" val="2361098275"/>
                    </a:ext>
                  </a:extLst>
                </a:gridCol>
                <a:gridCol w="4567845">
                  <a:extLst>
                    <a:ext uri="{9D8B030D-6E8A-4147-A177-3AD203B41FA5}">
                      <a16:colId xmlns:a16="http://schemas.microsoft.com/office/drawing/2014/main" val="604267966"/>
                    </a:ext>
                  </a:extLst>
                </a:gridCol>
              </a:tblGrid>
              <a:tr h="658585">
                <a:tc>
                  <a:txBody>
                    <a:bodyPr/>
                    <a:lstStyle/>
                    <a:p>
                      <a:pPr algn="ctr" fontAlgn="ctr">
                        <a:buNone/>
                      </a:pPr>
                      <a:r>
                        <a:rPr lang="en-US" sz="10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0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0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0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187121769"/>
                  </a:ext>
                </a:extLst>
              </a:tr>
              <a:tr h="14112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27-48</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21-44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353105934"/>
                  </a:ext>
                </a:extLst>
              </a:tr>
              <a:tr h="14112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16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cap="none" spc="0" baseline="0">
                          <a:solidFill>
                            <a:srgbClr val="000000"/>
                          </a:solidFill>
                          <a:effectLst/>
                          <a:uFillTx/>
                          <a:latin typeface="Calibri" panose="020F0502020204030204" pitchFamily="34" charset="0"/>
                          <a:ea typeface="+mn-ea"/>
                          <a:cs typeface="+mn-cs"/>
                          <a:sym typeface="Intel Clear"/>
                        </a:rPr>
                        <a:t>Limit the via size to 4-6 vias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crgbClr r="0" g="0" b="0">
                        <a:alpha val="0"/>
                      </a:scrgbClr>
                    </a:solidFill>
                  </a:tcPr>
                </a:tc>
                <a:extLst>
                  <a:ext uri="{0D108BD9-81ED-4DB2-BD59-A6C34878D82A}">
                    <a16:rowId xmlns:a16="http://schemas.microsoft.com/office/drawing/2014/main" val="2556408953"/>
                  </a:ext>
                </a:extLst>
              </a:tr>
              <a:tr h="282250">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&gt;=40nm</a:t>
                      </a: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a:t>
                      </a:r>
                      <a:r>
                        <a:rPr lang="en-US" sz="1000" b="0" i="0" u="none" strike="noStrike">
                          <a:solidFill>
                            <a:srgbClr val="000000"/>
                          </a:solidFill>
                          <a:effectLst/>
                          <a:latin typeface="Calibri" panose="020F0502020204030204" pitchFamily="34" charset="0"/>
                        </a:rPr>
                        <a:t> 13nm to enable bridge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&gt;=42nm</a:t>
                      </a:r>
                      <a:r>
                        <a:rPr lang="en-US" sz="1000" b="0" i="0" u="none" strike="noStrike" baseline="0">
                          <a:solidFill>
                            <a:srgbClr val="000000"/>
                          </a:solidFill>
                          <a:effectLst/>
                          <a:latin typeface="Calibri" panose="020F0502020204030204" pitchFamily="34" charset="0"/>
                        </a:rPr>
                        <a:t> as general rule</a:t>
                      </a:r>
                      <a:endParaRPr lang="en-US" sz="1000" b="0" i="0" u="none" strike="noStrike">
                        <a:solidFill>
                          <a:srgbClr val="000000"/>
                        </a:solidFill>
                        <a:effectLst/>
                        <a:latin typeface="Calibri" panose="020F0502020204030204" pitchFamily="34" charset="0"/>
                      </a:endParaRP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a:t>
                      </a:r>
                      <a:r>
                        <a:rPr lang="en-US" sz="1000" b="1" i="0" u="none" strike="noStrike" baseline="0">
                          <a:solidFill>
                            <a:srgbClr val="000000"/>
                          </a:solidFill>
                          <a:effectLst/>
                          <a:latin typeface="Calibri" panose="020F0502020204030204" pitchFamily="34" charset="0"/>
                        </a:rPr>
                        <a:t> </a:t>
                      </a:r>
                      <a:r>
                        <a:rPr lang="en-US" sz="1000" b="0" i="0" u="none" strike="noStrike">
                          <a:solidFill>
                            <a:srgbClr val="000000"/>
                          </a:solidFill>
                          <a:effectLst/>
                          <a:latin typeface="Calibri" panose="020F0502020204030204" pitchFamily="34" charset="0"/>
                        </a:rPr>
                        <a:t>&gt;=30nm</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No bridge via enablement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81421904"/>
                  </a:ext>
                </a:extLst>
              </a:tr>
              <a:tr h="42337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46nm (1.5pp-26nm)</a:t>
                      </a:r>
                      <a:br>
                        <a:rPr lang="en-US" sz="1000" b="0" i="0" u="none" strike="noStrike">
                          <a:solidFill>
                            <a:srgbClr val="000000"/>
                          </a:solidFill>
                          <a:effectLst/>
                          <a:latin typeface="Calibri" panose="020F0502020204030204" pitchFamily="34" charset="0"/>
                        </a:rPr>
                      </a:br>
                      <a:r>
                        <a:rPr lang="en-US" sz="1000" b="1" i="0" u="none" strike="noStrike">
                          <a:solidFill>
                            <a:srgbClr val="000000"/>
                          </a:solidFill>
                          <a:effectLst/>
                          <a:latin typeface="Calibri" panose="020F0502020204030204" pitchFamily="34" charset="0"/>
                        </a:rPr>
                        <a:t>Exception:</a:t>
                      </a:r>
                      <a:r>
                        <a:rPr lang="en-US" sz="1000" b="0" i="0" u="none" strike="noStrike">
                          <a:solidFill>
                            <a:srgbClr val="000000"/>
                          </a:solidFill>
                          <a:effectLst/>
                          <a:latin typeface="Calibri" panose="020F0502020204030204" pitchFamily="34" charset="0"/>
                        </a:rPr>
                        <a:t> 22nm for small vias (adjacent)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&lt;=42nm (1.5pp-24)</a:t>
                      </a:r>
                      <a:endParaRPr lang="en-US" sz="1000" b="1" i="0" u="none" strike="noStrike">
                        <a:solidFill>
                          <a:srgbClr val="000000"/>
                        </a:solidFill>
                        <a:effectLst/>
                        <a:latin typeface="Calibri" panose="020F0502020204030204" pitchFamily="34" charset="0"/>
                      </a:endParaRP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 </a:t>
                      </a:r>
                      <a:r>
                        <a:rPr lang="en-US" sz="1000" b="0" i="0" u="none" strike="noStrike">
                          <a:solidFill>
                            <a:srgbClr val="000000"/>
                          </a:solidFill>
                          <a:effectLst/>
                          <a:latin typeface="Calibri" panose="020F0502020204030204" pitchFamily="34" charset="0"/>
                        </a:rPr>
                        <a:t>20nm for small vias (PGD width &lt;=15)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8721094"/>
                  </a:ext>
                </a:extLst>
              </a:tr>
              <a:tr h="42337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42nm</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Exception: 25.5nm for small vias (&lt;=19nm)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&gt;=29nm</a:t>
                      </a: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 </a:t>
                      </a:r>
                      <a:r>
                        <a:rPr lang="en-US" sz="1000" b="0" i="0" u="none" strike="noStrike">
                          <a:solidFill>
                            <a:srgbClr val="000000"/>
                          </a:solidFill>
                          <a:effectLst/>
                          <a:latin typeface="Calibri" panose="020F0502020204030204" pitchFamily="34" charset="0"/>
                        </a:rPr>
                        <a:t>21.9nm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2053318"/>
                  </a:ext>
                </a:extLst>
              </a:tr>
              <a:tr h="42337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OGD: Max of 2 vias </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PGD: No rules</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C2C: No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OGD: Max of 2 vias </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PGD: No rules</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C2C: No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88231130"/>
                  </a:ext>
                </a:extLst>
              </a:tr>
              <a:tr h="564501">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&gt;=26nm on M0 OGD wire</a:t>
                      </a: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a:t>
                      </a:r>
                      <a:r>
                        <a:rPr lang="en-US" sz="1000" b="0" i="0" u="none" strike="noStrike">
                          <a:solidFill>
                            <a:srgbClr val="000000"/>
                          </a:solidFill>
                          <a:effectLst/>
                          <a:latin typeface="Calibri" panose="020F0502020204030204" pitchFamily="34" charset="0"/>
                        </a:rPr>
                        <a:t>: 2nm for small wires</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Not allowed on M0 PGD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&gt;=23nm on M0 OGD wire (fit M0 ETE within M1 skip-track)</a:t>
                      </a:r>
                    </a:p>
                    <a:p>
                      <a:pPr marL="171450" indent="-171450" algn="l" fontAlgn="ctr">
                        <a:buFont typeface="Wingdings" panose="05000000000000000000" pitchFamily="2" charset="2"/>
                        <a:buChar char="v"/>
                      </a:pPr>
                      <a:r>
                        <a:rPr lang="en-US" sz="1000" b="1" i="0" u="none" strike="noStrike">
                          <a:solidFill>
                            <a:srgbClr val="000000"/>
                          </a:solidFill>
                          <a:effectLst/>
                          <a:latin typeface="Calibri" panose="020F0502020204030204" pitchFamily="34" charset="0"/>
                        </a:rPr>
                        <a:t>Exception:</a:t>
                      </a:r>
                      <a:r>
                        <a:rPr lang="en-US" sz="1000" b="0" i="0" u="none" strike="noStrike">
                          <a:solidFill>
                            <a:srgbClr val="000000"/>
                          </a:solidFill>
                          <a:effectLst/>
                          <a:latin typeface="Calibri" panose="020F0502020204030204" pitchFamily="34" charset="0"/>
                        </a:rPr>
                        <a:t> 1nm for small vias (Library must-have)</a:t>
                      </a:r>
                    </a:p>
                    <a:p>
                      <a:pPr marL="171450" marR="0" lvl="0" indent="-171450" algn="l" defTabSz="609600" eaLnBrk="1" fontAlgn="ctr" latinLnBrk="0" hangingPunct="1">
                        <a:lnSpc>
                          <a:spcPct val="100000"/>
                        </a:lnSpc>
                        <a:spcBef>
                          <a:spcPts val="0"/>
                        </a:spcBef>
                        <a:spcAft>
                          <a:spcPts val="0"/>
                        </a:spcAft>
                        <a:buClrTx/>
                        <a:buSzTx/>
                        <a:buFont typeface="Wingdings" panose="05000000000000000000" pitchFamily="2" charset="2"/>
                        <a:buChar char="v"/>
                        <a:tabLst/>
                        <a:defRPr/>
                      </a:pPr>
                      <a:r>
                        <a:rPr lang="en-US" sz="1000" b="0" i="0" u="none" strike="noStrike">
                          <a:solidFill>
                            <a:srgbClr val="000000"/>
                          </a:solidFill>
                          <a:effectLst/>
                          <a:latin typeface="Calibri" panose="020F0502020204030204" pitchFamily="34" charset="0"/>
                        </a:rPr>
                        <a:t>Not allowed on M0 PGD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69068390"/>
                  </a:ext>
                </a:extLst>
              </a:tr>
              <a:tr h="423375">
                <a:tc>
                  <a:txBody>
                    <a:bodyPr/>
                    <a:lstStyle/>
                    <a:p>
                      <a:pPr algn="l" fontAlgn="ctr">
                        <a:buNone/>
                      </a:pPr>
                      <a:r>
                        <a:rPr lang="en-US" sz="1000" b="0" i="0" u="none" strike="noStrike">
                          <a:solidFill>
                            <a:srgbClr val="000000"/>
                          </a:solidFill>
                          <a:effectLst/>
                          <a:latin typeface="Calibri" panose="020F0502020204030204" pitchFamily="34" charset="0"/>
                        </a:rPr>
                        <a:t>V0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11nm on M1 PGD wire</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20nm on M1 OGD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12.5nm is general use</a:t>
                      </a:r>
                      <a:endParaRPr lang="en-US" sz="1000" b="0" i="0" u="none" strike="noStrike">
                        <a:solidFill>
                          <a:srgbClr val="000000"/>
                        </a:solidFill>
                        <a:effectLst/>
                        <a:highlight>
                          <a:srgbClr val="FFFF00"/>
                        </a:highlight>
                        <a:latin typeface="Calibri" panose="020F0502020204030204" pitchFamily="34" charset="0"/>
                      </a:endParaRP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6nm on M1 PGD wire (library)</a:t>
                      </a:r>
                    </a:p>
                    <a:p>
                      <a:pPr marL="171450" indent="-171450" algn="l" fontAlgn="ctr">
                        <a:buFont typeface="Wingdings" panose="05000000000000000000" pitchFamily="2" charset="2"/>
                        <a:buChar char="v"/>
                      </a:pPr>
                      <a:r>
                        <a:rPr lang="en-US" sz="1000" b="0" i="0" u="none" strike="noStrike">
                          <a:solidFill>
                            <a:srgbClr val="000000"/>
                          </a:solidFill>
                          <a:effectLst/>
                          <a:latin typeface="Calibri" panose="020F0502020204030204" pitchFamily="34" charset="0"/>
                        </a:rPr>
                        <a:t>20nm on M1 OGD wire if M1 OGD is allowed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50088395"/>
                  </a:ext>
                </a:extLst>
              </a:tr>
            </a:tbl>
          </a:graphicData>
        </a:graphic>
      </p:graphicFrame>
    </p:spTree>
    <p:extLst>
      <p:ext uri="{BB962C8B-B14F-4D97-AF65-F5344CB8AC3E}">
        <p14:creationId xmlns:p14="http://schemas.microsoft.com/office/powerpoint/2010/main" val="38405878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0C30A-9A77-53CF-719C-294ADE047038}"/>
              </a:ext>
            </a:extLst>
          </p:cNvPr>
          <p:cNvSpPr>
            <a:spLocks noGrp="1"/>
          </p:cNvSpPr>
          <p:nvPr>
            <p:ph type="title" idx="4294967295"/>
          </p:nvPr>
        </p:nvSpPr>
        <p:spPr>
          <a:xfrm>
            <a:off x="0" y="-18147"/>
            <a:ext cx="10515600" cy="748245"/>
          </a:xfrm>
        </p:spPr>
        <p:txBody>
          <a:bodyPr/>
          <a:lstStyle/>
          <a:p>
            <a:r>
              <a:rPr lang="en-US"/>
              <a:t>M1</a:t>
            </a:r>
            <a:r>
              <a:rPr lang="en-US" baseline="0"/>
              <a:t> Rules</a:t>
            </a:r>
            <a:endParaRPr lang="en-US"/>
          </a:p>
        </p:txBody>
      </p:sp>
      <p:graphicFrame>
        <p:nvGraphicFramePr>
          <p:cNvPr id="3" name="Table 2">
            <a:extLst>
              <a:ext uri="{FF2B5EF4-FFF2-40B4-BE49-F238E27FC236}">
                <a16:creationId xmlns:a16="http://schemas.microsoft.com/office/drawing/2014/main" id="{5C9F78D0-A568-A3DE-B9E4-A4D4BBA81717}"/>
              </a:ext>
            </a:extLst>
          </p:cNvPr>
          <p:cNvGraphicFramePr>
            <a:graphicFrameLocks noGrp="1"/>
          </p:cNvGraphicFramePr>
          <p:nvPr>
            <p:extLst>
              <p:ext uri="{D42A27DB-BD31-4B8C-83A1-F6EECF244321}">
                <p14:modId xmlns:p14="http://schemas.microsoft.com/office/powerpoint/2010/main" val="3541635310"/>
              </p:ext>
            </p:extLst>
          </p:nvPr>
        </p:nvGraphicFramePr>
        <p:xfrm>
          <a:off x="0" y="1047422"/>
          <a:ext cx="12192002" cy="3831231"/>
        </p:xfrm>
        <a:graphic>
          <a:graphicData uri="http://schemas.openxmlformats.org/drawingml/2006/table">
            <a:tbl>
              <a:tblPr/>
              <a:tblGrid>
                <a:gridCol w="1848000">
                  <a:extLst>
                    <a:ext uri="{9D8B030D-6E8A-4147-A177-3AD203B41FA5}">
                      <a16:colId xmlns:a16="http://schemas.microsoft.com/office/drawing/2014/main" val="2271513437"/>
                    </a:ext>
                  </a:extLst>
                </a:gridCol>
                <a:gridCol w="1743352">
                  <a:extLst>
                    <a:ext uri="{9D8B030D-6E8A-4147-A177-3AD203B41FA5}">
                      <a16:colId xmlns:a16="http://schemas.microsoft.com/office/drawing/2014/main" val="3227902171"/>
                    </a:ext>
                  </a:extLst>
                </a:gridCol>
                <a:gridCol w="3940028">
                  <a:extLst>
                    <a:ext uri="{9D8B030D-6E8A-4147-A177-3AD203B41FA5}">
                      <a16:colId xmlns:a16="http://schemas.microsoft.com/office/drawing/2014/main" val="1000136788"/>
                    </a:ext>
                  </a:extLst>
                </a:gridCol>
                <a:gridCol w="4660622">
                  <a:extLst>
                    <a:ext uri="{9D8B030D-6E8A-4147-A177-3AD203B41FA5}">
                      <a16:colId xmlns:a16="http://schemas.microsoft.com/office/drawing/2014/main" val="2638823002"/>
                    </a:ext>
                  </a:extLst>
                </a:gridCol>
              </a:tblGrid>
              <a:tr h="909106">
                <a:tc>
                  <a:txBody>
                    <a:bodyPr/>
                    <a:lstStyle/>
                    <a:p>
                      <a:pPr algn="ctr" fontAlgn="ctr">
                        <a:buNone/>
                      </a:pPr>
                      <a:r>
                        <a:rPr lang="en-US" sz="10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0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0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0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2424934368"/>
                  </a:ext>
                </a:extLst>
              </a:tr>
              <a:tr h="194808">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26W/22S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24W/20S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27140855"/>
                  </a:ext>
                </a:extLst>
              </a:tr>
              <a:tr h="389617">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n-NO" sz="1000" b="0" i="0" u="none" strike="noStrike">
                          <a:solidFill>
                            <a:srgbClr val="000000"/>
                          </a:solidFill>
                          <a:effectLst/>
                          <a:latin typeface="Calibri" panose="020F0502020204030204" pitchFamily="34" charset="0"/>
                        </a:rPr>
                        <a:t>&gt;=45nm for PGD</a:t>
                      </a:r>
                      <a:br>
                        <a:rPr lang="nn-NO" sz="1000" b="0" i="0" u="none" strike="noStrike">
                          <a:solidFill>
                            <a:srgbClr val="000000"/>
                          </a:solidFill>
                          <a:effectLst/>
                          <a:latin typeface="Calibri" panose="020F0502020204030204" pitchFamily="34" charset="0"/>
                        </a:rPr>
                      </a:br>
                      <a:r>
                        <a:rPr lang="nn-NO" sz="1000" b="0" i="0" u="none" strike="noStrike">
                          <a:solidFill>
                            <a:srgbClr val="000000"/>
                          </a:solidFill>
                          <a:effectLst/>
                          <a:latin typeface="Calibri" panose="020F0502020204030204" pitchFamily="34" charset="0"/>
                        </a:rPr>
                        <a:t>&gt;=126nm for OGD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n-NO" sz="1000" b="0" i="0" u="none" strike="noStrike">
                          <a:solidFill>
                            <a:srgbClr val="000000"/>
                          </a:solidFill>
                          <a:effectLst/>
                          <a:latin typeface="Calibri" panose="020F0502020204030204" pitchFamily="34" charset="0"/>
                        </a:rPr>
                        <a:t>&gt;=37nm for PGD. </a:t>
                      </a:r>
                      <a:r>
                        <a:rPr lang="nn-NO" sz="1000" b="0" i="0" u="none" strike="noStrike">
                          <a:solidFill>
                            <a:srgbClr val="000000"/>
                          </a:solidFill>
                          <a:effectLst/>
                          <a:highlight>
                            <a:srgbClr val="00FF00"/>
                          </a:highlight>
                          <a:latin typeface="Calibri" panose="020F0502020204030204" pitchFamily="34" charset="0"/>
                        </a:rPr>
                        <a:t>Brickwall rules are added</a:t>
                      </a:r>
                    </a:p>
                    <a:p>
                      <a:pPr marL="171450" indent="-171450" algn="l" fontAlgn="b">
                        <a:buFont typeface="Wingdings" panose="05000000000000000000" pitchFamily="2" charset="2"/>
                        <a:buChar char="v"/>
                      </a:pPr>
                      <a:r>
                        <a:rPr lang="nn-NO" sz="1000" b="0" i="0" u="none" strike="noStrike">
                          <a:solidFill>
                            <a:srgbClr val="000000"/>
                          </a:solidFill>
                          <a:effectLst/>
                          <a:latin typeface="Calibri" panose="020F0502020204030204" pitchFamily="34" charset="0"/>
                        </a:rPr>
                        <a:t>&gt;=126nm for OGD if OGD is available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15755915"/>
                  </a:ext>
                </a:extLst>
              </a:tr>
              <a:tr h="584425">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&gt;=35nm as general rule</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&gt;=18nm for &lt;=26nm PGD wires</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&gt;=40nm for OGD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&gt;=35nm as general rule</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&gt;=18nm for 24nm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34662959"/>
                  </a:ext>
                </a:extLst>
              </a:tr>
              <a:tr h="389617">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PGD-OGD: &gt;=35nm</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OGD-PGD: &gt;=45nm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PGD-OGD: &gt;=35nm</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OGD-PGD: &gt;=45nm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44531002"/>
                  </a:ext>
                </a:extLst>
              </a:tr>
              <a:tr h="1168850">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PRL: &gt;=9nm if space &lt;=33 for PGD wires, &gt;=30nm if space &lt;=45nm for OGD wires</a:t>
                      </a:r>
                      <a:br>
                        <a:rPr lang="en-US" sz="1000" b="0" i="0" u="none" strike="noStrike">
                          <a:solidFill>
                            <a:srgbClr val="000000"/>
                          </a:solidFill>
                          <a:effectLst/>
                          <a:latin typeface="Calibri" panose="020F0502020204030204" pitchFamily="34" charset="0"/>
                        </a:rPr>
                      </a:br>
                      <a:r>
                        <a:rPr lang="en-US" sz="1000" b="0" i="0" u="none" strike="noStrike">
                          <a:solidFill>
                            <a:srgbClr val="000000"/>
                          </a:solidFill>
                          <a:effectLst/>
                          <a:latin typeface="Calibri" panose="020F0502020204030204" pitchFamily="34" charset="0"/>
                        </a:rPr>
                        <a:t>Offset: &gt;=7nm if space &lt;=33 for PGD wires, &gt;=30nm if space &lt;=45nm for OGD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0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REMOVED PRL/OFFSET FOR PGD WIRES</a:t>
                      </a:r>
                    </a:p>
                    <a:p>
                      <a:pPr marL="171450" indent="-171450" algn="l" fontAlgn="b">
                        <a:buFont typeface="Wingdings" panose="05000000000000000000" pitchFamily="2" charset="2"/>
                        <a:buChar char="v"/>
                      </a:pPr>
                      <a:r>
                        <a:rPr lang="en-US" sz="1000" b="0" i="0" u="none" strike="noStrike" cap="none" spc="0" baseline="0">
                          <a:solidFill>
                            <a:srgbClr val="000000"/>
                          </a:solidFill>
                          <a:effectLst/>
                          <a:uFillTx/>
                          <a:latin typeface="Calibri" panose="020F0502020204030204" pitchFamily="34" charset="0"/>
                          <a:ea typeface="+mn-ea"/>
                          <a:cs typeface="+mn-cs"/>
                          <a:sym typeface="Intel Clear"/>
                        </a:rPr>
                        <a:t>PRL: </a:t>
                      </a:r>
                      <a:r>
                        <a:rPr lang="en-US" sz="1000" b="0" i="0" u="none" strike="sngStrike" cap="none" spc="0" baseline="0">
                          <a:solidFill>
                            <a:srgbClr val="000000"/>
                          </a:solidFill>
                          <a:effectLst/>
                          <a:highlight>
                            <a:srgbClr val="00FF00"/>
                          </a:highlight>
                          <a:uFillTx/>
                          <a:latin typeface="Calibri" panose="020F0502020204030204" pitchFamily="34" charset="0"/>
                          <a:ea typeface="+mn-ea"/>
                          <a:cs typeface="+mn-cs"/>
                          <a:sym typeface="Intel Clear"/>
                        </a:rPr>
                        <a:t>&gt;=3nm if space &lt;=33 for PGD wires,</a:t>
                      </a:r>
                      <a:r>
                        <a:rPr lang="en-US" sz="1000" b="0" i="0" u="none" strike="noStrike" cap="none" spc="0" baseline="0">
                          <a:solidFill>
                            <a:srgbClr val="000000"/>
                          </a:solidFill>
                          <a:effectLst/>
                          <a:uFillTx/>
                          <a:latin typeface="Calibri" panose="020F0502020204030204" pitchFamily="34" charset="0"/>
                          <a:ea typeface="+mn-ea"/>
                          <a:cs typeface="+mn-cs"/>
                          <a:sym typeface="Intel Clear"/>
                        </a:rPr>
                        <a:t> &gt;=30nm if space &lt;=45nm for OGD wires</a:t>
                      </a:r>
                    </a:p>
                    <a:p>
                      <a:pPr marL="171450" indent="-171450" algn="l" fontAlgn="b">
                        <a:buFont typeface="Wingdings" panose="05000000000000000000" pitchFamily="2" charset="2"/>
                        <a:buChar char="v"/>
                      </a:pPr>
                      <a:r>
                        <a:rPr lang="en-US" sz="1000" b="0" i="0" u="none" strike="noStrike">
                          <a:solidFill>
                            <a:srgbClr val="000000"/>
                          </a:solidFill>
                          <a:effectLst/>
                          <a:latin typeface="Calibri" panose="020F0502020204030204" pitchFamily="34" charset="0"/>
                        </a:rPr>
                        <a:t>Offset: </a:t>
                      </a:r>
                      <a:r>
                        <a:rPr lang="en-US" sz="1000" b="0" i="0" u="none" strike="sngStrike">
                          <a:solidFill>
                            <a:srgbClr val="000000"/>
                          </a:solidFill>
                          <a:effectLst/>
                          <a:highlight>
                            <a:srgbClr val="00FF00"/>
                          </a:highlight>
                          <a:latin typeface="Calibri" panose="020F0502020204030204" pitchFamily="34" charset="0"/>
                        </a:rPr>
                        <a:t>&gt;=7nm if space &lt;=33 for PGD wires,</a:t>
                      </a:r>
                      <a:r>
                        <a:rPr lang="en-US" sz="1000" b="0" i="0" u="none" strike="noStrike">
                          <a:solidFill>
                            <a:srgbClr val="000000"/>
                          </a:solidFill>
                          <a:effectLst/>
                          <a:latin typeface="Calibri" panose="020F0502020204030204" pitchFamily="34" charset="0"/>
                        </a:rPr>
                        <a:t> &gt;=30nm if space &lt;=45nm for OGD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80375994"/>
                  </a:ext>
                </a:extLst>
              </a:tr>
              <a:tr h="194808">
                <a:tc>
                  <a:txBody>
                    <a:bodyPr/>
                    <a:lstStyle/>
                    <a:p>
                      <a:pPr algn="l" fontAlgn="b">
                        <a:buNone/>
                      </a:pPr>
                      <a:r>
                        <a:rPr lang="en-US" sz="1000" b="0" i="0" u="none" strike="noStrike">
                          <a:solidFill>
                            <a:srgbClr val="000000"/>
                          </a:solidFill>
                          <a:effectLst/>
                          <a:latin typeface="Calibri" panose="020F0502020204030204" pitchFamily="34" charset="0"/>
                        </a:rPr>
                        <a:t>M1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l-NL" sz="1000" b="0" i="0" u="none" strike="noStrike">
                          <a:solidFill>
                            <a:srgbClr val="000000"/>
                          </a:solidFill>
                          <a:effectLst/>
                          <a:latin typeface="Calibri" panose="020F0502020204030204" pitchFamily="34" charset="0"/>
                        </a:rPr>
                        <a:t> &lt;=184.5 in PGD, &lt;=159.5nm in OGD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nl-NL" sz="1000" b="0" i="0" u="none" strike="noStrike">
                          <a:solidFill>
                            <a:srgbClr val="000000"/>
                          </a:solidFill>
                          <a:effectLst/>
                          <a:latin typeface="Calibri" panose="020F0502020204030204" pitchFamily="34" charset="0"/>
                        </a:rPr>
                        <a:t>&lt;=184.5 in PGD, &lt;=159.5nm in OGD </a:t>
                      </a:r>
                      <a:endParaRPr lang="en-US" sz="1000" b="0" i="0" u="none" strike="noStrike">
                        <a:solidFill>
                          <a:srgbClr val="000000"/>
                        </a:solidFill>
                        <a:effectLst/>
                        <a:highlight>
                          <a:srgbClr val="FFFF00"/>
                        </a:highligh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03244313"/>
                  </a:ext>
                </a:extLst>
              </a:tr>
            </a:tbl>
          </a:graphicData>
        </a:graphic>
      </p:graphicFrame>
    </p:spTree>
    <p:extLst>
      <p:ext uri="{BB962C8B-B14F-4D97-AF65-F5344CB8AC3E}">
        <p14:creationId xmlns:p14="http://schemas.microsoft.com/office/powerpoint/2010/main" val="2329757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08872-CF73-6487-0CE1-D97AFA44C41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C42203-EB8C-2BE3-5FBA-AF7B7A5FB804}"/>
              </a:ext>
            </a:extLst>
          </p:cNvPr>
          <p:cNvSpPr>
            <a:spLocks noGrp="1"/>
          </p:cNvSpPr>
          <p:nvPr>
            <p:ph type="title" idx="4294967295"/>
          </p:nvPr>
        </p:nvSpPr>
        <p:spPr>
          <a:xfrm>
            <a:off x="2003" y="-13971"/>
            <a:ext cx="10515600" cy="748245"/>
          </a:xfrm>
        </p:spPr>
        <p:txBody>
          <a:bodyPr/>
          <a:lstStyle/>
          <a:p>
            <a:r>
              <a:rPr lang="en-US"/>
              <a:t>V1 Rules</a:t>
            </a:r>
          </a:p>
        </p:txBody>
      </p:sp>
      <p:graphicFrame>
        <p:nvGraphicFramePr>
          <p:cNvPr id="2" name="Table 1">
            <a:extLst>
              <a:ext uri="{FF2B5EF4-FFF2-40B4-BE49-F238E27FC236}">
                <a16:creationId xmlns:a16="http://schemas.microsoft.com/office/drawing/2014/main" id="{070225CF-8B87-6BF6-6C82-0A39D1657E33}"/>
              </a:ext>
            </a:extLst>
          </p:cNvPr>
          <p:cNvGraphicFramePr>
            <a:graphicFrameLocks noGrp="1"/>
          </p:cNvGraphicFramePr>
          <p:nvPr>
            <p:extLst>
              <p:ext uri="{D42A27DB-BD31-4B8C-83A1-F6EECF244321}">
                <p14:modId xmlns:p14="http://schemas.microsoft.com/office/powerpoint/2010/main" val="213078249"/>
              </p:ext>
            </p:extLst>
          </p:nvPr>
        </p:nvGraphicFramePr>
        <p:xfrm>
          <a:off x="0" y="1063687"/>
          <a:ext cx="12192000" cy="4495800"/>
        </p:xfrm>
        <a:graphic>
          <a:graphicData uri="http://schemas.openxmlformats.org/drawingml/2006/table">
            <a:tbl>
              <a:tblPr/>
              <a:tblGrid>
                <a:gridCol w="1290025">
                  <a:extLst>
                    <a:ext uri="{9D8B030D-6E8A-4147-A177-3AD203B41FA5}">
                      <a16:colId xmlns:a16="http://schemas.microsoft.com/office/drawing/2014/main" val="2792787747"/>
                    </a:ext>
                  </a:extLst>
                </a:gridCol>
                <a:gridCol w="2706523">
                  <a:extLst>
                    <a:ext uri="{9D8B030D-6E8A-4147-A177-3AD203B41FA5}">
                      <a16:colId xmlns:a16="http://schemas.microsoft.com/office/drawing/2014/main" val="3365341414"/>
                    </a:ext>
                  </a:extLst>
                </a:gridCol>
                <a:gridCol w="4350673">
                  <a:extLst>
                    <a:ext uri="{9D8B030D-6E8A-4147-A177-3AD203B41FA5}">
                      <a16:colId xmlns:a16="http://schemas.microsoft.com/office/drawing/2014/main" val="2150978763"/>
                    </a:ext>
                  </a:extLst>
                </a:gridCol>
                <a:gridCol w="3844779">
                  <a:extLst>
                    <a:ext uri="{9D8B030D-6E8A-4147-A177-3AD203B41FA5}">
                      <a16:colId xmlns:a16="http://schemas.microsoft.com/office/drawing/2014/main" val="10643282"/>
                    </a:ext>
                  </a:extLst>
                </a:gridCol>
              </a:tblGrid>
              <a:tr h="85344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588140863"/>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48-27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44-24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4910709"/>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10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4-6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49370721"/>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&gt;=44nm (b126h)</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&gt;=40.5 for fuse</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&gt;=40nm for 26x14 (b108h)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cap="none" spc="0" baseline="0">
                          <a:solidFill>
                            <a:srgbClr val="000000"/>
                          </a:solidFill>
                          <a:effectLst/>
                          <a:uFillTx/>
                          <a:latin typeface="Calibri" panose="020F0502020204030204" pitchFamily="34" charset="0"/>
                          <a:ea typeface="+mn-ea"/>
                          <a:cs typeface="+mn-cs"/>
                          <a:sym typeface="Intel Clear"/>
                        </a:rPr>
                        <a:t>General rule</a:t>
                      </a:r>
                      <a:r>
                        <a:rPr lang="en-US" sz="11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:&gt;=42.5nm (based on 165h)</a:t>
                      </a:r>
                    </a:p>
                    <a:p>
                      <a:pPr marL="171450" indent="-171450" algn="l" fontAlgn="b">
                        <a:buFont typeface="Wingdings" panose="05000000000000000000" pitchFamily="2" charset="2"/>
                        <a:buChar char="v"/>
                      </a:pPr>
                      <a:r>
                        <a:rPr lang="en-US" sz="1100" b="1" i="0" u="sng" strike="noStrike" cap="none" spc="0" baseline="0">
                          <a:solidFill>
                            <a:srgbClr val="000000"/>
                          </a:solidFill>
                          <a:effectLst/>
                          <a:uFillTx/>
                          <a:latin typeface="Calibri" panose="020F0502020204030204" pitchFamily="34" charset="0"/>
                          <a:ea typeface="+mn-ea"/>
                          <a:cs typeface="+mn-cs"/>
                          <a:sym typeface="Intel Clear"/>
                        </a:rPr>
                        <a:t>Exception: </a:t>
                      </a:r>
                      <a:r>
                        <a:rPr lang="en-US" sz="1100" b="0" i="0" u="none" strike="noStrike" cap="none" spc="0" baseline="0">
                          <a:solidFill>
                            <a:srgbClr val="000000"/>
                          </a:solidFill>
                          <a:effectLst/>
                          <a:uFillTx/>
                          <a:latin typeface="Calibri" panose="020F0502020204030204" pitchFamily="34" charset="0"/>
                          <a:ea typeface="+mn-ea"/>
                          <a:cs typeface="+mn-cs"/>
                          <a:sym typeface="Intel Clear"/>
                        </a:rPr>
                        <a:t>&gt;=35nm for small vias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62492264"/>
                  </a:ext>
                </a:extLst>
              </a:tr>
              <a:tr h="54864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&gt;=46nm (custom, based on 1.5pp)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(1.5*48-26)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&gt;=42nm (custom, based on 1.5pp)</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(1.5*48-26)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49028657"/>
                  </a:ext>
                </a:extLst>
              </a:tr>
              <a:tr h="54864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&gt;=42nm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Exception: 25.5nm for small vias (adjacent)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&gt;=40.3nm (skip-track)</a:t>
                      </a:r>
                    </a:p>
                    <a:p>
                      <a:pPr marL="171450" indent="-171450" algn="l" fontAlgn="b">
                        <a:buFont typeface="Wingdings" panose="05000000000000000000" pitchFamily="2" charset="2"/>
                        <a:buChar char="v"/>
                      </a:pPr>
                      <a:r>
                        <a:rPr lang="en-US" sz="1100" b="1" i="0" u="none" strike="noStrike">
                          <a:solidFill>
                            <a:srgbClr val="000000"/>
                          </a:solidFill>
                          <a:effectLst/>
                          <a:latin typeface="Calibri" panose="020F0502020204030204" pitchFamily="34" charset="0"/>
                        </a:rPr>
                        <a:t>Exception</a:t>
                      </a:r>
                      <a:r>
                        <a:rPr lang="en-US" sz="1100" b="0" i="0" u="none" strike="noStrike">
                          <a:solidFill>
                            <a:srgbClr val="000000"/>
                          </a:solidFill>
                          <a:effectLst/>
                          <a:latin typeface="Calibri" panose="020F0502020204030204" pitchFamily="34" charset="0"/>
                        </a:rPr>
                        <a:t>: </a:t>
                      </a:r>
                      <a:r>
                        <a:rPr lang="en-US" sz="1100" b="0" i="0" u="none" strike="noStrike">
                          <a:solidFill>
                            <a:srgbClr val="000000"/>
                          </a:solidFill>
                          <a:effectLst/>
                          <a:highlight>
                            <a:srgbClr val="00FF00"/>
                          </a:highlight>
                          <a:latin typeface="Calibri" panose="020F0502020204030204" pitchFamily="34" charset="0"/>
                        </a:rPr>
                        <a:t>22.8nm</a:t>
                      </a:r>
                      <a:r>
                        <a:rPr lang="en-US" sz="1100" b="0" i="0" u="none" strike="noStrike">
                          <a:solidFill>
                            <a:srgbClr val="000000"/>
                          </a:solidFill>
                          <a:effectLst/>
                          <a:latin typeface="Calibri" panose="020F0502020204030204" pitchFamily="34" charset="0"/>
                        </a:rPr>
                        <a:t> for small vias</a:t>
                      </a:r>
                      <a:endParaRPr lang="en-US" sz="1100" b="0" i="0" u="none" strike="noStrike">
                        <a:solidFill>
                          <a:srgbClr val="000000"/>
                        </a:solidFill>
                        <a:effectLst/>
                        <a:highlight>
                          <a:srgbClr val="FFFF00"/>
                        </a:highligh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8581652"/>
                  </a:ext>
                </a:extLst>
              </a:tr>
              <a:tr h="430802">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OGD: Max of 2 vias within 67nm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C2C: Max of 2 or 3 vias within 42nm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OGD: Max of 2 vias </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C2C: Max of 3 vias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 </a:t>
                      </a:r>
                      <a:r>
                        <a:rPr lang="en-US" sz="1100" b="0" i="0" u="none" strike="noStrike">
                          <a:solidFill>
                            <a:srgbClr val="000000"/>
                          </a:solidFill>
                          <a:effectLst/>
                          <a:highlight>
                            <a:srgbClr val="00FF00"/>
                          </a:highlight>
                          <a:latin typeface="Calibri" panose="020F0502020204030204" pitchFamily="34" charset="0"/>
                        </a:rPr>
                        <a:t>Max of 3 vias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C-shape needs new restrictions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98748895"/>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9nm on M1 PGD wire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20nm on M1 OGD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kern="1200" cap="none" spc="0" baseline="0">
                          <a:solidFill>
                            <a:srgbClr val="000000"/>
                          </a:solidFill>
                          <a:effectLst/>
                          <a:uFillTx/>
                          <a:latin typeface="Calibri" panose="020F0502020204030204" pitchFamily="34" charset="0"/>
                          <a:ea typeface="+mn-ea"/>
                          <a:cs typeface="+mn-cs"/>
                          <a:sym typeface="Intel Clear"/>
                        </a:rPr>
                        <a:t>9nm</a:t>
                      </a:r>
                      <a:r>
                        <a:rPr lang="en-US" sz="1100" b="0" i="0" u="none" strike="noStrike" cap="none" spc="0" baseline="0">
                          <a:solidFill>
                            <a:srgbClr val="000000"/>
                          </a:solidFill>
                          <a:effectLst/>
                          <a:uFillTx/>
                          <a:latin typeface="Calibri" panose="020F0502020204030204" pitchFamily="34" charset="0"/>
                          <a:ea typeface="+mn-ea"/>
                          <a:cs typeface="+mn-cs"/>
                          <a:sym typeface="Intel Clear"/>
                        </a:rPr>
                        <a:t> as general rule</a:t>
                      </a:r>
                      <a:endParaRPr lang="en-US" sz="1100" b="0" i="0" u="none" strike="noStrike" cap="none" spc="0" baseline="0">
                        <a:solidFill>
                          <a:srgbClr val="000000"/>
                        </a:solidFill>
                        <a:effectLst/>
                        <a:highlight>
                          <a:srgbClr val="FFFF00"/>
                        </a:highlight>
                        <a:uFillTx/>
                        <a:latin typeface="Calibri" panose="020F0502020204030204" pitchFamily="34" charset="0"/>
                        <a:ea typeface="+mn-ea"/>
                        <a:cs typeface="+mn-cs"/>
                        <a:sym typeface="Intel Clear"/>
                      </a:endParaRPr>
                    </a:p>
                    <a:p>
                      <a:pPr marL="171450" indent="-171450" algn="l" fontAlgn="b">
                        <a:buFont typeface="Wingdings" panose="05000000000000000000" pitchFamily="2" charset="2"/>
                        <a:buChar char="v"/>
                      </a:pPr>
                      <a:r>
                        <a:rPr lang="en-US" sz="1100" b="0" i="0" u="none" strike="noStrike" cap="none" spc="0" baseline="0">
                          <a:solidFill>
                            <a:srgbClr val="000000"/>
                          </a:solidFill>
                          <a:effectLst/>
                          <a:uFillTx/>
                          <a:latin typeface="Calibri" panose="020F0502020204030204" pitchFamily="34" charset="0"/>
                          <a:ea typeface="+mn-ea"/>
                          <a:cs typeface="+mn-cs"/>
                          <a:sym typeface="Intel Clear"/>
                        </a:rPr>
                        <a:t>Exception: </a:t>
                      </a:r>
                      <a:r>
                        <a:rPr lang="en-US" sz="1100" b="0" i="0" u="none" strike="noStrike">
                          <a:solidFill>
                            <a:srgbClr val="000000"/>
                          </a:solidFill>
                          <a:effectLst/>
                          <a:highlight>
                            <a:srgbClr val="00FF00"/>
                          </a:highlight>
                          <a:latin typeface="Calibri" panose="020F0502020204030204" pitchFamily="34" charset="0"/>
                        </a:rPr>
                        <a:t>2.5nm/1.5nm </a:t>
                      </a:r>
                      <a:r>
                        <a:rPr lang="en-US" sz="1100" b="0" i="0" u="none" strike="noStrike">
                          <a:solidFill>
                            <a:srgbClr val="000000"/>
                          </a:solidFill>
                          <a:effectLst/>
                          <a:latin typeface="Calibri" panose="020F0502020204030204" pitchFamily="34" charset="0"/>
                        </a:rPr>
                        <a:t>on M1 PGD wire</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20nm on M1 OGD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26674345"/>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V1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13nm on M2 OGD wire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20nm on M2 PGD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General &gt;= 19nm</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000000"/>
                          </a:solidFill>
                          <a:effectLst/>
                          <a:highlight>
                            <a:srgbClr val="00FF00"/>
                          </a:highlight>
                          <a:uLnTx/>
                          <a:uFillTx/>
                          <a:latin typeface="Calibri" panose="020F0502020204030204" pitchFamily="34" charset="0"/>
                          <a:ea typeface="Calibri" panose="020F0502020204030204" pitchFamily="34" charset="0"/>
                          <a:cs typeface="Calibri" panose="020F0502020204030204" pitchFamily="34" charset="0"/>
                        </a:rPr>
                        <a:t>If m2 ETE == 40nm and V1-V1 at skip-track, v1m2 = 12nm</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000000"/>
                          </a:solidFill>
                          <a:effectLst/>
                          <a:highlight>
                            <a:srgbClr val="00FF00"/>
                          </a:highlight>
                          <a:uLnTx/>
                          <a:uFillTx/>
                          <a:latin typeface="Calibri" panose="020F0502020204030204" pitchFamily="34" charset="0"/>
                          <a:ea typeface="Calibri" panose="020F0502020204030204" pitchFamily="34" charset="0"/>
                          <a:cs typeface="Calibri" panose="020F0502020204030204" pitchFamily="34" charset="0"/>
                        </a:rPr>
                        <a:t>X81A will get a waiver per integration tem.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630587856"/>
                  </a:ext>
                </a:extLst>
              </a:tr>
            </a:tbl>
          </a:graphicData>
        </a:graphic>
      </p:graphicFrame>
    </p:spTree>
    <p:extLst>
      <p:ext uri="{BB962C8B-B14F-4D97-AF65-F5344CB8AC3E}">
        <p14:creationId xmlns:p14="http://schemas.microsoft.com/office/powerpoint/2010/main" val="38386251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3EBCA-824B-1CE5-35C7-E71386A7C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4BADB-142F-2A9A-7826-E01E9C636EE5}"/>
              </a:ext>
            </a:extLst>
          </p:cNvPr>
          <p:cNvSpPr>
            <a:spLocks noGrp="1"/>
          </p:cNvSpPr>
          <p:nvPr>
            <p:ph type="title" idx="4294967295"/>
          </p:nvPr>
        </p:nvSpPr>
        <p:spPr>
          <a:xfrm>
            <a:off x="0" y="-18147"/>
            <a:ext cx="10515600" cy="748245"/>
          </a:xfrm>
        </p:spPr>
        <p:txBody>
          <a:bodyPr/>
          <a:lstStyle/>
          <a:p>
            <a:r>
              <a:rPr lang="en-US"/>
              <a:t>M2</a:t>
            </a:r>
            <a:r>
              <a:rPr lang="en-US" baseline="0"/>
              <a:t> Rules</a:t>
            </a:r>
            <a:endParaRPr lang="en-US"/>
          </a:p>
        </p:txBody>
      </p:sp>
      <p:graphicFrame>
        <p:nvGraphicFramePr>
          <p:cNvPr id="3" name="Table 2">
            <a:extLst>
              <a:ext uri="{FF2B5EF4-FFF2-40B4-BE49-F238E27FC236}">
                <a16:creationId xmlns:a16="http://schemas.microsoft.com/office/drawing/2014/main" id="{259EAAFF-ECFA-1931-2393-ADFF607ABE80}"/>
              </a:ext>
            </a:extLst>
          </p:cNvPr>
          <p:cNvGraphicFramePr>
            <a:graphicFrameLocks noGrp="1"/>
          </p:cNvGraphicFramePr>
          <p:nvPr>
            <p:extLst>
              <p:ext uri="{D42A27DB-BD31-4B8C-83A1-F6EECF244321}">
                <p14:modId xmlns:p14="http://schemas.microsoft.com/office/powerpoint/2010/main" val="4200192659"/>
              </p:ext>
            </p:extLst>
          </p:nvPr>
        </p:nvGraphicFramePr>
        <p:xfrm>
          <a:off x="0" y="1695272"/>
          <a:ext cx="12192001" cy="3054928"/>
        </p:xfrm>
        <a:graphic>
          <a:graphicData uri="http://schemas.openxmlformats.org/drawingml/2006/table">
            <a:tbl>
              <a:tblPr/>
              <a:tblGrid>
                <a:gridCol w="1468017">
                  <a:extLst>
                    <a:ext uri="{9D8B030D-6E8A-4147-A177-3AD203B41FA5}">
                      <a16:colId xmlns:a16="http://schemas.microsoft.com/office/drawing/2014/main" val="1172037523"/>
                    </a:ext>
                  </a:extLst>
                </a:gridCol>
                <a:gridCol w="1840645">
                  <a:extLst>
                    <a:ext uri="{9D8B030D-6E8A-4147-A177-3AD203B41FA5}">
                      <a16:colId xmlns:a16="http://schemas.microsoft.com/office/drawing/2014/main" val="2533107523"/>
                    </a:ext>
                  </a:extLst>
                </a:gridCol>
                <a:gridCol w="5101331">
                  <a:extLst>
                    <a:ext uri="{9D8B030D-6E8A-4147-A177-3AD203B41FA5}">
                      <a16:colId xmlns:a16="http://schemas.microsoft.com/office/drawing/2014/main" val="3481431731"/>
                    </a:ext>
                  </a:extLst>
                </a:gridCol>
                <a:gridCol w="3782008">
                  <a:extLst>
                    <a:ext uri="{9D8B030D-6E8A-4147-A177-3AD203B41FA5}">
                      <a16:colId xmlns:a16="http://schemas.microsoft.com/office/drawing/2014/main" val="1341088767"/>
                    </a:ext>
                  </a:extLst>
                </a:gridCol>
              </a:tblGrid>
              <a:tr h="70532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100" b="1" i="0" u="none" strike="noStrike">
                          <a:solidFill>
                            <a:srgbClr val="FFFFFF"/>
                          </a:solidFill>
                          <a:effectLst/>
                          <a:latin typeface="Calibri" panose="020F0502020204030204" pitchFamily="34" charset="0"/>
                        </a:rPr>
                        <a:t>P1280 Reference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100" b="1" i="0" u="none" strike="noStrike">
                          <a:solidFill>
                            <a:srgbClr val="FFFFFF"/>
                          </a:solidFill>
                          <a:effectLst/>
                          <a:latin typeface="Calibri" panose="020F0502020204030204" pitchFamily="34" charset="0"/>
                        </a:rPr>
                        <a:t>Working Assumption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477063233"/>
                  </a:ext>
                </a:extLst>
              </a:tr>
              <a:tr h="302281">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14W/13S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110h: 24p (13W/11S) Powerline: 27nm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79672594"/>
                  </a:ext>
                </a:extLst>
              </a:tr>
              <a:tr h="151141">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&gt;=60nm (with 2.2pp for feedthrough)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3pp feedthrough assumption </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&gt;=92nm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43271959"/>
                  </a:ext>
                </a:extLst>
              </a:tr>
              <a:tr h="604562">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&gt;=44nm &lt;=148nm full-facing for both colors (with 2.2pp for feedthrough)</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&gt;=66nm not full-facing  for both colors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marR="0" lvl="0" indent="-171450" algn="l" defTabSz="609600" eaLnBrk="1" fontAlgn="ctr"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latin typeface="Calibri" panose="020F0502020204030204" pitchFamily="34" charset="0"/>
                        </a:rPr>
                        <a:t>&gt;=66nm (color1), &gt;=44nm (color2) as general rules</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&gt;=40nm (color1), &gt;=31nm (color2) for full-facing</a:t>
                      </a:r>
                    </a:p>
                    <a:p>
                      <a:pPr marL="171450" indent="-171450" algn="l" fontAlgn="ctr">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No max ETE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85088475"/>
                  </a:ext>
                </a:extLst>
              </a:tr>
              <a:tr h="151141">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NO attacker is needed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5990274"/>
                  </a:ext>
                </a:extLst>
              </a:tr>
              <a:tr h="302281">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&gt;=4nm if space &lt;=32</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Offset: &gt;=48nm if space &lt;=32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Gridding with respect to poly or tcn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33865141"/>
                  </a:ext>
                </a:extLst>
              </a:tr>
              <a:tr h="604562">
                <a:tc>
                  <a:txBody>
                    <a:bodyPr/>
                    <a:lstStyle/>
                    <a:p>
                      <a:pPr algn="l" fontAlgn="b">
                        <a:buNone/>
                      </a:pPr>
                      <a:r>
                        <a:rPr lang="en-US" sz="1100" b="0" i="0" u="none" strike="noStrike">
                          <a:solidFill>
                            <a:srgbClr val="000000"/>
                          </a:solidFill>
                          <a:effectLst/>
                          <a:latin typeface="Calibri" panose="020F0502020204030204" pitchFamily="34" charset="0"/>
                        </a:rPr>
                        <a:t>M2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l-NL" sz="1100" b="0" i="0" u="none" strike="noStrike">
                          <a:solidFill>
                            <a:srgbClr val="000000"/>
                          </a:solidFill>
                          <a:effectLst/>
                          <a:latin typeface="Calibri" panose="020F0502020204030204" pitchFamily="34" charset="0"/>
                        </a:rPr>
                        <a:t>&lt;=153nm in OGD, &lt;=165nm in PGD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In OGD: 4*pp</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In PGD: 3 skip track</a:t>
                      </a:r>
                      <a:endParaRPr lang="nl-NL"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41479483"/>
                  </a:ext>
                </a:extLst>
              </a:tr>
            </a:tbl>
          </a:graphicData>
        </a:graphic>
      </p:graphicFrame>
    </p:spTree>
    <p:extLst>
      <p:ext uri="{BB962C8B-B14F-4D97-AF65-F5344CB8AC3E}">
        <p14:creationId xmlns:p14="http://schemas.microsoft.com/office/powerpoint/2010/main" val="2199667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317A-A5BB-8C7B-9FB3-3C706D5D4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B392B-734B-42B4-6790-CA74DE101F03}"/>
              </a:ext>
            </a:extLst>
          </p:cNvPr>
          <p:cNvSpPr>
            <a:spLocks noGrp="1"/>
          </p:cNvSpPr>
          <p:nvPr>
            <p:ph type="title" idx="4294967295"/>
          </p:nvPr>
        </p:nvSpPr>
        <p:spPr>
          <a:xfrm>
            <a:off x="0" y="-18147"/>
            <a:ext cx="10515600" cy="748245"/>
          </a:xfrm>
        </p:spPr>
        <p:txBody>
          <a:bodyPr/>
          <a:lstStyle/>
          <a:p>
            <a:r>
              <a:rPr lang="en-US"/>
              <a:t>M2</a:t>
            </a:r>
            <a:r>
              <a:rPr lang="en-US" baseline="0"/>
              <a:t> Rules</a:t>
            </a:r>
            <a:endParaRPr lang="en-US"/>
          </a:p>
        </p:txBody>
      </p:sp>
      <p:graphicFrame>
        <p:nvGraphicFramePr>
          <p:cNvPr id="4" name="Table 3">
            <a:extLst>
              <a:ext uri="{FF2B5EF4-FFF2-40B4-BE49-F238E27FC236}">
                <a16:creationId xmlns:a16="http://schemas.microsoft.com/office/drawing/2014/main" id="{62833371-7186-7E0E-7BB0-41D0D0993E7A}"/>
              </a:ext>
            </a:extLst>
          </p:cNvPr>
          <p:cNvGraphicFramePr>
            <a:graphicFrameLocks noGrp="1"/>
          </p:cNvGraphicFramePr>
          <p:nvPr>
            <p:extLst>
              <p:ext uri="{D42A27DB-BD31-4B8C-83A1-F6EECF244321}">
                <p14:modId xmlns:p14="http://schemas.microsoft.com/office/powerpoint/2010/main" val="3009107659"/>
              </p:ext>
            </p:extLst>
          </p:nvPr>
        </p:nvGraphicFramePr>
        <p:xfrm>
          <a:off x="0" y="915231"/>
          <a:ext cx="12192000" cy="3121756"/>
        </p:xfrm>
        <a:graphic>
          <a:graphicData uri="http://schemas.openxmlformats.org/drawingml/2006/table">
            <a:tbl>
              <a:tblPr firstRow="1" firstCol="1">
                <a:tableStyleId>{93296810-A885-4BE3-A3E7-6D5BEEA58F35}</a:tableStyleId>
              </a:tblPr>
              <a:tblGrid>
                <a:gridCol w="3183467">
                  <a:extLst>
                    <a:ext uri="{9D8B030D-6E8A-4147-A177-3AD203B41FA5}">
                      <a16:colId xmlns:a16="http://schemas.microsoft.com/office/drawing/2014/main" val="238673758"/>
                    </a:ext>
                  </a:extLst>
                </a:gridCol>
                <a:gridCol w="4199466">
                  <a:extLst>
                    <a:ext uri="{9D8B030D-6E8A-4147-A177-3AD203B41FA5}">
                      <a16:colId xmlns:a16="http://schemas.microsoft.com/office/drawing/2014/main" val="2702201056"/>
                    </a:ext>
                  </a:extLst>
                </a:gridCol>
                <a:gridCol w="4809067">
                  <a:extLst>
                    <a:ext uri="{9D8B030D-6E8A-4147-A177-3AD203B41FA5}">
                      <a16:colId xmlns:a16="http://schemas.microsoft.com/office/drawing/2014/main" val="2449279500"/>
                    </a:ext>
                  </a:extLst>
                </a:gridCol>
              </a:tblGrid>
              <a:tr h="204957">
                <a:tc>
                  <a:txBody>
                    <a:bodyPr/>
                    <a:lstStyle/>
                    <a:p>
                      <a:pPr algn="ctr"/>
                      <a:r>
                        <a:rPr lang="en-US" sz="1400"/>
                        <a:t>Feature</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POR P1280</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P1281 starting point</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635756559"/>
                  </a:ext>
                </a:extLst>
              </a:tr>
              <a:tr h="399127">
                <a:tc>
                  <a:txBody>
                    <a:bodyPr/>
                    <a:lstStyle/>
                    <a:p>
                      <a:pPr algn="ctr"/>
                      <a:r>
                        <a:rPr lang="en-US" sz="1400" b="1">
                          <a:solidFill>
                            <a:schemeClr val="lt1"/>
                          </a:solidFill>
                        </a:rPr>
                        <a:t>M2 Min Length + ETE</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2.2PP</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strike="sngStrike"/>
                        <a:t>2.2PP</a:t>
                      </a:r>
                      <a:r>
                        <a:rPr lang="en-US" sz="1400"/>
                        <a:t> </a:t>
                      </a:r>
                      <a:r>
                        <a:rPr lang="en-US" sz="1400">
                          <a:sym typeface="Wingdings" panose="05000000000000000000" pitchFamily="2" charset="2"/>
                        </a:rPr>
                        <a:t> </a:t>
                      </a:r>
                      <a:r>
                        <a:rPr kumimoji="0" lang="en-US" sz="1400" b="0" i="0" u="none" strike="noStrike" kern="0" cap="none" spc="0" normalizeH="0" baseline="0" noProof="0">
                          <a:ln>
                            <a:noFill/>
                          </a:ln>
                          <a:solidFill>
                            <a:schemeClr val="dk1"/>
                          </a:solidFill>
                          <a:effectLst/>
                          <a:highlight>
                            <a:srgbClr val="FFFF00"/>
                          </a:highlight>
                          <a:uLnTx/>
                          <a:uFillTx/>
                          <a:latin typeface="+mn-lt"/>
                          <a:ea typeface="+mn-ea"/>
                          <a:cs typeface="+mn-cs"/>
                          <a:sym typeface="Intel Clear"/>
                        </a:rPr>
                        <a:t>3PP</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3072862353"/>
                  </a:ext>
                </a:extLst>
              </a:tr>
              <a:tr h="399127">
                <a:tc>
                  <a:txBody>
                    <a:bodyPr/>
                    <a:lstStyle/>
                    <a:p>
                      <a:pPr algn="ctr"/>
                      <a:r>
                        <a:rPr lang="en-US" sz="1400" b="1">
                          <a:solidFill>
                            <a:schemeClr val="lt1"/>
                          </a:solidFill>
                        </a:rPr>
                        <a:t>M2 Min length</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60</a:t>
                      </a:r>
                    </a:p>
                  </a:txBody>
                  <a:tcPr marL="161992" marR="161992"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strike="sngStrike"/>
                        <a:t>56</a:t>
                      </a:r>
                      <a:r>
                        <a:rPr lang="en-US" sz="1400"/>
                        <a:t> </a:t>
                      </a:r>
                      <a:r>
                        <a:rPr kumimoji="0" lang="en-US" sz="1400" b="0" i="0" u="none" strike="noStrike" kern="0" cap="none" spc="0" normalizeH="0" baseline="0" noProof="0">
                          <a:ln>
                            <a:noFill/>
                          </a:ln>
                          <a:solidFill>
                            <a:schemeClr val="dk1"/>
                          </a:solidFill>
                          <a:effectLst/>
                          <a:highlight>
                            <a:srgbClr val="FFFF00"/>
                          </a:highlight>
                          <a:uLnTx/>
                          <a:uFillTx/>
                          <a:latin typeface="+mn-lt"/>
                          <a:ea typeface="+mn-ea"/>
                          <a:cs typeface="+mn-cs"/>
                          <a:sym typeface="Wingdings" panose="05000000000000000000" pitchFamily="2" charset="2"/>
                        </a:rPr>
                        <a:t></a:t>
                      </a:r>
                      <a:r>
                        <a:rPr kumimoji="0" lang="en-US" sz="1400" b="0" i="0" u="none" strike="noStrike" kern="0" cap="none" spc="0" normalizeH="0" baseline="0" noProof="0">
                          <a:ln>
                            <a:noFill/>
                          </a:ln>
                          <a:solidFill>
                            <a:schemeClr val="dk1"/>
                          </a:solidFill>
                          <a:effectLst/>
                          <a:highlight>
                            <a:srgbClr val="FFFF00"/>
                          </a:highlight>
                          <a:uLnTx/>
                          <a:uFillTx/>
                          <a:latin typeface="+mn-lt"/>
                          <a:ea typeface="+mn-ea"/>
                          <a:cs typeface="+mn-cs"/>
                          <a:sym typeface="Intel Clear"/>
                        </a:rPr>
                        <a:t> 92nm</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2372233585"/>
                  </a:ext>
                </a:extLst>
              </a:tr>
              <a:tr h="571003">
                <a:tc>
                  <a:txBody>
                    <a:bodyPr/>
                    <a:lstStyle/>
                    <a:p>
                      <a:pPr algn="ctr"/>
                      <a:r>
                        <a:rPr lang="en-US" sz="1400" b="1">
                          <a:solidFill>
                            <a:schemeClr val="lt1"/>
                          </a:solidFill>
                        </a:rPr>
                        <a:t>M2 ETE</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44</a:t>
                      </a:r>
                    </a:p>
                  </a:txBody>
                  <a:tcPr marL="161992" marR="161992"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40</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487939015"/>
                  </a:ext>
                </a:extLst>
              </a:tr>
              <a:tr h="399127">
                <a:tc>
                  <a:txBody>
                    <a:bodyPr/>
                    <a:lstStyle/>
                    <a:p>
                      <a:pPr algn="ctr"/>
                      <a:r>
                        <a:rPr lang="en-US" sz="1400" b="1">
                          <a:solidFill>
                            <a:schemeClr val="lt1"/>
                          </a:solidFill>
                        </a:rPr>
                        <a:t>V1M2 Enclosure</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13</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12</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3019673734"/>
                  </a:ext>
                </a:extLst>
              </a:tr>
              <a:tr h="399127">
                <a:tc>
                  <a:txBody>
                    <a:bodyPr/>
                    <a:lstStyle/>
                    <a:p>
                      <a:pPr algn="ctr"/>
                      <a:r>
                        <a:rPr lang="en-US" sz="1400" b="1">
                          <a:solidFill>
                            <a:schemeClr val="lt1"/>
                          </a:solidFill>
                        </a:rPr>
                        <a:t>V2M2 Enclosure</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17</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algn="ctr"/>
                      <a:r>
                        <a:rPr lang="en-US" sz="1400"/>
                        <a:t>17</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2444250113"/>
                  </a:ext>
                </a:extLst>
              </a:tr>
              <a:tr h="731360">
                <a:tc>
                  <a:txBody>
                    <a:bodyPr/>
                    <a:lstStyle/>
                    <a:p>
                      <a:pPr algn="ctr"/>
                      <a:r>
                        <a:rPr lang="en-US" sz="1600" b="1">
                          <a:solidFill>
                            <a:schemeClr val="lt1"/>
                          </a:solidFill>
                        </a:rPr>
                        <a:t>PRL/Offset</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600"/>
                        <a:t>PRL: &gt;=4nm if space &lt;=32</a:t>
                      </a:r>
                    </a:p>
                    <a:p>
                      <a:pPr marL="171450" marR="0" indent="-171450" algn="l" defTabSz="609600" eaLnBrk="1" latinLnBrk="0" hangingPunct="1">
                        <a:lnSpc>
                          <a:spcPct val="100000"/>
                        </a:lnSpc>
                        <a:spcBef>
                          <a:spcPts val="0"/>
                        </a:spcBef>
                        <a:spcAft>
                          <a:spcPts val="0"/>
                        </a:spcAft>
                        <a:buClrTx/>
                        <a:buSzTx/>
                        <a:buFont typeface="Wingdings" panose="05000000000000000000" pitchFamily="2" charset="2"/>
                        <a:buChar char="v"/>
                        <a:tabLst/>
                      </a:pPr>
                      <a:r>
                        <a:rPr lang="en-US" sz="1600"/>
                        <a:t>Offset: &gt;=48nm if space &lt;=32</a:t>
                      </a:r>
                    </a:p>
                  </a:txBody>
                  <a:tcPr marL="16876" marR="16876" marT="9525"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tc>
                  <a:txBody>
                    <a:bodyPr/>
                    <a:lstStyle/>
                    <a:p>
                      <a:pPr marL="171450" marR="0" lvl="0" indent="-171450" algn="l" defTabSz="609600" eaLnBrk="1" fontAlgn="auto" latinLnBrk="0" hangingPunct="1">
                        <a:lnSpc>
                          <a:spcPct val="100000"/>
                        </a:lnSpc>
                        <a:spcBef>
                          <a:spcPts val="0"/>
                        </a:spcBef>
                        <a:spcAft>
                          <a:spcPts val="0"/>
                        </a:spcAft>
                        <a:buClrTx/>
                        <a:buSzTx/>
                        <a:buFont typeface="Wingdings" panose="05000000000000000000" pitchFamily="2" charset="2"/>
                        <a:buChar char="v"/>
                        <a:tabLst/>
                        <a:defRPr/>
                      </a:pPr>
                      <a:r>
                        <a:rPr lang="en-US" sz="1600" b="0" i="0" u="none" strike="noStrike" cap="none" spc="0" baseline="0">
                          <a:solidFill>
                            <a:schemeClr val="dk1"/>
                          </a:solidFill>
                          <a:uFillTx/>
                          <a:latin typeface="+mn-lt"/>
                          <a:ea typeface="+mn-ea"/>
                          <a:cs typeface="+mn-cs"/>
                          <a:sym typeface="Intel Clear"/>
                        </a:rPr>
                        <a:t>NA</a:t>
                      </a:r>
                    </a:p>
                  </a:txBody>
                  <a:tcPr marL="161992" marR="161992" anchor="ctr">
                    <a:lnL w="12700" cmpd="sng">
                      <a:solidFill>
                        <a:srgbClr val="000000"/>
                      </a:solidFill>
                    </a:lnL>
                    <a:lnR w="12700" cmpd="sng">
                      <a:solidFill>
                        <a:srgbClr val="000000"/>
                      </a:solidFill>
                    </a:lnR>
                    <a:lnT w="12700" cmpd="sng">
                      <a:solidFill>
                        <a:srgbClr val="000000"/>
                      </a:solidFill>
                    </a:lnT>
                    <a:lnB w="12700" cmpd="sng">
                      <a:solidFill>
                        <a:srgbClr val="000000"/>
                      </a:solidFill>
                    </a:lnB>
                  </a:tcPr>
                </a:tc>
                <a:extLst>
                  <a:ext uri="{0D108BD9-81ED-4DB2-BD59-A6C34878D82A}">
                    <a16:rowId xmlns:a16="http://schemas.microsoft.com/office/drawing/2014/main" val="3246300216"/>
                  </a:ext>
                </a:extLst>
              </a:tr>
            </a:tbl>
          </a:graphicData>
        </a:graphic>
      </p:graphicFrame>
    </p:spTree>
    <p:extLst>
      <p:ext uri="{BB962C8B-B14F-4D97-AF65-F5344CB8AC3E}">
        <p14:creationId xmlns:p14="http://schemas.microsoft.com/office/powerpoint/2010/main" val="15175966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C2CB-20F6-F694-34CD-2051EE46CD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A6638C-4289-63B2-994A-339E15CC4F50}"/>
              </a:ext>
            </a:extLst>
          </p:cNvPr>
          <p:cNvSpPr>
            <a:spLocks noGrp="1"/>
          </p:cNvSpPr>
          <p:nvPr>
            <p:ph type="title" idx="4294967295"/>
          </p:nvPr>
        </p:nvSpPr>
        <p:spPr>
          <a:xfrm>
            <a:off x="2003" y="-13971"/>
            <a:ext cx="10515600" cy="748245"/>
          </a:xfrm>
        </p:spPr>
        <p:txBody>
          <a:bodyPr/>
          <a:lstStyle/>
          <a:p>
            <a:r>
              <a:rPr lang="en-US"/>
              <a:t>V2 Rules</a:t>
            </a:r>
          </a:p>
        </p:txBody>
      </p:sp>
      <p:graphicFrame>
        <p:nvGraphicFramePr>
          <p:cNvPr id="2" name="Table 1">
            <a:extLst>
              <a:ext uri="{FF2B5EF4-FFF2-40B4-BE49-F238E27FC236}">
                <a16:creationId xmlns:a16="http://schemas.microsoft.com/office/drawing/2014/main" id="{9BD26C0B-9AEC-4C1E-544A-F85BCB4B1C78}"/>
              </a:ext>
            </a:extLst>
          </p:cNvPr>
          <p:cNvGraphicFramePr>
            <a:graphicFrameLocks noGrp="1"/>
          </p:cNvGraphicFramePr>
          <p:nvPr>
            <p:extLst>
              <p:ext uri="{D42A27DB-BD31-4B8C-83A1-F6EECF244321}">
                <p14:modId xmlns:p14="http://schemas.microsoft.com/office/powerpoint/2010/main" val="3375676573"/>
              </p:ext>
            </p:extLst>
          </p:nvPr>
        </p:nvGraphicFramePr>
        <p:xfrm>
          <a:off x="0" y="1388980"/>
          <a:ext cx="12200468" cy="4716780"/>
        </p:xfrm>
        <a:graphic>
          <a:graphicData uri="http://schemas.openxmlformats.org/drawingml/2006/table">
            <a:tbl>
              <a:tblPr/>
              <a:tblGrid>
                <a:gridCol w="1290921">
                  <a:extLst>
                    <a:ext uri="{9D8B030D-6E8A-4147-A177-3AD203B41FA5}">
                      <a16:colId xmlns:a16="http://schemas.microsoft.com/office/drawing/2014/main" val="2351342793"/>
                    </a:ext>
                  </a:extLst>
                </a:gridCol>
                <a:gridCol w="2708403">
                  <a:extLst>
                    <a:ext uri="{9D8B030D-6E8A-4147-A177-3AD203B41FA5}">
                      <a16:colId xmlns:a16="http://schemas.microsoft.com/office/drawing/2014/main" val="3854408092"/>
                    </a:ext>
                  </a:extLst>
                </a:gridCol>
                <a:gridCol w="4353695">
                  <a:extLst>
                    <a:ext uri="{9D8B030D-6E8A-4147-A177-3AD203B41FA5}">
                      <a16:colId xmlns:a16="http://schemas.microsoft.com/office/drawing/2014/main" val="2516646444"/>
                    </a:ext>
                  </a:extLst>
                </a:gridCol>
                <a:gridCol w="3847449">
                  <a:extLst>
                    <a:ext uri="{9D8B030D-6E8A-4147-A177-3AD203B41FA5}">
                      <a16:colId xmlns:a16="http://schemas.microsoft.com/office/drawing/2014/main" val="3072206652"/>
                    </a:ext>
                  </a:extLst>
                </a:gridCol>
              </a:tblGrid>
              <a:tr h="85344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03871556"/>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27-32 (Vm2xa)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24-32 (Vm2xa)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62952435"/>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13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4-6 vias </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80461525"/>
                  </a:ext>
                </a:extLst>
              </a:tr>
              <a:tr h="9067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&gt;=44nm</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Exception: &gt;=42nm for memory </a:t>
                      </a:r>
                      <a:r>
                        <a:rPr lang="en-US" sz="1100" b="0" i="0" u="none" strike="noStrike" err="1">
                          <a:solidFill>
                            <a:srgbClr val="000000"/>
                          </a:solidFill>
                          <a:effectLst/>
                          <a:latin typeface="Calibri" panose="020F0502020204030204" pitchFamily="34" charset="0"/>
                        </a:rPr>
                        <a:t>columnID</a:t>
                      </a:r>
                      <a:endParaRPr lang="en-US" sz="1100" b="0" i="0" u="none" strike="noStrike">
                        <a:solidFill>
                          <a:srgbClr val="000000"/>
                        </a:solidFill>
                        <a:effectLst/>
                        <a:latin typeface="Calibri" panose="020F0502020204030204" pitchFamily="34" charset="0"/>
                      </a:endParaRP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Exception: &gt;=40nm for 18x14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&gt;=42.5nm (160h)</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&gt;=35nm (skip-track) (b110h)</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Skip-track enablement for other cell heights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77900186"/>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&gt;=48nm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7909737"/>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&gt;=38nm</a:t>
                      </a:r>
                    </a:p>
                    <a:p>
                      <a:pPr marL="171450" marR="0" lvl="0" indent="-171450" algn="l" defTabSz="609600" eaLnBrk="1" fontAlgn="ctr" latinLnBrk="0" hangingPunct="1">
                        <a:lnSpc>
                          <a:spcPct val="100000"/>
                        </a:lnSpc>
                        <a:spcBef>
                          <a:spcPts val="0"/>
                        </a:spcBef>
                        <a:spcAft>
                          <a:spcPts val="0"/>
                        </a:spcAft>
                        <a:buClrTx/>
                        <a:buSzTx/>
                        <a:buFont typeface="Wingdings" panose="05000000000000000000" pitchFamily="2" charset="2"/>
                        <a:buChar char="v"/>
                        <a:tabLst/>
                        <a:defRPr/>
                      </a:pPr>
                      <a:r>
                        <a:rPr lang="nn-NO" sz="1100" b="0" i="0" u="none" strike="noStrike">
                          <a:solidFill>
                            <a:srgbClr val="000000"/>
                          </a:solidFill>
                          <a:effectLst/>
                          <a:highlight>
                            <a:srgbClr val="00FF00"/>
                          </a:highlight>
                          <a:latin typeface="Calibri" panose="020F0502020204030204" pitchFamily="34" charset="0"/>
                        </a:rPr>
                        <a:t>&gt;=18.6nm for small via (no c-shape or v-shape, up to 3-in-a-row)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81935438"/>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 Max of 2 vias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 Max of 2 vias</a:t>
                      </a:r>
                    </a:p>
                    <a:p>
                      <a:pPr marL="171450" indent="-171450" algn="l" fontAlgn="ctr">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Allowance for MFC-like structures (added as general rule)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54707249"/>
                  </a:ext>
                </a:extLst>
              </a:tr>
              <a:tr h="36576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17nm on M2 OGD wire</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17nm on M2 PGD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highlight>
                            <a:srgbClr val="00FF00"/>
                          </a:highlight>
                          <a:latin typeface="Calibri" panose="020F0502020204030204" pitchFamily="34" charset="0"/>
                        </a:rPr>
                        <a:t>19.5nm</a:t>
                      </a:r>
                      <a:r>
                        <a:rPr lang="en-US" sz="1100" b="0" i="0" u="none" strike="noStrike">
                          <a:solidFill>
                            <a:srgbClr val="000000"/>
                          </a:solidFill>
                          <a:effectLst/>
                          <a:latin typeface="Calibri" panose="020F0502020204030204" pitchFamily="34" charset="0"/>
                        </a:rPr>
                        <a:t> on M2 OGD wire</a:t>
                      </a:r>
                    </a:p>
                    <a:p>
                      <a:pPr marL="171450" indent="-171450" algn="l" fontAlgn="ctr">
                        <a:buFont typeface="Wingdings" panose="05000000000000000000" pitchFamily="2" charset="2"/>
                        <a:buChar char="v"/>
                      </a:pPr>
                      <a:r>
                        <a:rPr lang="en-US" sz="1100" b="0" i="0" u="none" strike="sngStrike">
                          <a:solidFill>
                            <a:srgbClr val="000000"/>
                          </a:solidFill>
                          <a:effectLst/>
                          <a:latin typeface="Calibri" panose="020F0502020204030204" pitchFamily="34" charset="0"/>
                        </a:rPr>
                        <a:t>17nm on M2 PGD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98914266"/>
                  </a:ext>
                </a:extLst>
              </a:tr>
              <a:tr h="36576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19nm on M3 PGD wire</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&gt;=21.5nm on M3</a:t>
                      </a:r>
                      <a:r>
                        <a:rPr lang="en-US" sz="1100" b="0" i="0" u="none" strike="noStrike" baseline="0">
                          <a:solidFill>
                            <a:srgbClr val="000000"/>
                          </a:solidFill>
                          <a:effectLst/>
                          <a:latin typeface="Calibri" panose="020F0502020204030204" pitchFamily="34" charset="0"/>
                        </a:rPr>
                        <a:t> PGD wire width &lt;=20</a:t>
                      </a:r>
                      <a:endParaRPr lang="en-US" sz="1100" b="0" i="0" u="none" strike="noStrike">
                        <a:solidFill>
                          <a:srgbClr val="000000"/>
                        </a:solidFill>
                        <a:effectLst/>
                        <a:latin typeface="Calibri" panose="020F0502020204030204" pitchFamily="34" charset="0"/>
                      </a:endParaRP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19nm on M3 OGD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19nm on M3 PGD wire</a:t>
                      </a: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&gt;=21.5nm on M3</a:t>
                      </a:r>
                      <a:r>
                        <a:rPr lang="en-US" sz="1100" b="0" i="0" u="none" strike="noStrike" baseline="0">
                          <a:solidFill>
                            <a:srgbClr val="000000"/>
                          </a:solidFill>
                          <a:effectLst/>
                          <a:latin typeface="Calibri" panose="020F0502020204030204" pitchFamily="34" charset="0"/>
                        </a:rPr>
                        <a:t> PGD wire width &lt;=20</a:t>
                      </a:r>
                      <a:endParaRPr lang="en-US" sz="1100" b="0" i="0" u="none" strike="noStrike">
                        <a:solidFill>
                          <a:srgbClr val="000000"/>
                        </a:solidFill>
                        <a:effectLst/>
                        <a:latin typeface="Calibri" panose="020F0502020204030204" pitchFamily="34" charset="0"/>
                      </a:endParaRPr>
                    </a:p>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19nm on M3 OGD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07281467"/>
                  </a:ext>
                </a:extLst>
              </a:tr>
              <a:tr h="182880">
                <a:tc>
                  <a:txBody>
                    <a:bodyPr/>
                    <a:lstStyle/>
                    <a:p>
                      <a:pPr algn="l" fontAlgn="ctr">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51828817"/>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V1-V2 min spacing</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highlight>
                            <a:srgbClr val="00FF00"/>
                          </a:highlight>
                          <a:latin typeface="Calibri" panose="020F0502020204030204" pitchFamily="34" charset="0"/>
                        </a:rPr>
                        <a:t>&gt;11 if PRL &gt;10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38575543"/>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V2</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Triplet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cap="none" spc="0" baseline="0">
                          <a:solidFill>
                            <a:srgbClr val="000000"/>
                          </a:solidFill>
                          <a:effectLst/>
                          <a:uFillTx/>
                          <a:latin typeface="Calibri" panose="020F0502020204030204" pitchFamily="34" charset="0"/>
                          <a:ea typeface="+mn-ea"/>
                          <a:cs typeface="+mn-cs"/>
                          <a:sym typeface="Intel Clear"/>
                        </a:rPr>
                        <a:t>OGD: &gt;=48nn</a:t>
                      </a:r>
                    </a:p>
                    <a:p>
                      <a:pPr marL="171450" indent="-171450" algn="l" fontAlgn="b">
                        <a:buFont typeface="Wingdings" panose="05000000000000000000" pitchFamily="2" charset="2"/>
                        <a:buChar char="v"/>
                      </a:pPr>
                      <a:r>
                        <a:rPr lang="de-DE" sz="1100" b="0" i="0" u="none" strike="noStrike" cap="none" spc="0" baseline="0">
                          <a:solidFill>
                            <a:srgbClr val="000000"/>
                          </a:solidFill>
                          <a:effectLst/>
                          <a:uFillTx/>
                          <a:latin typeface="Calibri" panose="020F0502020204030204" pitchFamily="34" charset="0"/>
                          <a:ea typeface="+mn-ea"/>
                          <a:cs typeface="+mn-cs"/>
                          <a:sym typeface="Intel Clear"/>
                        </a:rPr>
                        <a:t>PGD: &gt;=35nm, &gt;=40nm</a:t>
                      </a:r>
                    </a:p>
                    <a:p>
                      <a:pPr marL="171450" indent="-171450" algn="l" fontAlgn="b">
                        <a:buFont typeface="Wingdings" panose="05000000000000000000" pitchFamily="2" charset="2"/>
                        <a:buChar char="v"/>
                      </a:pPr>
                      <a:r>
                        <a:rPr lang="de-DE" sz="1100" b="0" i="0" u="none" strike="noStrike" cap="none" spc="0" baseline="0">
                          <a:solidFill>
                            <a:srgbClr val="000000"/>
                          </a:solidFill>
                          <a:effectLst/>
                          <a:uFillTx/>
                          <a:latin typeface="Calibri" panose="020F0502020204030204" pitchFamily="34" charset="0"/>
                          <a:ea typeface="+mn-ea"/>
                          <a:cs typeface="+mn-cs"/>
                          <a:sym typeface="Intel Clear"/>
                        </a:rPr>
                        <a:t>C2C: &gt;=38nm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03652027"/>
                  </a:ext>
                </a:extLst>
              </a:tr>
            </a:tbl>
          </a:graphicData>
        </a:graphic>
      </p:graphicFrame>
    </p:spTree>
    <p:extLst>
      <p:ext uri="{BB962C8B-B14F-4D97-AF65-F5344CB8AC3E}">
        <p14:creationId xmlns:p14="http://schemas.microsoft.com/office/powerpoint/2010/main" val="31373929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2C8D5-E54A-5663-408C-40FB79D63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4BB8C-D361-6258-DA34-68ADE50D6A7D}"/>
              </a:ext>
            </a:extLst>
          </p:cNvPr>
          <p:cNvSpPr>
            <a:spLocks noGrp="1"/>
          </p:cNvSpPr>
          <p:nvPr>
            <p:ph type="title" idx="4294967295"/>
          </p:nvPr>
        </p:nvSpPr>
        <p:spPr>
          <a:xfrm>
            <a:off x="0" y="-18147"/>
            <a:ext cx="10515600" cy="748245"/>
          </a:xfrm>
        </p:spPr>
        <p:txBody>
          <a:bodyPr/>
          <a:lstStyle/>
          <a:p>
            <a:r>
              <a:rPr lang="en-US"/>
              <a:t>M3</a:t>
            </a:r>
            <a:r>
              <a:rPr lang="en-US" baseline="0"/>
              <a:t> Rules</a:t>
            </a:r>
            <a:endParaRPr lang="en-US"/>
          </a:p>
        </p:txBody>
      </p:sp>
      <p:graphicFrame>
        <p:nvGraphicFramePr>
          <p:cNvPr id="3" name="Table 2">
            <a:extLst>
              <a:ext uri="{FF2B5EF4-FFF2-40B4-BE49-F238E27FC236}">
                <a16:creationId xmlns:a16="http://schemas.microsoft.com/office/drawing/2014/main" id="{A37D60F4-65D1-6000-5AC4-ADA5D3B483C1}"/>
              </a:ext>
            </a:extLst>
          </p:cNvPr>
          <p:cNvGraphicFramePr>
            <a:graphicFrameLocks noGrp="1"/>
          </p:cNvGraphicFramePr>
          <p:nvPr>
            <p:extLst>
              <p:ext uri="{D42A27DB-BD31-4B8C-83A1-F6EECF244321}">
                <p14:modId xmlns:p14="http://schemas.microsoft.com/office/powerpoint/2010/main" val="2515810535"/>
              </p:ext>
            </p:extLst>
          </p:nvPr>
        </p:nvGraphicFramePr>
        <p:xfrm>
          <a:off x="0" y="1126959"/>
          <a:ext cx="12192001" cy="3762073"/>
        </p:xfrm>
        <a:graphic>
          <a:graphicData uri="http://schemas.openxmlformats.org/drawingml/2006/table">
            <a:tbl>
              <a:tblPr/>
              <a:tblGrid>
                <a:gridCol w="1009150">
                  <a:extLst>
                    <a:ext uri="{9D8B030D-6E8A-4147-A177-3AD203B41FA5}">
                      <a16:colId xmlns:a16="http://schemas.microsoft.com/office/drawing/2014/main" val="1828068323"/>
                    </a:ext>
                  </a:extLst>
                </a:gridCol>
                <a:gridCol w="1448245">
                  <a:extLst>
                    <a:ext uri="{9D8B030D-6E8A-4147-A177-3AD203B41FA5}">
                      <a16:colId xmlns:a16="http://schemas.microsoft.com/office/drawing/2014/main" val="2306822032"/>
                    </a:ext>
                  </a:extLst>
                </a:gridCol>
                <a:gridCol w="4344959">
                  <a:extLst>
                    <a:ext uri="{9D8B030D-6E8A-4147-A177-3AD203B41FA5}">
                      <a16:colId xmlns:a16="http://schemas.microsoft.com/office/drawing/2014/main" val="1700450758"/>
                    </a:ext>
                  </a:extLst>
                </a:gridCol>
                <a:gridCol w="5389647">
                  <a:extLst>
                    <a:ext uri="{9D8B030D-6E8A-4147-A177-3AD203B41FA5}">
                      <a16:colId xmlns:a16="http://schemas.microsoft.com/office/drawing/2014/main" val="724473293"/>
                    </a:ext>
                  </a:extLst>
                </a:gridCol>
              </a:tblGrid>
              <a:tr h="832926">
                <a:tc>
                  <a:txBody>
                    <a:bodyPr/>
                    <a:lstStyle/>
                    <a:p>
                      <a:pPr algn="ctr" fontAlgn="ctr">
                        <a:buNone/>
                      </a:pPr>
                      <a:r>
                        <a:rPr lang="en-US" sz="105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05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05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05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410972047"/>
                  </a:ext>
                </a:extLst>
              </a:tr>
              <a:tr h="188970">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18W/14S (Mxa)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18W/14S (Mxa)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786657250"/>
                  </a:ext>
                </a:extLst>
              </a:tr>
              <a:tr h="377940">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&gt;=63nm in PD or NPD</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&gt;=76nm for &lt;24nm</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&gt;=120 in PD and NPD</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2272695506"/>
                  </a:ext>
                </a:extLst>
              </a:tr>
              <a:tr h="535453">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de-DE" sz="1050" b="0" i="0" u="none" strike="noStrike">
                          <a:solidFill>
                            <a:srgbClr val="000000"/>
                          </a:solidFill>
                          <a:effectLst/>
                          <a:latin typeface="Calibri" panose="020F0502020204030204" pitchFamily="34" charset="0"/>
                        </a:rPr>
                        <a:t>&gt;=37nm in PD (&gt;=32nm for wires &lt;=20nm)</a:t>
                      </a:r>
                      <a:br>
                        <a:rPr lang="de-DE" sz="1050" b="0" i="0" u="none" strike="noStrike">
                          <a:solidFill>
                            <a:srgbClr val="000000"/>
                          </a:solidFill>
                          <a:effectLst/>
                          <a:latin typeface="Calibri" panose="020F0502020204030204" pitchFamily="34" charset="0"/>
                        </a:rPr>
                      </a:br>
                      <a:r>
                        <a:rPr lang="de-DE" sz="1050" b="0" i="0" u="none" strike="noStrike">
                          <a:solidFill>
                            <a:srgbClr val="000000"/>
                          </a:solidFill>
                          <a:effectLst/>
                          <a:latin typeface="Calibri" panose="020F0502020204030204" pitchFamily="34" charset="0"/>
                        </a:rPr>
                        <a:t>&gt;=40nm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de-DE" sz="1050" b="0" i="0" u="none" strike="noStrike">
                          <a:solidFill>
                            <a:srgbClr val="000000"/>
                          </a:solidFill>
                          <a:effectLst/>
                          <a:latin typeface="Calibri" panose="020F0502020204030204" pitchFamily="34" charset="0"/>
                        </a:rPr>
                        <a:t>&gt;=37nm in PD</a:t>
                      </a:r>
                      <a:br>
                        <a:rPr lang="de-DE" sz="1050" b="0" i="0" u="none" strike="noStrike">
                          <a:solidFill>
                            <a:srgbClr val="000000"/>
                          </a:solidFill>
                          <a:effectLst/>
                          <a:latin typeface="Calibri" panose="020F0502020204030204" pitchFamily="34" charset="0"/>
                        </a:rPr>
                      </a:br>
                      <a:r>
                        <a:rPr lang="de-DE" sz="1050" b="0" i="0" u="none" strike="noStrike">
                          <a:solidFill>
                            <a:srgbClr val="000000"/>
                          </a:solidFill>
                          <a:effectLst/>
                          <a:latin typeface="Calibri" panose="020F0502020204030204" pitchFamily="34" charset="0"/>
                        </a:rPr>
                        <a:t>&gt;=40nm in NPD</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2519282386"/>
                  </a:ext>
                </a:extLst>
              </a:tr>
              <a:tr h="377940">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PGD-OGD: &gt;=45nm</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OGD-PGD: &gt;=40nm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PGD-OGD: &gt;=45nm</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OGD-PGD: &gt;=40nm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491236515"/>
                  </a:ext>
                </a:extLst>
              </a:tr>
              <a:tr h="1070904">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PRL: &gt;=14nm if space &lt;=32 for PGD wires, &gt;=30nm if space &lt;=51 for OGD wires</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Offset: &gt;=25nm if space &lt;=32 for PGD wires, &gt;=30nm if space &lt;=51 for OGD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PRL: &gt;=14nm if space &lt;=32 for PGD wires, &gt;=30nm if space &lt;=51 for OGD wires</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Offset: &gt;=25nm if space &lt;=32 for PGD wires, &gt;=30nm if space &lt;=51 for OGD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940452632"/>
                  </a:ext>
                </a:extLst>
              </a:tr>
              <a:tr h="377940">
                <a:tc>
                  <a:txBody>
                    <a:bodyPr/>
                    <a:lstStyle/>
                    <a:p>
                      <a:pPr algn="l" fontAlgn="b">
                        <a:buNone/>
                      </a:pPr>
                      <a:r>
                        <a:rPr lang="en-US" sz="1050" b="0" i="0" u="none" strike="noStrike">
                          <a:solidFill>
                            <a:srgbClr val="000000"/>
                          </a:solidFill>
                          <a:effectLst/>
                          <a:latin typeface="Calibri" panose="020F0502020204030204" pitchFamily="34" charset="0"/>
                        </a:rPr>
                        <a:t>M3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&lt;=349.5nm in PGD</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&lt;=134.5nm in OGD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050" b="0" i="0" u="none" strike="noStrike">
                          <a:solidFill>
                            <a:srgbClr val="000000"/>
                          </a:solidFill>
                          <a:effectLst/>
                          <a:latin typeface="Calibri" panose="020F0502020204030204" pitchFamily="34" charset="0"/>
                        </a:rPr>
                        <a:t>&lt;=349.5nm in PGD</a:t>
                      </a:r>
                      <a:br>
                        <a:rPr lang="en-US" sz="1050" b="0" i="0" u="none" strike="noStrike">
                          <a:solidFill>
                            <a:srgbClr val="000000"/>
                          </a:solidFill>
                          <a:effectLst/>
                          <a:latin typeface="Calibri" panose="020F0502020204030204" pitchFamily="34" charset="0"/>
                        </a:rPr>
                      </a:br>
                      <a:r>
                        <a:rPr lang="en-US" sz="1050" b="0" i="0" u="none" strike="noStrike">
                          <a:solidFill>
                            <a:srgbClr val="000000"/>
                          </a:solidFill>
                          <a:effectLst/>
                          <a:latin typeface="Calibri" panose="020F0502020204030204" pitchFamily="34" charset="0"/>
                        </a:rPr>
                        <a:t>&lt;=134.5nm in OGD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17501586"/>
                  </a:ext>
                </a:extLst>
              </a:tr>
            </a:tbl>
          </a:graphicData>
        </a:graphic>
      </p:graphicFrame>
    </p:spTree>
    <p:extLst>
      <p:ext uri="{BB962C8B-B14F-4D97-AF65-F5344CB8AC3E}">
        <p14:creationId xmlns:p14="http://schemas.microsoft.com/office/powerpoint/2010/main" val="1215990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F19F-5206-3D10-ADD4-EEC8F1DF9E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4FBD3E-A230-0B80-3136-882BFAAC1CCB}"/>
              </a:ext>
            </a:extLst>
          </p:cNvPr>
          <p:cNvSpPr>
            <a:spLocks noGrp="1"/>
          </p:cNvSpPr>
          <p:nvPr>
            <p:ph type="title" idx="4294967295"/>
          </p:nvPr>
        </p:nvSpPr>
        <p:spPr>
          <a:xfrm>
            <a:off x="2003" y="-13971"/>
            <a:ext cx="10515600" cy="748245"/>
          </a:xfrm>
        </p:spPr>
        <p:txBody>
          <a:bodyPr/>
          <a:lstStyle/>
          <a:p>
            <a:r>
              <a:rPr lang="en-US"/>
              <a:t>V3 Rules</a:t>
            </a:r>
          </a:p>
        </p:txBody>
      </p:sp>
      <p:graphicFrame>
        <p:nvGraphicFramePr>
          <p:cNvPr id="2" name="Table 1">
            <a:extLst>
              <a:ext uri="{FF2B5EF4-FFF2-40B4-BE49-F238E27FC236}">
                <a16:creationId xmlns:a16="http://schemas.microsoft.com/office/drawing/2014/main" id="{C9568874-1921-BD6C-BF82-4F05AB1BDD12}"/>
              </a:ext>
            </a:extLst>
          </p:cNvPr>
          <p:cNvGraphicFramePr>
            <a:graphicFrameLocks noGrp="1"/>
          </p:cNvGraphicFramePr>
          <p:nvPr>
            <p:extLst>
              <p:ext uri="{D42A27DB-BD31-4B8C-83A1-F6EECF244321}">
                <p14:modId xmlns:p14="http://schemas.microsoft.com/office/powerpoint/2010/main" val="3140783067"/>
              </p:ext>
            </p:extLst>
          </p:nvPr>
        </p:nvGraphicFramePr>
        <p:xfrm>
          <a:off x="0" y="1845505"/>
          <a:ext cx="12192000" cy="3758487"/>
        </p:xfrm>
        <a:graphic>
          <a:graphicData uri="http://schemas.openxmlformats.org/drawingml/2006/table">
            <a:tbl>
              <a:tblPr/>
              <a:tblGrid>
                <a:gridCol w="1339403">
                  <a:extLst>
                    <a:ext uri="{9D8B030D-6E8A-4147-A177-3AD203B41FA5}">
                      <a16:colId xmlns:a16="http://schemas.microsoft.com/office/drawing/2014/main" val="3067601756"/>
                    </a:ext>
                  </a:extLst>
                </a:gridCol>
                <a:gridCol w="2060620">
                  <a:extLst>
                    <a:ext uri="{9D8B030D-6E8A-4147-A177-3AD203B41FA5}">
                      <a16:colId xmlns:a16="http://schemas.microsoft.com/office/drawing/2014/main" val="3416062246"/>
                    </a:ext>
                  </a:extLst>
                </a:gridCol>
                <a:gridCol w="4109791">
                  <a:extLst>
                    <a:ext uri="{9D8B030D-6E8A-4147-A177-3AD203B41FA5}">
                      <a16:colId xmlns:a16="http://schemas.microsoft.com/office/drawing/2014/main" val="3027282978"/>
                    </a:ext>
                  </a:extLst>
                </a:gridCol>
                <a:gridCol w="4682186">
                  <a:extLst>
                    <a:ext uri="{9D8B030D-6E8A-4147-A177-3AD203B41FA5}">
                      <a16:colId xmlns:a16="http://schemas.microsoft.com/office/drawing/2014/main" val="2254902048"/>
                    </a:ext>
                  </a:extLst>
                </a:gridCol>
              </a:tblGrid>
              <a:tr h="70532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2547080674"/>
                  </a:ext>
                </a:extLst>
              </a:tr>
              <a:tr h="151141">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32-32 (Vxaxb)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32-32 (Vxaxb)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78210700"/>
                  </a:ext>
                </a:extLst>
              </a:tr>
              <a:tr h="151141">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10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Limit the via size to 4-6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61722638"/>
                  </a:ext>
                </a:extLst>
              </a:tr>
              <a:tr h="302281">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&gt;=46nm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M3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&gt;=48nm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M3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42940013"/>
                  </a:ext>
                </a:extLst>
              </a:tr>
              <a:tr h="302281">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&gt;=46nm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M4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&gt;=48nm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M4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29850826"/>
                  </a:ext>
                </a:extLst>
              </a:tr>
              <a:tr h="453422">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&gt;=42nm</a:t>
                      </a:r>
                      <a:br>
                        <a:rPr lang="nn-NO" sz="1100" b="0" i="0" u="none" strike="noStrike">
                          <a:solidFill>
                            <a:srgbClr val="000000"/>
                          </a:solidFill>
                          <a:effectLst/>
                          <a:latin typeface="Calibri" panose="020F0502020204030204" pitchFamily="34" charset="0"/>
                        </a:rPr>
                      </a:br>
                      <a:r>
                        <a:rPr lang="nn-NO" sz="1100" b="0" i="0" u="none" strike="noStrike">
                          <a:solidFill>
                            <a:srgbClr val="000000"/>
                          </a:solidFill>
                          <a:effectLst/>
                          <a:latin typeface="Calibri" panose="020F0502020204030204" pitchFamily="34" charset="0"/>
                        </a:rPr>
                        <a:t>&gt;=55nm (for V3_26x26), 60nm (for V3_18x48, V3_24x36)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&gt;=42nm</a:t>
                      </a:r>
                      <a:br>
                        <a:rPr lang="nn-NO" sz="1100" b="0" i="0" u="none" strike="noStrike">
                          <a:solidFill>
                            <a:srgbClr val="000000"/>
                          </a:solidFill>
                          <a:effectLst/>
                          <a:latin typeface="Calibri" panose="020F0502020204030204" pitchFamily="34" charset="0"/>
                        </a:rPr>
                      </a:br>
                      <a:r>
                        <a:rPr lang="nn-NO" sz="1100" b="0" i="0" u="none" strike="noStrike">
                          <a:solidFill>
                            <a:srgbClr val="000000"/>
                          </a:solidFill>
                          <a:effectLst/>
                          <a:latin typeface="Calibri" panose="020F0502020204030204" pitchFamily="34" charset="0"/>
                        </a:rPr>
                        <a:t>&gt;=55nm (for V3_26x26), 60nm (for V3_18x48, V3_24x36)</a:t>
                      </a:r>
                    </a:p>
                    <a:p>
                      <a:pPr algn="l" fontAlgn="ctr">
                        <a:buNone/>
                      </a:pPr>
                      <a:r>
                        <a:rPr lang="nn-NO" sz="1100" b="0" i="0" u="none" strike="noStrike">
                          <a:solidFill>
                            <a:srgbClr val="000000"/>
                          </a:solidFill>
                          <a:effectLst/>
                          <a:highlight>
                            <a:srgbClr val="00FF00"/>
                          </a:highlight>
                          <a:latin typeface="Calibri" panose="020F0502020204030204" pitchFamily="34" charset="0"/>
                        </a:rPr>
                        <a:t>&gt;=21.2nm for small via (no c-shape or v-shape, up to 3-in-a-row)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72050706"/>
                  </a:ext>
                </a:extLst>
              </a:tr>
              <a:tr h="302281">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&lt;=67nm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&lt;=67nm</a:t>
                      </a:r>
                    </a:p>
                    <a:p>
                      <a:pPr marL="0" marR="0" lvl="0" indent="0" algn="l" defTabSz="60960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highlight>
                            <a:srgbClr val="00FF00"/>
                          </a:highlight>
                          <a:latin typeface="Calibri" panose="020F0502020204030204" pitchFamily="34" charset="0"/>
                        </a:rPr>
                        <a:t>Allowance for MFC-like structures (added as general rule)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54949171"/>
                  </a:ext>
                </a:extLst>
              </a:tr>
              <a:tr h="604562">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78040326"/>
                  </a:ext>
                </a:extLst>
              </a:tr>
              <a:tr h="604562">
                <a:tc>
                  <a:txBody>
                    <a:bodyPr/>
                    <a:lstStyle/>
                    <a:p>
                      <a:pPr algn="l" fontAlgn="b">
                        <a:buNone/>
                      </a:pPr>
                      <a:r>
                        <a:rPr lang="en-US" sz="1100" b="0" i="0" u="none" strike="noStrike">
                          <a:solidFill>
                            <a:srgbClr val="000000"/>
                          </a:solidFill>
                          <a:effectLst/>
                          <a:latin typeface="Calibri" panose="020F0502020204030204" pitchFamily="34" charset="0"/>
                        </a:rPr>
                        <a:t>V3</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5830477"/>
                  </a:ext>
                </a:extLst>
              </a:tr>
            </a:tbl>
          </a:graphicData>
        </a:graphic>
      </p:graphicFrame>
    </p:spTree>
    <p:extLst>
      <p:ext uri="{BB962C8B-B14F-4D97-AF65-F5344CB8AC3E}">
        <p14:creationId xmlns:p14="http://schemas.microsoft.com/office/powerpoint/2010/main" val="1454198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03DB-51B0-7775-85E6-359760970D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4BA69-850A-E3DE-1BE8-AF34648B3E36}"/>
              </a:ext>
            </a:extLst>
          </p:cNvPr>
          <p:cNvSpPr>
            <a:spLocks noGrp="1"/>
          </p:cNvSpPr>
          <p:nvPr>
            <p:ph type="title" idx="4294967295"/>
          </p:nvPr>
        </p:nvSpPr>
        <p:spPr>
          <a:xfrm>
            <a:off x="0" y="-18147"/>
            <a:ext cx="10515600" cy="748245"/>
          </a:xfrm>
        </p:spPr>
        <p:txBody>
          <a:bodyPr/>
          <a:lstStyle/>
          <a:p>
            <a:r>
              <a:rPr lang="en-US"/>
              <a:t>M4</a:t>
            </a:r>
            <a:r>
              <a:rPr lang="en-US" baseline="0"/>
              <a:t> Rules</a:t>
            </a:r>
            <a:endParaRPr lang="en-US"/>
          </a:p>
        </p:txBody>
      </p:sp>
      <p:graphicFrame>
        <p:nvGraphicFramePr>
          <p:cNvPr id="3" name="Table 2">
            <a:extLst>
              <a:ext uri="{FF2B5EF4-FFF2-40B4-BE49-F238E27FC236}">
                <a16:creationId xmlns:a16="http://schemas.microsoft.com/office/drawing/2014/main" id="{45C2AD46-10EC-13F9-DD0D-0408D13D811D}"/>
              </a:ext>
            </a:extLst>
          </p:cNvPr>
          <p:cNvGraphicFramePr>
            <a:graphicFrameLocks noGrp="1"/>
          </p:cNvGraphicFramePr>
          <p:nvPr>
            <p:extLst>
              <p:ext uri="{D42A27DB-BD31-4B8C-83A1-F6EECF244321}">
                <p14:modId xmlns:p14="http://schemas.microsoft.com/office/powerpoint/2010/main" val="2805972140"/>
              </p:ext>
            </p:extLst>
          </p:nvPr>
        </p:nvGraphicFramePr>
        <p:xfrm>
          <a:off x="0" y="1810869"/>
          <a:ext cx="12191999" cy="3596640"/>
        </p:xfrm>
        <a:graphic>
          <a:graphicData uri="http://schemas.openxmlformats.org/drawingml/2006/table">
            <a:tbl>
              <a:tblPr/>
              <a:tblGrid>
                <a:gridCol w="1847999">
                  <a:extLst>
                    <a:ext uri="{9D8B030D-6E8A-4147-A177-3AD203B41FA5}">
                      <a16:colId xmlns:a16="http://schemas.microsoft.com/office/drawing/2014/main" val="3400088782"/>
                    </a:ext>
                  </a:extLst>
                </a:gridCol>
                <a:gridCol w="2380704">
                  <a:extLst>
                    <a:ext uri="{9D8B030D-6E8A-4147-A177-3AD203B41FA5}">
                      <a16:colId xmlns:a16="http://schemas.microsoft.com/office/drawing/2014/main" val="1133905479"/>
                    </a:ext>
                  </a:extLst>
                </a:gridCol>
                <a:gridCol w="4315295">
                  <a:extLst>
                    <a:ext uri="{9D8B030D-6E8A-4147-A177-3AD203B41FA5}">
                      <a16:colId xmlns:a16="http://schemas.microsoft.com/office/drawing/2014/main" val="1411458320"/>
                    </a:ext>
                  </a:extLst>
                </a:gridCol>
                <a:gridCol w="3648001">
                  <a:extLst>
                    <a:ext uri="{9D8B030D-6E8A-4147-A177-3AD203B41FA5}">
                      <a16:colId xmlns:a16="http://schemas.microsoft.com/office/drawing/2014/main" val="3219569944"/>
                    </a:ext>
                  </a:extLst>
                </a:gridCol>
              </a:tblGrid>
              <a:tr h="85344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043791102"/>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18W/14S (</a:t>
                      </a:r>
                      <a:r>
                        <a:rPr lang="en-US" sz="1100" b="0" i="0" u="none" strike="noStrike" err="1">
                          <a:solidFill>
                            <a:srgbClr val="000000"/>
                          </a:solidFill>
                          <a:effectLst/>
                          <a:latin typeface="Calibri" panose="020F0502020204030204" pitchFamily="34" charset="0"/>
                        </a:rPr>
                        <a:t>Mxb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18W/14S (Mxb)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822094095"/>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&gt;=65nm in PD or NPD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&gt;=80nm for &lt;24nm</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 in PD or NPD</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2908842952"/>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&gt;=40nm in PD</a:t>
                      </a:r>
                      <a:br>
                        <a:rPr lang="de-DE" sz="1100" b="0" i="0" u="none" strike="noStrike">
                          <a:solidFill>
                            <a:srgbClr val="000000"/>
                          </a:solidFill>
                          <a:effectLst/>
                          <a:latin typeface="Calibri" panose="020F0502020204030204" pitchFamily="34" charset="0"/>
                        </a:rPr>
                      </a:br>
                      <a:r>
                        <a:rPr lang="de-DE" sz="1100" b="0" i="0" u="none" strike="noStrike">
                          <a:solidFill>
                            <a:srgbClr val="000000"/>
                          </a:solidFill>
                          <a:effectLst/>
                          <a:latin typeface="Calibri" panose="020F0502020204030204" pitchFamily="34" charset="0"/>
                        </a:rPr>
                        <a:t>&gt;=40nm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&gt;=40nm in PD</a:t>
                      </a:r>
                      <a:br>
                        <a:rPr lang="de-DE" sz="1100" b="0" i="0" u="none" strike="noStrike">
                          <a:solidFill>
                            <a:srgbClr val="000000"/>
                          </a:solidFill>
                          <a:effectLst/>
                          <a:latin typeface="Calibri" panose="020F0502020204030204" pitchFamily="34" charset="0"/>
                        </a:rPr>
                      </a:br>
                      <a:r>
                        <a:rPr lang="de-DE" sz="1100" b="0" i="0" u="none" strike="noStrike">
                          <a:solidFill>
                            <a:srgbClr val="000000"/>
                          </a:solidFill>
                          <a:effectLst/>
                          <a:latin typeface="Calibri" panose="020F0502020204030204" pitchFamily="34" charset="0"/>
                        </a:rPr>
                        <a:t>&gt;=40nm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94313630"/>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PGD-OGD: &gt;=40nm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OGD-PGD: &gt;=45nm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PGD-OGD: &gt;=40nm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OGD-PGD: &gt;=45nm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0534160"/>
                  </a:ext>
                </a:extLst>
              </a:tr>
              <a:tr h="109728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&gt;=17nm if space &lt;=32 for OGD wires, &gt;=30nm if space &lt;=51 for PGD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Offset: &gt;=25nm if space &lt;=32 for OGD wires, &gt;=30nm if space &lt;=51 for PGD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&gt;=17nm if space &lt;=32 for OGD wires, &gt;=30nm if space &lt;=51 for PGD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Offset: &gt;=25nm if space &lt;=32 for OGD wires, &gt;=30nm if space &lt;=51 for PGD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993794308"/>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nl-NL" sz="1100" b="0" i="0" u="none" strike="noStrike">
                          <a:solidFill>
                            <a:srgbClr val="000000"/>
                          </a:solidFill>
                          <a:effectLst/>
                          <a:latin typeface="Calibri" panose="020F0502020204030204" pitchFamily="34" charset="0"/>
                        </a:rPr>
                        <a:t>&lt;=349.5nm in OGD</a:t>
                      </a:r>
                      <a:br>
                        <a:rPr lang="nl-NL" sz="1100" b="0" i="0" u="none" strike="noStrike">
                          <a:solidFill>
                            <a:srgbClr val="000000"/>
                          </a:solidFill>
                          <a:effectLst/>
                          <a:latin typeface="Calibri" panose="020F0502020204030204" pitchFamily="34" charset="0"/>
                        </a:rPr>
                      </a:br>
                      <a:r>
                        <a:rPr lang="nl-NL" sz="1100" b="0" i="0" u="none" strike="noStrike">
                          <a:solidFill>
                            <a:srgbClr val="000000"/>
                          </a:solidFill>
                          <a:effectLst/>
                          <a:latin typeface="Calibri" panose="020F0502020204030204" pitchFamily="34" charset="0"/>
                        </a:rPr>
                        <a:t>&lt;=134.5nm in PGD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&lt;=349.5nm in PGD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&lt;=134.5nm in PGD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41103038"/>
                  </a:ext>
                </a:extLst>
              </a:tr>
            </a:tbl>
          </a:graphicData>
        </a:graphic>
      </p:graphicFrame>
    </p:spTree>
    <p:extLst>
      <p:ext uri="{BB962C8B-B14F-4D97-AF65-F5344CB8AC3E}">
        <p14:creationId xmlns:p14="http://schemas.microsoft.com/office/powerpoint/2010/main" val="10677877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F7F65-663E-1AD2-668F-A07DB73BD3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04494A-5628-F8BA-01CE-845F0833BCD8}"/>
              </a:ext>
            </a:extLst>
          </p:cNvPr>
          <p:cNvSpPr>
            <a:spLocks noGrp="1"/>
          </p:cNvSpPr>
          <p:nvPr>
            <p:ph type="title" idx="4294967295"/>
          </p:nvPr>
        </p:nvSpPr>
        <p:spPr>
          <a:xfrm>
            <a:off x="2003" y="-13971"/>
            <a:ext cx="10515600" cy="748245"/>
          </a:xfrm>
        </p:spPr>
        <p:txBody>
          <a:bodyPr/>
          <a:lstStyle/>
          <a:p>
            <a:r>
              <a:rPr lang="en-US"/>
              <a:t>V4 Rules</a:t>
            </a:r>
          </a:p>
        </p:txBody>
      </p:sp>
      <p:graphicFrame>
        <p:nvGraphicFramePr>
          <p:cNvPr id="2" name="Table 1">
            <a:extLst>
              <a:ext uri="{FF2B5EF4-FFF2-40B4-BE49-F238E27FC236}">
                <a16:creationId xmlns:a16="http://schemas.microsoft.com/office/drawing/2014/main" id="{A6B0E731-0D0A-4342-98A5-994981A305F0}"/>
              </a:ext>
            </a:extLst>
          </p:cNvPr>
          <p:cNvGraphicFramePr>
            <a:graphicFrameLocks noGrp="1"/>
          </p:cNvGraphicFramePr>
          <p:nvPr>
            <p:extLst>
              <p:ext uri="{D42A27DB-BD31-4B8C-83A1-F6EECF244321}">
                <p14:modId xmlns:p14="http://schemas.microsoft.com/office/powerpoint/2010/main" val="908227797"/>
              </p:ext>
            </p:extLst>
          </p:nvPr>
        </p:nvGraphicFramePr>
        <p:xfrm>
          <a:off x="0" y="1529886"/>
          <a:ext cx="12191999" cy="3220587"/>
        </p:xfrm>
        <a:graphic>
          <a:graphicData uri="http://schemas.openxmlformats.org/drawingml/2006/table">
            <a:tbl>
              <a:tblPr/>
              <a:tblGrid>
                <a:gridCol w="1847999">
                  <a:extLst>
                    <a:ext uri="{9D8B030D-6E8A-4147-A177-3AD203B41FA5}">
                      <a16:colId xmlns:a16="http://schemas.microsoft.com/office/drawing/2014/main" val="649313566"/>
                    </a:ext>
                  </a:extLst>
                </a:gridCol>
                <a:gridCol w="2567999">
                  <a:extLst>
                    <a:ext uri="{9D8B030D-6E8A-4147-A177-3AD203B41FA5}">
                      <a16:colId xmlns:a16="http://schemas.microsoft.com/office/drawing/2014/main" val="22633946"/>
                    </a:ext>
                  </a:extLst>
                </a:gridCol>
                <a:gridCol w="4128000">
                  <a:extLst>
                    <a:ext uri="{9D8B030D-6E8A-4147-A177-3AD203B41FA5}">
                      <a16:colId xmlns:a16="http://schemas.microsoft.com/office/drawing/2014/main" val="1449852926"/>
                    </a:ext>
                  </a:extLst>
                </a:gridCol>
                <a:gridCol w="3648001">
                  <a:extLst>
                    <a:ext uri="{9D8B030D-6E8A-4147-A177-3AD203B41FA5}">
                      <a16:colId xmlns:a16="http://schemas.microsoft.com/office/drawing/2014/main" val="924249354"/>
                    </a:ext>
                  </a:extLst>
                </a:gridCol>
              </a:tblGrid>
              <a:tr h="915496">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515427800"/>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32-40 (Vxbxc)</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32-40 (Vxbxc)</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68810092"/>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7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Limit the via size to 4-6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47269972"/>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&gt;=44nm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3377223"/>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&gt;=54nm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&gt;=56nm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95617594"/>
                  </a:ext>
                </a:extLst>
              </a:tr>
              <a:tr h="539489">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&gt;=42nm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&gt;=48nm</a:t>
                      </a:r>
                    </a:p>
                    <a:p>
                      <a:pPr marL="0" marR="0" lvl="0" indent="0" algn="l" defTabSz="609600" eaLnBrk="1" fontAlgn="ctr" latinLnBrk="0" hangingPunct="1">
                        <a:lnSpc>
                          <a:spcPct val="100000"/>
                        </a:lnSpc>
                        <a:spcBef>
                          <a:spcPts val="0"/>
                        </a:spcBef>
                        <a:spcAft>
                          <a:spcPts val="0"/>
                        </a:spcAft>
                        <a:buClrTx/>
                        <a:buSzTx/>
                        <a:buFontTx/>
                        <a:buNone/>
                        <a:tabLst/>
                        <a:defRPr/>
                      </a:pPr>
                      <a:r>
                        <a:rPr lang="en-US" sz="11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rPr>
                        <a:t>&gt;=21nm for small via </a:t>
                      </a:r>
                      <a:r>
                        <a:rPr lang="nn-NO" sz="1100" b="0" i="0" u="none" strike="noStrike">
                          <a:solidFill>
                            <a:srgbClr val="000000"/>
                          </a:solidFill>
                          <a:effectLst/>
                          <a:highlight>
                            <a:srgbClr val="00FF00"/>
                          </a:highlight>
                          <a:latin typeface="Calibri" panose="020F0502020204030204" pitchFamily="34" charset="0"/>
                        </a:rPr>
                        <a:t>(no c-shape or v-shape, up to 3-in-a-row)</a:t>
                      </a:r>
                      <a:endParaRPr lang="en-US" sz="1100" b="0" i="0" u="none" strike="noStrike" cap="none" spc="0" baseline="0">
                        <a:solidFill>
                          <a:srgbClr val="000000"/>
                        </a:solidFill>
                        <a:effectLst/>
                        <a:highlight>
                          <a:srgbClr val="00FF00"/>
                        </a:highlight>
                        <a:uFillTx/>
                        <a:latin typeface="Calibri" panose="020F0502020204030204" pitchFamily="34" charset="0"/>
                        <a:ea typeface="+mn-ea"/>
                        <a:cs typeface="+mn-cs"/>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03522722"/>
                  </a:ext>
                </a:extLst>
              </a:tr>
              <a:tr h="392356">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PGD: Max of 3 vias within &lt;=55nm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PGD: Max of 3 vias </a:t>
                      </a:r>
                      <a:r>
                        <a:rPr lang="en-US" sz="1100" b="0" i="0" u="none" strike="noStrike" kern="1200">
                          <a:solidFill>
                            <a:srgbClr val="000000"/>
                          </a:solidFill>
                          <a:effectLst/>
                          <a:latin typeface="Calibri" panose="020F0502020204030204" pitchFamily="34" charset="0"/>
                          <a:ea typeface="+mn-ea"/>
                          <a:cs typeface="+mn-cs"/>
                        </a:rPr>
                        <a:t>within &lt;=67nm </a:t>
                      </a:r>
                      <a:r>
                        <a:rPr lang="en-US" sz="1100" b="0" i="0" u="none" strike="noStrike">
                          <a:solidFill>
                            <a:srgbClr val="000000"/>
                          </a:solidFill>
                          <a:effectLst/>
                          <a:highlight>
                            <a:srgbClr val="FFFF00"/>
                          </a:highlight>
                          <a:latin typeface="Calibri" panose="020F0502020204030204" pitchFamily="34" charset="0"/>
                        </a:rPr>
                        <a:t>(</a:t>
                      </a:r>
                      <a:r>
                        <a:rPr lang="en-US" sz="1100" b="0" i="0" u="none" strike="noStrike">
                          <a:solidFill>
                            <a:srgbClr val="000000"/>
                          </a:solidFill>
                          <a:effectLst/>
                          <a:latin typeface="Calibri" panose="020F0502020204030204" pitchFamily="34" charset="0"/>
                        </a:rPr>
                        <a:t>Vxbxc_R_292_2)</a:t>
                      </a:r>
                    </a:p>
                    <a:p>
                      <a:pPr marL="0" marR="0" lvl="0" indent="0" algn="l" defTabSz="60960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highlight>
                            <a:srgbClr val="00FF00"/>
                          </a:highlight>
                          <a:latin typeface="Calibri" panose="020F0502020204030204" pitchFamily="34" charset="0"/>
                        </a:rPr>
                        <a:t>Allowance for MFC-like structures (added as general rule)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17117436"/>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71122531"/>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5387438"/>
                  </a:ext>
                </a:extLst>
              </a:tr>
              <a:tr h="196178">
                <a:tc>
                  <a:txBody>
                    <a:bodyPr/>
                    <a:lstStyle/>
                    <a:p>
                      <a:pPr algn="l" fontAlgn="ctr">
                        <a:buNone/>
                      </a:pPr>
                      <a:r>
                        <a:rPr lang="en-US" sz="1100" b="0" i="0" u="none" strike="noStrike">
                          <a:solidFill>
                            <a:srgbClr val="000000"/>
                          </a:solidFill>
                          <a:effectLst/>
                          <a:latin typeface="Calibri" panose="020F0502020204030204" pitchFamily="34" charset="0"/>
                        </a:rPr>
                        <a:t>V4</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tighter values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101238593"/>
                  </a:ext>
                </a:extLst>
              </a:tr>
            </a:tbl>
          </a:graphicData>
        </a:graphic>
      </p:graphicFrame>
    </p:spTree>
    <p:extLst>
      <p:ext uri="{BB962C8B-B14F-4D97-AF65-F5344CB8AC3E}">
        <p14:creationId xmlns:p14="http://schemas.microsoft.com/office/powerpoint/2010/main" val="24547868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4B89E-966E-002C-BB6B-0F72A398D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5134D-452D-03B0-CD38-395FE4A8BC52}"/>
              </a:ext>
            </a:extLst>
          </p:cNvPr>
          <p:cNvSpPr>
            <a:spLocks noGrp="1"/>
          </p:cNvSpPr>
          <p:nvPr>
            <p:ph type="title" idx="4294967295"/>
          </p:nvPr>
        </p:nvSpPr>
        <p:spPr>
          <a:xfrm>
            <a:off x="0" y="-18147"/>
            <a:ext cx="10515600" cy="748245"/>
          </a:xfrm>
        </p:spPr>
        <p:txBody>
          <a:bodyPr/>
          <a:lstStyle/>
          <a:p>
            <a:r>
              <a:rPr lang="en-US"/>
              <a:t>M5-M6</a:t>
            </a:r>
            <a:r>
              <a:rPr lang="en-US" baseline="0"/>
              <a:t> Rules</a:t>
            </a:r>
            <a:endParaRPr lang="en-US"/>
          </a:p>
        </p:txBody>
      </p:sp>
      <p:graphicFrame>
        <p:nvGraphicFramePr>
          <p:cNvPr id="3" name="Table 2">
            <a:extLst>
              <a:ext uri="{FF2B5EF4-FFF2-40B4-BE49-F238E27FC236}">
                <a16:creationId xmlns:a16="http://schemas.microsoft.com/office/drawing/2014/main" id="{257240D7-5765-F978-E318-149D09408050}"/>
              </a:ext>
            </a:extLst>
          </p:cNvPr>
          <p:cNvGraphicFramePr>
            <a:graphicFrameLocks noGrp="1"/>
          </p:cNvGraphicFramePr>
          <p:nvPr>
            <p:extLst>
              <p:ext uri="{D42A27DB-BD31-4B8C-83A1-F6EECF244321}">
                <p14:modId xmlns:p14="http://schemas.microsoft.com/office/powerpoint/2010/main" val="4230652355"/>
              </p:ext>
            </p:extLst>
          </p:nvPr>
        </p:nvGraphicFramePr>
        <p:xfrm>
          <a:off x="0" y="1591541"/>
          <a:ext cx="12192000" cy="3413760"/>
        </p:xfrm>
        <a:graphic>
          <a:graphicData uri="http://schemas.openxmlformats.org/drawingml/2006/table">
            <a:tbl>
              <a:tblPr/>
              <a:tblGrid>
                <a:gridCol w="1848000">
                  <a:extLst>
                    <a:ext uri="{9D8B030D-6E8A-4147-A177-3AD203B41FA5}">
                      <a16:colId xmlns:a16="http://schemas.microsoft.com/office/drawing/2014/main" val="1577417959"/>
                    </a:ext>
                  </a:extLst>
                </a:gridCol>
                <a:gridCol w="2568000">
                  <a:extLst>
                    <a:ext uri="{9D8B030D-6E8A-4147-A177-3AD203B41FA5}">
                      <a16:colId xmlns:a16="http://schemas.microsoft.com/office/drawing/2014/main" val="1277900466"/>
                    </a:ext>
                  </a:extLst>
                </a:gridCol>
                <a:gridCol w="4128000">
                  <a:extLst>
                    <a:ext uri="{9D8B030D-6E8A-4147-A177-3AD203B41FA5}">
                      <a16:colId xmlns:a16="http://schemas.microsoft.com/office/drawing/2014/main" val="590815963"/>
                    </a:ext>
                  </a:extLst>
                </a:gridCol>
                <a:gridCol w="3648000">
                  <a:extLst>
                    <a:ext uri="{9D8B030D-6E8A-4147-A177-3AD203B41FA5}">
                      <a16:colId xmlns:a16="http://schemas.microsoft.com/office/drawing/2014/main" val="2394386757"/>
                    </a:ext>
                  </a:extLst>
                </a:gridCol>
              </a:tblGrid>
              <a:tr h="853440">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827157111"/>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24W/16S (</a:t>
                      </a:r>
                      <a:r>
                        <a:rPr lang="en-US" sz="1100" b="0" i="0" u="none" strike="noStrike" err="1">
                          <a:solidFill>
                            <a:srgbClr val="000000"/>
                          </a:solidFill>
                          <a:effectLst/>
                          <a:latin typeface="Calibri" panose="020F0502020204030204" pitchFamily="34" charset="0"/>
                        </a:rPr>
                        <a:t>Mxc</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24W/16S (Mxc)</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569907229"/>
                  </a:ext>
                </a:extLst>
              </a:tr>
              <a:tr h="18288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&gt;=78nm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 in PD or NPD</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683227508"/>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&gt;=30nm in PD</a:t>
                      </a:r>
                      <a:br>
                        <a:rPr lang="de-DE" sz="1100" b="0" i="0" u="none" strike="noStrike">
                          <a:solidFill>
                            <a:srgbClr val="000000"/>
                          </a:solidFill>
                          <a:effectLst/>
                          <a:latin typeface="Calibri" panose="020F0502020204030204" pitchFamily="34" charset="0"/>
                        </a:rPr>
                      </a:br>
                      <a:r>
                        <a:rPr lang="de-DE" sz="1100" b="0" i="0" u="none" strike="noStrike">
                          <a:solidFill>
                            <a:srgbClr val="000000"/>
                          </a:solidFill>
                          <a:effectLst/>
                          <a:latin typeface="Calibri" panose="020F0502020204030204" pitchFamily="34" charset="0"/>
                        </a:rPr>
                        <a:t>&gt;=40nm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&gt;=40nm in PD</a:t>
                      </a:r>
                      <a:br>
                        <a:rPr lang="de-DE" sz="1100" b="0" i="0" u="none" strike="noStrike">
                          <a:solidFill>
                            <a:srgbClr val="000000"/>
                          </a:solidFill>
                          <a:effectLst/>
                          <a:latin typeface="Calibri" panose="020F0502020204030204" pitchFamily="34" charset="0"/>
                        </a:rPr>
                      </a:br>
                      <a:r>
                        <a:rPr lang="de-DE" sz="1100" b="0" i="0" u="none" strike="noStrike">
                          <a:solidFill>
                            <a:srgbClr val="000000"/>
                          </a:solidFill>
                          <a:effectLst/>
                          <a:latin typeface="Calibri" panose="020F0502020204030204" pitchFamily="34" charset="0"/>
                        </a:rPr>
                        <a:t>&gt;=40nm in NPD</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1055049145"/>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PGD-OGD: &gt;=40nm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OGD-PGD: &gt;=40nm</a:t>
                      </a:r>
                    </a:p>
                  </a:txBody>
                  <a:tcPr marL="0" marR="0" marT="0" marB="0" anchor="ctr">
                    <a:lnL w="6350" cap="flat" cmpd="sng" algn="ctr">
                      <a:solidFill>
                        <a:srgbClr val="BFBFBF"/>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PD-NPD: &gt;=45nm</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NPD-PD: &gt;=40nm</a:t>
                      </a:r>
                    </a:p>
                  </a:txBody>
                  <a:tcPr marL="0" marR="0" marT="0" marB="0"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accent6"/>
                    </a:solidFill>
                  </a:tcPr>
                </a:tc>
                <a:extLst>
                  <a:ext uri="{0D108BD9-81ED-4DB2-BD59-A6C34878D82A}">
                    <a16:rowId xmlns:a16="http://schemas.microsoft.com/office/drawing/2014/main" val="4245326270"/>
                  </a:ext>
                </a:extLst>
              </a:tr>
              <a:tr h="109728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&gt;=30nm if space &lt;=22.5nm for PD wires, &gt;=30nm if space &lt;=22.5nm for NPD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Offset: &gt;=30nm if space &lt;=51 for PD wires, &gt;=30nm if space &lt;=51 for NPD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&gt;=30nm if space &lt;=22.5nm for PD wires, &gt;=30nm if space &lt;=22.5nm for NPD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Offset: &gt;=30nm if space &lt;=51 for PD wires, &gt;=30nm if space &lt;=51 for NPD wires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012497140"/>
                  </a:ext>
                </a:extLst>
              </a:tr>
              <a:tr h="365760">
                <a:tc>
                  <a:txBody>
                    <a:bodyPr/>
                    <a:lstStyle/>
                    <a:p>
                      <a:pPr algn="l" fontAlgn="b">
                        <a:buNone/>
                      </a:pPr>
                      <a:r>
                        <a:rPr lang="en-US" sz="1100" b="0" i="0" u="none" strike="noStrike">
                          <a:solidFill>
                            <a:srgbClr val="000000"/>
                          </a:solidFill>
                          <a:effectLst/>
                          <a:latin typeface="Calibri" panose="020F0502020204030204" pitchFamily="34" charset="0"/>
                        </a:rPr>
                        <a:t>M5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&lt;=239.5nm in PD</a:t>
                      </a:r>
                    </a:p>
                    <a:p>
                      <a:pPr marL="171450" indent="-171450" algn="l" fontAlgn="ctr">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&lt;=147nm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ctr">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&lt;=239.5nm in PD</a:t>
                      </a:r>
                      <a:br>
                        <a:rPr lang="de-DE" sz="1100" b="0" i="0" u="none" strike="noStrike">
                          <a:solidFill>
                            <a:srgbClr val="000000"/>
                          </a:solidFill>
                          <a:effectLst/>
                          <a:latin typeface="Calibri" panose="020F0502020204030204" pitchFamily="34" charset="0"/>
                        </a:rPr>
                      </a:br>
                      <a:r>
                        <a:rPr lang="de-DE" sz="1100" b="0" i="0" u="none" strike="noStrike">
                          <a:solidFill>
                            <a:srgbClr val="000000"/>
                          </a:solidFill>
                          <a:effectLst/>
                          <a:latin typeface="Calibri" panose="020F0502020204030204" pitchFamily="34" charset="0"/>
                        </a:rPr>
                        <a:t>&lt;=147nm in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87227452"/>
                  </a:ext>
                </a:extLst>
              </a:tr>
            </a:tbl>
          </a:graphicData>
        </a:graphic>
      </p:graphicFrame>
    </p:spTree>
    <p:extLst>
      <p:ext uri="{BB962C8B-B14F-4D97-AF65-F5344CB8AC3E}">
        <p14:creationId xmlns:p14="http://schemas.microsoft.com/office/powerpoint/2010/main" val="11238097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7352E-8689-7384-8EB2-B9BF77E205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14B53F-924E-DAB2-5C74-7A8D9AF9B7C5}"/>
              </a:ext>
            </a:extLst>
          </p:cNvPr>
          <p:cNvSpPr>
            <a:spLocks noGrp="1"/>
          </p:cNvSpPr>
          <p:nvPr>
            <p:ph type="title" idx="4294967295"/>
          </p:nvPr>
        </p:nvSpPr>
        <p:spPr>
          <a:xfrm>
            <a:off x="2003" y="-13971"/>
            <a:ext cx="10515600" cy="748245"/>
          </a:xfrm>
        </p:spPr>
        <p:txBody>
          <a:bodyPr/>
          <a:lstStyle/>
          <a:p>
            <a:r>
              <a:rPr lang="en-US"/>
              <a:t>V5 Rules</a:t>
            </a:r>
          </a:p>
        </p:txBody>
      </p:sp>
      <p:graphicFrame>
        <p:nvGraphicFramePr>
          <p:cNvPr id="2" name="Table 1">
            <a:extLst>
              <a:ext uri="{FF2B5EF4-FFF2-40B4-BE49-F238E27FC236}">
                <a16:creationId xmlns:a16="http://schemas.microsoft.com/office/drawing/2014/main" id="{F1F939D7-18CE-5560-1A6B-649843523599}"/>
              </a:ext>
            </a:extLst>
          </p:cNvPr>
          <p:cNvGraphicFramePr>
            <a:graphicFrameLocks noGrp="1"/>
          </p:cNvGraphicFramePr>
          <p:nvPr>
            <p:extLst>
              <p:ext uri="{D42A27DB-BD31-4B8C-83A1-F6EECF244321}">
                <p14:modId xmlns:p14="http://schemas.microsoft.com/office/powerpoint/2010/main" val="880039850"/>
              </p:ext>
            </p:extLst>
          </p:nvPr>
        </p:nvGraphicFramePr>
        <p:xfrm>
          <a:off x="0" y="1970672"/>
          <a:ext cx="12191998" cy="3581849"/>
        </p:xfrm>
        <a:graphic>
          <a:graphicData uri="http://schemas.openxmlformats.org/drawingml/2006/table">
            <a:tbl>
              <a:tblPr/>
              <a:tblGrid>
                <a:gridCol w="1848000">
                  <a:extLst>
                    <a:ext uri="{9D8B030D-6E8A-4147-A177-3AD203B41FA5}">
                      <a16:colId xmlns:a16="http://schemas.microsoft.com/office/drawing/2014/main" val="1481994556"/>
                    </a:ext>
                  </a:extLst>
                </a:gridCol>
                <a:gridCol w="2567999">
                  <a:extLst>
                    <a:ext uri="{9D8B030D-6E8A-4147-A177-3AD203B41FA5}">
                      <a16:colId xmlns:a16="http://schemas.microsoft.com/office/drawing/2014/main" val="159576850"/>
                    </a:ext>
                  </a:extLst>
                </a:gridCol>
                <a:gridCol w="4127999">
                  <a:extLst>
                    <a:ext uri="{9D8B030D-6E8A-4147-A177-3AD203B41FA5}">
                      <a16:colId xmlns:a16="http://schemas.microsoft.com/office/drawing/2014/main" val="1116972532"/>
                    </a:ext>
                  </a:extLst>
                </a:gridCol>
                <a:gridCol w="3648000">
                  <a:extLst>
                    <a:ext uri="{9D8B030D-6E8A-4147-A177-3AD203B41FA5}">
                      <a16:colId xmlns:a16="http://schemas.microsoft.com/office/drawing/2014/main" val="1854547883"/>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051708582"/>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32-32 (Vxaxb)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40-40 (Vxc)</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51716485"/>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10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4-6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8037633"/>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&gt;=46nm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M3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&gt;=56nm (1 skip M5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26038962"/>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&gt;=46nm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M4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&gt;=56nm  (1 skip M6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80565604"/>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&gt;=42nm</a:t>
                      </a:r>
                      <a:br>
                        <a:rPr lang="nn-NO" sz="1100" b="0" i="0" u="none" strike="noStrike">
                          <a:solidFill>
                            <a:srgbClr val="000000"/>
                          </a:solidFill>
                          <a:effectLst/>
                          <a:latin typeface="Calibri" panose="020F0502020204030204" pitchFamily="34" charset="0"/>
                        </a:rPr>
                      </a:br>
                      <a:r>
                        <a:rPr lang="nn-NO" sz="1100" b="0" i="0" u="none" strike="noStrike">
                          <a:solidFill>
                            <a:srgbClr val="000000"/>
                          </a:solidFill>
                          <a:effectLst/>
                          <a:latin typeface="Calibri" panose="020F0502020204030204" pitchFamily="34" charset="0"/>
                        </a:rPr>
                        <a:t>&gt;=55nm (for V3_26x26), 60nm (for V3_18x48, V3_24x36)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&gt;=58.2nm</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ysClr val="windowText" lastClr="000000"/>
                          </a:solidFill>
                          <a:effectLst/>
                          <a:highlight>
                            <a:srgbClr val="00FF00"/>
                          </a:highlight>
                          <a:uLnTx/>
                          <a:uFillTx/>
                          <a:latin typeface="Calibri" panose="020F0502020204030204" pitchFamily="34" charset="0"/>
                          <a:ea typeface="Calibri" panose="020F0502020204030204" pitchFamily="34" charset="0"/>
                          <a:cs typeface="Calibri" panose="020F0502020204030204" pitchFamily="34" charset="0"/>
                        </a:rPr>
                        <a:t>&gt;=22.6nm </a:t>
                      </a:r>
                      <a:r>
                        <a:rPr kumimoji="0" lang="en-US" sz="1100" b="0" i="0" u="none" strike="noStrike" kern="1200" cap="none" spc="0" normalizeH="0" baseline="0" noProof="0">
                          <a:ln>
                            <a:noFill/>
                          </a:ln>
                          <a:solidFill>
                            <a:srgbClr val="000000">
                              <a:hueOff val="0"/>
                              <a:satOff val="0"/>
                              <a:lumOff val="0"/>
                              <a:alphaOff val="0"/>
                            </a:srgbClr>
                          </a:solidFill>
                          <a:effectLst/>
                          <a:highlight>
                            <a:srgbClr val="00FF00"/>
                          </a:highlight>
                          <a:uLnTx/>
                          <a:uFillTx/>
                          <a:latin typeface="Calibri" panose="020F0502020204030204" pitchFamily="34" charset="0"/>
                          <a:ea typeface="Calibri" panose="020F0502020204030204" pitchFamily="34" charset="0"/>
                          <a:cs typeface="Calibri" panose="020F0502020204030204" pitchFamily="34" charset="0"/>
                        </a:rPr>
                        <a:t>small via</a:t>
                      </a:r>
                      <a:r>
                        <a:rPr lang="nn-NO" sz="1100" b="0" i="0" u="none" strike="noStrike">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 c-shape or v-shape, only 3-in-a-row)</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nn-NO" sz="1100" b="0" i="0" u="none" strike="noStrike">
                          <a:solidFill>
                            <a:srgbClr val="000000"/>
                          </a:solidFill>
                          <a:effectLst/>
                          <a:latin typeface="Calibri" panose="020F0502020204030204" pitchFamily="34" charset="0"/>
                        </a:rPr>
                        <a:t>60nm (24x36)</a:t>
                      </a:r>
                      <a:endParaRPr kumimoji="0" lang="en-US" sz="1100" b="0" i="0" u="none" strike="noStrike" kern="1200" cap="none" spc="0" normalizeH="0" baseline="0" noProof="0">
                        <a:ln>
                          <a:noFill/>
                        </a:ln>
                        <a:solidFill>
                          <a:srgbClr val="000000">
                            <a:hueOff val="0"/>
                            <a:satOff val="0"/>
                            <a:lumOff val="0"/>
                            <a:alphaOff val="0"/>
                          </a:srgbClr>
                        </a:solidFill>
                        <a:effectLst/>
                        <a:highlight>
                          <a:srgbClr val="00FF00"/>
                        </a:highlight>
                        <a:uLnTx/>
                        <a:uFillTx/>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25542814"/>
                  </a:ext>
                </a:extLst>
              </a:tr>
              <a:tr h="359547">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&lt;=67nm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OGD: Max of 3 vias </a:t>
                      </a:r>
                      <a:r>
                        <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rPr>
                        <a:t>within &lt;=67nm</a:t>
                      </a:r>
                    </a:p>
                    <a:p>
                      <a:pPr marL="171450" marR="0" lvl="0" indent="-171450" algn="l" defTabSz="609600" eaLnBrk="1" fontAlgn="b" latinLnBrk="0" hangingPunct="1">
                        <a:lnSpc>
                          <a:spcPct val="100000"/>
                        </a:lnSpc>
                        <a:spcBef>
                          <a:spcPts val="0"/>
                        </a:spcBef>
                        <a:spcAft>
                          <a:spcPts val="0"/>
                        </a:spcAft>
                        <a:buClrTx/>
                        <a:buSzTx/>
                        <a:buFont typeface="Wingdings" panose="05000000000000000000" pitchFamily="2" charset="2"/>
                        <a:buChar char="v"/>
                        <a:tabLst/>
                        <a:defRPr/>
                      </a:pPr>
                      <a:r>
                        <a:rPr lang="en-US" sz="1100" b="0" i="0" u="none" strike="noStrike">
                          <a:solidFill>
                            <a:srgbClr val="000000"/>
                          </a:solidFill>
                          <a:effectLst/>
                          <a:highlight>
                            <a:srgbClr val="00FF00"/>
                          </a:highlight>
                          <a:latin typeface="Calibri" panose="020F0502020204030204" pitchFamily="34" charset="0"/>
                        </a:rPr>
                        <a:t>Allowance for MFC-like structures (added as general rule)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26869182"/>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45950040"/>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&gt;=19nm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(fit single ETE of 37nm in space of 75nm between 18nm and 24nm wire)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&gt;=19nm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3867220"/>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V5</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3988787"/>
                  </a:ext>
                </a:extLst>
              </a:tr>
            </a:tbl>
          </a:graphicData>
        </a:graphic>
      </p:graphicFrame>
    </p:spTree>
    <p:extLst>
      <p:ext uri="{BB962C8B-B14F-4D97-AF65-F5344CB8AC3E}">
        <p14:creationId xmlns:p14="http://schemas.microsoft.com/office/powerpoint/2010/main" val="42545484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4E3EF-2BAC-FFF3-A05B-C15E549011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F463B0-C3F1-6B64-213C-7711CCC20CB3}"/>
              </a:ext>
            </a:extLst>
          </p:cNvPr>
          <p:cNvSpPr>
            <a:spLocks noGrp="1"/>
          </p:cNvSpPr>
          <p:nvPr>
            <p:ph type="title" idx="4294967295"/>
          </p:nvPr>
        </p:nvSpPr>
        <p:spPr>
          <a:xfrm>
            <a:off x="2003" y="-13971"/>
            <a:ext cx="10515600" cy="748245"/>
          </a:xfrm>
        </p:spPr>
        <p:txBody>
          <a:bodyPr/>
          <a:lstStyle/>
          <a:p>
            <a:r>
              <a:rPr lang="en-US"/>
              <a:t>V6_Vxcyl Rules</a:t>
            </a:r>
          </a:p>
        </p:txBody>
      </p:sp>
      <p:graphicFrame>
        <p:nvGraphicFramePr>
          <p:cNvPr id="2" name="Table 1">
            <a:extLst>
              <a:ext uri="{FF2B5EF4-FFF2-40B4-BE49-F238E27FC236}">
                <a16:creationId xmlns:a16="http://schemas.microsoft.com/office/drawing/2014/main" id="{253214D9-A0D6-93D5-B7C4-882E19F05764}"/>
              </a:ext>
            </a:extLst>
          </p:cNvPr>
          <p:cNvGraphicFramePr>
            <a:graphicFrameLocks noGrp="1"/>
          </p:cNvGraphicFramePr>
          <p:nvPr>
            <p:extLst>
              <p:ext uri="{D42A27DB-BD31-4B8C-83A1-F6EECF244321}">
                <p14:modId xmlns:p14="http://schemas.microsoft.com/office/powerpoint/2010/main" val="3902713549"/>
              </p:ext>
            </p:extLst>
          </p:nvPr>
        </p:nvGraphicFramePr>
        <p:xfrm>
          <a:off x="0" y="1970672"/>
          <a:ext cx="12191998" cy="3127461"/>
        </p:xfrm>
        <a:graphic>
          <a:graphicData uri="http://schemas.openxmlformats.org/drawingml/2006/table">
            <a:tbl>
              <a:tblPr/>
              <a:tblGrid>
                <a:gridCol w="1848000">
                  <a:extLst>
                    <a:ext uri="{9D8B030D-6E8A-4147-A177-3AD203B41FA5}">
                      <a16:colId xmlns:a16="http://schemas.microsoft.com/office/drawing/2014/main" val="1481994556"/>
                    </a:ext>
                  </a:extLst>
                </a:gridCol>
                <a:gridCol w="2567999">
                  <a:extLst>
                    <a:ext uri="{9D8B030D-6E8A-4147-A177-3AD203B41FA5}">
                      <a16:colId xmlns:a16="http://schemas.microsoft.com/office/drawing/2014/main" val="159576850"/>
                    </a:ext>
                  </a:extLst>
                </a:gridCol>
                <a:gridCol w="4127999">
                  <a:extLst>
                    <a:ext uri="{9D8B030D-6E8A-4147-A177-3AD203B41FA5}">
                      <a16:colId xmlns:a16="http://schemas.microsoft.com/office/drawing/2014/main" val="1116972532"/>
                    </a:ext>
                  </a:extLst>
                </a:gridCol>
                <a:gridCol w="3648000">
                  <a:extLst>
                    <a:ext uri="{9D8B030D-6E8A-4147-A177-3AD203B41FA5}">
                      <a16:colId xmlns:a16="http://schemas.microsoft.com/office/drawing/2014/main" val="1854547883"/>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051708582"/>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40-80 (v5_Vxcyl)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40-76 (v6_Vxcyl)</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51716485"/>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V6</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SA and NSA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59405037"/>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8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5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38037633"/>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&gt;=120nm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&gt;=90nm (1 skip </a:t>
                      </a:r>
                      <a:r>
                        <a:rPr lang="en-US" sz="1100" b="0" i="0" u="none" strike="noStrike" err="1">
                          <a:solidFill>
                            <a:srgbClr val="000000"/>
                          </a:solidFill>
                          <a:effectLst/>
                          <a:latin typeface="Calibri" panose="020F0502020204030204" pitchFamily="34" charset="0"/>
                        </a:rPr>
                        <a:t>Mxc</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26038962"/>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&gt;=88nm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 skip </a:t>
                      </a:r>
                      <a:r>
                        <a:rPr lang="en-US" sz="1100" b="0" i="0" u="none" strike="noStrike" err="1">
                          <a:solidFill>
                            <a:srgbClr val="000000"/>
                          </a:solidFill>
                          <a:effectLst/>
                          <a:latin typeface="Calibri" panose="020F0502020204030204" pitchFamily="34" charset="0"/>
                        </a:rPr>
                        <a:t>Mxc</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&gt;=90nm  (1 skip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80565604"/>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&gt;=96.5nm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&gt;=80nm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25542814"/>
                  </a:ext>
                </a:extLst>
              </a:tr>
              <a:tr h="359547">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&lt;96nm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 to number of vias spaced at &gt;=90nm in OGD, PGD </a:t>
                      </a:r>
                      <a:endPar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26869182"/>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&gt;=24nm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&gt;=24nm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45950040"/>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lang="en-US" sz="1100" b="0" i="0" u="none" strike="noStrike">
                          <a:solidFill>
                            <a:srgbClr val="000000"/>
                          </a:solidFill>
                          <a:effectLst/>
                          <a:latin typeface="Calibri" panose="020F0502020204030204" pitchFamily="34" charset="0"/>
                        </a:rPr>
                        <a:t>&gt;=48nm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143867220"/>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V6</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3988787"/>
                  </a:ext>
                </a:extLst>
              </a:tr>
            </a:tbl>
          </a:graphicData>
        </a:graphic>
      </p:graphicFrame>
    </p:spTree>
    <p:extLst>
      <p:ext uri="{BB962C8B-B14F-4D97-AF65-F5344CB8AC3E}">
        <p14:creationId xmlns:p14="http://schemas.microsoft.com/office/powerpoint/2010/main" val="9416971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27B5-4821-2BC9-F177-6CF89444D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AED47-ECEE-77ED-D989-973CA5DE3F05}"/>
              </a:ext>
            </a:extLst>
          </p:cNvPr>
          <p:cNvSpPr>
            <a:spLocks noGrp="1"/>
          </p:cNvSpPr>
          <p:nvPr>
            <p:ph type="title" idx="4294967295"/>
          </p:nvPr>
        </p:nvSpPr>
        <p:spPr>
          <a:xfrm>
            <a:off x="0" y="-18147"/>
            <a:ext cx="10515600" cy="748245"/>
          </a:xfrm>
        </p:spPr>
        <p:txBody>
          <a:bodyPr/>
          <a:lstStyle/>
          <a:p>
            <a:r>
              <a:rPr lang="en-US"/>
              <a:t>M7_Myl</a:t>
            </a:r>
            <a:r>
              <a:rPr lang="en-US" baseline="0"/>
              <a:t> Rules</a:t>
            </a:r>
            <a:endParaRPr lang="en-US"/>
          </a:p>
        </p:txBody>
      </p:sp>
      <p:graphicFrame>
        <p:nvGraphicFramePr>
          <p:cNvPr id="3" name="Table 2">
            <a:extLst>
              <a:ext uri="{FF2B5EF4-FFF2-40B4-BE49-F238E27FC236}">
                <a16:creationId xmlns:a16="http://schemas.microsoft.com/office/drawing/2014/main" id="{9DAB5FFA-7069-14AF-8334-C02AB9F3170E}"/>
              </a:ext>
            </a:extLst>
          </p:cNvPr>
          <p:cNvGraphicFramePr>
            <a:graphicFrameLocks noGrp="1"/>
          </p:cNvGraphicFramePr>
          <p:nvPr>
            <p:extLst>
              <p:ext uri="{D42A27DB-BD31-4B8C-83A1-F6EECF244321}">
                <p14:modId xmlns:p14="http://schemas.microsoft.com/office/powerpoint/2010/main" val="2019855096"/>
              </p:ext>
            </p:extLst>
          </p:nvPr>
        </p:nvGraphicFramePr>
        <p:xfrm>
          <a:off x="0" y="1825625"/>
          <a:ext cx="12192000" cy="3445566"/>
        </p:xfrm>
        <a:graphic>
          <a:graphicData uri="http://schemas.openxmlformats.org/drawingml/2006/table">
            <a:tbl>
              <a:tblPr/>
              <a:tblGrid>
                <a:gridCol w="1848000">
                  <a:extLst>
                    <a:ext uri="{9D8B030D-6E8A-4147-A177-3AD203B41FA5}">
                      <a16:colId xmlns:a16="http://schemas.microsoft.com/office/drawing/2014/main" val="3808777488"/>
                    </a:ext>
                  </a:extLst>
                </a:gridCol>
                <a:gridCol w="2568000">
                  <a:extLst>
                    <a:ext uri="{9D8B030D-6E8A-4147-A177-3AD203B41FA5}">
                      <a16:colId xmlns:a16="http://schemas.microsoft.com/office/drawing/2014/main" val="3873201732"/>
                    </a:ext>
                  </a:extLst>
                </a:gridCol>
                <a:gridCol w="4128000">
                  <a:extLst>
                    <a:ext uri="{9D8B030D-6E8A-4147-A177-3AD203B41FA5}">
                      <a16:colId xmlns:a16="http://schemas.microsoft.com/office/drawing/2014/main" val="3485784039"/>
                    </a:ext>
                  </a:extLst>
                </a:gridCol>
                <a:gridCol w="3648000">
                  <a:extLst>
                    <a:ext uri="{9D8B030D-6E8A-4147-A177-3AD203B41FA5}">
                      <a16:colId xmlns:a16="http://schemas.microsoft.com/office/drawing/2014/main" val="2113422482"/>
                    </a:ext>
                  </a:extLst>
                </a:gridCol>
              </a:tblGrid>
              <a:tr h="989636">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724627841"/>
                  </a:ext>
                </a:extLst>
              </a:tr>
              <a:tr h="424130">
                <a:tc>
                  <a:txBody>
                    <a:bodyPr/>
                    <a:lstStyle/>
                    <a:p>
                      <a:pPr algn="l" fontAlgn="b">
                        <a:buNone/>
                      </a:pPr>
                      <a:r>
                        <a:rPr lang="en-US" sz="1100" b="0" i="0" u="none" strike="noStrike" err="1">
                          <a:solidFill>
                            <a:srgbClr val="000000"/>
                          </a:solidFill>
                          <a:effectLst/>
                          <a:latin typeface="Calibri" panose="020F0502020204030204" pitchFamily="34" charset="0"/>
                        </a:rPr>
                        <a:t>Myl</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40W/40S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38W/38S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91230825"/>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&gt;=240nm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78473549"/>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==120nm, &gt;=180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90686776"/>
                  </a:ext>
                </a:extLst>
              </a:tr>
              <a:tr h="63619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PD-NPD: &gt;=160nm, &gt;=120nm (fat wires)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NPD-PD: &gt;=180nm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PD-NPD: &gt;=180nm, &gt;=240nm (fat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NPD-PD: &gt;=180nm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92967875"/>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&gt;=120, offset &gt;=240 with exceptions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73951378"/>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&gt;=19.5%, &lt;=60%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&gt;=15%, &lt;=70% (20um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7760536"/>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 Gradient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&lt;=30%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&lt;=30% (20um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36332732"/>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err="1">
                          <a:ln>
                            <a:noFill/>
                          </a:ln>
                          <a:solidFill>
                            <a:srgbClr val="000000"/>
                          </a:solidFill>
                          <a:effectLst/>
                          <a:uLnTx/>
                          <a:uFillTx/>
                          <a:latin typeface="Calibri" panose="020F0502020204030204" pitchFamily="34" charset="0"/>
                          <a:sym typeface="Intel Clear"/>
                        </a:rPr>
                        <a:t>Myl</a:t>
                      </a:r>
                      <a:endPar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&lt;=389.5nm in NPD</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&lt;=389.5nm in NPD</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52231698"/>
                  </a:ext>
                </a:extLst>
              </a:tr>
            </a:tbl>
          </a:graphicData>
        </a:graphic>
      </p:graphicFrame>
    </p:spTree>
    <p:extLst>
      <p:ext uri="{BB962C8B-B14F-4D97-AF65-F5344CB8AC3E}">
        <p14:creationId xmlns:p14="http://schemas.microsoft.com/office/powerpoint/2010/main" val="41731624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B64C6-0756-6424-083D-46403FF2DC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0903A-D3C6-CBF7-6C0E-47CEF1B28ACB}"/>
              </a:ext>
            </a:extLst>
          </p:cNvPr>
          <p:cNvSpPr>
            <a:spLocks noGrp="1"/>
          </p:cNvSpPr>
          <p:nvPr>
            <p:ph type="title" idx="4294967295"/>
          </p:nvPr>
        </p:nvSpPr>
        <p:spPr>
          <a:xfrm>
            <a:off x="0" y="-18147"/>
            <a:ext cx="10515600" cy="748245"/>
          </a:xfrm>
        </p:spPr>
        <p:txBody>
          <a:bodyPr/>
          <a:lstStyle/>
          <a:p>
            <a:r>
              <a:rPr lang="en-US"/>
              <a:t>V7_Vylya</a:t>
            </a:r>
            <a:r>
              <a:rPr lang="en-US" baseline="0"/>
              <a:t> Rules</a:t>
            </a:r>
            <a:endParaRPr lang="en-US"/>
          </a:p>
        </p:txBody>
      </p:sp>
      <p:graphicFrame>
        <p:nvGraphicFramePr>
          <p:cNvPr id="3" name="Table 2">
            <a:extLst>
              <a:ext uri="{FF2B5EF4-FFF2-40B4-BE49-F238E27FC236}">
                <a16:creationId xmlns:a16="http://schemas.microsoft.com/office/drawing/2014/main" id="{A59CCADB-7D11-957F-5B3C-9848E2354BC6}"/>
              </a:ext>
            </a:extLst>
          </p:cNvPr>
          <p:cNvGraphicFramePr>
            <a:graphicFrameLocks noGrp="1"/>
          </p:cNvGraphicFramePr>
          <p:nvPr>
            <p:extLst>
              <p:ext uri="{D42A27DB-BD31-4B8C-83A1-F6EECF244321}">
                <p14:modId xmlns:p14="http://schemas.microsoft.com/office/powerpoint/2010/main" val="2442545165"/>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4127999">
                  <a:extLst>
                    <a:ext uri="{9D8B030D-6E8A-4147-A177-3AD203B41FA5}">
                      <a16:colId xmlns:a16="http://schemas.microsoft.com/office/drawing/2014/main" val="2816651250"/>
                    </a:ext>
                  </a:extLst>
                </a:gridCol>
                <a:gridCol w="3648000">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80-80 (</a:t>
                      </a:r>
                      <a:r>
                        <a:rPr lang="en-US" sz="1100" b="0" i="0" u="none" strike="noStrike" err="1">
                          <a:solidFill>
                            <a:srgbClr val="000000"/>
                          </a:solidFill>
                          <a:effectLst/>
                          <a:latin typeface="Calibri" panose="020F0502020204030204" pitchFamily="34" charset="0"/>
                        </a:rPr>
                        <a:t>Vylya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76-76 (</a:t>
                      </a:r>
                      <a:r>
                        <a:rPr lang="en-US" sz="1100" b="0" i="0" u="none" strike="noStrike" err="1">
                          <a:solidFill>
                            <a:srgbClr val="000000"/>
                          </a:solidFill>
                          <a:effectLst/>
                          <a:latin typeface="Calibri" panose="020F0502020204030204" pitchFamily="34" charset="0"/>
                        </a:rPr>
                        <a:t>Vylya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SA and NSA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12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5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&gt;=75nm (1 skip Mya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&gt;=75nm  (1 skip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 to number of vias spaced at &gt;=75nm in OGD, PGD </a:t>
                      </a:r>
                      <a:endPar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&gt;=50nm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lang="en-US" sz="1100" b="0" i="0" u="none" strike="noStrike">
                          <a:solidFill>
                            <a:srgbClr val="000000"/>
                          </a:solidFill>
                          <a:effectLst/>
                          <a:latin typeface="Calibri" panose="020F0502020204030204" pitchFamily="34" charset="0"/>
                        </a:rPr>
                        <a:t>&gt;=60nm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&lt;=15% (10x10um)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2013530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4D595-7CDE-7451-CC42-57FBF304A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26B7B-4983-D6D5-5968-73AECFCB3EC7}"/>
              </a:ext>
            </a:extLst>
          </p:cNvPr>
          <p:cNvSpPr>
            <a:spLocks noGrp="1"/>
          </p:cNvSpPr>
          <p:nvPr>
            <p:ph type="title" idx="4294967295"/>
          </p:nvPr>
        </p:nvSpPr>
        <p:spPr>
          <a:xfrm>
            <a:off x="0" y="-18147"/>
            <a:ext cx="10515600" cy="748245"/>
          </a:xfrm>
        </p:spPr>
        <p:txBody>
          <a:bodyPr/>
          <a:lstStyle/>
          <a:p>
            <a:r>
              <a:rPr lang="en-US"/>
              <a:t>M8-M10 Mya</a:t>
            </a:r>
            <a:r>
              <a:rPr lang="en-US" baseline="0"/>
              <a:t> Rules</a:t>
            </a:r>
            <a:endParaRPr lang="en-US"/>
          </a:p>
        </p:txBody>
      </p:sp>
      <p:graphicFrame>
        <p:nvGraphicFramePr>
          <p:cNvPr id="3" name="Table 2">
            <a:extLst>
              <a:ext uri="{FF2B5EF4-FFF2-40B4-BE49-F238E27FC236}">
                <a16:creationId xmlns:a16="http://schemas.microsoft.com/office/drawing/2014/main" id="{D9ABA923-DDEF-510E-3E2D-0C8D47705A73}"/>
              </a:ext>
            </a:extLst>
          </p:cNvPr>
          <p:cNvGraphicFramePr>
            <a:graphicFrameLocks noGrp="1"/>
          </p:cNvGraphicFramePr>
          <p:nvPr>
            <p:extLst>
              <p:ext uri="{D42A27DB-BD31-4B8C-83A1-F6EECF244321}">
                <p14:modId xmlns:p14="http://schemas.microsoft.com/office/powerpoint/2010/main" val="739260770"/>
              </p:ext>
            </p:extLst>
          </p:nvPr>
        </p:nvGraphicFramePr>
        <p:xfrm>
          <a:off x="0" y="1825625"/>
          <a:ext cx="12192000" cy="3445566"/>
        </p:xfrm>
        <a:graphic>
          <a:graphicData uri="http://schemas.openxmlformats.org/drawingml/2006/table">
            <a:tbl>
              <a:tblPr/>
              <a:tblGrid>
                <a:gridCol w="1848000">
                  <a:extLst>
                    <a:ext uri="{9D8B030D-6E8A-4147-A177-3AD203B41FA5}">
                      <a16:colId xmlns:a16="http://schemas.microsoft.com/office/drawing/2014/main" val="3808777488"/>
                    </a:ext>
                  </a:extLst>
                </a:gridCol>
                <a:gridCol w="2568000">
                  <a:extLst>
                    <a:ext uri="{9D8B030D-6E8A-4147-A177-3AD203B41FA5}">
                      <a16:colId xmlns:a16="http://schemas.microsoft.com/office/drawing/2014/main" val="3873201732"/>
                    </a:ext>
                  </a:extLst>
                </a:gridCol>
                <a:gridCol w="4128000">
                  <a:extLst>
                    <a:ext uri="{9D8B030D-6E8A-4147-A177-3AD203B41FA5}">
                      <a16:colId xmlns:a16="http://schemas.microsoft.com/office/drawing/2014/main" val="3485784039"/>
                    </a:ext>
                  </a:extLst>
                </a:gridCol>
                <a:gridCol w="3648000">
                  <a:extLst>
                    <a:ext uri="{9D8B030D-6E8A-4147-A177-3AD203B41FA5}">
                      <a16:colId xmlns:a16="http://schemas.microsoft.com/office/drawing/2014/main" val="2113422482"/>
                    </a:ext>
                  </a:extLst>
                </a:gridCol>
              </a:tblGrid>
              <a:tr h="989636">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1724627841"/>
                  </a:ext>
                </a:extLst>
              </a:tr>
              <a:tr h="424130">
                <a:tc>
                  <a:txBody>
                    <a:bodyPr/>
                    <a:lstStyle/>
                    <a:p>
                      <a:pPr algn="l" fontAlgn="b">
                        <a:buNone/>
                      </a:pPr>
                      <a:r>
                        <a:rPr lang="en-US" sz="1100" b="0" i="0" u="none" strike="noStrike">
                          <a:solidFill>
                            <a:srgbClr val="000000"/>
                          </a:solidFill>
                          <a:effectLst/>
                          <a:latin typeface="Calibri" panose="020F0502020204030204" pitchFamily="34" charset="0"/>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40W/40S (Mya)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38W/38S (Mya)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991230825"/>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&gt;=240nm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78473549"/>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==120nm, &gt;=180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90686776"/>
                  </a:ext>
                </a:extLst>
              </a:tr>
              <a:tr h="63619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PD-NPD: &gt;=160nm, &gt;=120nm (fat wires)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NPD-PD: &gt;=180nm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PD-NPD: &gt;=180nm, &gt;=240nm (fat wires)</a:t>
                      </a:r>
                    </a:p>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NPD-PD: &gt;=180nm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892967875"/>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PRL &gt;=120, offset &gt;=240 with exceptions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73951378"/>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&gt;=19.5%, &lt;=60%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&gt;=15%, &lt;=70% (20um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17760536"/>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 Gradient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&lt;=30%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&lt;=30% (20um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36332732"/>
                  </a:ext>
                </a:extLst>
              </a:tr>
              <a:tr h="212065">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sym typeface="Intel Clear"/>
                        </a:rPr>
                        <a:t>Mya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&lt;=389.5nm in NPD</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100" b="0" i="0" u="none" strike="noStrike">
                          <a:solidFill>
                            <a:srgbClr val="000000"/>
                          </a:solidFill>
                          <a:effectLst/>
                          <a:latin typeface="Calibri" panose="020F0502020204030204" pitchFamily="34" charset="0"/>
                        </a:rPr>
                        <a:t>&lt;=389.5nm in NPD</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52231698"/>
                  </a:ext>
                </a:extLst>
              </a:tr>
            </a:tbl>
          </a:graphicData>
        </a:graphic>
      </p:graphicFrame>
    </p:spTree>
    <p:extLst>
      <p:ext uri="{BB962C8B-B14F-4D97-AF65-F5344CB8AC3E}">
        <p14:creationId xmlns:p14="http://schemas.microsoft.com/office/powerpoint/2010/main" val="13288622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54495-B8B1-5E33-764B-E13512A633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BC187-763E-1A5F-A3A4-756BFD251DB1}"/>
              </a:ext>
            </a:extLst>
          </p:cNvPr>
          <p:cNvSpPr>
            <a:spLocks noGrp="1"/>
          </p:cNvSpPr>
          <p:nvPr>
            <p:ph type="title" idx="4294967295"/>
          </p:nvPr>
        </p:nvSpPr>
        <p:spPr>
          <a:xfrm>
            <a:off x="0" y="-18147"/>
            <a:ext cx="10515600" cy="748245"/>
          </a:xfrm>
        </p:spPr>
        <p:txBody>
          <a:bodyPr/>
          <a:lstStyle/>
          <a:p>
            <a:r>
              <a:rPr lang="en-US"/>
              <a:t>V8-V9 Vya</a:t>
            </a:r>
            <a:r>
              <a:rPr lang="en-US" baseline="0"/>
              <a:t> Rules</a:t>
            </a:r>
            <a:endParaRPr lang="en-US"/>
          </a:p>
        </p:txBody>
      </p:sp>
      <p:graphicFrame>
        <p:nvGraphicFramePr>
          <p:cNvPr id="3" name="Table 2">
            <a:extLst>
              <a:ext uri="{FF2B5EF4-FFF2-40B4-BE49-F238E27FC236}">
                <a16:creationId xmlns:a16="http://schemas.microsoft.com/office/drawing/2014/main" id="{896C54B2-6633-1AF5-3C78-C8C2EFCEEBFC}"/>
              </a:ext>
            </a:extLst>
          </p:cNvPr>
          <p:cNvGraphicFramePr>
            <a:graphicFrameLocks noGrp="1"/>
          </p:cNvGraphicFramePr>
          <p:nvPr>
            <p:extLst>
              <p:ext uri="{D42A27DB-BD31-4B8C-83A1-F6EECF244321}">
                <p14:modId xmlns:p14="http://schemas.microsoft.com/office/powerpoint/2010/main" val="3708096953"/>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4127999">
                  <a:extLst>
                    <a:ext uri="{9D8B030D-6E8A-4147-A177-3AD203B41FA5}">
                      <a16:colId xmlns:a16="http://schemas.microsoft.com/office/drawing/2014/main" val="2816651250"/>
                    </a:ext>
                  </a:extLst>
                </a:gridCol>
                <a:gridCol w="3648000">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80-80 (</a:t>
                      </a:r>
                      <a:r>
                        <a:rPr lang="en-US" sz="1100" b="0" i="0" u="none" strike="noStrike" err="1">
                          <a:solidFill>
                            <a:srgbClr val="000000"/>
                          </a:solidFill>
                          <a:effectLst/>
                          <a:latin typeface="Calibri" panose="020F0502020204030204" pitchFamily="34" charset="0"/>
                        </a:rPr>
                        <a:t>Vylya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76-76 (</a:t>
                      </a:r>
                      <a:r>
                        <a:rPr lang="en-US" sz="1100" b="0" i="0" u="none" strike="noStrike" err="1">
                          <a:solidFill>
                            <a:srgbClr val="000000"/>
                          </a:solidFill>
                          <a:effectLst/>
                          <a:latin typeface="Calibri" panose="020F0502020204030204" pitchFamily="34" charset="0"/>
                        </a:rPr>
                        <a:t>Vylya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algn="l" fontAlgn="b">
                        <a:buNone/>
                      </a:pPr>
                      <a:r>
                        <a:rPr lang="en-US" sz="1100" b="0" i="0" u="none" strike="noStrike">
                          <a:solidFill>
                            <a:srgbClr val="000000"/>
                          </a:solidFill>
                          <a:effectLst/>
                          <a:latin typeface="Calibri" panose="020F0502020204030204" pitchFamily="34" charset="0"/>
                        </a:rPr>
                        <a:t>V7</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SA and NSA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12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5 vias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&gt;=75nm (1 skip Mya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&gt;=75nm  (1 skip </a:t>
                      </a:r>
                      <a:r>
                        <a:rPr lang="en-US" sz="1100" b="0" i="0" u="none" strike="noStrike" err="1">
                          <a:solidFill>
                            <a:srgbClr val="000000"/>
                          </a:solidFill>
                          <a:effectLst/>
                          <a:latin typeface="Calibri" panose="020F0502020204030204" pitchFamily="34" charset="0"/>
                        </a:rPr>
                        <a:t>Myl</a:t>
                      </a:r>
                      <a:r>
                        <a:rPr lang="en-US" sz="1100" b="0" i="0" u="none" strike="noStrike">
                          <a:solidFill>
                            <a:srgbClr val="000000"/>
                          </a:solidFill>
                          <a:effectLst/>
                          <a:latin typeface="Calibri" panose="020F0502020204030204" pitchFamily="34" charset="0"/>
                        </a:rPr>
                        <a:t> track)</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 to number of vias spaced at &gt;=75nm in OGD, PGD </a:t>
                      </a:r>
                      <a:endPar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&gt;=50nm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lang="en-US" sz="1100" b="0" i="0" u="none" strike="noStrike">
                          <a:solidFill>
                            <a:srgbClr val="000000"/>
                          </a:solidFill>
                          <a:effectLst/>
                          <a:latin typeface="Calibri" panose="020F0502020204030204" pitchFamily="34" charset="0"/>
                        </a:rPr>
                        <a:t>&gt;=60nm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algn="l" fontAlgn="b">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V7</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37147758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A8645-DF68-026B-F29D-CDD8FD799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5A91D-6104-F4D1-CA88-B39020A623FC}"/>
              </a:ext>
            </a:extLst>
          </p:cNvPr>
          <p:cNvSpPr>
            <a:spLocks noGrp="1"/>
          </p:cNvSpPr>
          <p:nvPr>
            <p:ph type="title" idx="4294967295"/>
          </p:nvPr>
        </p:nvSpPr>
        <p:spPr>
          <a:xfrm>
            <a:off x="0" y="-18147"/>
            <a:ext cx="10515600" cy="748245"/>
          </a:xfrm>
        </p:spPr>
        <p:txBody>
          <a:bodyPr/>
          <a:lstStyle/>
          <a:p>
            <a:r>
              <a:rPr lang="en-US"/>
              <a:t>V10 </a:t>
            </a:r>
            <a:r>
              <a:rPr lang="en-US" err="1"/>
              <a:t>Vyayb</a:t>
            </a:r>
            <a:r>
              <a:rPr lang="en-US" baseline="0"/>
              <a:t> Rules</a:t>
            </a:r>
            <a:endParaRPr lang="en-US"/>
          </a:p>
        </p:txBody>
      </p:sp>
      <p:graphicFrame>
        <p:nvGraphicFramePr>
          <p:cNvPr id="3" name="Table 2">
            <a:extLst>
              <a:ext uri="{FF2B5EF4-FFF2-40B4-BE49-F238E27FC236}">
                <a16:creationId xmlns:a16="http://schemas.microsoft.com/office/drawing/2014/main" id="{CA7E1011-DD8A-4AE5-5D42-8E6381267F65}"/>
              </a:ext>
            </a:extLst>
          </p:cNvPr>
          <p:cNvGraphicFramePr>
            <a:graphicFrameLocks noGrp="1"/>
          </p:cNvGraphicFramePr>
          <p:nvPr>
            <p:extLst>
              <p:ext uri="{D42A27DB-BD31-4B8C-83A1-F6EECF244321}">
                <p14:modId xmlns:p14="http://schemas.microsoft.com/office/powerpoint/2010/main" val="1231509735"/>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4127999">
                  <a:extLst>
                    <a:ext uri="{9D8B030D-6E8A-4147-A177-3AD203B41FA5}">
                      <a16:colId xmlns:a16="http://schemas.microsoft.com/office/drawing/2014/main" val="2816651250"/>
                    </a:ext>
                  </a:extLst>
                </a:gridCol>
                <a:gridCol w="3648000">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80-120 (</a:t>
                      </a:r>
                      <a:r>
                        <a:rPr lang="en-US" sz="1100" b="0" i="0" u="none" strike="noStrike" err="1">
                          <a:solidFill>
                            <a:srgbClr val="000000"/>
                          </a:solidFill>
                          <a:effectLst/>
                          <a:latin typeface="Calibri" panose="020F0502020204030204" pitchFamily="34" charset="0"/>
                        </a:rPr>
                        <a:t>Vyayb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76-120 (</a:t>
                      </a:r>
                      <a:r>
                        <a:rPr lang="en-US" sz="1100" b="0" i="0" u="none" strike="noStrike" err="1">
                          <a:solidFill>
                            <a:srgbClr val="000000"/>
                          </a:solidFill>
                          <a:effectLst/>
                          <a:latin typeface="Calibri" panose="020F0502020204030204" pitchFamily="34" charset="0"/>
                        </a:rPr>
                        <a:t>Vyayb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SA and NSA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12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1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&gt;=65nm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&gt;=55nm (same net), &gt;=70 nm (different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Limit to 8 vias spaced at &gt;=60nm on same metal junction </a:t>
                      </a:r>
                      <a:endPar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&gt;=50nm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Vyayb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lang="en-US" sz="1100" b="0" i="0" u="none" strike="noStrike">
                          <a:solidFill>
                            <a:srgbClr val="000000"/>
                          </a:solidFill>
                          <a:effectLst/>
                          <a:latin typeface="Calibri" panose="020F0502020204030204" pitchFamily="34" charset="0"/>
                        </a:rPr>
                        <a:t>&gt;=38nm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&gt;=38nm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Vyayb</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20528795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E31A-6818-01BC-50FB-0A5459F6A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163D7-2D93-4969-7C8D-D50801762892}"/>
              </a:ext>
            </a:extLst>
          </p:cNvPr>
          <p:cNvSpPr>
            <a:spLocks noGrp="1"/>
          </p:cNvSpPr>
          <p:nvPr>
            <p:ph type="title" idx="4294967295"/>
          </p:nvPr>
        </p:nvSpPr>
        <p:spPr>
          <a:xfrm>
            <a:off x="0" y="-18147"/>
            <a:ext cx="10515600" cy="748245"/>
          </a:xfrm>
        </p:spPr>
        <p:txBody>
          <a:bodyPr/>
          <a:lstStyle/>
          <a:p>
            <a:r>
              <a:rPr lang="en-US"/>
              <a:t>M11_Myb</a:t>
            </a:r>
            <a:r>
              <a:rPr lang="en-US" baseline="0"/>
              <a:t> Rules</a:t>
            </a:r>
            <a:endParaRPr lang="en-US"/>
          </a:p>
        </p:txBody>
      </p:sp>
      <p:graphicFrame>
        <p:nvGraphicFramePr>
          <p:cNvPr id="3" name="Table 2">
            <a:extLst>
              <a:ext uri="{FF2B5EF4-FFF2-40B4-BE49-F238E27FC236}">
                <a16:creationId xmlns:a16="http://schemas.microsoft.com/office/drawing/2014/main" id="{EAC77048-7519-D566-0FDD-06C222D959EB}"/>
              </a:ext>
            </a:extLst>
          </p:cNvPr>
          <p:cNvGraphicFramePr>
            <a:graphicFrameLocks noGrp="1"/>
          </p:cNvGraphicFramePr>
          <p:nvPr>
            <p:extLst>
              <p:ext uri="{D42A27DB-BD31-4B8C-83A1-F6EECF244321}">
                <p14:modId xmlns:p14="http://schemas.microsoft.com/office/powerpoint/2010/main" val="1609941326"/>
              </p:ext>
            </p:extLst>
          </p:nvPr>
        </p:nvGraphicFramePr>
        <p:xfrm>
          <a:off x="0" y="1825625"/>
          <a:ext cx="12192000" cy="4152781"/>
        </p:xfrm>
        <a:graphic>
          <a:graphicData uri="http://schemas.openxmlformats.org/drawingml/2006/table">
            <a:tbl>
              <a:tblPr/>
              <a:tblGrid>
                <a:gridCol w="1848000">
                  <a:extLst>
                    <a:ext uri="{9D8B030D-6E8A-4147-A177-3AD203B41FA5}">
                      <a16:colId xmlns:a16="http://schemas.microsoft.com/office/drawing/2014/main" val="2594637301"/>
                    </a:ext>
                  </a:extLst>
                </a:gridCol>
                <a:gridCol w="2568000">
                  <a:extLst>
                    <a:ext uri="{9D8B030D-6E8A-4147-A177-3AD203B41FA5}">
                      <a16:colId xmlns:a16="http://schemas.microsoft.com/office/drawing/2014/main" val="1528532346"/>
                    </a:ext>
                  </a:extLst>
                </a:gridCol>
                <a:gridCol w="4127999">
                  <a:extLst>
                    <a:ext uri="{9D8B030D-6E8A-4147-A177-3AD203B41FA5}">
                      <a16:colId xmlns:a16="http://schemas.microsoft.com/office/drawing/2014/main" val="722093235"/>
                    </a:ext>
                  </a:extLst>
                </a:gridCol>
                <a:gridCol w="3648001">
                  <a:extLst>
                    <a:ext uri="{9D8B030D-6E8A-4147-A177-3AD203B41FA5}">
                      <a16:colId xmlns:a16="http://schemas.microsoft.com/office/drawing/2014/main" val="461541890"/>
                    </a:ext>
                  </a:extLst>
                </a:gridCol>
              </a:tblGrid>
              <a:tr h="1135928">
                <a:tc>
                  <a:txBody>
                    <a:bodyPr/>
                    <a:lstStyle/>
                    <a:p>
                      <a:pPr algn="ctr" fontAlgn="ctr">
                        <a:buNone/>
                      </a:pPr>
                      <a:r>
                        <a:rPr lang="en-US" sz="14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4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521599637"/>
                  </a:ext>
                </a:extLst>
              </a:tr>
              <a:tr h="486827">
                <a:tc>
                  <a:txBody>
                    <a:bodyPr/>
                    <a:lstStyle/>
                    <a:p>
                      <a:pPr algn="l" fontAlgn="b">
                        <a:buNone/>
                      </a:pPr>
                      <a:r>
                        <a:rPr lang="en-US" sz="1400" b="0" i="0" u="none" strike="noStrike" err="1">
                          <a:solidFill>
                            <a:srgbClr val="000000"/>
                          </a:solidFill>
                          <a:effectLst/>
                          <a:latin typeface="Calibri" panose="020F0502020204030204" pitchFamily="34" charset="0"/>
                        </a:rPr>
                        <a:t>Myb</a:t>
                      </a:r>
                      <a:endParaRPr lang="en-US" sz="14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60W/60S (Myb)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60W/60S (Myb) (copied from P1280.3)</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0465849"/>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&gt;=240nm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&gt;=240nm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23369552"/>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ETE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&gt;=120nm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&gt;=120nm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43168256"/>
                  </a:ext>
                </a:extLst>
              </a:tr>
              <a:tr h="66385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Attacker</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PD-NPD:  &gt;=120nm</a:t>
                      </a:r>
                    </a:p>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NPD-PD: &gt;=180nm (grow by 120nm in 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PD-NPD:  &gt;=120nm</a:t>
                      </a:r>
                    </a:p>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NPD-PD: &gt;=180nm (grow by 120nm in 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36912757"/>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PRL/Offset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43902843"/>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&gt;=19.5%, &lt;=60%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&gt;=10%, &lt;=75% (50um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10676790"/>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 Gradient</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&lt;=30% (50um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&lt;=35% (50um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61579556"/>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err="1">
                          <a:ln>
                            <a:noFill/>
                          </a:ln>
                          <a:solidFill>
                            <a:srgbClr val="000000"/>
                          </a:solidFill>
                          <a:effectLst/>
                          <a:uLnTx/>
                          <a:uFillTx/>
                          <a:latin typeface="Calibri" panose="020F0502020204030204" pitchFamily="34" charset="0"/>
                          <a:sym typeface="Intel Clear"/>
                        </a:rPr>
                        <a:t>Myb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&lt;=389.5nm in NPD</a:t>
                      </a:r>
                      <a:endParaRPr lang="en-US" sz="14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&lt;=670.5nm in PD</a:t>
                      </a:r>
                    </a:p>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&lt;=389.5nm in NPD</a:t>
                      </a:r>
                      <a:endParaRPr lang="en-US" sz="14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0205562"/>
                  </a:ext>
                </a:extLst>
              </a:tr>
            </a:tbl>
          </a:graphicData>
        </a:graphic>
      </p:graphicFrame>
    </p:spTree>
    <p:extLst>
      <p:ext uri="{BB962C8B-B14F-4D97-AF65-F5344CB8AC3E}">
        <p14:creationId xmlns:p14="http://schemas.microsoft.com/office/powerpoint/2010/main" val="15943907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AD4FB-4EA1-C3D0-136E-CCC1E19C8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7187D-22E9-FB9E-764C-7EAF9EE9F4B1}"/>
              </a:ext>
            </a:extLst>
          </p:cNvPr>
          <p:cNvSpPr>
            <a:spLocks noGrp="1"/>
          </p:cNvSpPr>
          <p:nvPr>
            <p:ph type="title" idx="4294967295"/>
          </p:nvPr>
        </p:nvSpPr>
        <p:spPr>
          <a:xfrm>
            <a:off x="0" y="-18147"/>
            <a:ext cx="10515600" cy="748245"/>
          </a:xfrm>
        </p:spPr>
        <p:txBody>
          <a:bodyPr/>
          <a:lstStyle/>
          <a:p>
            <a:r>
              <a:rPr lang="en-US" err="1"/>
              <a:t>Vyb</a:t>
            </a:r>
            <a:r>
              <a:rPr lang="en-US" baseline="0"/>
              <a:t> Rules</a:t>
            </a:r>
            <a:endParaRPr lang="en-US"/>
          </a:p>
        </p:txBody>
      </p:sp>
      <p:graphicFrame>
        <p:nvGraphicFramePr>
          <p:cNvPr id="3" name="Table 2">
            <a:extLst>
              <a:ext uri="{FF2B5EF4-FFF2-40B4-BE49-F238E27FC236}">
                <a16:creationId xmlns:a16="http://schemas.microsoft.com/office/drawing/2014/main" id="{4093F89B-B155-1D8C-9A54-241B1BACBDF6}"/>
              </a:ext>
            </a:extLst>
          </p:cNvPr>
          <p:cNvGraphicFramePr>
            <a:graphicFrameLocks noGrp="1"/>
          </p:cNvGraphicFramePr>
          <p:nvPr>
            <p:extLst>
              <p:ext uri="{D42A27DB-BD31-4B8C-83A1-F6EECF244321}">
                <p14:modId xmlns:p14="http://schemas.microsoft.com/office/powerpoint/2010/main" val="2096673838"/>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4127999">
                  <a:extLst>
                    <a:ext uri="{9D8B030D-6E8A-4147-A177-3AD203B41FA5}">
                      <a16:colId xmlns:a16="http://schemas.microsoft.com/office/drawing/2014/main" val="2816651250"/>
                    </a:ext>
                  </a:extLst>
                </a:gridCol>
                <a:gridCol w="3648000">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120-120 (</a:t>
                      </a:r>
                      <a:r>
                        <a:rPr lang="en-US" sz="1100" b="0" i="0" u="none" strike="noStrike" err="1">
                          <a:solidFill>
                            <a:srgbClr val="000000"/>
                          </a:solidFill>
                          <a:effectLst/>
                          <a:latin typeface="Calibri" panose="020F0502020204030204" pitchFamily="34" charset="0"/>
                        </a:rPr>
                        <a:t>Vyayb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120-120 (</a:t>
                      </a:r>
                      <a:r>
                        <a:rPr lang="en-US" sz="1100" b="0" i="0" u="none" strike="noStrike" err="1">
                          <a:solidFill>
                            <a:srgbClr val="000000"/>
                          </a:solidFill>
                          <a:effectLst/>
                          <a:latin typeface="Calibri" panose="020F0502020204030204" pitchFamily="34" charset="0"/>
                        </a:rPr>
                        <a:t>Vyayb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SA and NSA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13 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1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&gt;=60nm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&gt;=60nm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&gt;=60</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nn-NO"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&gt;=55nm (same net), &gt;=70 nm (different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OGD: Max of 3 vias within &lt;120nm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Limit to 8 vias spaced at &gt;=60nm on same metal junction </a:t>
                      </a:r>
                      <a:endParaRPr lang="en-US" sz="1100" b="0" i="0" u="none" strike="noStrike" cap="none" spc="0" baseline="0">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&gt;=24nm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&gt;=50nm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lang="en-US" sz="1100" b="0" i="0" u="none" strike="noStrike">
                          <a:solidFill>
                            <a:srgbClr val="000000"/>
                          </a:solidFill>
                          <a:effectLst/>
                          <a:latin typeface="Calibri" panose="020F0502020204030204" pitchFamily="34" charset="0"/>
                        </a:rPr>
                        <a:t>&gt;=38nm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&gt;=38nm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Vyb</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&lt;=10%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34488794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48901-6D6A-D701-2226-6A4339C36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1E4F7-C7ED-E9AD-CD68-0FEA96EFD49A}"/>
              </a:ext>
            </a:extLst>
          </p:cNvPr>
          <p:cNvSpPr>
            <a:spLocks noGrp="1"/>
          </p:cNvSpPr>
          <p:nvPr>
            <p:ph type="title" idx="4294967295"/>
          </p:nvPr>
        </p:nvSpPr>
        <p:spPr>
          <a:xfrm>
            <a:off x="0" y="-18147"/>
            <a:ext cx="10515600" cy="748245"/>
          </a:xfrm>
        </p:spPr>
        <p:txBody>
          <a:bodyPr/>
          <a:lstStyle/>
          <a:p>
            <a:r>
              <a:rPr lang="en-US" err="1"/>
              <a:t>Vybga</a:t>
            </a:r>
            <a:r>
              <a:rPr lang="en-US" baseline="0"/>
              <a:t> Rules</a:t>
            </a:r>
            <a:endParaRPr lang="en-US"/>
          </a:p>
        </p:txBody>
      </p:sp>
      <p:graphicFrame>
        <p:nvGraphicFramePr>
          <p:cNvPr id="3" name="Table 2">
            <a:extLst>
              <a:ext uri="{FF2B5EF4-FFF2-40B4-BE49-F238E27FC236}">
                <a16:creationId xmlns:a16="http://schemas.microsoft.com/office/drawing/2014/main" id="{A43EA6D2-2D9D-DE88-DCDB-1C03C5B10BE8}"/>
              </a:ext>
            </a:extLst>
          </p:cNvPr>
          <p:cNvGraphicFramePr>
            <a:graphicFrameLocks noGrp="1"/>
          </p:cNvGraphicFramePr>
          <p:nvPr>
            <p:extLst>
              <p:ext uri="{D42A27DB-BD31-4B8C-83A1-F6EECF244321}">
                <p14:modId xmlns:p14="http://schemas.microsoft.com/office/powerpoint/2010/main" val="3182450193"/>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3033691">
                  <a:extLst>
                    <a:ext uri="{9D8B030D-6E8A-4147-A177-3AD203B41FA5}">
                      <a16:colId xmlns:a16="http://schemas.microsoft.com/office/drawing/2014/main" val="2816651250"/>
                    </a:ext>
                  </a:extLst>
                </a:gridCol>
                <a:gridCol w="4742308">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480-1080 (</a:t>
                      </a:r>
                      <a:r>
                        <a:rPr lang="en-US" sz="1100" b="0" i="0" u="none" strike="noStrike" err="1">
                          <a:solidFill>
                            <a:srgbClr val="000000"/>
                          </a:solidFill>
                          <a:effectLst/>
                          <a:latin typeface="Calibri" panose="020F0502020204030204" pitchFamily="34" charset="0"/>
                        </a:rPr>
                        <a:t>Vyfga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120-760 (</a:t>
                      </a:r>
                      <a:r>
                        <a:rPr lang="en-US" sz="1100" b="0" i="0" u="none" strike="noStrike" err="1">
                          <a:solidFill>
                            <a:srgbClr val="000000"/>
                          </a:solidFill>
                          <a:effectLst/>
                          <a:latin typeface="Calibri" panose="020F0502020204030204" pitchFamily="34" charset="0"/>
                        </a:rPr>
                        <a:t>Vybga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NSA only</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4 via sizes</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1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&gt;=240nm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&gt;=440nm, &gt;=320nm on same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&gt;=240nm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&gt;=440nm, &gt;=320nm on same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a:t>
                      </a:r>
                      <a:endParaRPr lang="nn-NO"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specific C2C DR, is controlled by PGD/OGD space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&gt;=120nm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Vybga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&gt;=54nm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Vybga</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&lt;=24% (100x100um)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&lt;=12%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318247912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ABFB0-8BE8-F720-6C05-A930F834A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96DC1-1A34-991C-66E3-53E3848697F6}"/>
              </a:ext>
            </a:extLst>
          </p:cNvPr>
          <p:cNvSpPr>
            <a:spLocks noGrp="1"/>
          </p:cNvSpPr>
          <p:nvPr>
            <p:ph type="title" idx="4294967295"/>
          </p:nvPr>
        </p:nvSpPr>
        <p:spPr>
          <a:xfrm>
            <a:off x="0" y="-18147"/>
            <a:ext cx="10515600" cy="748245"/>
          </a:xfrm>
        </p:spPr>
        <p:txBody>
          <a:bodyPr/>
          <a:lstStyle/>
          <a:p>
            <a:r>
              <a:rPr lang="en-US"/>
              <a:t>Mga</a:t>
            </a:r>
            <a:r>
              <a:rPr lang="en-US" baseline="0"/>
              <a:t> Rules</a:t>
            </a:r>
            <a:endParaRPr lang="en-US"/>
          </a:p>
        </p:txBody>
      </p:sp>
      <p:graphicFrame>
        <p:nvGraphicFramePr>
          <p:cNvPr id="3" name="Table 2">
            <a:extLst>
              <a:ext uri="{FF2B5EF4-FFF2-40B4-BE49-F238E27FC236}">
                <a16:creationId xmlns:a16="http://schemas.microsoft.com/office/drawing/2014/main" id="{26F01271-DFA1-7BE4-DF99-7F8608800BAE}"/>
              </a:ext>
            </a:extLst>
          </p:cNvPr>
          <p:cNvGraphicFramePr>
            <a:graphicFrameLocks noGrp="1"/>
          </p:cNvGraphicFramePr>
          <p:nvPr>
            <p:extLst>
              <p:ext uri="{D42A27DB-BD31-4B8C-83A1-F6EECF244321}">
                <p14:modId xmlns:p14="http://schemas.microsoft.com/office/powerpoint/2010/main" val="3201294903"/>
              </p:ext>
            </p:extLst>
          </p:nvPr>
        </p:nvGraphicFramePr>
        <p:xfrm>
          <a:off x="0" y="1825625"/>
          <a:ext cx="12192000" cy="4152781"/>
        </p:xfrm>
        <a:graphic>
          <a:graphicData uri="http://schemas.openxmlformats.org/drawingml/2006/table">
            <a:tbl>
              <a:tblPr/>
              <a:tblGrid>
                <a:gridCol w="1848000">
                  <a:extLst>
                    <a:ext uri="{9D8B030D-6E8A-4147-A177-3AD203B41FA5}">
                      <a16:colId xmlns:a16="http://schemas.microsoft.com/office/drawing/2014/main" val="2594637301"/>
                    </a:ext>
                  </a:extLst>
                </a:gridCol>
                <a:gridCol w="2568000">
                  <a:extLst>
                    <a:ext uri="{9D8B030D-6E8A-4147-A177-3AD203B41FA5}">
                      <a16:colId xmlns:a16="http://schemas.microsoft.com/office/drawing/2014/main" val="1528532346"/>
                    </a:ext>
                  </a:extLst>
                </a:gridCol>
                <a:gridCol w="4127999">
                  <a:extLst>
                    <a:ext uri="{9D8B030D-6E8A-4147-A177-3AD203B41FA5}">
                      <a16:colId xmlns:a16="http://schemas.microsoft.com/office/drawing/2014/main" val="722093235"/>
                    </a:ext>
                  </a:extLst>
                </a:gridCol>
                <a:gridCol w="3648001">
                  <a:extLst>
                    <a:ext uri="{9D8B030D-6E8A-4147-A177-3AD203B41FA5}">
                      <a16:colId xmlns:a16="http://schemas.microsoft.com/office/drawing/2014/main" val="461541890"/>
                    </a:ext>
                  </a:extLst>
                </a:gridCol>
              </a:tblGrid>
              <a:tr h="1135928">
                <a:tc>
                  <a:txBody>
                    <a:bodyPr/>
                    <a:lstStyle/>
                    <a:p>
                      <a:pPr algn="ctr" fontAlgn="ctr">
                        <a:buNone/>
                      </a:pPr>
                      <a:r>
                        <a:rPr lang="en-US" sz="14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4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521599637"/>
                  </a:ext>
                </a:extLst>
              </a:tr>
              <a:tr h="486827">
                <a:tc>
                  <a:txBody>
                    <a:bodyPr/>
                    <a:lstStyle/>
                    <a:p>
                      <a:pPr algn="l" fontAlgn="b">
                        <a:buNone/>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lang="en-US" sz="14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540W/540S (Mga)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380W/380S (Mga)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0465849"/>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Width min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&gt;=540nm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&gt;=380nm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23369552"/>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Width max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&lt;=6000nm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&lt;=6000nm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43168256"/>
                  </a:ext>
                </a:extLst>
              </a:tr>
              <a:tr h="66385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Hole Area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&gt;=2.2 sq 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&gt;=1.1 sq 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36912757"/>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Edge 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&gt;=540nm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&gt;=200nm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43902843"/>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&gt;=38%, &lt;=90% 100um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&gt;=40%, &lt;=90% (100um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10676790"/>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 Gradient</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&lt;=35% (50um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&lt;=25% (100um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61579556"/>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Mga</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0205562"/>
                  </a:ext>
                </a:extLst>
              </a:tr>
            </a:tbl>
          </a:graphicData>
        </a:graphic>
      </p:graphicFrame>
    </p:spTree>
    <p:extLst>
      <p:ext uri="{BB962C8B-B14F-4D97-AF65-F5344CB8AC3E}">
        <p14:creationId xmlns:p14="http://schemas.microsoft.com/office/powerpoint/2010/main" val="3332116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5C23C-2F9E-52AB-E075-D4A3EE44C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3FF6A-F989-A24F-2BF5-7348DEAC71A4}"/>
              </a:ext>
            </a:extLst>
          </p:cNvPr>
          <p:cNvSpPr>
            <a:spLocks noGrp="1"/>
          </p:cNvSpPr>
          <p:nvPr>
            <p:ph type="title" idx="4294967295"/>
          </p:nvPr>
        </p:nvSpPr>
        <p:spPr>
          <a:xfrm>
            <a:off x="0" y="-18147"/>
            <a:ext cx="10515600" cy="748245"/>
          </a:xfrm>
        </p:spPr>
        <p:txBody>
          <a:bodyPr/>
          <a:lstStyle/>
          <a:p>
            <a:r>
              <a:rPr lang="en-US" err="1"/>
              <a:t>Vga</a:t>
            </a:r>
            <a:r>
              <a:rPr lang="en-US" baseline="0"/>
              <a:t> Rules</a:t>
            </a:r>
            <a:endParaRPr lang="en-US"/>
          </a:p>
        </p:txBody>
      </p:sp>
      <p:graphicFrame>
        <p:nvGraphicFramePr>
          <p:cNvPr id="3" name="Table 2">
            <a:extLst>
              <a:ext uri="{FF2B5EF4-FFF2-40B4-BE49-F238E27FC236}">
                <a16:creationId xmlns:a16="http://schemas.microsoft.com/office/drawing/2014/main" id="{CEB83F8A-213E-62C3-9484-C0766CF5E909}"/>
              </a:ext>
            </a:extLst>
          </p:cNvPr>
          <p:cNvGraphicFramePr>
            <a:graphicFrameLocks noGrp="1"/>
          </p:cNvGraphicFramePr>
          <p:nvPr>
            <p:extLst>
              <p:ext uri="{D42A27DB-BD31-4B8C-83A1-F6EECF244321}">
                <p14:modId xmlns:p14="http://schemas.microsoft.com/office/powerpoint/2010/main" val="1656207691"/>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3033691">
                  <a:extLst>
                    <a:ext uri="{9D8B030D-6E8A-4147-A177-3AD203B41FA5}">
                      <a16:colId xmlns:a16="http://schemas.microsoft.com/office/drawing/2014/main" val="2816651250"/>
                    </a:ext>
                  </a:extLst>
                </a:gridCol>
                <a:gridCol w="4742308">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1080-1080 (</a:t>
                      </a:r>
                      <a:r>
                        <a:rPr lang="en-US" sz="1100" b="0" i="0" u="none" strike="noStrike" err="1">
                          <a:solidFill>
                            <a:srgbClr val="000000"/>
                          </a:solidFill>
                          <a:effectLst/>
                          <a:latin typeface="Calibri" panose="020F0502020204030204" pitchFamily="34" charset="0"/>
                        </a:rPr>
                        <a:t>Vga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760-760 (</a:t>
                      </a:r>
                      <a:r>
                        <a:rPr lang="en-US" sz="1100" b="0" i="0" u="none" strike="noStrike" err="1">
                          <a:solidFill>
                            <a:srgbClr val="000000"/>
                          </a:solidFill>
                          <a:effectLst/>
                          <a:latin typeface="Calibri" panose="020F0502020204030204" pitchFamily="34" charset="0"/>
                        </a:rPr>
                        <a:t>Vga</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NSA only</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11 via sizes</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1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&gt;=530nm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&gt;=440nm, &gt;=320nm on same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&gt;=530nm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&gt;=440nm, &gt;=320nm on same net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NA</a:t>
                      </a:r>
                      <a:endParaRPr lang="nn-NO"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specific C2C DR, is controlled by PGD/OGD space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 limit</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&gt;=100nm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&gt;=60nm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&gt;=120nm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Vga</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&lt;=12% (100x100um)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&lt;=12%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2849596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B1904-990F-D291-3073-2A0E78624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83EC9-3D8A-ACBE-DA95-9F6B8CDC2ACF}"/>
              </a:ext>
            </a:extLst>
          </p:cNvPr>
          <p:cNvSpPr>
            <a:spLocks noGrp="1"/>
          </p:cNvSpPr>
          <p:nvPr>
            <p:ph type="title" idx="4294967295"/>
          </p:nvPr>
        </p:nvSpPr>
        <p:spPr>
          <a:xfrm>
            <a:off x="0" y="-18147"/>
            <a:ext cx="10515600" cy="748245"/>
          </a:xfrm>
        </p:spPr>
        <p:txBody>
          <a:bodyPr/>
          <a:lstStyle/>
          <a:p>
            <a:r>
              <a:rPr lang="en-US" err="1"/>
              <a:t>Vgagb</a:t>
            </a:r>
            <a:r>
              <a:rPr lang="en-US" baseline="0"/>
              <a:t> Rules</a:t>
            </a:r>
            <a:endParaRPr lang="en-US"/>
          </a:p>
        </p:txBody>
      </p:sp>
      <p:graphicFrame>
        <p:nvGraphicFramePr>
          <p:cNvPr id="3" name="Table 2">
            <a:extLst>
              <a:ext uri="{FF2B5EF4-FFF2-40B4-BE49-F238E27FC236}">
                <a16:creationId xmlns:a16="http://schemas.microsoft.com/office/drawing/2014/main" id="{C0598C9C-F6EF-7800-4974-5455184EE6B0}"/>
              </a:ext>
            </a:extLst>
          </p:cNvPr>
          <p:cNvGraphicFramePr>
            <a:graphicFrameLocks noGrp="1"/>
          </p:cNvGraphicFramePr>
          <p:nvPr>
            <p:extLst>
              <p:ext uri="{D42A27DB-BD31-4B8C-83A1-F6EECF244321}">
                <p14:modId xmlns:p14="http://schemas.microsoft.com/office/powerpoint/2010/main" val="54974588"/>
              </p:ext>
            </p:extLst>
          </p:nvPr>
        </p:nvGraphicFramePr>
        <p:xfrm>
          <a:off x="-1140" y="1825625"/>
          <a:ext cx="12191998" cy="2816447"/>
        </p:xfrm>
        <a:graphic>
          <a:graphicData uri="http://schemas.openxmlformats.org/drawingml/2006/table">
            <a:tbl>
              <a:tblPr/>
              <a:tblGrid>
                <a:gridCol w="1848000">
                  <a:extLst>
                    <a:ext uri="{9D8B030D-6E8A-4147-A177-3AD203B41FA5}">
                      <a16:colId xmlns:a16="http://schemas.microsoft.com/office/drawing/2014/main" val="2605374758"/>
                    </a:ext>
                  </a:extLst>
                </a:gridCol>
                <a:gridCol w="2567999">
                  <a:extLst>
                    <a:ext uri="{9D8B030D-6E8A-4147-A177-3AD203B41FA5}">
                      <a16:colId xmlns:a16="http://schemas.microsoft.com/office/drawing/2014/main" val="968591813"/>
                    </a:ext>
                  </a:extLst>
                </a:gridCol>
                <a:gridCol w="3033691">
                  <a:extLst>
                    <a:ext uri="{9D8B030D-6E8A-4147-A177-3AD203B41FA5}">
                      <a16:colId xmlns:a16="http://schemas.microsoft.com/office/drawing/2014/main" val="2816651250"/>
                    </a:ext>
                  </a:extLst>
                </a:gridCol>
                <a:gridCol w="4742308">
                  <a:extLst>
                    <a:ext uri="{9D8B030D-6E8A-4147-A177-3AD203B41FA5}">
                      <a16:colId xmlns:a16="http://schemas.microsoft.com/office/drawing/2014/main" val="254745789"/>
                    </a:ext>
                  </a:extLst>
                </a:gridCol>
              </a:tblGrid>
              <a:tr h="838943">
                <a:tc>
                  <a:txBody>
                    <a:bodyPr/>
                    <a:lstStyle/>
                    <a:p>
                      <a:pPr algn="ctr" fontAlgn="ctr">
                        <a:buNone/>
                      </a:pPr>
                      <a:r>
                        <a:rPr lang="en-US" sz="11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1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algn="ctr" fontAlgn="ctr">
                        <a:buNone/>
                      </a:pPr>
                      <a:r>
                        <a:rPr lang="en-US" sz="11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4294377256"/>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Metal Transition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1080-3000 (</a:t>
                      </a:r>
                      <a:r>
                        <a:rPr lang="en-US" sz="1100" b="0" i="0" u="none" strike="noStrike" err="1">
                          <a:solidFill>
                            <a:srgbClr val="000000"/>
                          </a:solidFill>
                          <a:effectLst/>
                          <a:latin typeface="Calibri" panose="020F0502020204030204" pitchFamily="34" charset="0"/>
                        </a:rPr>
                        <a:t>Vgagb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760-3000 (</a:t>
                      </a:r>
                      <a:r>
                        <a:rPr lang="en-US" sz="1100" b="0" i="0" u="none" strike="noStrike" err="1">
                          <a:solidFill>
                            <a:srgbClr val="000000"/>
                          </a:solidFill>
                          <a:effectLst/>
                          <a:latin typeface="Calibri" panose="020F0502020204030204" pitchFamily="34" charset="0"/>
                        </a:rPr>
                        <a:t>Vgagb</a:t>
                      </a:r>
                      <a:r>
                        <a:rPr lang="en-US" sz="11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4786934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Via Type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NSA only</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NSA only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70200978"/>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Sizes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Limit the via size to 5 via</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Limit the via size to 5 via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0746965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PGD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98051767"/>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OGD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&gt;=2000nm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77555309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C2C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&gt;=2500nm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&gt;=2500nm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063279331"/>
                  </a:ext>
                </a:extLst>
              </a:tr>
              <a:tr h="359547">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Consecutive via rules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No limit</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No limit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01054339"/>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&gt;=140nm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&gt;=140nm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792754674"/>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Vgagb</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Enclosure (Mx+1)</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0" indent="0" algn="l" fontAlgn="b">
                        <a:buFont typeface="Wingdings" panose="05000000000000000000" pitchFamily="2" charset="2"/>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&gt;=350nm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&gt;=350nm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34963043"/>
                  </a:ext>
                </a:extLst>
              </a:tr>
              <a:tr h="17977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Vgagb</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1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&lt;=12% (10x100um)</a:t>
                      </a:r>
                      <a:endParaRPr lang="en-US" sz="11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100" b="0" i="0" u="none" strike="noStrike">
                          <a:solidFill>
                            <a:srgbClr val="000000"/>
                          </a:solidFill>
                          <a:effectLst/>
                          <a:latin typeface="Calibri" panose="020F0502020204030204" pitchFamily="34" charset="0"/>
                        </a:rPr>
                        <a:t>&lt;=12% (100x100um)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83365250"/>
                  </a:ext>
                </a:extLst>
              </a:tr>
            </a:tbl>
          </a:graphicData>
        </a:graphic>
      </p:graphicFrame>
    </p:spTree>
    <p:extLst>
      <p:ext uri="{BB962C8B-B14F-4D97-AF65-F5344CB8AC3E}">
        <p14:creationId xmlns:p14="http://schemas.microsoft.com/office/powerpoint/2010/main" val="9923160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DF276-1ACA-8080-C5DD-1642EAB59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80600-4120-92D1-86B3-9E0AEB5D848C}"/>
              </a:ext>
            </a:extLst>
          </p:cNvPr>
          <p:cNvSpPr>
            <a:spLocks noGrp="1"/>
          </p:cNvSpPr>
          <p:nvPr>
            <p:ph type="title" idx="4294967295"/>
          </p:nvPr>
        </p:nvSpPr>
        <p:spPr>
          <a:xfrm>
            <a:off x="0" y="-18147"/>
            <a:ext cx="10515600" cy="748245"/>
          </a:xfrm>
        </p:spPr>
        <p:txBody>
          <a:bodyPr/>
          <a:lstStyle/>
          <a:p>
            <a:r>
              <a:rPr lang="en-US" err="1"/>
              <a:t>Mgb</a:t>
            </a:r>
            <a:r>
              <a:rPr lang="en-US" baseline="0"/>
              <a:t> Rules</a:t>
            </a:r>
            <a:endParaRPr lang="en-US"/>
          </a:p>
        </p:txBody>
      </p:sp>
      <p:graphicFrame>
        <p:nvGraphicFramePr>
          <p:cNvPr id="3" name="Table 2">
            <a:extLst>
              <a:ext uri="{FF2B5EF4-FFF2-40B4-BE49-F238E27FC236}">
                <a16:creationId xmlns:a16="http://schemas.microsoft.com/office/drawing/2014/main" id="{C1084B36-0150-BDBC-F9C9-F8C157FD75EB}"/>
              </a:ext>
            </a:extLst>
          </p:cNvPr>
          <p:cNvGraphicFramePr>
            <a:graphicFrameLocks noGrp="1"/>
          </p:cNvGraphicFramePr>
          <p:nvPr>
            <p:extLst>
              <p:ext uri="{D42A27DB-BD31-4B8C-83A1-F6EECF244321}">
                <p14:modId xmlns:p14="http://schemas.microsoft.com/office/powerpoint/2010/main" val="1718255124"/>
              </p:ext>
            </p:extLst>
          </p:nvPr>
        </p:nvGraphicFramePr>
        <p:xfrm>
          <a:off x="0" y="1806575"/>
          <a:ext cx="12192000" cy="4152781"/>
        </p:xfrm>
        <a:graphic>
          <a:graphicData uri="http://schemas.openxmlformats.org/drawingml/2006/table">
            <a:tbl>
              <a:tblPr/>
              <a:tblGrid>
                <a:gridCol w="1848000">
                  <a:extLst>
                    <a:ext uri="{9D8B030D-6E8A-4147-A177-3AD203B41FA5}">
                      <a16:colId xmlns:a16="http://schemas.microsoft.com/office/drawing/2014/main" val="2594637301"/>
                    </a:ext>
                  </a:extLst>
                </a:gridCol>
                <a:gridCol w="2568000">
                  <a:extLst>
                    <a:ext uri="{9D8B030D-6E8A-4147-A177-3AD203B41FA5}">
                      <a16:colId xmlns:a16="http://schemas.microsoft.com/office/drawing/2014/main" val="1528532346"/>
                    </a:ext>
                  </a:extLst>
                </a:gridCol>
                <a:gridCol w="4127999">
                  <a:extLst>
                    <a:ext uri="{9D8B030D-6E8A-4147-A177-3AD203B41FA5}">
                      <a16:colId xmlns:a16="http://schemas.microsoft.com/office/drawing/2014/main" val="722093235"/>
                    </a:ext>
                  </a:extLst>
                </a:gridCol>
                <a:gridCol w="3648001">
                  <a:extLst>
                    <a:ext uri="{9D8B030D-6E8A-4147-A177-3AD203B41FA5}">
                      <a16:colId xmlns:a16="http://schemas.microsoft.com/office/drawing/2014/main" val="461541890"/>
                    </a:ext>
                  </a:extLst>
                </a:gridCol>
              </a:tblGrid>
              <a:tr h="1135928">
                <a:tc>
                  <a:txBody>
                    <a:bodyPr/>
                    <a:lstStyle/>
                    <a:p>
                      <a:pPr algn="ctr" fontAlgn="ctr">
                        <a:buNone/>
                      </a:pPr>
                      <a:r>
                        <a:rPr lang="en-US" sz="1400" b="1" i="0" u="none" strike="noStrike">
                          <a:solidFill>
                            <a:srgbClr val="FFFFFF"/>
                          </a:solidFill>
                          <a:effectLst/>
                          <a:latin typeface="Calibri" panose="020F0502020204030204" pitchFamily="34" charset="0"/>
                        </a:rPr>
                        <a:t>Layer</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algn="ctr" fontAlgn="ctr">
                        <a:buNone/>
                      </a:pPr>
                      <a:r>
                        <a:rPr lang="en-US" sz="1400" b="1" i="0" u="none" strike="noStrike">
                          <a:solidFill>
                            <a:srgbClr val="FFFFFF"/>
                          </a:solidFill>
                          <a:effectLst/>
                          <a:latin typeface="Calibri" panose="020F0502020204030204" pitchFamily="34" charset="0"/>
                        </a:rPr>
                        <a:t>Feature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P1280 Reference</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8EA9DB"/>
                    </a:solidFill>
                  </a:tcPr>
                </a:tc>
                <a:tc>
                  <a:txBody>
                    <a:bodyPr/>
                    <a:lstStyle/>
                    <a:p>
                      <a:pPr marL="171450" indent="-171450" algn="ctr" fontAlgn="ctr">
                        <a:buFont typeface="Wingdings" panose="05000000000000000000" pitchFamily="2" charset="2"/>
                        <a:buChar char="v"/>
                      </a:pPr>
                      <a:r>
                        <a:rPr lang="en-US" sz="1400" b="1" i="0" u="none" strike="noStrike">
                          <a:solidFill>
                            <a:srgbClr val="FFFFFF"/>
                          </a:solidFill>
                          <a:effectLst/>
                          <a:latin typeface="Calibri" panose="020F0502020204030204" pitchFamily="34" charset="0"/>
                        </a:rPr>
                        <a:t>Working Assumption</a:t>
                      </a:r>
                    </a:p>
                  </a:txBody>
                  <a:tcPr marL="0" marR="0" marT="0" marB="0" vert="vert27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D7D31"/>
                    </a:solidFill>
                  </a:tcPr>
                </a:tc>
                <a:extLst>
                  <a:ext uri="{0D108BD9-81ED-4DB2-BD59-A6C34878D82A}">
                    <a16:rowId xmlns:a16="http://schemas.microsoft.com/office/drawing/2014/main" val="3521599637"/>
                  </a:ext>
                </a:extLst>
              </a:tr>
              <a:tr h="486827">
                <a:tc>
                  <a:txBody>
                    <a:bodyPr/>
                    <a:lstStyle/>
                    <a:p>
                      <a:pPr algn="l" fontAlgn="b">
                        <a:buNone/>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lang="en-US" sz="1400" b="0" i="0" u="none" strike="noStrike">
                        <a:solidFill>
                          <a:srgbClr val="000000"/>
                        </a:solidFill>
                        <a:effectLst/>
                        <a:latin typeface="Calibri" panose="020F0502020204030204" pitchFamily="34" charset="0"/>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Pitch (W/S)</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1500W/1500S (</a:t>
                      </a:r>
                      <a:r>
                        <a:rPr lang="en-US" sz="1400" b="0" i="0" u="none" strike="noStrike" err="1">
                          <a:solidFill>
                            <a:srgbClr val="000000"/>
                          </a:solidFill>
                          <a:effectLst/>
                          <a:latin typeface="Calibri" panose="020F0502020204030204" pitchFamily="34" charset="0"/>
                        </a:rPr>
                        <a:t>Mgb</a:t>
                      </a:r>
                      <a:r>
                        <a:rPr lang="en-US" sz="1400" b="0" i="0" u="none" strike="noStrike">
                          <a:solidFill>
                            <a:srgbClr val="000000"/>
                          </a:solidFill>
                          <a:effectLst/>
                          <a:latin typeface="Calibri" panose="020F0502020204030204" pitchFamily="34" charset="0"/>
                        </a:rPr>
                        <a:t>)</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1500W/1500S (</a:t>
                      </a:r>
                      <a:r>
                        <a:rPr lang="en-US" sz="1400" b="0" i="0" u="none" strike="noStrike" err="1">
                          <a:solidFill>
                            <a:srgbClr val="000000"/>
                          </a:solidFill>
                          <a:effectLst/>
                          <a:latin typeface="Calibri" panose="020F0502020204030204" pitchFamily="34" charset="0"/>
                        </a:rPr>
                        <a:t>Mgb</a:t>
                      </a:r>
                      <a:r>
                        <a:rPr lang="en-US" sz="1400" b="0" i="0" u="none" strike="noStrike">
                          <a:solidFill>
                            <a:srgbClr val="000000"/>
                          </a:solidFill>
                          <a:effectLst/>
                          <a:latin typeface="Calibri" panose="020F0502020204030204" pitchFamily="34" charset="0"/>
                        </a:rPr>
                        <a:t>) </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140465849"/>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Width min</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&gt;=1500nm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&gt;=1500nm in PD or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23369552"/>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Width max</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&lt;=17000nm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&lt;=17000nm in PD and NPD</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543168256"/>
                  </a:ext>
                </a:extLst>
              </a:tr>
              <a:tr h="66385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Hole Area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&gt;=4.84 sq 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&gt;=4.84 sq um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836912757"/>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Edge Length</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&gt;=540nm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&gt;=540nm</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943902843"/>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&gt;=38%, &lt;=90% 100um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&gt;=40%, &lt;=90% (100um window)</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10676790"/>
                  </a:ext>
                </a:extLst>
              </a:tr>
              <a:tr h="243414">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Density Gradient</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&lt;=25% (50um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en-US" sz="1400" b="0" i="0" u="none" strike="noStrike">
                          <a:solidFill>
                            <a:srgbClr val="000000"/>
                          </a:solidFill>
                          <a:effectLst/>
                          <a:latin typeface="Calibri" panose="020F0502020204030204" pitchFamily="34" charset="0"/>
                        </a:rPr>
                        <a:t>&lt;=25% (50um window)</a:t>
                      </a:r>
                    </a:p>
                  </a:txBody>
                  <a:tcPr marL="0" marR="0" marT="0"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61579556"/>
                  </a:ext>
                </a:extLst>
              </a:tr>
              <a:tr h="446258">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Mgb</a:t>
                      </a:r>
                      <a:endParaRPr kumimoji="0" lang="en-US" sz="1400" b="0" i="0" u="none" strike="noStrike" kern="0" cap="none" spc="0" normalizeH="0" baseline="0" noProof="0">
                        <a:ln>
                          <a:noFill/>
                        </a:ln>
                        <a:solidFill>
                          <a:srgbClr val="000000"/>
                        </a:solidFill>
                        <a:effectLst/>
                        <a:uLnTx/>
                        <a:uFillTx/>
                        <a:latin typeface="Calibri" panose="020F0502020204030204" pitchFamily="34" charset="0"/>
                        <a:sym typeface="Intel Clear"/>
                      </a:endParaRP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b">
                        <a:buNone/>
                      </a:pPr>
                      <a:r>
                        <a:rPr lang="en-US" sz="1400" b="0" i="0" u="none" strike="noStrike">
                          <a:solidFill>
                            <a:srgbClr val="000000"/>
                          </a:solidFill>
                          <a:effectLst/>
                          <a:latin typeface="Calibri" panose="020F0502020204030204" pitchFamily="34" charset="0"/>
                        </a:rPr>
                        <a:t>Max Space</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marL="171450" indent="-171450" algn="l" fontAlgn="b">
                        <a:buFont typeface="Wingdings" panose="05000000000000000000" pitchFamily="2" charset="2"/>
                        <a:buChar char="v"/>
                      </a:pPr>
                      <a:r>
                        <a:rPr lang="de-DE" sz="1400" b="0" i="0" u="none" strike="noStrike">
                          <a:solidFill>
                            <a:srgbClr val="000000"/>
                          </a:solidFill>
                          <a:effectLst/>
                          <a:latin typeface="Calibri" panose="020F0502020204030204" pitchFamily="34" charset="0"/>
                        </a:rPr>
                        <a:t>NA</a:t>
                      </a:r>
                    </a:p>
                  </a:txBody>
                  <a:tcPr marL="0" marR="0" marT="0"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0205562"/>
                  </a:ext>
                </a:extLst>
              </a:tr>
            </a:tbl>
          </a:graphicData>
        </a:graphic>
      </p:graphicFrame>
    </p:spTree>
    <p:extLst>
      <p:ext uri="{BB962C8B-B14F-4D97-AF65-F5344CB8AC3E}">
        <p14:creationId xmlns:p14="http://schemas.microsoft.com/office/powerpoint/2010/main" val="2332182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ment xmlns="8c5c7c43-7776-4be4-9b66-f0e598a006f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5A87B4EF6DD84787A84E450FC83619" ma:contentTypeVersion="9" ma:contentTypeDescription="Create a new document." ma:contentTypeScope="" ma:versionID="b8cef7a8758fd6bdb0b69f3476572ce4">
  <xsd:schema xmlns:xsd="http://www.w3.org/2001/XMLSchema" xmlns:xs="http://www.w3.org/2001/XMLSchema" xmlns:p="http://schemas.microsoft.com/office/2006/metadata/properties" xmlns:ns2="8c5c7c43-7776-4be4-9b66-f0e598a006f2" targetNamespace="http://schemas.microsoft.com/office/2006/metadata/properties" ma:root="true" ma:fieldsID="9b1b2d49d7ec805e09513a7667e84765" ns2:_="">
    <xsd:import namespace="8c5c7c43-7776-4be4-9b66-f0e598a006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Comment"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5c7c43-7776-4be4-9b66-f0e598a006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Comment" ma:index="12" nillable="true" ma:displayName="Comment" ma:format="Dropdown" ma:internalName="Comment">
      <xsd:simpleType>
        <xsd:restriction base="dms:Text">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A9C37F-9682-493E-A066-69AA0FB97938}">
  <ds:schemaRefs>
    <ds:schemaRef ds:uri="http://purl.org/dc/elements/1.1/"/>
    <ds:schemaRef ds:uri="http://purl.org/dc/terms/"/>
    <ds:schemaRef ds:uri="http://purl.org/dc/dcmitype/"/>
    <ds:schemaRef ds:uri="http://schemas.openxmlformats.org/package/2006/metadata/core-properties"/>
    <ds:schemaRef ds:uri="8c5c7c43-7776-4be4-9b66-f0e598a006f2"/>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66A869F-0C20-49B0-AFE8-A86505425A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5c7c43-7776-4be4-9b66-f0e598a00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B34F69-2C1F-41B9-9AC8-D731E4FE7AB2}">
  <ds:schemaRefs>
    <ds:schemaRef ds:uri="http://schemas.microsoft.com/sharepoint/v3/contenttype/forms"/>
  </ds:schemaRefs>
</ds:datastoreItem>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otalTime>0</TotalTime>
  <Words>9783</Words>
  <Application>Microsoft Office PowerPoint</Application>
  <PresentationFormat>Widescreen</PresentationFormat>
  <Paragraphs>2435</Paragraphs>
  <Slides>74</Slides>
  <Notes>3</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1281 Design Rule Overview</vt:lpstr>
      <vt:lpstr>PowerPoint Presentation</vt:lpstr>
      <vt:lpstr>PowerPoint Presentation</vt:lpstr>
      <vt:lpstr>Basetransition and region construction</vt:lpstr>
      <vt:lpstr>PowerPoint Presentation</vt:lpstr>
      <vt:lpstr>PowerPoint Presentation</vt:lpstr>
      <vt:lpstr>Key Layers</vt:lpstr>
      <vt:lpstr>PowerPoint Presentation</vt:lpstr>
      <vt:lpstr>PowerPoint Presentation</vt:lpstr>
      <vt:lpstr>PowerPoint Presentation</vt:lpstr>
      <vt:lpstr>PowerPoint Presentation</vt:lpstr>
      <vt:lpstr>Fin and diffusion Design Rules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Drawn Tap Ids/ Usages in X81A</vt:lpstr>
      <vt:lpstr>Drawn Tap Styles in X81A (NOM CMOS area)</vt:lpstr>
      <vt:lpstr>PowerPoint Presentation</vt:lpstr>
      <vt:lpstr>PowerPoint Presentation</vt:lpstr>
      <vt:lpstr>PowerPoint Presentation</vt:lpstr>
      <vt:lpstr>PowerPoint Presentation</vt:lpstr>
      <vt:lpstr>Nwell to ndiff/pdiff spacing/enc rules</vt:lpstr>
      <vt:lpstr>QuickRAM(QR) Blocks</vt:lpstr>
      <vt:lpstr>Remainder Cells</vt:lpstr>
      <vt:lpstr>Remainder combos</vt:lpstr>
      <vt:lpstr>BACKEND</vt:lpstr>
      <vt:lpstr>High-Level Changes in P1281</vt:lpstr>
      <vt:lpstr>High Stack level changes with respect to P1280</vt:lpstr>
      <vt:lpstr>X81A Metal Stack Info</vt:lpstr>
      <vt:lpstr>Vt array</vt:lpstr>
      <vt:lpstr>VGVT</vt:lpstr>
      <vt:lpstr>Bigger Feedthrough (Length + ETE)</vt:lpstr>
      <vt:lpstr>TFR</vt:lpstr>
      <vt:lpstr>Non-self-aligned vias</vt:lpstr>
      <vt:lpstr>Large Vt</vt:lpstr>
      <vt:lpstr>Bridge V0 is removed</vt:lpstr>
      <vt:lpstr>Tight Corner-to-Corner is allowed for PPA for V2+</vt:lpstr>
      <vt:lpstr>TBD</vt:lpstr>
      <vt:lpstr>Vt, Vg</vt:lpstr>
      <vt:lpstr>Vt, Vg</vt:lpstr>
      <vt:lpstr>M0 Rules</vt:lpstr>
      <vt:lpstr>M0 ETE, Length</vt:lpstr>
      <vt:lpstr>V0 Rules</vt:lpstr>
      <vt:lpstr>M1 Rules</vt:lpstr>
      <vt:lpstr>V1 Rules</vt:lpstr>
      <vt:lpstr>M2 Rules</vt:lpstr>
      <vt:lpstr>M2 Rules</vt:lpstr>
      <vt:lpstr>V2 Rules</vt:lpstr>
      <vt:lpstr>M3 Rules</vt:lpstr>
      <vt:lpstr>V3 Rules</vt:lpstr>
      <vt:lpstr>M4 Rules</vt:lpstr>
      <vt:lpstr>V4 Rules</vt:lpstr>
      <vt:lpstr>M5-M6 Rules</vt:lpstr>
      <vt:lpstr>V5 Rules</vt:lpstr>
      <vt:lpstr>V6_Vxcyl Rules</vt:lpstr>
      <vt:lpstr>M7_Myl Rules</vt:lpstr>
      <vt:lpstr>V7_Vylya Rules</vt:lpstr>
      <vt:lpstr>M8-M10 Mya Rules</vt:lpstr>
      <vt:lpstr>V8-V9 Vya Rules</vt:lpstr>
      <vt:lpstr>V10 Vyayb Rules</vt:lpstr>
      <vt:lpstr>M11_Myb Rules</vt:lpstr>
      <vt:lpstr>Vyb Rules</vt:lpstr>
      <vt:lpstr>Vybga Rules</vt:lpstr>
      <vt:lpstr>Mga Rules</vt:lpstr>
      <vt:lpstr>Vga Rules</vt:lpstr>
      <vt:lpstr>Vgagb Rules</vt:lpstr>
      <vt:lpstr>Mgb Rules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Abbas, Sikandar</dc:creator>
  <cp:lastModifiedBy>Carboni, Roberto</cp:lastModifiedBy>
  <cp:revision>4</cp:revision>
  <dcterms:created xsi:type="dcterms:W3CDTF">2025-02-19T18:34:01Z</dcterms:created>
  <dcterms:modified xsi:type="dcterms:W3CDTF">2026-10-12T23:49:31Z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0x010100DF5A87B4EF6DD84787A84E450FC83619</vt:lpwstr>
  </property>
</Properties>
</file>