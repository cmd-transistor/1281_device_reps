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ISO E-test Scalar Catalog (1281 node)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496 structure variants covering 2180 buildsheet rows</a:t>
            </a:r>
          </a:p>
          <a:p>
            <a:pPr>
              <a:defRPr sz="1600" b="0"/>
            </a:pPr>
            <a:r>
              <a:t>Per variant: annotated unit-cell layout, counted leakage paths and the ScalarFormula</a:t>
            </a:r>
          </a:p>
          <a:p>
            <a:pPr>
              <a:defRPr sz="1600" b="0"/>
            </a:pPr>
            <a:r>
              <a:t>Generated by ScalarCalculation.py --pptx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Executive summary -- ISO scalar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68680"/>
            <a:ext cx="9875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Fill the Scalar column (Scalar = 1 / fail-mode count) of the ISO E-test metadata buildsheet for every isolation structure and document the derivation (ScalarFormula)</a:t>
            </a:r>
          </a:p>
          <a:p>
            <a:pPr>
              <a:defRPr sz="1000" b="0"/>
            </a:pPr>
            <a:r>
              <a:t>so each value can be audited.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417320"/>
            <a:ext cx="9875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ISO_Metadata_Input.csv -- the ISO buildsheet (one row per structure / test row). Columns used: StructureName, UnitCellSizeOgd/Pgd, ArraySizeOgd/Pgd, FTITracksUnit,</a:t>
            </a:r>
          </a:p>
          <a:p>
            <a:pPr>
              <a:defRPr sz="1000" b="0"/>
            </a:pPr>
            <a:r>
              <a:t>PolyPlugsUnit, TcnPlugsUnit, VcxPatternUnit (vg/vt vias), LO1/HI1ActiveTracks, DiffPatternUnit, CellHeight.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1) Parse the buildsheet DSL (ranges a:b, strides a:b[N], rK end-relative tokens) into one Ogd x Pgd unit cell: FTI grid, gate and TCN segments (plug model), VG / VT</a:t>
            </a:r>
          </a:p>
          <a:p>
            <a:pPr>
              <a:defRPr sz="1000" b="0"/>
            </a:pPr>
            <a:r>
              <a:t>positions, LO1 / HI1 nets.  2) Apply the family rule (CTG, GATEGATE/EPIEPI/TCNTCN, DIFFOGD, DIFFCHN) to count fail modes per unit.  3) Multiply by ArraySizeOgd x</a:t>
            </a:r>
          </a:p>
          <a:p>
            <a:pPr>
              <a:defRPr sz="1000" b="0"/>
            </a:pPr>
            <a:r>
              <a:t>ArraySizePgd; Scalar = 1/N.  4) Group rows into geometry variants, render an annotated unit-cell snapshot per variant, build this deck.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34056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Calibration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734056"/>
            <a:ext cx="9875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Plug model (plug V merges diffusion tracks V-1/V) and via-track -&gt; diffusion-track mapping were verified against the 12 CTG132 chassis GDS layouts bundled in</a:t>
            </a:r>
          </a:p>
          <a:p>
            <a:pPr>
              <a:defRPr sz="1000" b="0"/>
            </a:pPr>
            <a:r>
              <a:t>ISO_LLM.bat; methodology per 'x1281z - ISO E-test Scalar calculations suggestion.pptx'.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82696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282696"/>
            <a:ext cx="9875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ISO_Metadata_Output.csv (input + Scalar + ScalarFormula) | ISO_Scalar_Review.csv (per-row derivation, intermediate counts, notes) | ISO_Scalar_Variants.csv (one line</a:t>
            </a:r>
          </a:p>
          <a:p>
            <a:pPr>
              <a:defRPr sz="1000" b="0"/>
            </a:pPr>
            <a:r>
              <a:t>per geometry variant) | snapshots/*.png (optional, named after the structure) | ISO_Scalar_Catalog.pptx (this deck).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Libraries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831336"/>
            <a:ext cx="9875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Python 3.12 standard library (csv, re, argparse, dataclasses, pathlib) for the calculation; matplotlib for the snapshots; python-pptx for the catalog. No other</a:t>
            </a:r>
          </a:p>
          <a:p>
            <a:pPr>
              <a:defRPr sz="1000" b="0"/>
            </a:pPr>
            <a:r>
              <a:t>dependencies.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79976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379976"/>
            <a:ext cx="9875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python ScalarCalculation.py --pptx ISO_Scalar_Catalog.pptx   (add --keep-snapshots to retain PNGs; --snapshot NAME renders a single structure; --summary-pptx FILE</a:t>
            </a:r>
          </a:p>
          <a:p>
            <a:pPr>
              <a:defRPr sz="1000" b="0"/>
            </a:pPr>
            <a:r>
              <a:t>writes this summary without layout slides)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28616"/>
            <a:ext cx="1463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Scope / caveats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928616"/>
            <a:ext cx="9875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Via-chain rows (VT_MV / VG_MV / VCR_MV) are out of scope and left blank. Snapshots are schematic (track -&gt; diffusion-cell mapping is approximate). Data</a:t>
            </a:r>
          </a:p>
          <a:p>
            <a:pPr>
              <a:defRPr sz="1000" b="0"/>
            </a:pPr>
            <a:r>
              <a:t>inconsistencies (e.g. LO1/HI1 tracks not matching the via tracks) are flagged in the Notes column rather than silently corrected.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Coverage -- structure families and variant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t>2581 buildsheet rows: 2180 scored across 496 geometry variants; 401 via-chain rows out of scope. Scalar spans 1/21600 .. 1/3.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6128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48640"/>
                <a:gridCol w="685800"/>
                <a:gridCol w="1188720"/>
                <a:gridCol w="3291840"/>
                <a:gridCol w="4983480"/>
              </a:tblGrid>
              <a:tr h="6858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Variants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FailModes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Leakage path counted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Variant types in the input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CTG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461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132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5400 .. 21600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OGD contact-to-gate leakage: active gate (VG) beside an active TCN (VT) across the spacer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 SDR reference (+PLYFSPCR/PLYFTCN CD skews); B/C/D gate vs TCN length combos; E VCR PGD skews; F VCRNUB OGD skews; G diff depop / block-EPI; H/I extra VG/VT in fail area; K/L density (DEN) variants</a:t>
                      </a:r>
                    </a:p>
                  </a:txBody>
                  <a:tcPr marT="18000" marB="1800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GATEGATE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654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3300 .. 10800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PGD gate tip-to-tip leakage (LO1 gate end facing HI1 gate end)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 1TRK/2TRK gates; OC1/OC2/OC3 via removal (SDR count kept); 2TRK_4PP isolated sub-unit; C gate ETE through FTI (FTIML 1FC / FTISL HC) with OGD/PGD CD/REG skews</a:t>
                      </a:r>
                    </a:p>
                  </a:txBody>
                  <a:tcPr marT="18000" marB="1800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EPIEPI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249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5760 .. 11520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PGD epi (TCN-landed diffusion) tip-to-tip leakage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 1TRK/2TRK reference; B epi-to-epi across FTI (OGD); C 4-TCN density; D VT closer to fail area; ESD/NES implant, PXL/NPXL/NDBI mask, GLK/LNK/PLG density variants</a:t>
                      </a:r>
                    </a:p>
                  </a:txBody>
                  <a:tcPr marT="18000" marB="1800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TCNTCN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138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5760 .. 11520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PGD TCN tip-to-tip leakage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 1TRK/2TRK reference; B VCR/VCRNUB skews (+DEN); C 4-TCN density; D VT closer to fail area; TCP/TCN CD-REG skews; ESD/NES implant variants</a:t>
                      </a:r>
                    </a:p>
                  </a:txBody>
                  <a:tcPr marT="18000" marB="1800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DIFFOGD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294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4200 .. 8400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OGD diffusion-to-diffusion leakage across an FTI cut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 FTIML (1FC FTI cuts 2 device tracks) / FTISL (HC FTI cuts 1) with OGD/PGD CD/REG skews</a:t>
                      </a:r>
                    </a:p>
                  </a:txBody>
                  <a:tcPr marT="18000" marB="1800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DIFFCHN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384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120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3 .. 2880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Diffusion chain: transistors in series between LO1 and HI1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 single gates (LEN3/6/12); B stacked gate pairs STKx1/STKx2; D serpentine 1FC/HC chains (~2xLEN gates); 60x multi-instance arrays; PXL/FTI skews</a:t>
                      </a:r>
                    </a:p>
                  </a:txBody>
                  <a:tcPr marT="18000" marB="1800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Scalar = 1 / FailModeCount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12471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PGD end-to-end (GATEGATE, EPIEPI, TCNTCN)</a:t>
            </a:r>
          </a:p>
          <a:p>
            <a:pPr>
              <a:defRPr sz="1300" b="0"/>
            </a:pPr>
            <a:r>
              <a:t>FailModeCount = (# LO1&lt;-&gt;HI1 tip-to-tip pairs per unit cell) x (# unit cells). A pair is a LO gate/TCN segment facing a HI segment end-to-end on the</a:t>
            </a:r>
          </a:p>
          <a:p>
            <a:pPr>
              <a:defRPr sz="1300" b="0"/>
            </a:pPr>
            <a:r>
              <a:t>same column (adjacent diffusion tracks, or across an FTI). GATEGATE rows with vias removed (OC1/OC2/OC3) keep the SDR count from the declared LO1/HI1</a:t>
            </a:r>
          </a:p>
          <a:p>
            <a:pPr>
              <a:defRPr sz="1300" b="0"/>
            </a:pPr>
            <a:r>
              <a:t>tracks.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471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OGD contact-to-gate (CTG)</a:t>
            </a:r>
          </a:p>
          <a:p>
            <a:pPr>
              <a:defRPr sz="1300" b="0"/>
            </a:pPr>
            <a:r>
              <a:t>FailModeCount = (# active PLY, i.e. gates with a VG) x (# diffusion tracks on which an active TCN -- a TCN with a VT -- runs beside the gate) x (#</a:t>
            </a:r>
          </a:p>
          <a:p>
            <a:pPr>
              <a:defRPr sz="1300" b="0"/>
            </a:pPr>
            <a:r>
              <a:t>unit cells). One fail mode per gate per track: leakage happens on either side of the gate, the two sides are not added. Every variant (incl.</a:t>
            </a:r>
          </a:p>
          <a:p>
            <a:pPr>
              <a:defRPr sz="1300" b="0"/>
            </a:pPr>
            <a:r>
              <a:t>VCR/VCRNUB types E/F) is counted from its own geometry.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13632"/>
            <a:ext cx="1124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OGD diffusion (DIFFOGD)</a:t>
            </a:r>
          </a:p>
          <a:p>
            <a:pPr>
              <a:defRPr sz="1300" b="0"/>
            </a:pPr>
            <a:r>
              <a:t>FailModeCount = (# active FTI columns) x (# device diffusion tracks each FTI cuts, LO diffusion on one side / HI on the other) x (# unit cells).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90288"/>
            <a:ext cx="112471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Diffusion chain (DIFFCHN)</a:t>
            </a:r>
          </a:p>
          <a:p>
            <a:pPr>
              <a:defRPr sz="1300" b="0"/>
            </a:pPr>
            <a:r>
              <a:t>FailModeCount = # active VG gates in series (transistors in the current path, stacked gates included); multiplied by the number of chains when chains</a:t>
            </a:r>
          </a:p>
          <a:p>
            <a:pPr>
              <a:defRPr sz="1300" b="0"/>
            </a:pPr>
            <a:r>
              <a:t>are stacked in an array (60x multi-instance rows).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59552"/>
            <a:ext cx="1124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Unit cells</a:t>
            </a:r>
          </a:p>
          <a:p>
            <a:pPr>
              <a:defRPr sz="1300" b="0"/>
            </a:pPr>
            <a:r>
              <a:t>ArraySizeOgd x ArraySizePgd from the buildsheet.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36208"/>
            <a:ext cx="112471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Source</a:t>
            </a:r>
          </a:p>
          <a:p>
            <a:pPr>
              <a:defRPr sz="1300" b="0"/>
            </a:pPr>
            <a:r>
              <a:t>All counts are derived from the buildsheet row (FTITracksUnit, PolyPlugsUnit, TcnPlugsUnit, VcxPatternUnit, LO1/HI1ActiveTracks, DiffPatternUnit,</a:t>
            </a:r>
          </a:p>
          <a:p>
            <a:pPr>
              <a:defRPr sz="1300" b="0"/>
            </a:pPr>
            <a:r>
              <a:t>array sizes). Via-track to diffusion-track mapping and the plug model were calibrated on the CTG132 chassis GDS bundled in ISO_LLM.bat.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Scalar summary by structure family /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55555"/>
                </a:solidFill>
              </a:defRPr>
            </a:pPr>
            <a:r>
              <a:t>FailModes = fail-mode count of the whole structure (Scalar = 1/FailModes); full per-variant detail in ISO_Scalar_Variants.csv and on the following slides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822960"/>
          <a:ext cx="11612880" cy="5683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685800"/>
                <a:gridCol w="640080"/>
                <a:gridCol w="502920"/>
                <a:gridCol w="960120"/>
                <a:gridCol w="777240"/>
                <a:gridCol w="868680"/>
                <a:gridCol w="6309360"/>
              </a:tblGrid>
              <a:tr h="135331"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Family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Type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Variants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Rows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Cell heights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FailModes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Scalar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Design patterns (StructureName suffixes)</a:t>
                      </a:r>
                    </a:p>
                  </a:txBody>
                  <a:tcPr marT="0" marB="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CTG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9.25926e-05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A:SDR:OGD:REF:2TRK; A:PLYFSPCR:OGD:CD:&lt;SKEW&gt;; A:PLYFSPCR:OGD:CD:0; A:PLYFTCN:OGD:CD:&lt;SKEW&gt;; A:PLYFTCN:OGD:CD:0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CTG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9.25926e-05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B:NGLK:OGD:REF:2TRK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CTG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9.25926e-05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C:NTLK:OGD:REF:2TRK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CTG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21600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4.62963e-05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D:NLNK:OGD:REF:1TRK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CTG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21600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4.62963e-05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E:VCR:PGD:CD:&lt;SKEW&gt;; E:VCR:PGD:CD:0; E:VCR:PGD:REG:&lt;SKEW&gt;; E:VCR:PGD:REG:0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CTG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21600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4.62963e-05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F:VCRNUB:OGD:REG:&lt;SKEW&gt;; F:VCRNUB:OGD:REG:0; F:VCRNUB:OGD:CD:&lt;SKEW&gt;; F:VCRNUB:OGD:CD:0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CTG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9.25926e-05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G:DNU:OGD:REF:NDPI_2TRK; G:DNU:OGD:REF:BEPI_2TRK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CTG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21600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4.62963e-05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G:DNU:OGD:REF:NDPI_4TRK; G:DNU:OGD:REF:BEPI_4TRK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CTG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9.25926e-05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H:SDR:OGD:DEN:1VG_PLY; H:SDR:OGD:DEN:2VG_PLY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CTG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9.25926e-05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I:SDR:OGD:DEN:1VT_TCN; I:SDR:OGD:DEN:2VT_TCN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CTG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5400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0.000185185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K:SDR:OGD:DEN:NTLK; K:SDR:OGD:DEN:NGLK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CTG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9.25926e-05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L:SDR:OGD:DEN:NGLK; L:SDR:OGD:DEN:NTLK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GATEGATE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9.25926e-05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A:SDR:PGD:REF:1TRK_1PP; A:SDR:PGD:REF:2TRK_1PP; A:SDR:PGD:REF:OC1; A:SDR:PGD:REF:OC2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GATEGATE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0.00030303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C:FTIML:SDR; C:FTIML:OGD:CD:&lt;SKEW&gt;; C:FTIML:PGD:CD:&lt;SKEW&gt;; C:FTIML:OGD:REG:&lt;SKEW&gt;; C:FTIML:PGD:REG:&lt;SKEW&gt;; C:FTISL:SDR; C:FTISL:OGD:CD:&lt;SKEW&gt;; C:FT...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GATEGATE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SDR_PGD_REF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0.000277778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SDR_PGD_REF-2TRK_4PP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GATEGATE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SDR_PGD_REF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9.25926e-05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SDR_PGD_REF-OC3; SDR_PGD_REF-1TRK_1PP; SDR_PGD_REF-OC1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EPIEPI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5760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0.000173611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A:SDR:PGD:REF:1TRK_1PP; A:SDR:PGD:REF:2TRK_1PP; A:GLK_OGD_DEN:1TRK_1PP; A:PLG_OGD_DEN:1TRK_1PP; A:LNK_OGD_DEN:1TRK_1PP; A:NPXL:PGD:REF:1TRK_1PP; A:...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EPIEPI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5760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0.000173611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B:FTI:OGD:CD:&lt;SKEW&gt;; B:FTI:OGD:CD:NOM; B:NPXL_FTI:OGD:CD:&lt;SKEW&gt;; B:NPXL_FTI:OGD:CD:NOM; B:NDBI_FTI:OGD:CD:&lt;SKEW&gt;; B:NDBI_FTI:OGD:CD:NOM; B:NDBI_NPX...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EPIEPI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11520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8.68056e-05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C:PXL:PGD:REG:&lt;SKEW&gt;; C:PXL:PGD:REG:NOM; C:SDR:PGD:DEN:NOM; C:PXL:PGD:CD:&lt;SKEW&gt;; C:PXL:PGD:CD:NOM; C:NPXL:PGD:REF:2TRK_1PP; C:NDBI_PXL:PGD:REG:&lt;SKE...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EPIEPI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ch132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5760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0.000173611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D:NPXL:PGD:DEN:2TRK_1PP; D:NDBI_NPXL:PGD:DEN:2TRK_1PP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TCNTCN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5760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0.000173611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A:SDR:PGD:REF:1TRK_1PP; A:SDR:PGD:REF:2TRK_1PP; A:GLK_OGD_DEN:1TRK_1PP; A:PLG_OGD_DEN:1TRK_1PP; A:LNK_OGD_DEN:1TRK_1PP; A:TCP:PGD:CD:&lt;SKEW&gt;; A:TCP:...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TCNTCN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ch132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5760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0.000173611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B:VCR:PGD:CD:&lt;SKEW&gt;; B:VCR:PGD:CD:NOM; B:VCR:PGD:REG:&lt;SKEW&gt;; B:VCR:PGD:REG:NOM; B:VCRNUB:PGD:CD:&lt;SKEW&gt;; B:VCRNUB:PGD:CD:NOM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TCNTCN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11520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8.68056e-05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B:VCR:PGD:DEN:1TRK_1PP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TCNTCN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11520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8.68056e-05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C:SDR:PGD:DEN:2TRK_1PP; C:TCP:PGD:CD:&lt;SKEW&gt;; C:TCP:PGD:CD:NOM; C:DENTCP:PGD:CD:&lt;SKEW&gt;; C:DENTCP:PGD:CD:NOM; C:DENTCP:OGD:CD:&lt;SKEW&gt;; C:DENTCP:OGD:CD...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TCNTCN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ch132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5760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0.000173611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D:SDR:PGD:DEN:2TRK_1PP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DIFFOGD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98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0.000238095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A:FTISL:SDR; A:FTISL:OGD:CD:&lt;SKEW&gt;; A:FTISL:PGD:CD:&lt;SKEW&gt;; A:FTISL:OGD:REG:&lt;SKEW&gt;; A:FTISL:PGD:REG:&lt;SKEW&gt;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DIFFOGD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8400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0.000119048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A:FTIML:SDR; A:FTIML:OGD:CD:&lt;SKEW&gt;; A:FTIML:PGD:CD:&lt;SKEW&gt;; A:FTIML:OGD:REG:&lt;SKEW&gt;; A:FTIML:PGD:REG:&lt;SKEW&gt;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DIFFCHN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0.333333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A-LEN&lt;n&gt;-SDR:Z:REF:NOM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DIFFCHN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0.166667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A-LEN&lt;n&gt;-SDR:Z:REF:NOM; A-LEN&lt;n&gt;-PXL:PGD:CD:&lt;SKEW&gt;; A-LEN&lt;n&gt;-PXL:PGD:CD:NOM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DIFFCHN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0.0833333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A-LEN&lt;n&gt;-SDR:Z:REF:NOM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DIFFCHN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0.0625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B-STKx1FLEN&lt;n&gt;-SDR:Z:REF:NOM; B-STKx2FLEN&lt;n&gt;-SDR:Z:REF:NOM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DIFFCHN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0.03125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B-STKx1FLEN&lt;n&gt;-SDR:Z:REF:NOM; B-STKx2FLEN&lt;n&gt;-SDR:Z:REF:NOM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DIFFCHN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48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0.0208333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B-STKx1FLEN&lt;n&gt;-SDR:Z:REF:NOM; B-STKx2FLEN&lt;n&gt;-SDR:Z:REF:NOM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DIFFCHN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2880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0.000347222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B-60xSTKx2FLEN&lt;n&gt;-SDR:Z:REF:NOM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DIFFCHN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0.0909091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D-1FCLEN&lt;n&gt;-SDR:Z:DEN:NOM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DIFFCHN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0.0526316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D-1FCLEN&lt;n&gt;-SDR:Z:DEN:NOM; D-HCLEN&lt;n&gt;-SDR:Z:DEN:NOM; D-1FCLEN&lt;n&gt;-FTI:PGD:REG:&lt;SKEW&gt;; D-1FCLEN&lt;n&gt;-FTI:PGD:REG:NOM; D-1FCLEN&lt;n&gt;-FTI:OGD:REG:&lt;SKEW&gt;; D...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DIFFCHN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0.0322581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D-1FCLEN&lt;n&gt;-SDR:Z:DEN:NOM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DIFFCHN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48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0.0208333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D-1FCLEN&lt;n&gt;-SDR:Z:DEN:NOM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DIFFCHN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ch110 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1140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0.000877193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D-60x1FCLEN&lt;n&gt;-SDR:Z:DEN:NOM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DIFFCHN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LEN10FC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0.0526316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LEN&lt;n&gt;FC-D:PXL:PGD:REG:&lt;SKEW&gt;; LEN&lt;n&gt;FC-D:PXL:PGD:REG:NOM; LEN&lt;n&gt;FC-D:PXL:PGD:CD:&lt;SKEW&gt;; LEN&lt;n&gt;FC-D:PXL:PGD:CD:NOM</a:t>
                      </a:r>
                    </a:p>
                  </a:txBody>
                  <a:tcPr marT="0" marB="0" marL="36000" marR="36000"/>
                </a:tc>
              </a:tr>
              <a:tr h="13533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DIFFCHN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LEN6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ch132 ch165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0.166667</a:t>
                      </a:r>
                    </a:p>
                  </a:txBody>
                  <a:tcPr marT="0" marB="0" marL="36000" marR="36000"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LEN&lt;n&gt;-A:PXL:PGD:REG:&lt;SKEW&gt;; LEN&lt;n&gt;-A:PXL:PGD:REG:NOM; LEN&lt;n&gt;-A:PXL:PGD:CD:&lt;SKEW&gt;; LEN&lt;n&gt;-A:PXL:PGD:CD:NOM; LEN&lt;n&gt;-A:FTI:OGD:REG:&lt;SKEW&gt;; LEN&lt;n&gt;-A:F...</a:t>
                      </a:r>
                    </a:p>
                  </a:txBody>
                  <a:tcPr marT="0" marB="0" marL="36000" marR="3600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